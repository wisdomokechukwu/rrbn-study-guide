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62B60-FAAC-498E-9F76-C779BC078299}" type="datetimeFigureOut">
              <a:rPr lang="en-NG" smtClean="0"/>
              <a:t>18/10/2026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2E1CD-A877-414B-9177-B8A2222C10B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7422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2D8E-7E87-3B7B-636B-67E3703CF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A24BC-F409-6248-1772-CA4922332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F0046-7ED5-7362-DDD8-D408BE94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39B11-79BC-4E21-B813-2FBF6BBF240D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69671-B246-102B-A469-E3BE343B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9045-7009-48C0-6CC3-69312CFB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7819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C694-312B-CF59-7927-5D03E098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B4F57-94FC-32CB-B6A9-46EBA89B0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51356-1876-1199-7CAA-4D03FD293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02E9-8E95-417D-BAB9-579900DA0B91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7A34D-3D31-C49B-BAD0-2301D357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5096-0964-8F84-66B6-B8596369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0898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CC71-6A34-A653-796B-CEAA4EDE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5BF22-BFB7-4272-409D-6D1D93ED2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CEFEA-A77D-C9BE-3D8E-0EDAA23E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FD4-143E-42B6-8D7F-099BFB5F6ACB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4475A-FB5D-AC01-5BF7-E797D86B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F29A7-B5FB-FC34-4BEB-95223CA3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8872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EAA1-4C60-8AAC-6EC9-B16984B7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99341-18A9-C569-81D6-167C9D472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073D3-B4A5-8BFA-F3BB-C7CFEDBA6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E836A-2356-2135-62AE-4C4DD370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150FC-EC02-47DA-9981-93D8D02CF4F6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9E8CA-395C-1E4C-B193-38F2977C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A3EB4-430D-DDFB-9900-162BB93A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92184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83A0-6FE5-3ED3-0F52-0FA6C1C5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38DA8-3588-4E17-F915-A0BBE58F3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04E83-E272-076B-02C0-6B7995E67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BFB1B-C5A7-5132-EF05-4C55B96C9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2A88A-E22F-359A-D329-04219058D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B02EF6-D603-D083-94D0-226DA7C9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2A4C-9A90-4633-B997-53E7D415A352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864C0-7B89-90E2-458C-93559476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71498-EFDE-A8AD-C004-3AC8081A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5882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E910-F89B-69E5-77D7-2FB5687E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843D0-6AA8-FCC5-5FDC-A06F9C08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7768-9E67-46EB-9E95-AC40FE912F7E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2F6F6-3916-169F-1139-4583A840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C4C1C-27BE-9D89-ED12-6F054CD4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5098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E3753-C03B-31B9-17CB-186DE042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28910-FFCC-47B4-A54E-AD16AA1BD7ED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4F48D-8B08-A54A-D336-A8DACCEDB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323C-0464-9256-CCFE-A3DC6A19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08442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ECF3-9E08-424D-9FBF-F4E95B53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D514D-7230-10F7-0B87-BFD4F9C0B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CB807-82C3-0768-F07E-8A2F303CC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20C50-A6D1-3440-F3B7-72074556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5B49-E9CB-47CB-A506-78E0DAC98176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A9CE4-7F85-3D91-3E36-ECDB500C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D2654-2C42-AE18-DE0C-F29790E7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4740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F40E-0E60-A166-5139-F3998B74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0F27F7-74FA-0948-E223-D9F3B399CA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B7804-235D-886D-D4E1-245E7AADE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F63A5-ED94-C77E-87BC-5D0BF4EC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A593-8CD5-4EF7-AF80-AF3890CFFA70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DD021-A26E-8AB9-B37F-99E13F4F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77422-CC6E-93C2-5BB2-1DCC47AA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8406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E16C-689B-2F20-42F5-D7E384CC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9F3EE-1B2D-4A04-4065-687F8AFDA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E55DA-C8EE-0126-E6DB-224454366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D4-1B6C-4EE3-9072-618A25604424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93AF5-EDC7-9042-15A6-E52FC2B7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603D-691E-A808-96BF-9337C976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2117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639A4C-D45B-B3C3-EBD3-E374AE22A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2A9E1-9298-B5E3-12F8-7FB167242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6469E-0ABB-5C8E-A3EC-FD5332C2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78B9-681C-4FF6-8A08-83D3B4CEC260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78CB7-9318-6E0B-8A1F-FFC37D95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C61C5-CA71-443F-77EE-773552C9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8296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E458AA-4736-4382-7428-FD0F38C5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BF193-FC82-4BE8-F3A9-BCF76E928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DB1C5-0338-2B73-F0C9-EC0072CDD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F2A71-4657-4201-9A45-D50D320BB153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89CF2-0747-330E-77BC-8BA008456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F56BA-28D3-83DA-22D6-1BDCCB2B0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6D031-4E2E-4C51-80DE-A62D042CD33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5431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0D70-AE5C-4C73-DACB-5A336EDB36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Anatomy of the Lower Limbs</a:t>
            </a: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ED532-1439-58B2-B075-D76874BE6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14342"/>
          </a:xfrm>
        </p:spPr>
        <p:txBody>
          <a:bodyPr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Dr Clinton David Orupabo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Department of 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Human Anatomy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Faculty of Basic Medical Sciences, Rivers State University.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Aptos" panose="02110004020202020204"/>
              </a:rPr>
              <a:t>Lectures for Pre-registration Re-training Course for X-ray Technicians. Radiographers Registration Board of Nigeria.</a:t>
            </a:r>
            <a:endParaRPr kumimoji="0" lang="en-NG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57261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1959-DFA9-12D4-7CCC-322041D0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Table of contents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FEF54-4C3D-B764-45B1-A87EC21D0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Osteology of the lower limbs</a:t>
            </a:r>
          </a:p>
          <a:p>
            <a:r>
              <a:rPr lang="en-US" dirty="0"/>
              <a:t>Venous drainage of the lower limb</a:t>
            </a:r>
          </a:p>
          <a:p>
            <a:r>
              <a:rPr lang="en-US" dirty="0"/>
              <a:t>Blood supply to the lower limb</a:t>
            </a:r>
          </a:p>
          <a:p>
            <a:r>
              <a:rPr lang="en-US" dirty="0"/>
              <a:t>The gluteal region</a:t>
            </a:r>
          </a:p>
          <a:p>
            <a:r>
              <a:rPr lang="en-US" dirty="0"/>
              <a:t>Joints of the lower limbs</a:t>
            </a:r>
          </a:p>
          <a:p>
            <a:r>
              <a:rPr lang="en-US" dirty="0"/>
              <a:t>The Thigh</a:t>
            </a:r>
          </a:p>
          <a:p>
            <a:r>
              <a:rPr lang="en-US" dirty="0"/>
              <a:t>The Leg and popliteal fossa</a:t>
            </a:r>
          </a:p>
          <a:p>
            <a:r>
              <a:rPr lang="en-US" dirty="0"/>
              <a:t>The Foot and arches of the foot</a:t>
            </a:r>
          </a:p>
          <a:p>
            <a:endParaRPr lang="en-US" dirty="0"/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0C84E-588B-C381-D1E0-76FF7EDFC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31430-29B8-44AB-B9B9-2C1DFAC9B674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FADBF-AB8F-1C8B-2EA9-5AA60DFC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4934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62A-48B1-902E-263E-18712065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Osteology of the lower limbs - Femur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A24F1-EA1A-0406-9405-D1D217A261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femur is the longest and strongest bone in the body</a:t>
            </a:r>
          </a:p>
          <a:p>
            <a:r>
              <a:rPr lang="en-US" dirty="0"/>
              <a:t>Divided into proximal end, shaft and distal end</a:t>
            </a:r>
          </a:p>
          <a:p>
            <a:r>
              <a:rPr lang="en-US" dirty="0"/>
              <a:t>The proximal end features the head, neck, greater and lesser trochanters</a:t>
            </a:r>
          </a:p>
          <a:p>
            <a:r>
              <a:rPr lang="en-US" dirty="0"/>
              <a:t>The shaft is also the body</a:t>
            </a:r>
          </a:p>
          <a:p>
            <a:r>
              <a:rPr lang="en-US" dirty="0"/>
              <a:t>The distal end features the medial and lateral condyles, and the epicondyles, as well as the patella surface</a:t>
            </a:r>
            <a:endParaRPr lang="en-NG" dirty="0"/>
          </a:p>
        </p:txBody>
      </p:sp>
      <p:pic>
        <p:nvPicPr>
          <p:cNvPr id="6" name="Picture 5" descr="Femur | Definition, Function, Diagram, &amp; Facts | Britannica">
            <a:extLst>
              <a:ext uri="{FF2B5EF4-FFF2-40B4-BE49-F238E27FC236}">
                <a16:creationId xmlns:a16="http://schemas.microsoft.com/office/drawing/2014/main" id="{567255D0-3DA1-FAC6-2DEC-422BFADF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966" y="2107547"/>
            <a:ext cx="3193376" cy="360370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933C01-E2DE-1A2F-03CA-9E4122952E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4E1FA7-3FB1-D97C-F4F7-A947F575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FE79-5465-43B2-9401-1FA245FC679B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FD2BCE-1843-31AD-954E-FF381811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6490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F886-9D1F-23D6-C2C1-A2591743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Osteology of the lower limbs - Tibia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5DD1-F957-B0C4-0A81-DFF600EF95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Strong and weight-bearing bone of the lower limb</a:t>
            </a:r>
          </a:p>
          <a:p>
            <a:r>
              <a:rPr lang="en-US" dirty="0"/>
              <a:t>It has a proximal end, shaft and distal end</a:t>
            </a:r>
          </a:p>
          <a:p>
            <a:r>
              <a:rPr lang="en-US" dirty="0"/>
              <a:t>The proximal end features a top flat surface, called Tibial plateau for articulation with the condyles of the femur to form the knee joint</a:t>
            </a:r>
          </a:p>
          <a:p>
            <a:r>
              <a:rPr lang="en-US" dirty="0"/>
              <a:t>The upper-anterior surface at the proximal end features a roughened area called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Tibial tuberosity </a:t>
            </a:r>
            <a:r>
              <a:rPr lang="en-US" dirty="0"/>
              <a:t>for the attachment of the patella ligament</a:t>
            </a:r>
            <a:endParaRPr lang="en-NG" dirty="0"/>
          </a:p>
        </p:txBody>
      </p:sp>
      <p:pic>
        <p:nvPicPr>
          <p:cNvPr id="5" name="Content Placeholder 4" descr="Tibia | Musculoskeletal Key">
            <a:extLst>
              <a:ext uri="{FF2B5EF4-FFF2-40B4-BE49-F238E27FC236}">
                <a16:creationId xmlns:a16="http://schemas.microsoft.com/office/drawing/2014/main" id="{CB2011CC-ADC8-B25F-C0DF-D1068DB972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59641" y="1825625"/>
            <a:ext cx="4406718" cy="435133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D39AF2-0EC4-2E2C-4CAC-3CCDB869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6EBD-08D8-43A2-BF77-3F711AEBDE2D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DB370-4554-1741-EF35-8A9FE424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1272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C6EAA-9305-7FF8-8D1B-E1507163D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Osteology of the lower limbs 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8B670-D9B7-53D5-06B8-C3BF60731A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Other bones: Fibula, Patella, the tarsals, metatarsals and phalanges</a:t>
            </a:r>
          </a:p>
          <a:p>
            <a:r>
              <a:rPr lang="en-US" dirty="0"/>
              <a:t>The Tarsal bones : Calcaneus, Talus, Navicular, Cuboid, three </a:t>
            </a:r>
            <a:r>
              <a:rPr lang="en-US" dirty="0" err="1"/>
              <a:t>cuneifroms</a:t>
            </a:r>
            <a:endParaRPr lang="en-NG" dirty="0"/>
          </a:p>
        </p:txBody>
      </p:sp>
      <p:pic>
        <p:nvPicPr>
          <p:cNvPr id="5" name="Content Placeholder 4" descr="Tarsal bones | Radiology Reference Article | Radiopaedia.org">
            <a:extLst>
              <a:ext uri="{FF2B5EF4-FFF2-40B4-BE49-F238E27FC236}">
                <a16:creationId xmlns:a16="http://schemas.microsoft.com/office/drawing/2014/main" id="{A5E8A2A3-D368-ED01-B9B5-3A346B4779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57975" y="1896269"/>
            <a:ext cx="4210050" cy="421005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819856-86B6-0DEB-D391-400053C7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75C9-DDB7-4D0D-B27C-E5A0B4219C27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15700-4ADD-A3BA-8838-DB7CC83B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289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6F4F-93F2-67F6-F74F-42B99037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Venous drainage of the lower limbs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FAD9C-6FAA-615F-8A67-9751B70BB2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venous drainage is divided into the following;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superficial veins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Deep veins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Perforating veins</a:t>
            </a:r>
            <a:endParaRPr lang="en-NG" dirty="0"/>
          </a:p>
        </p:txBody>
      </p:sp>
      <p:pic>
        <p:nvPicPr>
          <p:cNvPr id="5" name="Content Placeholder 4" descr="Anatomy of the lower-limb venous system and assessment of venous insufficiency | Radiology Key">
            <a:extLst>
              <a:ext uri="{FF2B5EF4-FFF2-40B4-BE49-F238E27FC236}">
                <a16:creationId xmlns:a16="http://schemas.microsoft.com/office/drawing/2014/main" id="{23DD3CEB-4FC0-8BDC-EEF7-9F1D51A01D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00407" y="1825625"/>
            <a:ext cx="3567659" cy="435133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5A9408-1206-5B12-934E-944E6275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986A-D8C8-4F58-8032-B5713D55DE17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7091F-9F8D-6CDC-D622-F6565444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7676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37AE8-854A-6A41-405A-EC167791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Venous drainage of the lower limbs</a:t>
            </a:r>
            <a:endParaRPr lang="en-NG" dirty="0"/>
          </a:p>
        </p:txBody>
      </p:sp>
      <p:pic>
        <p:nvPicPr>
          <p:cNvPr id="5" name="Content Placeholder 4" descr="Venous Drainage of the Lower Limb - TeachMeAnatomy">
            <a:extLst>
              <a:ext uri="{FF2B5EF4-FFF2-40B4-BE49-F238E27FC236}">
                <a16:creationId xmlns:a16="http://schemas.microsoft.com/office/drawing/2014/main" id="{FED9EA4B-1F53-4600-0286-2D84F1EE88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8391" y="1825625"/>
            <a:ext cx="3961218" cy="4351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5335A-053A-EA82-29F8-ED48BC8613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Clinicals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Peripheral heart pump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Venous insufficiency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Varicose veins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Deep venous Thrombosis (DVT)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NG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73692A-3C9A-47F0-8A97-9A28DE64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D18F-CD1B-45DE-ABD6-83548EA193A4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1DFB4-D336-435A-62FB-9AF96BB3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7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43050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F8D1-1630-A36E-9309-3DC52068E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9098"/>
          </a:xfrm>
        </p:spPr>
        <p:txBody>
          <a:bodyPr/>
          <a:lstStyle/>
          <a:p>
            <a:r>
              <a:rPr lang="en-US" dirty="0"/>
              <a:t>Blood supply to the lower limbs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B8936-5B74-DD5F-D459-426017AA1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73967"/>
            <a:ext cx="5181600" cy="460299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 abdominal aorta at the level of the L4 bifurcates into right and left common iliac arteries</a:t>
            </a:r>
          </a:p>
          <a:p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 external carotid artery (branch of common iliac artery) enters the pelvis running behind the inguinal ligament to become the femoral artery</a:t>
            </a:r>
            <a:endParaRPr lang="en-US" dirty="0"/>
          </a:p>
          <a:p>
            <a:r>
              <a:rPr lang="en-US" dirty="0"/>
              <a:t>The femoral artery is the main supply to the lower limbs</a:t>
            </a:r>
          </a:p>
          <a:p>
            <a:r>
              <a:rPr lang="en-US" dirty="0"/>
              <a:t>It gives off the large profunda femoris (deep femoral) artery in the femoral triangle, which supplies the deep and posterior/medial muscles of the thigh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11" name="Content Placeholder 10" descr="Image result for lower limb blood supply diagram">
            <a:extLst>
              <a:ext uri="{FF2B5EF4-FFF2-40B4-BE49-F238E27FC236}">
                <a16:creationId xmlns:a16="http://schemas.microsoft.com/office/drawing/2014/main" id="{3694CD36-0D26-75A4-2381-5F9504EF98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85416" y="1573967"/>
            <a:ext cx="3897443" cy="4602996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7A9921-D6A9-214F-DB54-7CB34D2B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5F75E-A467-4B84-95C2-1FA2971F7C99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41186DE-24A6-6263-7109-8D3095C8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8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8735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8169-B6D9-705C-2A83-F5B1FEA4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gluteal region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5F0BF-8832-C45F-9F0B-36C154B109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gluteal region (hip and buttocks) is the prominent area posterior to the pelvis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It is bounded superiorly by the iliac crest, greater trochanter, and ASIS and inferiorly by the gluteal fold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gluteal fold also demarcates the superior boundary of the thigh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intergluteal cleft separates the buttocks from each other</a:t>
            </a:r>
            <a:endParaRPr kumimoji="0" lang="en-NG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9FF05-29C9-022A-E9CE-8CF64BFBCB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49945B-1A6B-726B-F20A-A38F1EF07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79" y="2200275"/>
            <a:ext cx="3048859" cy="336107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DC4752-6FD5-62B2-AD99-7E3CF2D4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D76B4-7BF2-48B6-B068-1D7F300BD88E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534EB-954F-DAB1-EB06-42C1F912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9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76372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BFD5A-195C-7B91-EA41-2C2F16925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 gluteal region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847B0-4CD8-C63E-37DA-A38D5FA8B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2200"/>
            <a:ext cx="5181600" cy="4654763"/>
          </a:xfrm>
        </p:spPr>
        <p:txBody>
          <a:bodyPr>
            <a:normAutofit fontScale="92500"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Note that the parts of the bony pelvis—hip bones, sacrum, and coccyx—are held together by gluteal ligaments (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sacrotuberous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and sacrospinous ligaments)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These  convert the sciatic notches in the hip bones into the greater and lesser sciatic foramina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The greater sciatic foramen is the passageway for structures entering or leaving the pelvis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But the lesser sciatic foramen is a passageway for structures entering or leaving the perineum</a:t>
            </a:r>
            <a:endParaRPr kumimoji="0" lang="en-NG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13634-E1E9-02BD-2FD4-0B1B71C94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4244"/>
            <a:ext cx="5181600" cy="5022720"/>
          </a:xfrm>
        </p:spPr>
        <p:txBody>
          <a:bodyPr>
            <a:normAutofit fontScale="92500" lnSpcReduction="10000"/>
          </a:bodyPr>
          <a:lstStyle/>
          <a:p>
            <a:endParaRPr lang="en-NG" dirty="0"/>
          </a:p>
        </p:txBody>
      </p:sp>
      <p:pic>
        <p:nvPicPr>
          <p:cNvPr id="5" name="Picture 8" descr="The Greater Sciatic Foramen and Lesser ...">
            <a:extLst>
              <a:ext uri="{FF2B5EF4-FFF2-40B4-BE49-F238E27FC236}">
                <a16:creationId xmlns:a16="http://schemas.microsoft.com/office/drawing/2014/main" id="{AFBB72EA-BEB0-2E4B-8BEE-A7C1D60B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896" y="1522200"/>
            <a:ext cx="3019425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ciatic foramina">
            <a:extLst>
              <a:ext uri="{FF2B5EF4-FFF2-40B4-BE49-F238E27FC236}">
                <a16:creationId xmlns:a16="http://schemas.microsoft.com/office/drawing/2014/main" id="{3C77D286-FA90-7F12-26D6-C07C584FB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3567659"/>
            <a:ext cx="3686175" cy="240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FF72A-DEC6-BB53-C1AA-253FBC0C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7B61E-E2CC-412B-9242-7F5B31E94DF8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92EB5E-EC4C-3A75-AA2E-D1A619B6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10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36703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D294-789E-4015-10D3-668D978D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The gluteal muscles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05096-5105-D0B3-1EF4-0B8E5E8620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Has 2 layers: superficial and deep</a:t>
            </a:r>
          </a:p>
          <a:p>
            <a:r>
              <a:rPr lang="en-US" dirty="0"/>
              <a:t>superficial layer: consists of three large glutei (maximus, medius, and </a:t>
            </a:r>
            <a:r>
              <a:rPr lang="en-US" dirty="0" err="1"/>
              <a:t>minimus</a:t>
            </a:r>
            <a:r>
              <a:rPr lang="en-US" dirty="0"/>
              <a:t>) and the tensor fasciae </a:t>
            </a:r>
            <a:r>
              <a:rPr lang="en-US" dirty="0" err="1"/>
              <a:t>latae</a:t>
            </a:r>
            <a:endParaRPr lang="en-US" dirty="0"/>
          </a:p>
          <a:p>
            <a:r>
              <a:rPr lang="en-US" dirty="0"/>
              <a:t>deep layer: consists of smaller muscles, the piriformis, obturator internus, superior and inferior gemelli, and quadratus femoris</a:t>
            </a:r>
          </a:p>
          <a:p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5D2E1-C347-0D61-DF6B-794E9CE01E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gluteus maximus: extension and lateral rotation of the thigh</a:t>
            </a:r>
          </a:p>
          <a:p>
            <a:r>
              <a:rPr lang="en-US" dirty="0"/>
              <a:t>Gluteus medius and </a:t>
            </a:r>
            <a:r>
              <a:rPr lang="en-US" dirty="0" err="1"/>
              <a:t>minimus</a:t>
            </a:r>
            <a:r>
              <a:rPr lang="en-US" dirty="0"/>
              <a:t>: abductors and medial rotators of the thigh</a:t>
            </a:r>
          </a:p>
          <a:p>
            <a:r>
              <a:rPr lang="en-US" dirty="0"/>
              <a:t>tensor fasciae </a:t>
            </a:r>
            <a:r>
              <a:rPr lang="en-US" dirty="0" err="1"/>
              <a:t>latae</a:t>
            </a:r>
            <a:r>
              <a:rPr lang="en-US" dirty="0"/>
              <a:t> is primarily a flexor of the thigh; acts in concert with the iliopsoas and rectus femoris</a:t>
            </a:r>
          </a:p>
          <a:p>
            <a:r>
              <a:rPr lang="en-US" dirty="0"/>
              <a:t>The deep muscles are lateral rotators of the thigh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A320A-C000-631A-4265-71ABEC96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526F-60BC-4BED-B950-F4C792DB2764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FFF7B-A96E-F1BE-0EEB-F0AC18E3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6856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F670-4747-48AC-0763-F64D93E1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prstClr val="black"/>
                </a:solidFill>
                <a:latin typeface="Calibri Light" panose="020F0302020204030204"/>
              </a:rPr>
              <a:t>G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luteal region - Blood supply 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5A6D2-D1EB-9FA1-B0D0-BC15D99574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arteries supplying this region are branches of the internal iliac artery</a:t>
            </a:r>
          </a:p>
          <a:p>
            <a:r>
              <a:rPr lang="en-US" dirty="0"/>
              <a:t>The major gluteal branches of the internal iliac artery are the superior and inferior gluteal arteries and the internal pudendal artery.</a:t>
            </a:r>
          </a:p>
          <a:p>
            <a:r>
              <a:rPr lang="en-US" dirty="0"/>
              <a:t>The superior and inferior gluteal arteries leave the pelvis through the greater sciatic foramen and pass superior and inferior to the piriformis, respectively </a:t>
            </a:r>
          </a:p>
          <a:p>
            <a:r>
              <a:rPr lang="en-US" dirty="0"/>
              <a:t>The internal pudendal artery enters the gluteal region through the greater sciatic foramen inferior to the piriformis and enters the perineum through the lesser sciatic foramen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1D437-297F-8F76-6C02-A39014C715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Superior gluteal artery (SGA):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Superficial branch: gluteus maximus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Deep branch: gluteus medius and </a:t>
            </a:r>
            <a:r>
              <a:rPr lang="en-US" dirty="0" err="1"/>
              <a:t>minimus</a:t>
            </a:r>
            <a:r>
              <a:rPr lang="en-US" dirty="0"/>
              <a:t> and tensor fasciae </a:t>
            </a:r>
            <a:r>
              <a:rPr lang="en-US" dirty="0" err="1"/>
              <a:t>latae</a:t>
            </a:r>
            <a:endParaRPr lang="en-US" dirty="0"/>
          </a:p>
          <a:p>
            <a:r>
              <a:rPr lang="en-US" dirty="0"/>
              <a:t>IGA: Gluteus maximus, obturator internus, quadratus femoris, and superior parts of hamstrings</a:t>
            </a:r>
          </a:p>
          <a:p>
            <a:r>
              <a:rPr lang="en-US" dirty="0"/>
              <a:t>IPA: External genitalia and muscles in the perineal region; does not supply gluteal region</a:t>
            </a:r>
          </a:p>
          <a:p>
            <a:endParaRPr lang="en-NG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ADC5E-8DE6-74AA-D440-1B86B3D6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10FB-DC96-4F10-90D0-A039BD790D91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1AE54-2DC9-90C4-65F6-036BC1EF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62913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9AA0-CDB9-C7DC-EE89-DC6228988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 of the Lower limb - </a:t>
            </a: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The hip joint</a:t>
            </a:r>
            <a:endParaRPr lang="en-N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864D9-0C77-3E5D-E8CF-B836240E6E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Ball and socket type of synovial joint</a:t>
            </a:r>
          </a:p>
          <a:p>
            <a:r>
              <a:rPr lang="en-US" dirty="0"/>
              <a:t>Formed by head of femur (the ball) and acetabulum of the hip bone (the socket)</a:t>
            </a:r>
          </a:p>
          <a:p>
            <a:r>
              <a:rPr lang="en-US" dirty="0"/>
              <a:t>The joint is held in place by the acetabular labrum which deepens the socket and helps grabs the femoral head</a:t>
            </a:r>
          </a:p>
          <a:p>
            <a:r>
              <a:rPr lang="en-US" dirty="0"/>
              <a:t>The transverse acetabular ligament is attached to the rim of the acetabulum and helps hold the joint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68432-54CB-3D6C-C61E-2526031893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E89D50-AB8E-4E08-B19A-D2E873B69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324" y="2586038"/>
            <a:ext cx="3186113" cy="242490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E8EAF9-CDDD-4A71-E270-5C4347D0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F868E-F642-4F3B-A36E-9674D09E06CA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BDBBA-38A1-DA74-1EF9-8B77C409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7544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72672-EF17-C405-95F9-F7445981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The hip joint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F789-FA08-5217-F117-3AAB8EBC84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strong fibrous articular capsule attaches proximally to the acetabulum and transverse acetabular ligament, and distally to the neck of the femur</a:t>
            </a:r>
          </a:p>
          <a:p>
            <a:r>
              <a:rPr lang="en-US" dirty="0"/>
              <a:t>At its distal attachment, it is attached anteriorly to the intertrochanteric line and root of greater trochanter</a:t>
            </a:r>
          </a:p>
          <a:p>
            <a:r>
              <a:rPr lang="en-US" dirty="0"/>
              <a:t>And posteriorly, it runs over the intertrochanteric crest without being attached to it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EBFBB-0404-8C31-3665-5821FFC243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Portions of the capsule thickens to form the hip joint ligaments: iliofemoral, pubofemoral and </a:t>
            </a:r>
            <a:r>
              <a:rPr lang="en-US" dirty="0" err="1"/>
              <a:t>ischiofemoral</a:t>
            </a:r>
            <a:r>
              <a:rPr lang="en-US" dirty="0"/>
              <a:t> ligaments</a:t>
            </a:r>
          </a:p>
          <a:p>
            <a:r>
              <a:rPr lang="en-US" dirty="0"/>
              <a:t>The ligament of the head of femur is attached to the margins of the acetabular notch, transverse acetabular ligament and pit in the head of femur</a:t>
            </a:r>
          </a:p>
          <a:p>
            <a:r>
              <a:rPr lang="en-US" dirty="0"/>
              <a:t>It also contains a small artery to the head of femur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19F0B-47C2-ED55-BBDF-D7D6D39B5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F712-1BCC-4E76-9B98-9A1A77B89E7F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07996-7B63-7689-3251-A9E9E3FD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7196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68A5-628D-AFA3-445B-76A57C584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The hip joint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D5D89-5DB3-E0F9-EB39-FD8488FC3C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u="sng" dirty="0"/>
              <a:t>Movements: </a:t>
            </a:r>
          </a:p>
          <a:p>
            <a:r>
              <a:rPr lang="en-US" dirty="0"/>
              <a:t>Flexion: iliopsoas, sartorius, tensor fascia </a:t>
            </a:r>
            <a:r>
              <a:rPr lang="en-US" dirty="0" err="1"/>
              <a:t>lata</a:t>
            </a:r>
            <a:r>
              <a:rPr lang="en-US" dirty="0"/>
              <a:t>, rectus femoris, pectineus, adductor longus and brevis, anterior part of adductor magnus, </a:t>
            </a:r>
            <a:r>
              <a:rPr lang="en-US" dirty="0" err="1"/>
              <a:t>gracilis</a:t>
            </a:r>
            <a:endParaRPr lang="en-US" dirty="0"/>
          </a:p>
          <a:p>
            <a:r>
              <a:rPr lang="en-US" dirty="0"/>
              <a:t>Extension: Hamstrings (semi-</a:t>
            </a:r>
            <a:r>
              <a:rPr lang="en-US" dirty="0" err="1"/>
              <a:t>tendinosus</a:t>
            </a:r>
            <a:r>
              <a:rPr lang="en-US" dirty="0"/>
              <a:t>, semi-</a:t>
            </a:r>
            <a:r>
              <a:rPr lang="en-US" dirty="0" err="1"/>
              <a:t>membranosus</a:t>
            </a:r>
            <a:r>
              <a:rPr lang="en-US" dirty="0"/>
              <a:t>, long head of biceps femoris), posterior part of adductor magnus, gluteus maximus</a:t>
            </a:r>
          </a:p>
          <a:p>
            <a:r>
              <a:rPr lang="en-US" dirty="0"/>
              <a:t>Adduction: Gluteus medius and </a:t>
            </a:r>
            <a:r>
              <a:rPr lang="en-US" dirty="0" err="1"/>
              <a:t>minimus</a:t>
            </a:r>
            <a:r>
              <a:rPr lang="en-US" dirty="0"/>
              <a:t>, tensor fascia </a:t>
            </a:r>
            <a:r>
              <a:rPr lang="en-US" dirty="0" err="1"/>
              <a:t>lata</a:t>
            </a:r>
            <a:endParaRPr lang="en-US" dirty="0"/>
          </a:p>
          <a:p>
            <a:r>
              <a:rPr lang="en-US" dirty="0"/>
              <a:t>Adduction: Adductor longus, Adductor brevis, Adductor magnus, </a:t>
            </a:r>
            <a:r>
              <a:rPr lang="en-US" dirty="0" err="1"/>
              <a:t>gracilis</a:t>
            </a:r>
            <a:r>
              <a:rPr lang="en-US" dirty="0"/>
              <a:t>, pectineus, obturator externus</a:t>
            </a:r>
          </a:p>
          <a:p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A973F-904B-4720-FE24-907FF7D807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dirty="0"/>
              <a:t>Medial rotation: anterior </a:t>
            </a:r>
            <a:r>
              <a:rPr lang="en-US" sz="3100" dirty="0" err="1"/>
              <a:t>fibres</a:t>
            </a:r>
            <a:r>
              <a:rPr lang="en-US" sz="3100" dirty="0"/>
              <a:t> of gluteus medius, gluteus </a:t>
            </a:r>
            <a:r>
              <a:rPr lang="en-US" sz="3100" dirty="0" err="1"/>
              <a:t>minimus</a:t>
            </a:r>
            <a:r>
              <a:rPr lang="en-US" sz="3100" dirty="0"/>
              <a:t>, </a:t>
            </a:r>
            <a:r>
              <a:rPr lang="en-US" sz="3100" dirty="0" err="1"/>
              <a:t>tensior</a:t>
            </a:r>
            <a:r>
              <a:rPr lang="en-US" sz="3100" dirty="0"/>
              <a:t> fascia </a:t>
            </a:r>
            <a:r>
              <a:rPr lang="en-US" sz="3100" dirty="0" err="1"/>
              <a:t>lata</a:t>
            </a:r>
            <a:endParaRPr lang="en-US" sz="3100" dirty="0"/>
          </a:p>
          <a:p>
            <a:r>
              <a:rPr lang="en-US" sz="3100" dirty="0"/>
              <a:t>Lateral rotation: obturator externus, obturator internus, gemelli, piriformis, quadratus femoris, gluteus maximus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15AF8-2238-6E03-3676-8570A4675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295" y="4175232"/>
            <a:ext cx="2550272" cy="214312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AA3F6F-0759-6C06-3FE4-C6D1A675E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D4BD-3511-4B58-81F2-0F5C9C507E19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F1E18-5A89-6D81-E574-E51A8F45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63636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63997-126E-5342-176E-14AE972F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The hip joint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AFAB0-E4A7-8900-EF21-88A0511C94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u="sng" dirty="0"/>
              <a:t>Innervation: </a:t>
            </a:r>
          </a:p>
          <a:p>
            <a:r>
              <a:rPr lang="en-US" dirty="0"/>
              <a:t>Anterior: femoral n, obturator n</a:t>
            </a:r>
          </a:p>
          <a:p>
            <a:r>
              <a:rPr lang="en-US" dirty="0"/>
              <a:t>Posterior: superior gluteal n, Nerve to quadratus femoris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Blood supply:</a:t>
            </a:r>
          </a:p>
          <a:p>
            <a:r>
              <a:rPr lang="en-US" dirty="0"/>
              <a:t>Medial and lateral circumflex femoral arteries (br. of deep artery of the thigh and occasionally arises from femoral artery)</a:t>
            </a:r>
          </a:p>
          <a:p>
            <a:r>
              <a:rPr lang="en-US" dirty="0"/>
              <a:t>Artery to head of femur (br. of obturator artery)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1EFFF-CCF7-1733-2D18-76880A128F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u="sng" dirty="0"/>
              <a:t>Clinicals</a:t>
            </a:r>
          </a:p>
          <a:p>
            <a:r>
              <a:rPr lang="en-US" dirty="0"/>
              <a:t>Femoral neck fractures</a:t>
            </a:r>
          </a:p>
          <a:p>
            <a:r>
              <a:rPr lang="en-US" dirty="0"/>
              <a:t>Avascular necrosis of head of femur (AVN)</a:t>
            </a:r>
          </a:p>
          <a:p>
            <a:r>
              <a:rPr lang="en-US" dirty="0"/>
              <a:t>Hip dislocation</a:t>
            </a:r>
          </a:p>
          <a:p>
            <a:r>
              <a:rPr lang="en-US" dirty="0"/>
              <a:t>Hip replacement surgery</a:t>
            </a:r>
          </a:p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B2349-7FE9-D83C-3179-AA26DD129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9" y="4462472"/>
            <a:ext cx="2362200" cy="193357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CCDFC0-05C0-C001-E3D2-FDCD4548E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0065-0A39-49C9-8431-9471CA8574ED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A9453-E2E6-C382-29C6-E15DFC98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82655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3D0F-D95F-7FF9-29D1-B018A35A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Knee joint</a:t>
            </a:r>
            <a:endParaRPr lang="en-NG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10CB-7BF9-97FF-847D-E430929519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NG" dirty="0"/>
              <a:t>The knee joint is </a:t>
            </a:r>
            <a:r>
              <a:rPr lang="en-US" dirty="0"/>
              <a:t>a hinge type of joint, </a:t>
            </a:r>
            <a:r>
              <a:rPr lang="en-NG" dirty="0"/>
              <a:t>formed by the articulation of three main bones</a:t>
            </a:r>
            <a:endParaRPr lang="en-US" dirty="0"/>
          </a:p>
          <a:p>
            <a:r>
              <a:rPr lang="en-US" dirty="0"/>
              <a:t>Femur: The distal end features medial and lateral condyles that articulate with the tibia</a:t>
            </a:r>
          </a:p>
          <a:p>
            <a:r>
              <a:rPr lang="en-US" dirty="0"/>
              <a:t>Tibia (Shinbone): The proximal end (tibial plateau) receives the femoral condyles </a:t>
            </a:r>
          </a:p>
          <a:p>
            <a:r>
              <a:rPr lang="en-US" dirty="0"/>
              <a:t>Patella (Kneecap): A sesamoid bone located within the quadriceps tendon that slides over the anterior surface of the distal femur (patellofemoral joint), increasing the leverage of the quadriceps muscle</a:t>
            </a:r>
          </a:p>
          <a:p>
            <a:endParaRPr lang="en-US" dirty="0"/>
          </a:p>
        </p:txBody>
      </p:sp>
      <p:pic>
        <p:nvPicPr>
          <p:cNvPr id="5" name="Content Placeholder 4" descr="Anatomy of the Knee - Miles Callahan | Hobart Tasmania">
            <a:extLst>
              <a:ext uri="{FF2B5EF4-FFF2-40B4-BE49-F238E27FC236}">
                <a16:creationId xmlns:a16="http://schemas.microsoft.com/office/drawing/2014/main" id="{B405E944-4F81-E508-B4FE-AC17F0A4FD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57923" y="1825625"/>
            <a:ext cx="4610153" cy="435133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9C100F-2775-9405-16DF-08B20E4F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F1E-BA71-4A66-99D6-C60D22623ADC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36B85-E476-FB6D-319E-B1B2488E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17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59973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2C96D-A245-733B-09FE-6EB9EC22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Ankle joint</a:t>
            </a:r>
            <a:endParaRPr lang="en-NG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73055-6791-EE4E-1F9B-98E45ACC9C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It is a hinge-type of synovial joint</a:t>
            </a:r>
          </a:p>
          <a:p>
            <a:r>
              <a:rPr lang="en-US" dirty="0"/>
              <a:t>Located between the distal ends of tibia and fibula and the superior parts of talus</a:t>
            </a:r>
          </a:p>
          <a:p>
            <a:r>
              <a:rPr lang="en-US" dirty="0"/>
              <a:t>Articular surfaces formed by;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distal ends of the tibia and fibula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along with the inferior transverse part of the posterior tibiofibular ligament</a:t>
            </a:r>
          </a:p>
          <a:p>
            <a:r>
              <a:rPr lang="en-US" dirty="0"/>
              <a:t>This forms a malleolar mortise (deep socket)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Then the pulley-shaped trochlea of the talus fits into this mortise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DEB-6398-2109-5830-37803410EA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tibia articulates with the talus in two places: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Its inferior surface forms the roof of the malleolar mortise, transferring the body's weight to the talus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Its medial malleolus articulates with the medial surface of the talus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  Note</a:t>
            </a:r>
          </a:p>
          <a:p>
            <a:r>
              <a:rPr lang="en-US" dirty="0"/>
              <a:t>The trochlea is the rounded superior articular surface of the talus</a:t>
            </a:r>
          </a:p>
          <a:p>
            <a:r>
              <a:rPr lang="en-US" dirty="0"/>
              <a:t>The medial surface of the lateral malleolus of fibula articulates with the lateral surface of the talus</a:t>
            </a:r>
          </a:p>
          <a:p>
            <a:endParaRPr lang="en-NG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02E3D-7382-EE4D-205B-05CAD83B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3754-4432-44B8-AFA1-2503414B19D4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73735-EEB7-19DF-64AE-60C78FCC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18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75003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B0F5-C1BE-8454-28BB-F98A0658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Ankle joint</a:t>
            </a:r>
            <a:endParaRPr lang="en-NG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7BDA6-9159-D371-6A2C-5A5C3191C3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6" name="Content Placeholder 5" descr="Ankle Joint: Anatomy | Concise Medical Knowledge">
            <a:extLst>
              <a:ext uri="{FF2B5EF4-FFF2-40B4-BE49-F238E27FC236}">
                <a16:creationId xmlns:a16="http://schemas.microsoft.com/office/drawing/2014/main" id="{51127DE2-EA32-51B5-5B7A-45FB2F7B3C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10859" y="1825625"/>
            <a:ext cx="3904282" cy="435133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6F072-767F-F19C-A28B-9B851881E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49" y="2528888"/>
            <a:ext cx="3859031" cy="282260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5AC64-B3FF-57D0-4F39-F9B7A073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E4CE-EA26-4406-931E-3B5FEF8D4B85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5D6FF1-047E-71DA-F52C-A351CF66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19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53143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7A85-EA8F-D037-6CFF-09306820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Ankle joint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EAB06-588B-C62B-64CC-1B3271573B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malleoli grip the talus tightly as it rocks in the mortise during movements of the ankle joint</a:t>
            </a:r>
          </a:p>
          <a:p>
            <a:r>
              <a:rPr lang="en-US" dirty="0"/>
              <a:t>The grip of the malleoli on the trochlea is strongest during dorsiflexion of the foot </a:t>
            </a:r>
          </a:p>
          <a:p>
            <a:r>
              <a:rPr lang="en-US" dirty="0"/>
              <a:t>This movement forces the wider, anterior part of the trochlea posteriorly, spreading the tibia and fibula slightly apart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70ECA-777D-C551-8816-F0271D30AA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ankle joint is relatively unstable during plantarflexion</a:t>
            </a:r>
          </a:p>
          <a:p>
            <a:r>
              <a:rPr lang="en-US" dirty="0"/>
              <a:t>This is because the trochlea is narrower posteriorly and therefore lies loosely within the mortise during plantarflexion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F5A52-7939-AEF8-808E-2EB967F1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11" y="4460432"/>
            <a:ext cx="2733675" cy="166687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A1DBC2-22CF-E88C-2ABD-052A5CDF7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ABC5-6892-49C3-922A-E701AE480393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58B8A-E57E-FF51-1A00-CA66CD0F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20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04164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2DB6-6A4D-E7F9-F021-E15A08A0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Ankle joint</a:t>
            </a:r>
            <a:endParaRPr lang="en-NG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920F-118C-BDF1-BEF1-B14F890FB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Pott fracture-dislocation of the ankle</a:t>
            </a:r>
          </a:p>
          <a:p>
            <a:r>
              <a:rPr lang="en-US" dirty="0"/>
              <a:t>occurs when the foot is forcibly everted esp.in contact sports</a:t>
            </a:r>
          </a:p>
          <a:p>
            <a:r>
              <a:rPr lang="en-US" dirty="0"/>
              <a:t>This pulls on the medial ligament, and tearing off the medial malleolus </a:t>
            </a:r>
          </a:p>
          <a:p>
            <a:r>
              <a:rPr lang="en-US" dirty="0"/>
              <a:t>The talus moves laterally, shearing off the lateral malleolus also</a:t>
            </a:r>
          </a:p>
          <a:p>
            <a:r>
              <a:rPr lang="en-US" dirty="0"/>
              <a:t>or, more commonly, breaking the fibula superior to the tibiofibular syndesmosis</a:t>
            </a:r>
          </a:p>
          <a:p>
            <a:r>
              <a:rPr lang="en-US" dirty="0"/>
              <a:t>If the tibia is carried anteriorly, the posterior margin of the distal end of the tibia is also sheared off by the talus</a:t>
            </a:r>
          </a:p>
          <a:p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6E0DF-1EF1-340B-8B22-C16B127687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FA90A-00CF-82F1-67C8-F560E53F5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867" y="3133729"/>
            <a:ext cx="3086096" cy="212407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198F6-659F-79DF-7EB6-4F817812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02F-6EA0-4D20-8466-1A83D8D4DEBF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52FC1-F88F-2FFA-AAF7-9DF1593B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93925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0616-F5B1-C308-984F-C05145DB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Thigh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6E2BD-88FA-3BDC-3B90-835306DB5F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Made up of 3 compartments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Anterior Compartment (Extensors):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Quadriceps Femoris: Comprises the rectus femoris, vastus medialis, vastus lateralis, and vastus intermedius. They extend the knee and help flex the hip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Sartorius: A long, strap-like muscle that helps flex, abduct, and laterally rotate the hip, and flex the knee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Iliopsoas &amp; Pectineus: Assist with hip and thigh flexion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Innervation: femoral nerve</a:t>
            </a:r>
          </a:p>
          <a:p>
            <a:pPr>
              <a:buFont typeface="Wingdings" panose="05000000000000000000" pitchFamily="2" charset="2"/>
              <a:buChar char="ü"/>
            </a:pPr>
            <a:endParaRPr lang="en-NG" dirty="0"/>
          </a:p>
        </p:txBody>
      </p:sp>
      <p:pic>
        <p:nvPicPr>
          <p:cNvPr id="5" name="Content Placeholder 4" descr="Thigh: Anatomy | Concise Medical Knowledge">
            <a:extLst>
              <a:ext uri="{FF2B5EF4-FFF2-40B4-BE49-F238E27FC236}">
                <a16:creationId xmlns:a16="http://schemas.microsoft.com/office/drawing/2014/main" id="{EB24F5F7-F28C-FD16-91A3-BE67537C9D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91300" y="1915319"/>
            <a:ext cx="4343400" cy="417195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5D62DBF-87A3-2590-FBC3-6499F7D5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0F2D-33BD-4C25-93E8-2A4D1A6691FC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46532-007C-D583-251E-ED825F41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75720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6BB0F-F1A8-9CC5-DB98-D1725955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Thigh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A117F-4527-19F5-A046-CCBC0B2C6D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Medial Compartment (Adductors):</a:t>
            </a:r>
          </a:p>
          <a:p>
            <a:r>
              <a:rPr lang="en-US" dirty="0"/>
              <a:t>Comprises the adductor longus, adductor brevis, adductor magnus, </a:t>
            </a:r>
            <a:r>
              <a:rPr lang="en-US" dirty="0" err="1"/>
              <a:t>gracilis</a:t>
            </a:r>
            <a:r>
              <a:rPr lang="en-US" dirty="0"/>
              <a:t>, and pectineus</a:t>
            </a:r>
          </a:p>
          <a:p>
            <a:r>
              <a:rPr lang="en-US" dirty="0"/>
              <a:t>Action: Adduction of the thigh and helps stabilize the pelvis</a:t>
            </a:r>
          </a:p>
          <a:p>
            <a:r>
              <a:rPr lang="en-US" dirty="0"/>
              <a:t>Innervation: Primarily supplied by the obturator nerve (with dual innervation from the sciatic nerve for part of the adductor magnus)</a:t>
            </a:r>
          </a:p>
          <a:p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436B0-CABD-D15A-6FCB-21D6CAA2A5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Posterior Compartment (Hamstrings):</a:t>
            </a:r>
          </a:p>
          <a:p>
            <a:r>
              <a:rPr lang="en-US" dirty="0"/>
              <a:t>Comprises the biceps femoris, semitendinosus, and semimembranosus.</a:t>
            </a:r>
          </a:p>
          <a:p>
            <a:r>
              <a:rPr lang="en-US" dirty="0"/>
              <a:t>Action: flexes the knee and extends (straighten) the hip</a:t>
            </a:r>
          </a:p>
          <a:p>
            <a:r>
              <a:rPr lang="en-US" dirty="0"/>
              <a:t>Innervation:  Sciatic nerve (tibial and common fibular divisions)</a:t>
            </a:r>
          </a:p>
          <a:p>
            <a:endParaRPr lang="en-NG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623AB-B578-5942-0BC6-CE62F87C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06CA-4861-48AE-A259-301A5C233F26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96D88-B67F-8871-8316-4D86AC8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34716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287BB-9DC8-4CFB-3ED3-1BB8DCE9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Thigh – Femoral triangle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D7A99-9E50-54D9-BE46-281C87B578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femoral triangle is a wedge-shaped subfascial depression located at the upper third of the anterior thigh</a:t>
            </a:r>
          </a:p>
          <a:p>
            <a:r>
              <a:rPr lang="en-US" dirty="0"/>
              <a:t>It is bounded superiorly by the inguinal ligament, medially by adductor longus and laterally by sartorius</a:t>
            </a:r>
          </a:p>
          <a:p>
            <a:r>
              <a:rPr lang="en-US" dirty="0"/>
              <a:t>Roof by deep fascia, floor by IPPA (iliopsoas, pectineus and adductor longus)</a:t>
            </a:r>
          </a:p>
          <a:p>
            <a:r>
              <a:rPr lang="en-US" dirty="0"/>
              <a:t>It is a passageway for nerves and vessels thus forming its contents: femoral nerve, femoral artery, femoral vein, femoral canal and deep inguinal lymph nodes</a:t>
            </a:r>
            <a:endParaRPr lang="en-NG" dirty="0"/>
          </a:p>
        </p:txBody>
      </p:sp>
      <p:pic>
        <p:nvPicPr>
          <p:cNvPr id="5" name="Content Placeholder 4" descr="Femoral triangle - MEDizzy">
            <a:extLst>
              <a:ext uri="{FF2B5EF4-FFF2-40B4-BE49-F238E27FC236}">
                <a16:creationId xmlns:a16="http://schemas.microsoft.com/office/drawing/2014/main" id="{F134108A-F822-23C7-A32C-8BBCA3913F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87302" y="1825625"/>
            <a:ext cx="3551395" cy="435133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F42762-82F8-C4B1-0EC8-E996DD3E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8DE0-F5DC-4FD4-8CEE-211B881B98A8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DAB91-8C42-B361-DE2B-EBDA31F8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87542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76886-6662-B353-C87C-BBDF7E96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leg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4C74B-E9D2-207D-51B5-58CB37BB7B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Region between knee and ankle</a:t>
            </a:r>
          </a:p>
          <a:p>
            <a:r>
              <a:rPr lang="en-US" dirty="0"/>
              <a:t>The leg is divided into three tight fascial compartments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Anterior (Extensors/dorsiflexors)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Tibialis anterior, extensor digitorum longus, extensor hallucis longus, and fibularis tertius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Action: extends toes, dorsiflexes foot (to lift the foot upward)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Posterior (Flexors/Plantarflexors)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Gastrocnemius, soleus, plantaris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Lateral (Evertors)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Fibularis (peroneus) longus and fibularis brevis</a:t>
            </a:r>
            <a:endParaRPr lang="en-NG" dirty="0"/>
          </a:p>
        </p:txBody>
      </p:sp>
      <p:pic>
        <p:nvPicPr>
          <p:cNvPr id="5" name="Content Placeholder 4" descr="Leg Muscle Anatomy | Arthritis Knee Pain Centers">
            <a:extLst>
              <a:ext uri="{FF2B5EF4-FFF2-40B4-BE49-F238E27FC236}">
                <a16:creationId xmlns:a16="http://schemas.microsoft.com/office/drawing/2014/main" id="{5CC713C1-846F-8584-9721-2A13C4769E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17915" y="1825625"/>
            <a:ext cx="3890170" cy="435133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326B89-9EED-59BB-3F8D-2C452B0A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1648-22F3-4123-A6F9-8C8AB3EB101C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3653B-A299-2E74-8222-8C15C9BE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19280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7B24-F269-287B-25FE-8CCC2839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Popliteal fossa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0F191-0633-6ACA-FC4D-7702406F8A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Diamond-shaped depression at back of knee and serves as passageway for neurovascular structures</a:t>
            </a:r>
          </a:p>
          <a:p>
            <a:r>
              <a:rPr lang="en-US" dirty="0"/>
              <a:t>Boundaries: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Superomedial: Semimembranosus and semitendinosus muscles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Superolateral: Biceps femoris muscle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Inferomedial: Medial head of the gastrocnemius muscle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Inferolateral: Lateral head of the gastrocnemius and the plantaris muscle</a:t>
            </a: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C126B-3B0E-C273-75D0-884324BE89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Floor (anterior wall): Popliteal surface of the femur, knee joint capsule, and popliteus muscle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Roof: Skin and popliteal fascia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Contents: sciatic nerve and its terminal branches (tibial and common peroneal), popliteal artery and vein, popliteal lymph nodes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Clinicals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Baker’s cyst: inflammation of semimembranosus bursa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Popliteal artery aneurysm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Popliteal lymphadenopathy</a:t>
            </a:r>
            <a:endParaRPr lang="en-NG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BE867-1277-B09C-70D0-16E7C2B1F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9E77-6FB4-404C-90EF-9434AD60EBED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C0299-2831-1AB6-1D85-C2845BF1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71964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4E82-F5B1-F930-C9AF-475AAFFB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Popliteal fossa</a:t>
            </a:r>
            <a:endParaRPr lang="en-NG" dirty="0"/>
          </a:p>
        </p:txBody>
      </p:sp>
      <p:pic>
        <p:nvPicPr>
          <p:cNvPr id="5" name="Content Placeholder 4" descr="Popliteal fossa - Wikipedia">
            <a:extLst>
              <a:ext uri="{FF2B5EF4-FFF2-40B4-BE49-F238E27FC236}">
                <a16:creationId xmlns:a16="http://schemas.microsoft.com/office/drawing/2014/main" id="{4D697396-FAC9-8160-27BC-895FE5A659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93889" y="1825625"/>
            <a:ext cx="3267855" cy="4351338"/>
          </a:xfrm>
          <a:prstGeom prst="rect">
            <a:avLst/>
          </a:prstGeom>
        </p:spPr>
      </p:pic>
      <p:pic>
        <p:nvPicPr>
          <p:cNvPr id="6" name="Content Placeholder 5" descr="The Popliteal Fossa - Borders - Contents - TeachMeAnatomy">
            <a:extLst>
              <a:ext uri="{FF2B5EF4-FFF2-40B4-BE49-F238E27FC236}">
                <a16:creationId xmlns:a16="http://schemas.microsoft.com/office/drawing/2014/main" id="{9EF71CFE-2B90-E0BB-3C77-48893C6FB6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314366"/>
            <a:ext cx="5181600" cy="337385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8E846-1671-70D8-F4C1-C249FCE94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8A2FC-133C-478C-B15F-37B769B53A71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8F9DD1-11D2-0C43-EA7E-FF24317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27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39396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94AD-4323-EF68-9866-E973924F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Foot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2B09C-76B2-997D-1A9F-8739D53CF7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Divided into 3 main regions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Hindfoot: Formed by the talus (ankle bone that connects to the tibia and fibula) and the calcaneus (heel bone)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Midfoot: formed by the navicular, cuboid, and three cuneiforms (medial, intermediate, and lateral)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Forefoot: Composed of five metatarsals (from big toe to little toe) and 14 phalanges </a:t>
            </a: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8A096-D792-F4A3-FFB0-307033B2DC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muscle compartment is divided surgically into 3 by the medial and lateral intermuscular septa of the deep plantar fascia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Lateral, intermediate and medial compartments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For descriptive purposes, the muscle compartments is divided into four layers, from the plantar to the dorsal surface</a:t>
            </a:r>
          </a:p>
          <a:p>
            <a:pPr>
              <a:buFont typeface="Wingdings" panose="05000000000000000000" pitchFamily="2" charset="2"/>
              <a:buChar char="ü"/>
            </a:pPr>
            <a:endParaRPr lang="en-NG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EC90-C0F9-8086-8879-F14EA918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EB685-BC59-4319-BDFD-4AC0811CFD12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E278F-B822-8BD0-3322-EFF77598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28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81757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97F6-C8C1-C06C-6643-95BB3E82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Arches of the Foot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38319-BB06-DA26-CCE1-DDF08A8768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This is a skeletal framework that acts as a springboard for the foot</a:t>
            </a:r>
          </a:p>
          <a:p>
            <a:r>
              <a:rPr lang="en-US" dirty="0"/>
              <a:t>It transmits weight from the leg to the ground</a:t>
            </a:r>
          </a:p>
          <a:p>
            <a:r>
              <a:rPr lang="en-US" dirty="0"/>
              <a:t>It provides motion stability</a:t>
            </a:r>
          </a:p>
          <a:p>
            <a:r>
              <a:rPr lang="en-US" dirty="0"/>
              <a:t>It is formed by the tarsal bones, metatarsals and plantar ligaments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Transverse arch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anterior transverse arch (metatarsal bases/heads) and a posterior transverse arch (cuboid and cuneiforms)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Supported by the fibularis longus tendon and interosseous/plantar ligaments</a:t>
            </a:r>
          </a:p>
          <a:p>
            <a:endParaRPr lang="en-US" dirty="0"/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04F5C1-E875-58EE-9CAB-AF999EA3D0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52700" y="1825625"/>
            <a:ext cx="4820600" cy="435133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0B9D1-76E3-B1D8-0D60-3B9E9A81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BE06-FD30-4A36-91DB-29B36E2FF10F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E750B5-0B10-22D4-60BB-B5A5EED1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29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25799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F94C-8E1B-BF9A-71D9-297A0325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Arches of the Foot</a:t>
            </a: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F630E-202E-F1D8-BE2A-1B9B06A374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Medial longitudinal arch: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Calcaneus, talus, navicular, three cuneiforms, and the first three metatarsals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Supported by the tibialis posterior muscle, spring ligament, and plantar aponeurosis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Lateral longitudinal arch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Calcaneus, cuboid, and the fourth and fifth metatarsals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Supported by the long and short plantar ligaments and fibularis muscles</a:t>
            </a:r>
            <a:endParaRPr kumimoji="0" lang="en-N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8" name="Content Placeholder 7" descr="Know Your Arches - ShoeInsoles.co.uk">
            <a:extLst>
              <a:ext uri="{FF2B5EF4-FFF2-40B4-BE49-F238E27FC236}">
                <a16:creationId xmlns:a16="http://schemas.microsoft.com/office/drawing/2014/main" id="{CB8432E4-A0DE-4E54-4541-09F0D0A9C4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810076"/>
            <a:ext cx="4363387" cy="2382435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297828A-4757-F5EE-C8AA-1A5D1A8D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8F642-89BA-42AF-8EB0-2FD50123F0EB}" type="datetime8">
              <a:rPr lang="en-NG" smtClean="0"/>
              <a:t>18/10/2026 08:08</a:t>
            </a:fld>
            <a:endParaRPr lang="en-NG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187DFC-B41F-4F07-9BC7-BDA067F6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D031-4E2E-4C51-80DE-A62D042CD33E}" type="slidenum">
              <a:rPr lang="en-NG" smtClean="0"/>
              <a:t>30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06851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2267</Words>
  <Application>Microsoft Office PowerPoint</Application>
  <PresentationFormat>Widescreen</PresentationFormat>
  <Paragraphs>269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Calibri Light</vt:lpstr>
      <vt:lpstr>Wingdings</vt:lpstr>
      <vt:lpstr>Office Theme</vt:lpstr>
      <vt:lpstr>Anatomy of the Lower Limbs</vt:lpstr>
      <vt:lpstr>Table of contents</vt:lpstr>
      <vt:lpstr>Osteology of the lower limbs - Femur</vt:lpstr>
      <vt:lpstr>Osteology of the lower limbs - Tibia</vt:lpstr>
      <vt:lpstr>Osteology of the lower limbs </vt:lpstr>
      <vt:lpstr>Venous drainage of the lower limbs</vt:lpstr>
      <vt:lpstr>Venous drainage of the lower limbs</vt:lpstr>
      <vt:lpstr>Blood supply to the lower limbs</vt:lpstr>
      <vt:lpstr>The gluteal region</vt:lpstr>
      <vt:lpstr>The gluteal region</vt:lpstr>
      <vt:lpstr>The gluteal muscles</vt:lpstr>
      <vt:lpstr>Gluteal region - Blood supply </vt:lpstr>
      <vt:lpstr>Joints of the Lower limb - The hip joint</vt:lpstr>
      <vt:lpstr>The hip joint</vt:lpstr>
      <vt:lpstr>The hip joint</vt:lpstr>
      <vt:lpstr>The hip joint</vt:lpstr>
      <vt:lpstr>Knee joint</vt:lpstr>
      <vt:lpstr>Ankle joint</vt:lpstr>
      <vt:lpstr>Ankle joint</vt:lpstr>
      <vt:lpstr>Ankle joint</vt:lpstr>
      <vt:lpstr>Ankle joint</vt:lpstr>
      <vt:lpstr>The Thigh</vt:lpstr>
      <vt:lpstr>The Thigh</vt:lpstr>
      <vt:lpstr>The Thigh – Femoral triangle</vt:lpstr>
      <vt:lpstr>The leg</vt:lpstr>
      <vt:lpstr>Popliteal fossa</vt:lpstr>
      <vt:lpstr>Popliteal fossa</vt:lpstr>
      <vt:lpstr>The Foot</vt:lpstr>
      <vt:lpstr>Arches of the Foot</vt:lpstr>
      <vt:lpstr>Arches of the Foot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64</cp:revision>
  <dcterms:created xsi:type="dcterms:W3CDTF">2026-10-16T15:55:20Z</dcterms:created>
  <dcterms:modified xsi:type="dcterms:W3CDTF">2026-10-18T07:14:48Z</dcterms:modified>
</cp:coreProperties>
</file>