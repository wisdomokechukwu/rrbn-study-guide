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sldIdLst>
    <p:sldId id="256" r:id="rId2"/>
    <p:sldId id="257" r:id="rId3"/>
    <p:sldId id="258" r:id="rId4"/>
    <p:sldId id="283" r:id="rId5"/>
    <p:sldId id="259" r:id="rId6"/>
    <p:sldId id="260" r:id="rId7"/>
    <p:sldId id="261" r:id="rId8"/>
    <p:sldId id="262" r:id="rId9"/>
    <p:sldId id="263" r:id="rId10"/>
    <p:sldId id="264" r:id="rId11"/>
    <p:sldId id="267" r:id="rId12"/>
    <p:sldId id="268" r:id="rId13"/>
    <p:sldId id="269" r:id="rId14"/>
    <p:sldId id="270" r:id="rId15"/>
    <p:sldId id="271" r:id="rId16"/>
    <p:sldId id="265" r:id="rId17"/>
    <p:sldId id="272" r:id="rId18"/>
    <p:sldId id="273" r:id="rId19"/>
    <p:sldId id="274" r:id="rId20"/>
    <p:sldId id="266" r:id="rId21"/>
    <p:sldId id="275" r:id="rId22"/>
    <p:sldId id="276" r:id="rId23"/>
    <p:sldId id="277" r:id="rId24"/>
    <p:sldId id="278" r:id="rId25"/>
    <p:sldId id="279" r:id="rId26"/>
    <p:sldId id="280" r:id="rId27"/>
    <p:sldId id="281" r:id="rId28"/>
    <p:sldId id="282" r:id="rId29"/>
    <p:sldId id="284" r:id="rId30"/>
    <p:sldId id="285" r:id="rId31"/>
    <p:sldId id="286" r:id="rId32"/>
    <p:sldId id="287" r:id="rId33"/>
    <p:sldId id="288" r:id="rId34"/>
    <p:sldId id="289" r:id="rId35"/>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44FB7-B2A0-4322-81D2-1179CE8375A0}" type="datetimeFigureOut">
              <a:rPr lang="en-NG" smtClean="0"/>
              <a:t>18/10/2026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0C7CB-EB7F-4A84-B4F4-872E4DB0E86B}" type="slidenum">
              <a:rPr lang="en-NG" smtClean="0"/>
              <a:t>‹#›</a:t>
            </a:fld>
            <a:endParaRPr lang="en-NG"/>
          </a:p>
        </p:txBody>
      </p:sp>
    </p:spTree>
    <p:extLst>
      <p:ext uri="{BB962C8B-B14F-4D97-AF65-F5344CB8AC3E}">
        <p14:creationId xmlns:p14="http://schemas.microsoft.com/office/powerpoint/2010/main" val="150375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G"/>
          </a:p>
        </p:txBody>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BFA0C7CB-EB7F-4A84-B4F4-872E4DB0E86B}" type="slidenum">
              <a:rPr lang="en-NG" smtClean="0"/>
              <a:t>31</a:t>
            </a:fld>
            <a:endParaRPr lang="en-NG"/>
          </a:p>
        </p:txBody>
      </p:sp>
    </p:spTree>
    <p:extLst>
      <p:ext uri="{BB962C8B-B14F-4D97-AF65-F5344CB8AC3E}">
        <p14:creationId xmlns:p14="http://schemas.microsoft.com/office/powerpoint/2010/main" val="1995711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8C8B-2D92-C916-11C5-79EF1CAF8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CC469560-59D1-5B08-F33C-78BC25081F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B1B03789-4557-E680-4676-CD34779DFE93}"/>
              </a:ext>
            </a:extLst>
          </p:cNvPr>
          <p:cNvSpPr>
            <a:spLocks noGrp="1"/>
          </p:cNvSpPr>
          <p:nvPr>
            <p:ph type="dt" sz="half" idx="10"/>
          </p:nvPr>
        </p:nvSpPr>
        <p:spPr/>
        <p:txBody>
          <a:bodyPr/>
          <a:lstStyle/>
          <a:p>
            <a:fld id="{70D6FC77-AE91-478B-BD5F-B06DAD85DE49}" type="datetime8">
              <a:rPr lang="en-NG" smtClean="0"/>
              <a:t>18/10/2026 08:13</a:t>
            </a:fld>
            <a:endParaRPr lang="en-NG"/>
          </a:p>
        </p:txBody>
      </p:sp>
      <p:sp>
        <p:nvSpPr>
          <p:cNvPr id="5" name="Footer Placeholder 4">
            <a:extLst>
              <a:ext uri="{FF2B5EF4-FFF2-40B4-BE49-F238E27FC236}">
                <a16:creationId xmlns:a16="http://schemas.microsoft.com/office/drawing/2014/main" id="{ACB78CF2-A9B2-D4D5-D014-30F4330EFDD6}"/>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C115C7A-B367-BF68-DD81-98857DFA69ED}"/>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1777338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79C6-E95E-70F7-4EBC-4228801B4FC8}"/>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393676CC-C7C0-1389-51F3-EC9701DC11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C56055B-A115-3562-B342-F25F6E52B802}"/>
              </a:ext>
            </a:extLst>
          </p:cNvPr>
          <p:cNvSpPr>
            <a:spLocks noGrp="1"/>
          </p:cNvSpPr>
          <p:nvPr>
            <p:ph type="dt" sz="half" idx="10"/>
          </p:nvPr>
        </p:nvSpPr>
        <p:spPr/>
        <p:txBody>
          <a:bodyPr/>
          <a:lstStyle/>
          <a:p>
            <a:fld id="{57A28048-B1FC-4F05-AF79-7739E406B0D3}" type="datetime8">
              <a:rPr lang="en-NG" smtClean="0"/>
              <a:t>18/10/2026 08:13</a:t>
            </a:fld>
            <a:endParaRPr lang="en-NG"/>
          </a:p>
        </p:txBody>
      </p:sp>
      <p:sp>
        <p:nvSpPr>
          <p:cNvPr id="5" name="Footer Placeholder 4">
            <a:extLst>
              <a:ext uri="{FF2B5EF4-FFF2-40B4-BE49-F238E27FC236}">
                <a16:creationId xmlns:a16="http://schemas.microsoft.com/office/drawing/2014/main" id="{B90A31F2-5ACE-82A5-C400-A33D7291EAF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D4D47886-2F59-5998-0B7F-916E38BF8459}"/>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3271559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C1645-4BE6-DBE1-2407-94EDAA42AA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13543237-7437-F6BB-A6D5-EFB390D97E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609741-78E9-B911-9001-8AC425BC1FB3}"/>
              </a:ext>
            </a:extLst>
          </p:cNvPr>
          <p:cNvSpPr>
            <a:spLocks noGrp="1"/>
          </p:cNvSpPr>
          <p:nvPr>
            <p:ph type="dt" sz="half" idx="10"/>
          </p:nvPr>
        </p:nvSpPr>
        <p:spPr/>
        <p:txBody>
          <a:bodyPr/>
          <a:lstStyle/>
          <a:p>
            <a:fld id="{0012BE93-94FA-4C55-BD0A-EDD7D01B0D69}" type="datetime8">
              <a:rPr lang="en-NG" smtClean="0"/>
              <a:t>18/10/2026 08:13</a:t>
            </a:fld>
            <a:endParaRPr lang="en-NG"/>
          </a:p>
        </p:txBody>
      </p:sp>
      <p:sp>
        <p:nvSpPr>
          <p:cNvPr id="5" name="Footer Placeholder 4">
            <a:extLst>
              <a:ext uri="{FF2B5EF4-FFF2-40B4-BE49-F238E27FC236}">
                <a16:creationId xmlns:a16="http://schemas.microsoft.com/office/drawing/2014/main" id="{7D387407-D6B5-1747-74AE-C862442E0AF5}"/>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AA1DEEB3-F094-15F3-1402-3EE548CFB7FB}"/>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1743503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61AD-E715-A64E-F951-F0B356CC3B77}"/>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11CB64E7-CB4B-5F4D-932C-AF5BFD7BAB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D39235A0-7DB9-563E-4F5F-BF2CCB07D7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1F0A1C02-499D-AC48-414A-0C9A74978CEA}"/>
              </a:ext>
            </a:extLst>
          </p:cNvPr>
          <p:cNvSpPr>
            <a:spLocks noGrp="1"/>
          </p:cNvSpPr>
          <p:nvPr>
            <p:ph type="dt" sz="half" idx="10"/>
          </p:nvPr>
        </p:nvSpPr>
        <p:spPr/>
        <p:txBody>
          <a:bodyPr/>
          <a:lstStyle/>
          <a:p>
            <a:fld id="{01F4BAFF-5124-4DB7-9F9C-6A588356DF5B}" type="datetime8">
              <a:rPr lang="en-NG" smtClean="0"/>
              <a:t>18/10/2026 08:13</a:t>
            </a:fld>
            <a:endParaRPr lang="en-NG"/>
          </a:p>
        </p:txBody>
      </p:sp>
      <p:sp>
        <p:nvSpPr>
          <p:cNvPr id="6" name="Footer Placeholder 5">
            <a:extLst>
              <a:ext uri="{FF2B5EF4-FFF2-40B4-BE49-F238E27FC236}">
                <a16:creationId xmlns:a16="http://schemas.microsoft.com/office/drawing/2014/main" id="{C6BC2BA8-0B63-6118-D166-4B2972FA525B}"/>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A4846EC1-565B-063F-640B-DCEA6BB75856}"/>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166334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D44DA-7DC1-C78F-7485-EEDD5792C56C}"/>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1EC54C87-FD5B-78DF-D62D-AD9414D825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03C142-211E-41CD-C923-CF4537DF6A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B1A77AAF-4714-DCF9-60EA-8761C332E4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301698-DAF4-3FF3-809A-A71E17B3E0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7740804A-187F-98C7-F4CC-9E70DE32B586}"/>
              </a:ext>
            </a:extLst>
          </p:cNvPr>
          <p:cNvSpPr>
            <a:spLocks noGrp="1"/>
          </p:cNvSpPr>
          <p:nvPr>
            <p:ph type="dt" sz="half" idx="10"/>
          </p:nvPr>
        </p:nvSpPr>
        <p:spPr/>
        <p:txBody>
          <a:bodyPr/>
          <a:lstStyle/>
          <a:p>
            <a:fld id="{43E0FE62-F9CD-4B69-924D-FE94DA9B029F}" type="datetime8">
              <a:rPr lang="en-NG" smtClean="0"/>
              <a:t>18/10/2026 08:13</a:t>
            </a:fld>
            <a:endParaRPr lang="en-NG"/>
          </a:p>
        </p:txBody>
      </p:sp>
      <p:sp>
        <p:nvSpPr>
          <p:cNvPr id="8" name="Footer Placeholder 7">
            <a:extLst>
              <a:ext uri="{FF2B5EF4-FFF2-40B4-BE49-F238E27FC236}">
                <a16:creationId xmlns:a16="http://schemas.microsoft.com/office/drawing/2014/main" id="{F6FE38C3-FA24-9018-FF7E-56023688F7B7}"/>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FAB1F447-38B6-D82B-78AB-D16AF51CA444}"/>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1741388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6A102-428B-4C48-6127-F1F8FF1C1D8A}"/>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3ABC085B-26B6-C116-4C3C-16B31384FF39}"/>
              </a:ext>
            </a:extLst>
          </p:cNvPr>
          <p:cNvSpPr>
            <a:spLocks noGrp="1"/>
          </p:cNvSpPr>
          <p:nvPr>
            <p:ph type="dt" sz="half" idx="10"/>
          </p:nvPr>
        </p:nvSpPr>
        <p:spPr/>
        <p:txBody>
          <a:bodyPr/>
          <a:lstStyle/>
          <a:p>
            <a:fld id="{0949F126-75B4-40DE-999C-D1F8847DA070}" type="datetime8">
              <a:rPr lang="en-NG" smtClean="0"/>
              <a:t>18/10/2026 08:13</a:t>
            </a:fld>
            <a:endParaRPr lang="en-NG"/>
          </a:p>
        </p:txBody>
      </p:sp>
      <p:sp>
        <p:nvSpPr>
          <p:cNvPr id="4" name="Footer Placeholder 3">
            <a:extLst>
              <a:ext uri="{FF2B5EF4-FFF2-40B4-BE49-F238E27FC236}">
                <a16:creationId xmlns:a16="http://schemas.microsoft.com/office/drawing/2014/main" id="{D9B97496-D2F5-D250-0F6E-435839A6EE47}"/>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68247D63-739E-1A51-E280-377E8ECEC095}"/>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92301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30F8BB-FBFC-AFE7-5AAB-ED027A851972}"/>
              </a:ext>
            </a:extLst>
          </p:cNvPr>
          <p:cNvSpPr>
            <a:spLocks noGrp="1"/>
          </p:cNvSpPr>
          <p:nvPr>
            <p:ph type="dt" sz="half" idx="10"/>
          </p:nvPr>
        </p:nvSpPr>
        <p:spPr/>
        <p:txBody>
          <a:bodyPr/>
          <a:lstStyle/>
          <a:p>
            <a:fld id="{948F97BC-67A0-4735-A5DB-E08D7332816E}" type="datetime8">
              <a:rPr lang="en-NG" smtClean="0"/>
              <a:t>18/10/2026 08:13</a:t>
            </a:fld>
            <a:endParaRPr lang="en-NG"/>
          </a:p>
        </p:txBody>
      </p:sp>
      <p:sp>
        <p:nvSpPr>
          <p:cNvPr id="3" name="Footer Placeholder 2">
            <a:extLst>
              <a:ext uri="{FF2B5EF4-FFF2-40B4-BE49-F238E27FC236}">
                <a16:creationId xmlns:a16="http://schemas.microsoft.com/office/drawing/2014/main" id="{9FE156FC-F09C-F933-1286-F9E28947A0FD}"/>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92795AE2-1DFB-2850-31E6-FBB62E5B2BE3}"/>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3546762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38195-45C0-2620-F452-1AC877F7E2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632CC0F5-4169-A6D3-F2AA-08D59463FA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937C604C-BFFD-04F5-40FE-72A707018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58ED7D-4F9D-D17E-E47A-8B7DA79829BF}"/>
              </a:ext>
            </a:extLst>
          </p:cNvPr>
          <p:cNvSpPr>
            <a:spLocks noGrp="1"/>
          </p:cNvSpPr>
          <p:nvPr>
            <p:ph type="dt" sz="half" idx="10"/>
          </p:nvPr>
        </p:nvSpPr>
        <p:spPr/>
        <p:txBody>
          <a:bodyPr/>
          <a:lstStyle/>
          <a:p>
            <a:fld id="{602B5D1E-ADDD-46FE-968B-9AE957FFDA22}" type="datetime8">
              <a:rPr lang="en-NG" smtClean="0"/>
              <a:t>18/10/2026 08:13</a:t>
            </a:fld>
            <a:endParaRPr lang="en-NG"/>
          </a:p>
        </p:txBody>
      </p:sp>
      <p:sp>
        <p:nvSpPr>
          <p:cNvPr id="6" name="Footer Placeholder 5">
            <a:extLst>
              <a:ext uri="{FF2B5EF4-FFF2-40B4-BE49-F238E27FC236}">
                <a16:creationId xmlns:a16="http://schemas.microsoft.com/office/drawing/2014/main" id="{53A465B3-1E1B-01C5-B319-DBF50F388FF2}"/>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C3302C35-3E3B-F241-B408-5D977E96585C}"/>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3550530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23705-09AA-9D02-B681-4D3692310E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C0221E69-2AAE-F85C-AC70-7E7F97B33CB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914EAE1C-5B46-4535-40C2-766051602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507D86-7FDF-A2F1-D051-3898E9A19536}"/>
              </a:ext>
            </a:extLst>
          </p:cNvPr>
          <p:cNvSpPr>
            <a:spLocks noGrp="1"/>
          </p:cNvSpPr>
          <p:nvPr>
            <p:ph type="dt" sz="half" idx="10"/>
          </p:nvPr>
        </p:nvSpPr>
        <p:spPr/>
        <p:txBody>
          <a:bodyPr/>
          <a:lstStyle/>
          <a:p>
            <a:fld id="{B1E374DD-333F-467E-9976-826FDE51FCE5}" type="datetime8">
              <a:rPr lang="en-NG" smtClean="0"/>
              <a:t>18/10/2026 08:13</a:t>
            </a:fld>
            <a:endParaRPr lang="en-NG"/>
          </a:p>
        </p:txBody>
      </p:sp>
      <p:sp>
        <p:nvSpPr>
          <p:cNvPr id="6" name="Footer Placeholder 5">
            <a:extLst>
              <a:ext uri="{FF2B5EF4-FFF2-40B4-BE49-F238E27FC236}">
                <a16:creationId xmlns:a16="http://schemas.microsoft.com/office/drawing/2014/main" id="{82825BC9-8DA0-01FA-6565-85759DD9874F}"/>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04E2E007-F375-B462-A83E-03D0E6260FBA}"/>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2813606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F67CF-36FB-B10C-8106-F33305BD284C}"/>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F8186F79-C3F3-F177-CB15-00EC50C56D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FFDED3BD-813A-9977-701F-A48DF87E4EC0}"/>
              </a:ext>
            </a:extLst>
          </p:cNvPr>
          <p:cNvSpPr>
            <a:spLocks noGrp="1"/>
          </p:cNvSpPr>
          <p:nvPr>
            <p:ph type="dt" sz="half" idx="10"/>
          </p:nvPr>
        </p:nvSpPr>
        <p:spPr/>
        <p:txBody>
          <a:bodyPr/>
          <a:lstStyle/>
          <a:p>
            <a:fld id="{D5CBCB17-D8AB-489C-B7CB-7F8BB009EE73}" type="datetime8">
              <a:rPr lang="en-NG" smtClean="0"/>
              <a:t>18/10/2026 08:13</a:t>
            </a:fld>
            <a:endParaRPr lang="en-NG"/>
          </a:p>
        </p:txBody>
      </p:sp>
      <p:sp>
        <p:nvSpPr>
          <p:cNvPr id="5" name="Footer Placeholder 4">
            <a:extLst>
              <a:ext uri="{FF2B5EF4-FFF2-40B4-BE49-F238E27FC236}">
                <a16:creationId xmlns:a16="http://schemas.microsoft.com/office/drawing/2014/main" id="{3D8546DD-D0BC-B9F1-92BF-4965EFB8DC6C}"/>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4871EC8-EFFD-E71E-B8F7-71DF1E01AA37}"/>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424257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78BFBC-975D-5A74-8E47-E7423A957B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50F35FA2-888E-CC72-8291-8DC595F25A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D39E11D5-C394-DE9B-20F2-1643AE0215B3}"/>
              </a:ext>
            </a:extLst>
          </p:cNvPr>
          <p:cNvSpPr>
            <a:spLocks noGrp="1"/>
          </p:cNvSpPr>
          <p:nvPr>
            <p:ph type="dt" sz="half" idx="10"/>
          </p:nvPr>
        </p:nvSpPr>
        <p:spPr/>
        <p:txBody>
          <a:bodyPr/>
          <a:lstStyle/>
          <a:p>
            <a:fld id="{42385E2C-F379-4F00-A27B-D68F3A677B2B}" type="datetime8">
              <a:rPr lang="en-NG" smtClean="0"/>
              <a:t>18/10/2026 08:13</a:t>
            </a:fld>
            <a:endParaRPr lang="en-NG"/>
          </a:p>
        </p:txBody>
      </p:sp>
      <p:sp>
        <p:nvSpPr>
          <p:cNvPr id="5" name="Footer Placeholder 4">
            <a:extLst>
              <a:ext uri="{FF2B5EF4-FFF2-40B4-BE49-F238E27FC236}">
                <a16:creationId xmlns:a16="http://schemas.microsoft.com/office/drawing/2014/main" id="{FC818FD3-E09D-3B7A-5BF3-6034D3656824}"/>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2272B6D-422A-E853-8636-63FABD043186}"/>
              </a:ext>
            </a:extLst>
          </p:cNvPr>
          <p:cNvSpPr>
            <a:spLocks noGrp="1"/>
          </p:cNvSpPr>
          <p:nvPr>
            <p:ph type="sldNum" sz="quarter" idx="12"/>
          </p:nvPr>
        </p:nvSpPr>
        <p:spPr/>
        <p:txBody>
          <a:bodyPr/>
          <a:lstStyle/>
          <a:p>
            <a:fld id="{AF15468F-FAE6-4D8E-9204-DF6230E3F4CD}" type="slidenum">
              <a:rPr lang="en-NG" smtClean="0"/>
              <a:t>‹#›</a:t>
            </a:fld>
            <a:endParaRPr lang="en-NG"/>
          </a:p>
        </p:txBody>
      </p:sp>
    </p:spTree>
    <p:extLst>
      <p:ext uri="{BB962C8B-B14F-4D97-AF65-F5344CB8AC3E}">
        <p14:creationId xmlns:p14="http://schemas.microsoft.com/office/powerpoint/2010/main" val="907863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D1637B-AC42-171D-B3E7-E5A9E195D6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3546EE2A-F2D6-528C-07B6-BED5F23069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D131A7B2-DBA4-105E-CAA7-8CF44CB44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3B3E35-8593-4048-89B3-48A5D42C78C0}" type="datetime8">
              <a:rPr lang="en-NG" smtClean="0"/>
              <a:t>18/10/2026 08:13</a:t>
            </a:fld>
            <a:endParaRPr lang="en-NG"/>
          </a:p>
        </p:txBody>
      </p:sp>
      <p:sp>
        <p:nvSpPr>
          <p:cNvPr id="5" name="Footer Placeholder 4">
            <a:extLst>
              <a:ext uri="{FF2B5EF4-FFF2-40B4-BE49-F238E27FC236}">
                <a16:creationId xmlns:a16="http://schemas.microsoft.com/office/drawing/2014/main" id="{51FCE2B3-A775-AE3B-2169-66208D19A5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G"/>
          </a:p>
        </p:txBody>
      </p:sp>
      <p:sp>
        <p:nvSpPr>
          <p:cNvPr id="6" name="Slide Number Placeholder 5">
            <a:extLst>
              <a:ext uri="{FF2B5EF4-FFF2-40B4-BE49-F238E27FC236}">
                <a16:creationId xmlns:a16="http://schemas.microsoft.com/office/drawing/2014/main" id="{5AC46732-1861-0D44-E2E0-D8F9F2876C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15468F-FAE6-4D8E-9204-DF6230E3F4CD}" type="slidenum">
              <a:rPr lang="en-NG" smtClean="0"/>
              <a:t>‹#›</a:t>
            </a:fld>
            <a:endParaRPr lang="en-NG"/>
          </a:p>
        </p:txBody>
      </p:sp>
    </p:spTree>
    <p:extLst>
      <p:ext uri="{BB962C8B-B14F-4D97-AF65-F5344CB8AC3E}">
        <p14:creationId xmlns:p14="http://schemas.microsoft.com/office/powerpoint/2010/main" val="2257928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1369B-6DBA-A42A-6EA1-D621AB3A0F7B}"/>
              </a:ext>
            </a:extLst>
          </p:cNvPr>
          <p:cNvSpPr>
            <a:spLocks noGrp="1"/>
          </p:cNvSpPr>
          <p:nvPr>
            <p:ph type="ctrTitle"/>
          </p:nvPr>
        </p:nvSpPr>
        <p:spPr/>
        <p:txBody>
          <a:bodyPr/>
          <a:lstStyle/>
          <a:p>
            <a:r>
              <a:rPr lang="en-US" dirty="0"/>
              <a:t>Anatomy of the Upper Limbs</a:t>
            </a:r>
            <a:endParaRPr lang="en-NG" dirty="0"/>
          </a:p>
        </p:txBody>
      </p:sp>
      <p:sp>
        <p:nvSpPr>
          <p:cNvPr id="3" name="Subtitle 2">
            <a:extLst>
              <a:ext uri="{FF2B5EF4-FFF2-40B4-BE49-F238E27FC236}">
                <a16:creationId xmlns:a16="http://schemas.microsoft.com/office/drawing/2014/main" id="{3B42A8EC-0F13-1D1C-C98C-C9BADE2C5700}"/>
              </a:ext>
            </a:extLst>
          </p:cNvPr>
          <p:cNvSpPr>
            <a:spLocks noGrp="1"/>
          </p:cNvSpPr>
          <p:nvPr>
            <p:ph type="subTitle" idx="1"/>
          </p:nvPr>
        </p:nvSpPr>
        <p:spPr>
          <a:xfrm>
            <a:off x="1524000" y="3602037"/>
            <a:ext cx="9144000" cy="2004283"/>
          </a:xfrm>
        </p:spPr>
        <p:txBody>
          <a:bodyPr>
            <a:normAutofit fontScale="92500" lnSpcReduction="20000"/>
          </a:bodyPr>
          <a:lstStyle/>
          <a:p>
            <a:r>
              <a:rPr lang="en-US" b="1" dirty="0"/>
              <a:t>Dr Clinton David Orupabo</a:t>
            </a:r>
          </a:p>
          <a:p>
            <a:r>
              <a:rPr lang="en-US" dirty="0"/>
              <a:t>Department of Radiography, Faculty of Basic Medical Sciences, Rivers State University.</a:t>
            </a:r>
          </a:p>
          <a:p>
            <a:endParaRPr lang="en-US" dirty="0"/>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rPr>
              <a:t>Lectures for Pre-registration Re-training Course for X-ray Technicians. Radiographers Registration Board of Nigeria.</a:t>
            </a:r>
            <a:endParaRPr kumimoji="0" lang="en-NG" sz="2200" b="0" i="0" u="none" strike="noStrike" kern="1200" cap="none" spc="0" normalizeH="0" baseline="0" noProof="0" dirty="0">
              <a:ln>
                <a:noFill/>
              </a:ln>
              <a:solidFill>
                <a:prstClr val="black"/>
              </a:solidFill>
              <a:effectLst/>
              <a:uLnTx/>
              <a:uFillTx/>
              <a:latin typeface="Aptos" panose="02110004020202020204"/>
              <a:ea typeface="+mn-ea"/>
              <a:cs typeface="+mn-cs"/>
            </a:endParaRPr>
          </a:p>
          <a:p>
            <a:endParaRPr lang="en-NG" dirty="0"/>
          </a:p>
        </p:txBody>
      </p:sp>
    </p:spTree>
    <p:extLst>
      <p:ext uri="{BB962C8B-B14F-4D97-AF65-F5344CB8AC3E}">
        <p14:creationId xmlns:p14="http://schemas.microsoft.com/office/powerpoint/2010/main" val="2812992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37F24-73B6-51A6-482F-1D76ED7619D3}"/>
              </a:ext>
            </a:extLst>
          </p:cNvPr>
          <p:cNvSpPr>
            <a:spLocks noGrp="1"/>
          </p:cNvSpPr>
          <p:nvPr>
            <p:ph type="title"/>
          </p:nvPr>
        </p:nvSpPr>
        <p:spPr/>
        <p:txBody>
          <a:bodyPr/>
          <a:lstStyle/>
          <a:p>
            <a:r>
              <a:rPr lang="en-US" dirty="0"/>
              <a:t>Table of contents</a:t>
            </a:r>
            <a:endParaRPr lang="en-NG" dirty="0"/>
          </a:p>
        </p:txBody>
      </p:sp>
      <p:sp>
        <p:nvSpPr>
          <p:cNvPr id="3" name="Content Placeholder 2">
            <a:extLst>
              <a:ext uri="{FF2B5EF4-FFF2-40B4-BE49-F238E27FC236}">
                <a16:creationId xmlns:a16="http://schemas.microsoft.com/office/drawing/2014/main" id="{A8FA45F5-54C0-E6C5-E2B4-C4806C2CE8A3}"/>
              </a:ext>
            </a:extLst>
          </p:cNvPr>
          <p:cNvSpPr>
            <a:spLocks noGrp="1"/>
          </p:cNvSpPr>
          <p:nvPr>
            <p:ph idx="1"/>
          </p:nvPr>
        </p:nvSpPr>
        <p:spPr/>
        <p:txBody>
          <a:bodyPr/>
          <a:lstStyle/>
          <a:p>
            <a:r>
              <a:rPr lang="en-US" dirty="0"/>
              <a:t>Introduction</a:t>
            </a:r>
          </a:p>
          <a:p>
            <a:r>
              <a:rPr lang="en-US" dirty="0"/>
              <a:t>Osteology of the upper limbs</a:t>
            </a:r>
          </a:p>
          <a:p>
            <a:r>
              <a:rPr lang="en-US" dirty="0"/>
              <a:t>The shoulder region</a:t>
            </a:r>
          </a:p>
          <a:p>
            <a:r>
              <a:rPr lang="en-US" dirty="0"/>
              <a:t>The Pectoral region and axilla</a:t>
            </a:r>
          </a:p>
          <a:p>
            <a:r>
              <a:rPr lang="en-US" dirty="0"/>
              <a:t>The Arm</a:t>
            </a:r>
          </a:p>
          <a:p>
            <a:r>
              <a:rPr lang="en-US" dirty="0"/>
              <a:t>The Forearm</a:t>
            </a:r>
          </a:p>
          <a:p>
            <a:r>
              <a:rPr lang="en-US" dirty="0"/>
              <a:t>Blood supply to the upper limbs</a:t>
            </a:r>
          </a:p>
          <a:p>
            <a:r>
              <a:rPr lang="en-US" dirty="0"/>
              <a:t>The Hand, hand spaces and compartments</a:t>
            </a:r>
            <a:endParaRPr lang="en-NG" dirty="0"/>
          </a:p>
        </p:txBody>
      </p:sp>
      <p:sp>
        <p:nvSpPr>
          <p:cNvPr id="4" name="Date Placeholder 3">
            <a:extLst>
              <a:ext uri="{FF2B5EF4-FFF2-40B4-BE49-F238E27FC236}">
                <a16:creationId xmlns:a16="http://schemas.microsoft.com/office/drawing/2014/main" id="{41232599-3515-281A-EEDE-36B9C79B6D12}"/>
              </a:ext>
            </a:extLst>
          </p:cNvPr>
          <p:cNvSpPr>
            <a:spLocks noGrp="1"/>
          </p:cNvSpPr>
          <p:nvPr>
            <p:ph type="dt" sz="half" idx="10"/>
          </p:nvPr>
        </p:nvSpPr>
        <p:spPr/>
        <p:txBody>
          <a:bodyPr/>
          <a:lstStyle/>
          <a:p>
            <a:fld id="{9718B1A1-1311-4C97-9DD5-309AD2DA68E1}" type="datetime8">
              <a:rPr lang="en-NG" smtClean="0"/>
              <a:t>18/10/2026 08:13</a:t>
            </a:fld>
            <a:endParaRPr lang="en-NG"/>
          </a:p>
        </p:txBody>
      </p:sp>
      <p:sp>
        <p:nvSpPr>
          <p:cNvPr id="5" name="Slide Number Placeholder 4">
            <a:extLst>
              <a:ext uri="{FF2B5EF4-FFF2-40B4-BE49-F238E27FC236}">
                <a16:creationId xmlns:a16="http://schemas.microsoft.com/office/drawing/2014/main" id="{F78DF174-0F33-E5DA-F781-1637A3044400}"/>
              </a:ext>
            </a:extLst>
          </p:cNvPr>
          <p:cNvSpPr>
            <a:spLocks noGrp="1"/>
          </p:cNvSpPr>
          <p:nvPr>
            <p:ph type="sldNum" sz="quarter" idx="12"/>
          </p:nvPr>
        </p:nvSpPr>
        <p:spPr/>
        <p:txBody>
          <a:bodyPr/>
          <a:lstStyle/>
          <a:p>
            <a:fld id="{AF15468F-FAE6-4D8E-9204-DF6230E3F4CD}" type="slidenum">
              <a:rPr lang="en-NG" smtClean="0"/>
              <a:t>2</a:t>
            </a:fld>
            <a:endParaRPr lang="en-NG"/>
          </a:p>
        </p:txBody>
      </p:sp>
    </p:spTree>
    <p:extLst>
      <p:ext uri="{BB962C8B-B14F-4D97-AF65-F5344CB8AC3E}">
        <p14:creationId xmlns:p14="http://schemas.microsoft.com/office/powerpoint/2010/main" val="2309807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3E666-8B0C-ABA4-EB1D-6DEDA147B02C}"/>
              </a:ext>
            </a:extLst>
          </p:cNvPr>
          <p:cNvSpPr>
            <a:spLocks noGrp="1"/>
          </p:cNvSpPr>
          <p:nvPr>
            <p:ph type="title"/>
          </p:nvPr>
        </p:nvSpPr>
        <p:spPr/>
        <p:txBody>
          <a:bodyPr/>
          <a:lstStyle/>
          <a:p>
            <a:r>
              <a:rPr lang="en-US" dirty="0"/>
              <a:t>Introduction</a:t>
            </a:r>
            <a:endParaRPr lang="en-NG" dirty="0"/>
          </a:p>
        </p:txBody>
      </p:sp>
      <p:sp>
        <p:nvSpPr>
          <p:cNvPr id="3" name="Content Placeholder 2">
            <a:extLst>
              <a:ext uri="{FF2B5EF4-FFF2-40B4-BE49-F238E27FC236}">
                <a16:creationId xmlns:a16="http://schemas.microsoft.com/office/drawing/2014/main" id="{F00B25B1-3325-3D46-DF36-80F143873DA5}"/>
              </a:ext>
            </a:extLst>
          </p:cNvPr>
          <p:cNvSpPr>
            <a:spLocks noGrp="1"/>
          </p:cNvSpPr>
          <p:nvPr>
            <p:ph sz="half" idx="1"/>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The upper limb is made up of four segments: pectoral girdle, arm, forearm and hand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The pectoral girdle is a bony ring formed by three bones: scapulae, clavicle and manubrium of sternum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Both pectoral girdle and bones of upper limb forms the appendicular skeleton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The appendicular skeleton then joins the axial skeleton</a:t>
            </a:r>
          </a:p>
          <a:p>
            <a:endParaRPr lang="en-NG" dirty="0"/>
          </a:p>
        </p:txBody>
      </p:sp>
      <p:pic>
        <p:nvPicPr>
          <p:cNvPr id="8" name="Content Placeholder 7" descr="TheSkeleton">
            <a:extLst>
              <a:ext uri="{FF2B5EF4-FFF2-40B4-BE49-F238E27FC236}">
                <a16:creationId xmlns:a16="http://schemas.microsoft.com/office/drawing/2014/main" id="{B298A0AF-0C10-9B1A-619E-88D93A5202DD}"/>
              </a:ext>
            </a:extLst>
          </p:cNvPr>
          <p:cNvPicPr>
            <a:picLocks noGrp="1" noChangeAspect="1"/>
          </p:cNvPicPr>
          <p:nvPr>
            <p:ph sz="half" idx="2"/>
          </p:nvPr>
        </p:nvPicPr>
        <p:blipFill>
          <a:blip r:embed="rId2"/>
          <a:stretch>
            <a:fillRect/>
          </a:stretch>
        </p:blipFill>
        <p:spPr>
          <a:xfrm>
            <a:off x="6910467" y="1349115"/>
            <a:ext cx="3897442" cy="4827848"/>
          </a:xfrm>
          <a:prstGeom prst="rect">
            <a:avLst/>
          </a:prstGeom>
        </p:spPr>
      </p:pic>
      <p:sp>
        <p:nvSpPr>
          <p:cNvPr id="4" name="Date Placeholder 3">
            <a:extLst>
              <a:ext uri="{FF2B5EF4-FFF2-40B4-BE49-F238E27FC236}">
                <a16:creationId xmlns:a16="http://schemas.microsoft.com/office/drawing/2014/main" id="{CCAB7C85-DB20-522E-8095-06404637816B}"/>
              </a:ext>
            </a:extLst>
          </p:cNvPr>
          <p:cNvSpPr>
            <a:spLocks noGrp="1"/>
          </p:cNvSpPr>
          <p:nvPr>
            <p:ph type="dt" sz="half" idx="10"/>
          </p:nvPr>
        </p:nvSpPr>
        <p:spPr/>
        <p:txBody>
          <a:bodyPr/>
          <a:lstStyle/>
          <a:p>
            <a:fld id="{D614792B-40F9-4DC5-8B12-7C9D2523911F}" type="datetime8">
              <a:rPr lang="en-NG" smtClean="0"/>
              <a:t>18/10/2026 08:13</a:t>
            </a:fld>
            <a:endParaRPr lang="en-NG"/>
          </a:p>
        </p:txBody>
      </p:sp>
      <p:sp>
        <p:nvSpPr>
          <p:cNvPr id="5" name="Slide Number Placeholder 4">
            <a:extLst>
              <a:ext uri="{FF2B5EF4-FFF2-40B4-BE49-F238E27FC236}">
                <a16:creationId xmlns:a16="http://schemas.microsoft.com/office/drawing/2014/main" id="{6740D2C1-757A-AFB1-F5F0-64E1230BA2E5}"/>
              </a:ext>
            </a:extLst>
          </p:cNvPr>
          <p:cNvSpPr>
            <a:spLocks noGrp="1"/>
          </p:cNvSpPr>
          <p:nvPr>
            <p:ph type="sldNum" sz="quarter" idx="12"/>
          </p:nvPr>
        </p:nvSpPr>
        <p:spPr/>
        <p:txBody>
          <a:bodyPr/>
          <a:lstStyle/>
          <a:p>
            <a:fld id="{AF15468F-FAE6-4D8E-9204-DF6230E3F4CD}" type="slidenum">
              <a:rPr lang="en-NG" smtClean="0"/>
              <a:t>3</a:t>
            </a:fld>
            <a:endParaRPr lang="en-NG"/>
          </a:p>
        </p:txBody>
      </p:sp>
    </p:spTree>
    <p:extLst>
      <p:ext uri="{BB962C8B-B14F-4D97-AF65-F5344CB8AC3E}">
        <p14:creationId xmlns:p14="http://schemas.microsoft.com/office/powerpoint/2010/main" val="2291880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8A4D5-FBE5-B1E9-4892-B5957F27353D}"/>
              </a:ext>
            </a:extLst>
          </p:cNvPr>
          <p:cNvSpPr>
            <a:spLocks noGrp="1"/>
          </p:cNvSpPr>
          <p:nvPr>
            <p:ph type="title"/>
          </p:nvPr>
        </p:nvSpPr>
        <p:spPr/>
        <p:txBody>
          <a:bodyPr/>
          <a:lstStyle/>
          <a:p>
            <a:r>
              <a:rPr lang="en-US" dirty="0"/>
              <a:t>Introduction – Innervation of the upper limbs</a:t>
            </a:r>
            <a:endParaRPr lang="en-NG" dirty="0"/>
          </a:p>
        </p:txBody>
      </p:sp>
      <p:sp>
        <p:nvSpPr>
          <p:cNvPr id="3" name="Content Placeholder 2">
            <a:extLst>
              <a:ext uri="{FF2B5EF4-FFF2-40B4-BE49-F238E27FC236}">
                <a16:creationId xmlns:a16="http://schemas.microsoft.com/office/drawing/2014/main" id="{AD59F8C0-944F-CC4E-8FB3-19866C905F59}"/>
              </a:ext>
            </a:extLst>
          </p:cNvPr>
          <p:cNvSpPr>
            <a:spLocks noGrp="1"/>
          </p:cNvSpPr>
          <p:nvPr>
            <p:ph sz="half" idx="1"/>
          </p:nvPr>
        </p:nvSpPr>
        <p:spPr/>
        <p:txBody>
          <a:bodyPr/>
          <a:lstStyle/>
          <a:p>
            <a:r>
              <a:rPr lang="en-US" dirty="0"/>
              <a:t>The upper limb derives its nerve supply primarily from branches of the brachial plexus</a:t>
            </a:r>
          </a:p>
          <a:p>
            <a:r>
              <a:rPr lang="en-US" dirty="0"/>
              <a:t>A plexus of nerves arising from the ventral rami of spinal nerves from C5 – T1</a:t>
            </a:r>
          </a:p>
          <a:p>
            <a:r>
              <a:rPr lang="en-US" dirty="0"/>
              <a:t>Roots →  Trunks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r>
              <a:rPr lang="en-US" dirty="0"/>
              <a:t> Divisions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r>
              <a:rPr lang="en-US" dirty="0"/>
              <a:t> Cords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a:t>
            </a:r>
            <a:r>
              <a:rPr lang="en-US" dirty="0"/>
              <a:t> Branches</a:t>
            </a:r>
            <a:endParaRPr lang="en-NG" dirty="0"/>
          </a:p>
        </p:txBody>
      </p:sp>
      <p:pic>
        <p:nvPicPr>
          <p:cNvPr id="5" name="Content Placeholder 4" descr="U.Br.Columbia - Drawing Overview of the brachial plexus - English labels | AnatomyTOOL">
            <a:extLst>
              <a:ext uri="{FF2B5EF4-FFF2-40B4-BE49-F238E27FC236}">
                <a16:creationId xmlns:a16="http://schemas.microsoft.com/office/drawing/2014/main" id="{DF9E5A77-1689-2A55-B449-AE83627EF761}"/>
              </a:ext>
            </a:extLst>
          </p:cNvPr>
          <p:cNvPicPr>
            <a:picLocks noGrp="1" noChangeAspect="1"/>
          </p:cNvPicPr>
          <p:nvPr>
            <p:ph sz="half" idx="2"/>
          </p:nvPr>
        </p:nvPicPr>
        <p:blipFill>
          <a:blip r:embed="rId2"/>
          <a:stretch>
            <a:fillRect/>
          </a:stretch>
        </p:blipFill>
        <p:spPr>
          <a:xfrm>
            <a:off x="6191250" y="2239169"/>
            <a:ext cx="5143500" cy="3524250"/>
          </a:xfrm>
          <a:prstGeom prst="rect">
            <a:avLst/>
          </a:prstGeom>
        </p:spPr>
      </p:pic>
      <p:sp>
        <p:nvSpPr>
          <p:cNvPr id="4" name="Date Placeholder 3">
            <a:extLst>
              <a:ext uri="{FF2B5EF4-FFF2-40B4-BE49-F238E27FC236}">
                <a16:creationId xmlns:a16="http://schemas.microsoft.com/office/drawing/2014/main" id="{887AFB11-0A69-CDB6-571D-3D240B7912E8}"/>
              </a:ext>
            </a:extLst>
          </p:cNvPr>
          <p:cNvSpPr>
            <a:spLocks noGrp="1"/>
          </p:cNvSpPr>
          <p:nvPr>
            <p:ph type="dt" sz="half" idx="10"/>
          </p:nvPr>
        </p:nvSpPr>
        <p:spPr/>
        <p:txBody>
          <a:bodyPr/>
          <a:lstStyle/>
          <a:p>
            <a:fld id="{7BAE66C6-76ED-4F1B-AAE5-DFF7F6C9442D}" type="datetime8">
              <a:rPr lang="en-NG" smtClean="0"/>
              <a:t>18/10/2026 08:13</a:t>
            </a:fld>
            <a:endParaRPr lang="en-NG"/>
          </a:p>
        </p:txBody>
      </p:sp>
      <p:sp>
        <p:nvSpPr>
          <p:cNvPr id="6" name="Slide Number Placeholder 5">
            <a:extLst>
              <a:ext uri="{FF2B5EF4-FFF2-40B4-BE49-F238E27FC236}">
                <a16:creationId xmlns:a16="http://schemas.microsoft.com/office/drawing/2014/main" id="{777AA93E-2796-BB6F-EC68-515D23598E7B}"/>
              </a:ext>
            </a:extLst>
          </p:cNvPr>
          <p:cNvSpPr>
            <a:spLocks noGrp="1"/>
          </p:cNvSpPr>
          <p:nvPr>
            <p:ph type="sldNum" sz="quarter" idx="12"/>
          </p:nvPr>
        </p:nvSpPr>
        <p:spPr/>
        <p:txBody>
          <a:bodyPr/>
          <a:lstStyle/>
          <a:p>
            <a:fld id="{AF15468F-FAE6-4D8E-9204-DF6230E3F4CD}" type="slidenum">
              <a:rPr lang="en-NG" smtClean="0"/>
              <a:t>4</a:t>
            </a:fld>
            <a:endParaRPr lang="en-NG"/>
          </a:p>
        </p:txBody>
      </p:sp>
    </p:spTree>
    <p:extLst>
      <p:ext uri="{BB962C8B-B14F-4D97-AF65-F5344CB8AC3E}">
        <p14:creationId xmlns:p14="http://schemas.microsoft.com/office/powerpoint/2010/main" val="2931729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25A6A-8766-DC17-625F-D9F417DEABE6}"/>
              </a:ext>
            </a:extLst>
          </p:cNvPr>
          <p:cNvSpPr>
            <a:spLocks noGrp="1"/>
          </p:cNvSpPr>
          <p:nvPr>
            <p:ph type="title"/>
          </p:nvPr>
        </p:nvSpPr>
        <p:spPr/>
        <p:txBody>
          <a:bodyPr/>
          <a:lstStyle/>
          <a:p>
            <a:r>
              <a:rPr lang="en-US" dirty="0"/>
              <a:t>Osteology - </a:t>
            </a:r>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clavicle</a:t>
            </a:r>
            <a:endParaRPr lang="en-NG" dirty="0"/>
          </a:p>
        </p:txBody>
      </p:sp>
      <p:sp>
        <p:nvSpPr>
          <p:cNvPr id="3" name="Content Placeholder 2">
            <a:extLst>
              <a:ext uri="{FF2B5EF4-FFF2-40B4-BE49-F238E27FC236}">
                <a16:creationId xmlns:a16="http://schemas.microsoft.com/office/drawing/2014/main" id="{D8E10744-C72C-08BA-F2E4-69355DE277F8}"/>
              </a:ext>
            </a:extLst>
          </p:cNvPr>
          <p:cNvSpPr>
            <a:spLocks noGrp="1"/>
          </p:cNvSpPr>
          <p:nvPr>
            <p:ph sz="half" idx="1"/>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Also called collar bone, bilateral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Lies horizontally in the body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Type of long bone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Has medial and lateral ends; sternal or acromial ends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Divided into two halves: lateral 1/3</a:t>
            </a:r>
            <a:r>
              <a:rPr kumimoji="0" lang="en-GB" sz="2600" b="0" i="0" u="none" strike="noStrike" kern="1200" cap="none" spc="0" normalizeH="0" baseline="30000" noProof="0" dirty="0">
                <a:ln>
                  <a:noFill/>
                </a:ln>
                <a:solidFill>
                  <a:prstClr val="black"/>
                </a:solidFill>
                <a:effectLst/>
                <a:uLnTx/>
                <a:uFillTx/>
                <a:latin typeface="Calibri" panose="020F0502020204030204"/>
                <a:ea typeface="+mn-ea"/>
                <a:cs typeface="+mn-cs"/>
              </a:rPr>
              <a:t>rd</a:t>
            </a: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 and medial 2/3</a:t>
            </a:r>
            <a:r>
              <a:rPr kumimoji="0" lang="en-GB" sz="2600" b="0" i="0" u="none" strike="noStrike" kern="1200" cap="none" spc="0" normalizeH="0" baseline="30000" noProof="0" dirty="0">
                <a:ln>
                  <a:noFill/>
                </a:ln>
                <a:solidFill>
                  <a:prstClr val="black"/>
                </a:solidFill>
                <a:effectLst/>
                <a:uLnTx/>
                <a:uFillTx/>
                <a:latin typeface="Calibri" panose="020F0502020204030204"/>
                <a:ea typeface="+mn-ea"/>
                <a:cs typeface="+mn-cs"/>
              </a:rPr>
              <a:t>rd</a:t>
            </a: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Medial is convex anteriorly while lateral is concave anteriorly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Triangular-shaped with double curvatures, like s-shape</a:t>
            </a:r>
          </a:p>
          <a:p>
            <a:pPr marL="0" indent="0">
              <a:buNone/>
            </a:pPr>
            <a:endParaRPr lang="en-NG" dirty="0"/>
          </a:p>
        </p:txBody>
      </p:sp>
      <p:sp>
        <p:nvSpPr>
          <p:cNvPr id="4" name="Content Placeholder 3">
            <a:extLst>
              <a:ext uri="{FF2B5EF4-FFF2-40B4-BE49-F238E27FC236}">
                <a16:creationId xmlns:a16="http://schemas.microsoft.com/office/drawing/2014/main" id="{0CBEE5EA-1382-AB0C-E125-A4BA8C8E57DD}"/>
              </a:ext>
            </a:extLst>
          </p:cNvPr>
          <p:cNvSpPr>
            <a:spLocks noGrp="1"/>
          </p:cNvSpPr>
          <p:nvPr>
            <p:ph sz="half" idx="2"/>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Has 2 surfaces: superior and anterior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Superior: deltoid tubercle for attachment of deltoid muscle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Inferior: rough; conoid &amp; trapezoid ligament(acromial end), costoclavicular ligament &amp; subclavian groove (medially) </a:t>
            </a:r>
          </a:p>
          <a:p>
            <a:pPr marL="0" indent="0">
              <a:buNone/>
            </a:pPr>
            <a:endParaRPr lang="en-NG" dirty="0"/>
          </a:p>
        </p:txBody>
      </p:sp>
      <p:pic>
        <p:nvPicPr>
          <p:cNvPr id="5" name="Picture 4">
            <a:extLst>
              <a:ext uri="{FF2B5EF4-FFF2-40B4-BE49-F238E27FC236}">
                <a16:creationId xmlns:a16="http://schemas.microsoft.com/office/drawing/2014/main" id="{D0768015-C186-66C5-8697-DC38ACCE7751}"/>
              </a:ext>
            </a:extLst>
          </p:cNvPr>
          <p:cNvPicPr>
            <a:picLocks noChangeAspect="1"/>
          </p:cNvPicPr>
          <p:nvPr/>
        </p:nvPicPr>
        <p:blipFill>
          <a:blip r:embed="rId2"/>
          <a:stretch>
            <a:fillRect/>
          </a:stretch>
        </p:blipFill>
        <p:spPr>
          <a:xfrm>
            <a:off x="6634164" y="4829187"/>
            <a:ext cx="3724275" cy="1228725"/>
          </a:xfrm>
          <a:prstGeom prst="rect">
            <a:avLst/>
          </a:prstGeom>
        </p:spPr>
      </p:pic>
      <p:sp>
        <p:nvSpPr>
          <p:cNvPr id="6" name="Date Placeholder 5">
            <a:extLst>
              <a:ext uri="{FF2B5EF4-FFF2-40B4-BE49-F238E27FC236}">
                <a16:creationId xmlns:a16="http://schemas.microsoft.com/office/drawing/2014/main" id="{FA2FA30B-48F6-94BA-0A3C-47E646DE4AE0}"/>
              </a:ext>
            </a:extLst>
          </p:cNvPr>
          <p:cNvSpPr>
            <a:spLocks noGrp="1"/>
          </p:cNvSpPr>
          <p:nvPr>
            <p:ph type="dt" sz="half" idx="10"/>
          </p:nvPr>
        </p:nvSpPr>
        <p:spPr/>
        <p:txBody>
          <a:bodyPr/>
          <a:lstStyle/>
          <a:p>
            <a:fld id="{898117AF-F2BD-4488-83C1-D06810B338A7}" type="datetime8">
              <a:rPr lang="en-NG" smtClean="0"/>
              <a:t>18/10/2026 08:13</a:t>
            </a:fld>
            <a:endParaRPr lang="en-NG"/>
          </a:p>
        </p:txBody>
      </p:sp>
      <p:sp>
        <p:nvSpPr>
          <p:cNvPr id="7" name="Slide Number Placeholder 6">
            <a:extLst>
              <a:ext uri="{FF2B5EF4-FFF2-40B4-BE49-F238E27FC236}">
                <a16:creationId xmlns:a16="http://schemas.microsoft.com/office/drawing/2014/main" id="{73D1CF2C-567B-6504-E5B6-3E72765D00BC}"/>
              </a:ext>
            </a:extLst>
          </p:cNvPr>
          <p:cNvSpPr>
            <a:spLocks noGrp="1"/>
          </p:cNvSpPr>
          <p:nvPr>
            <p:ph type="sldNum" sz="quarter" idx="12"/>
          </p:nvPr>
        </p:nvSpPr>
        <p:spPr/>
        <p:txBody>
          <a:bodyPr/>
          <a:lstStyle/>
          <a:p>
            <a:fld id="{AF15468F-FAE6-4D8E-9204-DF6230E3F4CD}" type="slidenum">
              <a:rPr lang="en-NG" smtClean="0"/>
              <a:t>5</a:t>
            </a:fld>
            <a:endParaRPr lang="en-NG"/>
          </a:p>
        </p:txBody>
      </p:sp>
    </p:spTree>
    <p:extLst>
      <p:ext uri="{BB962C8B-B14F-4D97-AF65-F5344CB8AC3E}">
        <p14:creationId xmlns:p14="http://schemas.microsoft.com/office/powerpoint/2010/main" val="67543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FB955-5FE9-E05B-D84F-2A88DC564557}"/>
              </a:ext>
            </a:extLst>
          </p:cNvPr>
          <p:cNvSpPr>
            <a:spLocks noGrp="1"/>
          </p:cNvSpPr>
          <p:nvPr>
            <p:ph type="title"/>
          </p:nvPr>
        </p:nvSpPr>
        <p:spPr/>
        <p:txBody>
          <a:bodyPr/>
          <a:lstStyle/>
          <a:p>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Ossification of the clavicle</a:t>
            </a:r>
            <a:endParaRPr lang="en-NG" dirty="0"/>
          </a:p>
        </p:txBody>
      </p:sp>
      <p:sp>
        <p:nvSpPr>
          <p:cNvPr id="3" name="Content Placeholder 2">
            <a:extLst>
              <a:ext uri="{FF2B5EF4-FFF2-40B4-BE49-F238E27FC236}">
                <a16:creationId xmlns:a16="http://schemas.microsoft.com/office/drawing/2014/main" id="{21789F60-0D53-FFEA-73C7-C3AA998BA750}"/>
              </a:ext>
            </a:extLst>
          </p:cNvPr>
          <p:cNvSpPr>
            <a:spLocks noGrp="1"/>
          </p:cNvSpPr>
          <p:nvPr>
            <p:ph sz="half" idx="1"/>
          </p:nvPr>
        </p:nvSpPr>
        <p:spPr/>
        <p:txBody>
          <a:bodyPr>
            <a:normAutofit fontScale="85000" lnSpcReduction="20000"/>
          </a:bodyPr>
          <a:lstStyle/>
          <a:p>
            <a:r>
              <a:rPr lang="en-US" dirty="0"/>
              <a:t>First bone to ossify in the body at 5th and 6th week intrauterine life</a:t>
            </a:r>
          </a:p>
          <a:p>
            <a:r>
              <a:rPr lang="en-US" dirty="0"/>
              <a:t>Begins with intramembranous ossification and ends with endochondral or cartilaginous ossification</a:t>
            </a:r>
          </a:p>
          <a:p>
            <a:r>
              <a:rPr lang="en-US" dirty="0"/>
              <a:t>Two primary centres at medial and lateral ends</a:t>
            </a:r>
          </a:p>
          <a:p>
            <a:r>
              <a:rPr lang="en-US" dirty="0"/>
              <a:t>Secondary ossification appears at the sternal end at 18th and 25th year of life and is complete by 25th and 31styr</a:t>
            </a:r>
          </a:p>
          <a:p>
            <a:r>
              <a:rPr lang="en-US" dirty="0"/>
              <a:t>Thus, it is also last of epiphysis of long bones to fuse</a:t>
            </a:r>
          </a:p>
          <a:p>
            <a:endParaRPr lang="en-NG" dirty="0"/>
          </a:p>
        </p:txBody>
      </p:sp>
      <p:sp>
        <p:nvSpPr>
          <p:cNvPr id="4" name="Content Placeholder 3">
            <a:extLst>
              <a:ext uri="{FF2B5EF4-FFF2-40B4-BE49-F238E27FC236}">
                <a16:creationId xmlns:a16="http://schemas.microsoft.com/office/drawing/2014/main" id="{6C9D0F27-6550-9973-252F-E1660DD30414}"/>
              </a:ext>
            </a:extLst>
          </p:cNvPr>
          <p:cNvSpPr>
            <a:spLocks noGrp="1"/>
          </p:cNvSpPr>
          <p:nvPr>
            <p:ph sz="half" idx="2"/>
          </p:nvPr>
        </p:nvSpPr>
        <p:spPr/>
        <p:txBody>
          <a:bodyPr>
            <a:normAutofit fontScale="85000" lnSpcReduction="20000"/>
          </a:bodyPr>
          <a:lstStyle/>
          <a:p>
            <a:r>
              <a:rPr lang="en-US" b="1" u="sng" dirty="0"/>
              <a:t>Clinicals</a:t>
            </a:r>
          </a:p>
          <a:p>
            <a:r>
              <a:rPr lang="en-US" dirty="0"/>
              <a:t>Commonly fractured in children</a:t>
            </a:r>
          </a:p>
          <a:p>
            <a:r>
              <a:rPr lang="en-US" dirty="0"/>
              <a:t>Greenstick fractures</a:t>
            </a:r>
          </a:p>
          <a:p>
            <a:r>
              <a:rPr lang="en-US" dirty="0"/>
              <a:t>Common site of fracture is junction of lateral and medial thirds</a:t>
            </a:r>
          </a:p>
          <a:p>
            <a:endParaRPr lang="en-NG" dirty="0"/>
          </a:p>
        </p:txBody>
      </p:sp>
      <p:pic>
        <p:nvPicPr>
          <p:cNvPr id="5" name="Picture 4">
            <a:extLst>
              <a:ext uri="{FF2B5EF4-FFF2-40B4-BE49-F238E27FC236}">
                <a16:creationId xmlns:a16="http://schemas.microsoft.com/office/drawing/2014/main" id="{263071DC-752B-14CB-8C3A-FD7A66A76CFF}"/>
              </a:ext>
            </a:extLst>
          </p:cNvPr>
          <p:cNvPicPr>
            <a:picLocks noChangeAspect="1"/>
          </p:cNvPicPr>
          <p:nvPr/>
        </p:nvPicPr>
        <p:blipFill>
          <a:blip r:embed="rId2"/>
          <a:stretch>
            <a:fillRect/>
          </a:stretch>
        </p:blipFill>
        <p:spPr>
          <a:xfrm>
            <a:off x="6786570" y="4152912"/>
            <a:ext cx="2790825" cy="1638300"/>
          </a:xfrm>
          <a:prstGeom prst="rect">
            <a:avLst/>
          </a:prstGeom>
        </p:spPr>
      </p:pic>
      <p:sp>
        <p:nvSpPr>
          <p:cNvPr id="6" name="Date Placeholder 5">
            <a:extLst>
              <a:ext uri="{FF2B5EF4-FFF2-40B4-BE49-F238E27FC236}">
                <a16:creationId xmlns:a16="http://schemas.microsoft.com/office/drawing/2014/main" id="{E66423FD-B48D-93C1-8251-CB62665A12E9}"/>
              </a:ext>
            </a:extLst>
          </p:cNvPr>
          <p:cNvSpPr>
            <a:spLocks noGrp="1"/>
          </p:cNvSpPr>
          <p:nvPr>
            <p:ph type="dt" sz="half" idx="10"/>
          </p:nvPr>
        </p:nvSpPr>
        <p:spPr/>
        <p:txBody>
          <a:bodyPr/>
          <a:lstStyle/>
          <a:p>
            <a:fld id="{E067BFD7-B592-445C-B1B7-0FE993C58E12}" type="datetime8">
              <a:rPr lang="en-NG" smtClean="0"/>
              <a:t>18/10/2026 08:13</a:t>
            </a:fld>
            <a:endParaRPr lang="en-NG"/>
          </a:p>
        </p:txBody>
      </p:sp>
      <p:sp>
        <p:nvSpPr>
          <p:cNvPr id="7" name="Slide Number Placeholder 6">
            <a:extLst>
              <a:ext uri="{FF2B5EF4-FFF2-40B4-BE49-F238E27FC236}">
                <a16:creationId xmlns:a16="http://schemas.microsoft.com/office/drawing/2014/main" id="{27D3943B-BDF3-65A1-8420-95BE39014595}"/>
              </a:ext>
            </a:extLst>
          </p:cNvPr>
          <p:cNvSpPr>
            <a:spLocks noGrp="1"/>
          </p:cNvSpPr>
          <p:nvPr>
            <p:ph type="sldNum" sz="quarter" idx="12"/>
          </p:nvPr>
        </p:nvSpPr>
        <p:spPr/>
        <p:txBody>
          <a:bodyPr/>
          <a:lstStyle/>
          <a:p>
            <a:fld id="{AF15468F-FAE6-4D8E-9204-DF6230E3F4CD}" type="slidenum">
              <a:rPr lang="en-NG" smtClean="0"/>
              <a:t>6</a:t>
            </a:fld>
            <a:endParaRPr lang="en-NG"/>
          </a:p>
        </p:txBody>
      </p:sp>
    </p:spTree>
    <p:extLst>
      <p:ext uri="{BB962C8B-B14F-4D97-AF65-F5344CB8AC3E}">
        <p14:creationId xmlns:p14="http://schemas.microsoft.com/office/powerpoint/2010/main" val="2653302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77AD8-D1B8-9370-EA53-28517224DB39}"/>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Osteology -</a:t>
            </a:r>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Humerus</a:t>
            </a:r>
            <a:endParaRPr lang="en-NG" dirty="0"/>
          </a:p>
        </p:txBody>
      </p:sp>
      <p:sp>
        <p:nvSpPr>
          <p:cNvPr id="3" name="Content Placeholder 2">
            <a:extLst>
              <a:ext uri="{FF2B5EF4-FFF2-40B4-BE49-F238E27FC236}">
                <a16:creationId xmlns:a16="http://schemas.microsoft.com/office/drawing/2014/main" id="{F21BFB1B-25DE-1C81-8318-D1FE0F90DE54}"/>
              </a:ext>
            </a:extLst>
          </p:cNvPr>
          <p:cNvSpPr>
            <a:spLocks noGrp="1"/>
          </p:cNvSpPr>
          <p:nvPr>
            <p:ph sz="half" idx="1"/>
          </p:nvPr>
        </p:nvSpPr>
        <p:spPr>
          <a:xfrm>
            <a:off x="838200" y="1543988"/>
            <a:ext cx="5547610" cy="4632976"/>
          </a:xfrm>
        </p:spPr>
        <p:txBody>
          <a:bodyPr>
            <a:normAutofit fontScale="77500" lnSpcReduction="20000"/>
          </a:bodyPr>
          <a:lstStyle/>
          <a:p>
            <a:r>
              <a:rPr lang="en-US" dirty="0"/>
              <a:t>Largest long bone of the upper limbs</a:t>
            </a:r>
          </a:p>
          <a:p>
            <a:r>
              <a:rPr lang="en-US" dirty="0"/>
              <a:t>Forms the shoulder joint with the scapula at the glenoid cavity</a:t>
            </a:r>
          </a:p>
          <a:p>
            <a:r>
              <a:rPr lang="en-US" dirty="0"/>
              <a:t>Has a head, an anatomical and surgical neck and shaft, and distal and proximal ends</a:t>
            </a:r>
          </a:p>
          <a:p>
            <a:r>
              <a:rPr lang="en-US" dirty="0"/>
              <a:t>Possesses two elevations at the neck region: greater and lesser tubercles separated by the bicipital groove</a:t>
            </a:r>
          </a:p>
          <a:p>
            <a:r>
              <a:rPr lang="en-US" dirty="0"/>
              <a:t>Distal ends has capitulum laterally for articulation with head of radius, and trochlea(pulley-like) medially for articulation with ulna</a:t>
            </a:r>
          </a:p>
          <a:p>
            <a:r>
              <a:rPr lang="en-US" dirty="0"/>
              <a:t>Distal ends terminate in two projections; lateral and medial epicondyles</a:t>
            </a:r>
          </a:p>
        </p:txBody>
      </p:sp>
      <p:sp>
        <p:nvSpPr>
          <p:cNvPr id="4" name="Content Placeholder 3">
            <a:extLst>
              <a:ext uri="{FF2B5EF4-FFF2-40B4-BE49-F238E27FC236}">
                <a16:creationId xmlns:a16="http://schemas.microsoft.com/office/drawing/2014/main" id="{98CBD5BB-9765-0346-4CE7-70C190C71A56}"/>
              </a:ext>
            </a:extLst>
          </p:cNvPr>
          <p:cNvSpPr>
            <a:spLocks noGrp="1"/>
          </p:cNvSpPr>
          <p:nvPr>
            <p:ph sz="half" idx="2"/>
          </p:nvPr>
        </p:nvSpPr>
        <p:spPr>
          <a:xfrm>
            <a:off x="6670622" y="1825625"/>
            <a:ext cx="4683177" cy="4351338"/>
          </a:xfrm>
        </p:spPr>
        <p:txBody>
          <a:bodyPr>
            <a:normAutofit fontScale="77500" lnSpcReduction="20000"/>
          </a:bodyPr>
          <a:lstStyle/>
          <a:p>
            <a:endParaRPr lang="en-NG" dirty="0"/>
          </a:p>
        </p:txBody>
      </p:sp>
      <p:pic>
        <p:nvPicPr>
          <p:cNvPr id="5" name="Content Placeholder 4">
            <a:extLst>
              <a:ext uri="{FF2B5EF4-FFF2-40B4-BE49-F238E27FC236}">
                <a16:creationId xmlns:a16="http://schemas.microsoft.com/office/drawing/2014/main" id="{3CB081AC-8FF0-D22A-3845-3D1CB2D25088}"/>
              </a:ext>
            </a:extLst>
          </p:cNvPr>
          <p:cNvPicPr>
            <a:picLocks noChangeAspect="1"/>
          </p:cNvPicPr>
          <p:nvPr/>
        </p:nvPicPr>
        <p:blipFill>
          <a:blip r:embed="rId2"/>
          <a:stretch>
            <a:fillRect/>
          </a:stretch>
        </p:blipFill>
        <p:spPr>
          <a:xfrm>
            <a:off x="7343775" y="2233534"/>
            <a:ext cx="3224291" cy="3327817"/>
          </a:xfrm>
          <a:prstGeom prst="rect">
            <a:avLst/>
          </a:prstGeom>
        </p:spPr>
      </p:pic>
      <p:sp>
        <p:nvSpPr>
          <p:cNvPr id="6" name="Date Placeholder 5">
            <a:extLst>
              <a:ext uri="{FF2B5EF4-FFF2-40B4-BE49-F238E27FC236}">
                <a16:creationId xmlns:a16="http://schemas.microsoft.com/office/drawing/2014/main" id="{993C6D6F-20D7-0609-80D6-E7CD882CBAD3}"/>
              </a:ext>
            </a:extLst>
          </p:cNvPr>
          <p:cNvSpPr>
            <a:spLocks noGrp="1"/>
          </p:cNvSpPr>
          <p:nvPr>
            <p:ph type="dt" sz="half" idx="10"/>
          </p:nvPr>
        </p:nvSpPr>
        <p:spPr/>
        <p:txBody>
          <a:bodyPr/>
          <a:lstStyle/>
          <a:p>
            <a:fld id="{A2A24975-6528-4DA5-8043-4809AACF82A4}" type="datetime8">
              <a:rPr lang="en-NG" smtClean="0"/>
              <a:t>18/10/2026 08:13</a:t>
            </a:fld>
            <a:endParaRPr lang="en-NG"/>
          </a:p>
        </p:txBody>
      </p:sp>
      <p:sp>
        <p:nvSpPr>
          <p:cNvPr id="7" name="Slide Number Placeholder 6">
            <a:extLst>
              <a:ext uri="{FF2B5EF4-FFF2-40B4-BE49-F238E27FC236}">
                <a16:creationId xmlns:a16="http://schemas.microsoft.com/office/drawing/2014/main" id="{B8EDE62E-CA70-327F-2A8A-C3F61B5C8E7B}"/>
              </a:ext>
            </a:extLst>
          </p:cNvPr>
          <p:cNvSpPr>
            <a:spLocks noGrp="1"/>
          </p:cNvSpPr>
          <p:nvPr>
            <p:ph type="sldNum" sz="quarter" idx="12"/>
          </p:nvPr>
        </p:nvSpPr>
        <p:spPr/>
        <p:txBody>
          <a:bodyPr/>
          <a:lstStyle/>
          <a:p>
            <a:fld id="{AF15468F-FAE6-4D8E-9204-DF6230E3F4CD}" type="slidenum">
              <a:rPr lang="en-NG" smtClean="0"/>
              <a:t>7</a:t>
            </a:fld>
            <a:endParaRPr lang="en-NG"/>
          </a:p>
        </p:txBody>
      </p:sp>
    </p:spTree>
    <p:extLst>
      <p:ext uri="{BB962C8B-B14F-4D97-AF65-F5344CB8AC3E}">
        <p14:creationId xmlns:p14="http://schemas.microsoft.com/office/powerpoint/2010/main" val="3989315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A6C5C-4916-809E-9C5F-E86A4C76F9BA}"/>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Osteology - </a:t>
            </a:r>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The carpal bones</a:t>
            </a:r>
            <a:endParaRPr lang="en-NG" dirty="0"/>
          </a:p>
        </p:txBody>
      </p:sp>
      <p:sp>
        <p:nvSpPr>
          <p:cNvPr id="3" name="Content Placeholder 2">
            <a:extLst>
              <a:ext uri="{FF2B5EF4-FFF2-40B4-BE49-F238E27FC236}">
                <a16:creationId xmlns:a16="http://schemas.microsoft.com/office/drawing/2014/main" id="{1D7E040F-B7CF-D79F-7040-A7D4154D8EA8}"/>
              </a:ext>
            </a:extLst>
          </p:cNvPr>
          <p:cNvSpPr>
            <a:spLocks noGrp="1"/>
          </p:cNvSpPr>
          <p:nvPr>
            <p:ph sz="half" idx="1"/>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Small bones of the hands occupying the wrist region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Has 2 rows of bones attached to each other by interosseous ligament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Proximal row: L2M: </a:t>
            </a:r>
            <a:r>
              <a:rPr kumimoji="0" lang="en-GB" sz="2800" b="0" i="0" u="none" strike="noStrike" kern="1200" cap="none" spc="0" normalizeH="0" baseline="0" noProof="0" dirty="0" err="1">
                <a:ln>
                  <a:noFill/>
                </a:ln>
                <a:solidFill>
                  <a:prstClr val="black"/>
                </a:solidFill>
                <a:effectLst/>
                <a:uLnTx/>
                <a:uFillTx/>
                <a:latin typeface="Calibri" panose="020F0502020204030204"/>
                <a:ea typeface="+mn-ea"/>
                <a:cs typeface="+mn-cs"/>
              </a:rPr>
              <a:t>Scaphoid→Lunate→Triquetrium→Pisiform</a:t>
            </a: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 (SLTP)</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Distal row: L2M: </a:t>
            </a:r>
            <a:r>
              <a:rPr kumimoji="0" lang="en-GB" sz="2800" b="0" i="0" u="none" strike="noStrike" kern="1200" cap="none" spc="0" normalizeH="0" baseline="0" noProof="0" dirty="0" err="1">
                <a:ln>
                  <a:noFill/>
                </a:ln>
                <a:solidFill>
                  <a:prstClr val="black"/>
                </a:solidFill>
                <a:effectLst/>
                <a:uLnTx/>
                <a:uFillTx/>
                <a:latin typeface="Calibri" panose="020F0502020204030204"/>
                <a:ea typeface="+mn-ea"/>
                <a:cs typeface="+mn-cs"/>
              </a:rPr>
              <a:t>Trapezium→Trapezoid→Capitate→Hamate</a:t>
            </a: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 (TTCH)</a:t>
            </a:r>
            <a:endParaRPr kumimoji="0" lang="en-NG"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NG" dirty="0"/>
          </a:p>
        </p:txBody>
      </p:sp>
      <p:sp>
        <p:nvSpPr>
          <p:cNvPr id="4" name="Content Placeholder 3">
            <a:extLst>
              <a:ext uri="{FF2B5EF4-FFF2-40B4-BE49-F238E27FC236}">
                <a16:creationId xmlns:a16="http://schemas.microsoft.com/office/drawing/2014/main" id="{C3FF8FDB-EC7E-657D-6153-D60DE8AEB225}"/>
              </a:ext>
            </a:extLst>
          </p:cNvPr>
          <p:cNvSpPr>
            <a:spLocks noGrp="1"/>
          </p:cNvSpPr>
          <p:nvPr>
            <p:ph sz="half" idx="2"/>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5 Metacarpals (head and base) and 14 phalanges(distal, middle and proximal ends)</a:t>
            </a:r>
          </a:p>
          <a:p>
            <a:endParaRPr lang="en-NG" dirty="0"/>
          </a:p>
        </p:txBody>
      </p:sp>
      <p:pic>
        <p:nvPicPr>
          <p:cNvPr id="5" name="Picture 4">
            <a:extLst>
              <a:ext uri="{FF2B5EF4-FFF2-40B4-BE49-F238E27FC236}">
                <a16:creationId xmlns:a16="http://schemas.microsoft.com/office/drawing/2014/main" id="{53F3D821-2435-87A2-9FCA-BECC1CE3EE07}"/>
              </a:ext>
            </a:extLst>
          </p:cNvPr>
          <p:cNvPicPr>
            <a:picLocks noChangeAspect="1"/>
          </p:cNvPicPr>
          <p:nvPr/>
        </p:nvPicPr>
        <p:blipFill>
          <a:blip r:embed="rId2"/>
          <a:stretch>
            <a:fillRect/>
          </a:stretch>
        </p:blipFill>
        <p:spPr>
          <a:xfrm>
            <a:off x="7072320" y="3257554"/>
            <a:ext cx="3643305" cy="2457445"/>
          </a:xfrm>
          <a:prstGeom prst="rect">
            <a:avLst/>
          </a:prstGeom>
        </p:spPr>
      </p:pic>
      <p:sp>
        <p:nvSpPr>
          <p:cNvPr id="6" name="Date Placeholder 5">
            <a:extLst>
              <a:ext uri="{FF2B5EF4-FFF2-40B4-BE49-F238E27FC236}">
                <a16:creationId xmlns:a16="http://schemas.microsoft.com/office/drawing/2014/main" id="{088D636B-B045-D63F-CA8E-7C5D8D4625B6}"/>
              </a:ext>
            </a:extLst>
          </p:cNvPr>
          <p:cNvSpPr>
            <a:spLocks noGrp="1"/>
          </p:cNvSpPr>
          <p:nvPr>
            <p:ph type="dt" sz="half" idx="10"/>
          </p:nvPr>
        </p:nvSpPr>
        <p:spPr/>
        <p:txBody>
          <a:bodyPr/>
          <a:lstStyle/>
          <a:p>
            <a:fld id="{B09197DA-AC79-4ED4-AB27-B253652B0BAD}" type="datetime8">
              <a:rPr lang="en-NG" smtClean="0"/>
              <a:t>18/10/2026 08:13</a:t>
            </a:fld>
            <a:endParaRPr lang="en-NG"/>
          </a:p>
        </p:txBody>
      </p:sp>
      <p:sp>
        <p:nvSpPr>
          <p:cNvPr id="7" name="Slide Number Placeholder 6">
            <a:extLst>
              <a:ext uri="{FF2B5EF4-FFF2-40B4-BE49-F238E27FC236}">
                <a16:creationId xmlns:a16="http://schemas.microsoft.com/office/drawing/2014/main" id="{27F7F1A4-1342-5A17-81E5-E0A4C24928DC}"/>
              </a:ext>
            </a:extLst>
          </p:cNvPr>
          <p:cNvSpPr>
            <a:spLocks noGrp="1"/>
          </p:cNvSpPr>
          <p:nvPr>
            <p:ph type="sldNum" sz="quarter" idx="12"/>
          </p:nvPr>
        </p:nvSpPr>
        <p:spPr/>
        <p:txBody>
          <a:bodyPr/>
          <a:lstStyle/>
          <a:p>
            <a:fld id="{AF15468F-FAE6-4D8E-9204-DF6230E3F4CD}" type="slidenum">
              <a:rPr lang="en-NG" smtClean="0"/>
              <a:t>8</a:t>
            </a:fld>
            <a:endParaRPr lang="en-NG"/>
          </a:p>
        </p:txBody>
      </p:sp>
    </p:spTree>
    <p:extLst>
      <p:ext uri="{BB962C8B-B14F-4D97-AF65-F5344CB8AC3E}">
        <p14:creationId xmlns:p14="http://schemas.microsoft.com/office/powerpoint/2010/main" val="2448543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A51F4-B766-0818-098B-1BDFD245553D}"/>
              </a:ext>
            </a:extLst>
          </p:cNvPr>
          <p:cNvSpPr>
            <a:spLocks noGrp="1"/>
          </p:cNvSpPr>
          <p:nvPr>
            <p:ph type="title"/>
          </p:nvPr>
        </p:nvSpPr>
        <p:spPr/>
        <p:txBody>
          <a:bodyPr/>
          <a:lstStyle/>
          <a:p>
            <a:r>
              <a:rPr lang="en-US" dirty="0"/>
              <a:t>The shoulder region</a:t>
            </a:r>
            <a:endParaRPr lang="en-NG" dirty="0"/>
          </a:p>
        </p:txBody>
      </p:sp>
      <p:sp>
        <p:nvSpPr>
          <p:cNvPr id="3" name="Content Placeholder 2">
            <a:extLst>
              <a:ext uri="{FF2B5EF4-FFF2-40B4-BE49-F238E27FC236}">
                <a16:creationId xmlns:a16="http://schemas.microsoft.com/office/drawing/2014/main" id="{B186BBA5-D9AF-6A4B-C849-C750FE38CD8E}"/>
              </a:ext>
            </a:extLst>
          </p:cNvPr>
          <p:cNvSpPr>
            <a:spLocks noGrp="1"/>
          </p:cNvSpPr>
          <p:nvPr>
            <p:ph sz="half" idx="1"/>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The shoulder muscles are divided into major 2 groups:</a:t>
            </a: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Extrinsic muscles</a:t>
            </a: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Intrinsic muscles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The Extrinsic muscles are divided into 2 groups: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Superficial posterior </a:t>
            </a:r>
            <a:r>
              <a:rPr kumimoji="0" lang="en-GB" sz="2800" b="0" i="0" u="none" strike="noStrike" kern="1200" cap="none" spc="0" normalizeH="0" baseline="0" noProof="0" dirty="0" err="1">
                <a:ln>
                  <a:noFill/>
                </a:ln>
                <a:solidFill>
                  <a:prstClr val="black"/>
                </a:solidFill>
                <a:effectLst/>
                <a:uLnTx/>
                <a:uFillTx/>
                <a:latin typeface="Calibri" panose="020F0502020204030204"/>
                <a:ea typeface="+mn-ea"/>
                <a:cs typeface="+mn-cs"/>
              </a:rPr>
              <a:t>thoracoappendicular</a:t>
            </a:r>
            <a:endPar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Deep posterior </a:t>
            </a:r>
            <a:r>
              <a:rPr kumimoji="0" lang="en-GB" sz="2800" b="0" i="0" u="none" strike="noStrike" kern="1200" cap="none" spc="0" normalizeH="0" baseline="0" noProof="0" dirty="0" err="1">
                <a:ln>
                  <a:noFill/>
                </a:ln>
                <a:solidFill>
                  <a:prstClr val="black"/>
                </a:solidFill>
                <a:effectLst/>
                <a:uLnTx/>
                <a:uFillTx/>
                <a:latin typeface="Calibri" panose="020F0502020204030204"/>
                <a:ea typeface="+mn-ea"/>
                <a:cs typeface="+mn-cs"/>
              </a:rPr>
              <a:t>thoracoappendcular</a:t>
            </a:r>
            <a:endPar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NG" dirty="0"/>
          </a:p>
        </p:txBody>
      </p:sp>
      <p:sp>
        <p:nvSpPr>
          <p:cNvPr id="4" name="Content Placeholder 3">
            <a:extLst>
              <a:ext uri="{FF2B5EF4-FFF2-40B4-BE49-F238E27FC236}">
                <a16:creationId xmlns:a16="http://schemas.microsoft.com/office/drawing/2014/main" id="{A5EDB6DB-A7A8-6543-BEDE-71D4D23B79FD}"/>
              </a:ext>
            </a:extLst>
          </p:cNvPr>
          <p:cNvSpPr>
            <a:spLocks noGrp="1"/>
          </p:cNvSpPr>
          <p:nvPr>
            <p:ph sz="half" idx="2"/>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Examples: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 Extrinsic superficial: trapezius and latissimus dorsi</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Extrinsic deep: levator scapulae and rhomboids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Intrinsic: deltoid, teres major and rotator cuff muscles</a:t>
            </a:r>
            <a:endParaRPr kumimoji="0" lang="en-NG"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NG" dirty="0"/>
          </a:p>
        </p:txBody>
      </p:sp>
      <p:sp>
        <p:nvSpPr>
          <p:cNvPr id="5" name="Date Placeholder 4">
            <a:extLst>
              <a:ext uri="{FF2B5EF4-FFF2-40B4-BE49-F238E27FC236}">
                <a16:creationId xmlns:a16="http://schemas.microsoft.com/office/drawing/2014/main" id="{0DF31125-FDAA-E59E-081E-A28B3051A2D1}"/>
              </a:ext>
            </a:extLst>
          </p:cNvPr>
          <p:cNvSpPr>
            <a:spLocks noGrp="1"/>
          </p:cNvSpPr>
          <p:nvPr>
            <p:ph type="dt" sz="half" idx="10"/>
          </p:nvPr>
        </p:nvSpPr>
        <p:spPr/>
        <p:txBody>
          <a:bodyPr/>
          <a:lstStyle/>
          <a:p>
            <a:fld id="{3D7ABBC3-9764-4FBE-A0DA-0B4D7A8DA64E}" type="datetime8">
              <a:rPr lang="en-NG" smtClean="0"/>
              <a:t>18/10/2026 08:13</a:t>
            </a:fld>
            <a:endParaRPr lang="en-NG"/>
          </a:p>
        </p:txBody>
      </p:sp>
      <p:sp>
        <p:nvSpPr>
          <p:cNvPr id="6" name="Slide Number Placeholder 5">
            <a:extLst>
              <a:ext uri="{FF2B5EF4-FFF2-40B4-BE49-F238E27FC236}">
                <a16:creationId xmlns:a16="http://schemas.microsoft.com/office/drawing/2014/main" id="{75D06600-879F-B72F-8237-FE8EAE1CAED2}"/>
              </a:ext>
            </a:extLst>
          </p:cNvPr>
          <p:cNvSpPr>
            <a:spLocks noGrp="1"/>
          </p:cNvSpPr>
          <p:nvPr>
            <p:ph type="sldNum" sz="quarter" idx="12"/>
          </p:nvPr>
        </p:nvSpPr>
        <p:spPr/>
        <p:txBody>
          <a:bodyPr/>
          <a:lstStyle/>
          <a:p>
            <a:fld id="{AF15468F-FAE6-4D8E-9204-DF6230E3F4CD}" type="slidenum">
              <a:rPr lang="en-NG" smtClean="0"/>
              <a:t>9</a:t>
            </a:fld>
            <a:endParaRPr lang="en-NG"/>
          </a:p>
        </p:txBody>
      </p:sp>
    </p:spTree>
    <p:extLst>
      <p:ext uri="{BB962C8B-B14F-4D97-AF65-F5344CB8AC3E}">
        <p14:creationId xmlns:p14="http://schemas.microsoft.com/office/powerpoint/2010/main" val="1780434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06D32-7B4C-8FBF-69E5-2EB4AF0A042E}"/>
              </a:ext>
            </a:extLst>
          </p:cNvPr>
          <p:cNvSpPr>
            <a:spLocks noGrp="1"/>
          </p:cNvSpPr>
          <p:nvPr>
            <p:ph type="title"/>
          </p:nvPr>
        </p:nvSpPr>
        <p:spPr/>
        <p:txBody>
          <a:bodyPr/>
          <a:lstStyle/>
          <a:p>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Shoulder region- muscles</a:t>
            </a:r>
            <a:endParaRPr lang="en-NG" dirty="0"/>
          </a:p>
        </p:txBody>
      </p:sp>
      <p:sp>
        <p:nvSpPr>
          <p:cNvPr id="3" name="Content Placeholder 2">
            <a:extLst>
              <a:ext uri="{FF2B5EF4-FFF2-40B4-BE49-F238E27FC236}">
                <a16:creationId xmlns:a16="http://schemas.microsoft.com/office/drawing/2014/main" id="{FE8A706A-E7F0-1A9B-B04F-2B09CFCC8982}"/>
              </a:ext>
            </a:extLst>
          </p:cNvPr>
          <p:cNvSpPr>
            <a:spLocks noGrp="1"/>
          </p:cNvSpPr>
          <p:nvPr>
            <p:ph sz="half" idx="1"/>
          </p:nvPr>
        </p:nvSpPr>
        <p:spPr/>
        <p:txBody>
          <a:bodyPr/>
          <a:lstStyle/>
          <a:p>
            <a:endParaRPr lang="en-NG" dirty="0"/>
          </a:p>
        </p:txBody>
      </p:sp>
      <p:sp>
        <p:nvSpPr>
          <p:cNvPr id="4" name="Content Placeholder 3">
            <a:extLst>
              <a:ext uri="{FF2B5EF4-FFF2-40B4-BE49-F238E27FC236}">
                <a16:creationId xmlns:a16="http://schemas.microsoft.com/office/drawing/2014/main" id="{C80EC16A-6CC9-B4AE-80E2-F6D9BE9B68F3}"/>
              </a:ext>
            </a:extLst>
          </p:cNvPr>
          <p:cNvSpPr>
            <a:spLocks noGrp="1"/>
          </p:cNvSpPr>
          <p:nvPr>
            <p:ph sz="half" idx="2"/>
          </p:nvPr>
        </p:nvSpPr>
        <p:spPr/>
        <p:txBody>
          <a:bodyPr/>
          <a:lstStyle/>
          <a:p>
            <a:endParaRPr lang="en-NG" dirty="0"/>
          </a:p>
        </p:txBody>
      </p:sp>
      <p:pic>
        <p:nvPicPr>
          <p:cNvPr id="5" name="Content Placeholder 4">
            <a:extLst>
              <a:ext uri="{FF2B5EF4-FFF2-40B4-BE49-F238E27FC236}">
                <a16:creationId xmlns:a16="http://schemas.microsoft.com/office/drawing/2014/main" id="{2D6AD984-5C3A-C6EE-E5BC-E23F467ECE4A}"/>
              </a:ext>
            </a:extLst>
          </p:cNvPr>
          <p:cNvPicPr>
            <a:picLocks noChangeAspect="1"/>
          </p:cNvPicPr>
          <p:nvPr/>
        </p:nvPicPr>
        <p:blipFill>
          <a:blip r:embed="rId2"/>
          <a:stretch>
            <a:fillRect/>
          </a:stretch>
        </p:blipFill>
        <p:spPr>
          <a:xfrm>
            <a:off x="876293" y="2100263"/>
            <a:ext cx="2395545" cy="3371849"/>
          </a:xfrm>
          <a:prstGeom prst="rect">
            <a:avLst/>
          </a:prstGeom>
        </p:spPr>
      </p:pic>
      <p:pic>
        <p:nvPicPr>
          <p:cNvPr id="6" name="Picture 5">
            <a:extLst>
              <a:ext uri="{FF2B5EF4-FFF2-40B4-BE49-F238E27FC236}">
                <a16:creationId xmlns:a16="http://schemas.microsoft.com/office/drawing/2014/main" id="{5E749CB0-47F6-5F27-5EB4-725A6525D852}"/>
              </a:ext>
            </a:extLst>
          </p:cNvPr>
          <p:cNvPicPr>
            <a:picLocks noChangeAspect="1"/>
          </p:cNvPicPr>
          <p:nvPr/>
        </p:nvPicPr>
        <p:blipFill>
          <a:blip r:embed="rId3"/>
          <a:stretch>
            <a:fillRect/>
          </a:stretch>
        </p:blipFill>
        <p:spPr>
          <a:xfrm>
            <a:off x="3562345" y="2100264"/>
            <a:ext cx="2209805" cy="3418680"/>
          </a:xfrm>
          <a:prstGeom prst="rect">
            <a:avLst/>
          </a:prstGeom>
        </p:spPr>
      </p:pic>
      <p:pic>
        <p:nvPicPr>
          <p:cNvPr id="7" name="Content Placeholder 6">
            <a:extLst>
              <a:ext uri="{FF2B5EF4-FFF2-40B4-BE49-F238E27FC236}">
                <a16:creationId xmlns:a16="http://schemas.microsoft.com/office/drawing/2014/main" id="{F861EFCC-F48F-509D-9A91-9E5EFBE5D8C5}"/>
              </a:ext>
            </a:extLst>
          </p:cNvPr>
          <p:cNvPicPr>
            <a:picLocks noChangeAspect="1"/>
          </p:cNvPicPr>
          <p:nvPr/>
        </p:nvPicPr>
        <p:blipFill>
          <a:blip r:embed="rId4"/>
          <a:stretch>
            <a:fillRect/>
          </a:stretch>
        </p:blipFill>
        <p:spPr>
          <a:xfrm>
            <a:off x="7330190" y="2100263"/>
            <a:ext cx="3199698" cy="3670950"/>
          </a:xfrm>
          <a:prstGeom prst="rect">
            <a:avLst/>
          </a:prstGeom>
        </p:spPr>
      </p:pic>
      <p:sp>
        <p:nvSpPr>
          <p:cNvPr id="8" name="Date Placeholder 7">
            <a:extLst>
              <a:ext uri="{FF2B5EF4-FFF2-40B4-BE49-F238E27FC236}">
                <a16:creationId xmlns:a16="http://schemas.microsoft.com/office/drawing/2014/main" id="{8600E2A1-A2B0-C804-BD4E-715AAE0C061B}"/>
              </a:ext>
            </a:extLst>
          </p:cNvPr>
          <p:cNvSpPr>
            <a:spLocks noGrp="1"/>
          </p:cNvSpPr>
          <p:nvPr>
            <p:ph type="dt" sz="half" idx="10"/>
          </p:nvPr>
        </p:nvSpPr>
        <p:spPr/>
        <p:txBody>
          <a:bodyPr/>
          <a:lstStyle/>
          <a:p>
            <a:fld id="{01849824-7785-467A-A1ED-5E6626BB0559}" type="datetime8">
              <a:rPr lang="en-NG" smtClean="0"/>
              <a:t>18/10/2026 08:13</a:t>
            </a:fld>
            <a:endParaRPr lang="en-NG"/>
          </a:p>
        </p:txBody>
      </p:sp>
      <p:sp>
        <p:nvSpPr>
          <p:cNvPr id="9" name="Slide Number Placeholder 8">
            <a:extLst>
              <a:ext uri="{FF2B5EF4-FFF2-40B4-BE49-F238E27FC236}">
                <a16:creationId xmlns:a16="http://schemas.microsoft.com/office/drawing/2014/main" id="{C4A68B1B-76A8-3E85-BC1E-8214809F6805}"/>
              </a:ext>
            </a:extLst>
          </p:cNvPr>
          <p:cNvSpPr>
            <a:spLocks noGrp="1"/>
          </p:cNvSpPr>
          <p:nvPr>
            <p:ph type="sldNum" sz="quarter" idx="12"/>
          </p:nvPr>
        </p:nvSpPr>
        <p:spPr/>
        <p:txBody>
          <a:bodyPr/>
          <a:lstStyle/>
          <a:p>
            <a:fld id="{AF15468F-FAE6-4D8E-9204-DF6230E3F4CD}" type="slidenum">
              <a:rPr lang="en-NG" smtClean="0"/>
              <a:t>10</a:t>
            </a:fld>
            <a:endParaRPr lang="en-NG"/>
          </a:p>
        </p:txBody>
      </p:sp>
    </p:spTree>
    <p:extLst>
      <p:ext uri="{BB962C8B-B14F-4D97-AF65-F5344CB8AC3E}">
        <p14:creationId xmlns:p14="http://schemas.microsoft.com/office/powerpoint/2010/main" val="3052382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FD3BA-E754-A138-B45C-256C52E72E60}"/>
              </a:ext>
            </a:extLst>
          </p:cNvPr>
          <p:cNvSpPr>
            <a:spLocks noGrp="1"/>
          </p:cNvSpPr>
          <p:nvPr>
            <p:ph type="title"/>
          </p:nvPr>
        </p:nvSpPr>
        <p:spPr/>
        <p:txBody>
          <a:bodyPr/>
          <a:lstStyle/>
          <a:p>
            <a:r>
              <a:rPr lang="en-US" dirty="0"/>
              <a:t>The Shoulder region – Shoulder joint</a:t>
            </a:r>
            <a:endParaRPr lang="en-NG" dirty="0"/>
          </a:p>
        </p:txBody>
      </p:sp>
      <p:sp>
        <p:nvSpPr>
          <p:cNvPr id="3" name="Content Placeholder 2">
            <a:extLst>
              <a:ext uri="{FF2B5EF4-FFF2-40B4-BE49-F238E27FC236}">
                <a16:creationId xmlns:a16="http://schemas.microsoft.com/office/drawing/2014/main" id="{44438297-1B1E-5330-A2E2-14A62CF1934C}"/>
              </a:ext>
            </a:extLst>
          </p:cNvPr>
          <p:cNvSpPr>
            <a:spLocks noGrp="1"/>
          </p:cNvSpPr>
          <p:nvPr>
            <p:ph sz="half" idx="1"/>
          </p:nvPr>
        </p:nvSpPr>
        <p:spPr/>
        <p:txBody>
          <a:bodyPr>
            <a:normAutofit fontScale="92500" lnSpcReduction="20000"/>
          </a:bodyPr>
          <a:lstStyle/>
          <a:p>
            <a:r>
              <a:rPr lang="en-US" dirty="0"/>
              <a:t>Also called glenohumeral joint</a:t>
            </a:r>
          </a:p>
          <a:p>
            <a:r>
              <a:rPr lang="en-US" dirty="0"/>
              <a:t>Ball &amp; socket type of synovial joint</a:t>
            </a:r>
          </a:p>
          <a:p>
            <a:r>
              <a:rPr lang="en-US" dirty="0"/>
              <a:t>Head of humerus articulates with the shallow glenoid cavity of the scapular</a:t>
            </a:r>
          </a:p>
          <a:p>
            <a:r>
              <a:rPr lang="en-US" dirty="0"/>
              <a:t>Articular surfaces lined by hyaline cartilage</a:t>
            </a:r>
          </a:p>
          <a:p>
            <a:r>
              <a:rPr lang="en-US" dirty="0"/>
              <a:t>The glenoid cavity is slightly deepened by a ring-like fibrocartilaginous glenoid labrum</a:t>
            </a:r>
          </a:p>
          <a:p>
            <a:r>
              <a:rPr lang="en-US" dirty="0"/>
              <a:t>It accommodates just a little above a third of the humeral head</a:t>
            </a:r>
          </a:p>
          <a:p>
            <a:pPr marL="0" indent="0">
              <a:buNone/>
            </a:pPr>
            <a:endParaRPr lang="en-NG" dirty="0"/>
          </a:p>
        </p:txBody>
      </p:sp>
      <p:pic>
        <p:nvPicPr>
          <p:cNvPr id="8" name="Content Placeholder 7" descr="The Anatomy of the Shoulder | Instinct Health">
            <a:extLst>
              <a:ext uri="{FF2B5EF4-FFF2-40B4-BE49-F238E27FC236}">
                <a16:creationId xmlns:a16="http://schemas.microsoft.com/office/drawing/2014/main" id="{CA907CCD-5F15-1596-8CB5-429E792E1B8F}"/>
              </a:ext>
            </a:extLst>
          </p:cNvPr>
          <p:cNvPicPr>
            <a:picLocks noGrp="1" noChangeAspect="1"/>
          </p:cNvPicPr>
          <p:nvPr>
            <p:ph sz="half" idx="2"/>
          </p:nvPr>
        </p:nvPicPr>
        <p:blipFill>
          <a:blip r:embed="rId2"/>
          <a:stretch>
            <a:fillRect/>
          </a:stretch>
        </p:blipFill>
        <p:spPr>
          <a:xfrm>
            <a:off x="6210300" y="1915319"/>
            <a:ext cx="5105400" cy="4171950"/>
          </a:xfrm>
          <a:prstGeom prst="rect">
            <a:avLst/>
          </a:prstGeom>
        </p:spPr>
      </p:pic>
      <p:sp>
        <p:nvSpPr>
          <p:cNvPr id="4" name="Date Placeholder 3">
            <a:extLst>
              <a:ext uri="{FF2B5EF4-FFF2-40B4-BE49-F238E27FC236}">
                <a16:creationId xmlns:a16="http://schemas.microsoft.com/office/drawing/2014/main" id="{4E49A9DD-B2B1-958E-1D4A-28E4C14FC5FB}"/>
              </a:ext>
            </a:extLst>
          </p:cNvPr>
          <p:cNvSpPr>
            <a:spLocks noGrp="1"/>
          </p:cNvSpPr>
          <p:nvPr>
            <p:ph type="dt" sz="half" idx="10"/>
          </p:nvPr>
        </p:nvSpPr>
        <p:spPr/>
        <p:txBody>
          <a:bodyPr/>
          <a:lstStyle/>
          <a:p>
            <a:fld id="{D669A636-CA69-4EA9-A95C-E23441DC78C0}" type="datetime8">
              <a:rPr lang="en-NG" smtClean="0"/>
              <a:t>18/10/2026 08:13</a:t>
            </a:fld>
            <a:endParaRPr lang="en-NG"/>
          </a:p>
        </p:txBody>
      </p:sp>
      <p:sp>
        <p:nvSpPr>
          <p:cNvPr id="5" name="Slide Number Placeholder 4">
            <a:extLst>
              <a:ext uri="{FF2B5EF4-FFF2-40B4-BE49-F238E27FC236}">
                <a16:creationId xmlns:a16="http://schemas.microsoft.com/office/drawing/2014/main" id="{505B082F-8902-E7D2-2BDE-7E6E092DB3EA}"/>
              </a:ext>
            </a:extLst>
          </p:cNvPr>
          <p:cNvSpPr>
            <a:spLocks noGrp="1"/>
          </p:cNvSpPr>
          <p:nvPr>
            <p:ph type="sldNum" sz="quarter" idx="12"/>
          </p:nvPr>
        </p:nvSpPr>
        <p:spPr/>
        <p:txBody>
          <a:bodyPr/>
          <a:lstStyle/>
          <a:p>
            <a:fld id="{AF15468F-FAE6-4D8E-9204-DF6230E3F4CD}" type="slidenum">
              <a:rPr lang="en-NG" smtClean="0"/>
              <a:t>11</a:t>
            </a:fld>
            <a:endParaRPr lang="en-NG"/>
          </a:p>
        </p:txBody>
      </p:sp>
    </p:spTree>
    <p:extLst>
      <p:ext uri="{BB962C8B-B14F-4D97-AF65-F5344CB8AC3E}">
        <p14:creationId xmlns:p14="http://schemas.microsoft.com/office/powerpoint/2010/main" val="3683380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F10D-CE57-85F5-DA60-E63253D78180}"/>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The Shoulder region – Shoulder joint</a:t>
            </a:r>
            <a:endParaRPr lang="en-NG" dirty="0"/>
          </a:p>
        </p:txBody>
      </p:sp>
      <p:sp>
        <p:nvSpPr>
          <p:cNvPr id="3" name="Content Placeholder 2">
            <a:extLst>
              <a:ext uri="{FF2B5EF4-FFF2-40B4-BE49-F238E27FC236}">
                <a16:creationId xmlns:a16="http://schemas.microsoft.com/office/drawing/2014/main" id="{68B7A74D-6DDD-42F7-7DD4-A014BF410A39}"/>
              </a:ext>
            </a:extLst>
          </p:cNvPr>
          <p:cNvSpPr>
            <a:spLocks noGrp="1"/>
          </p:cNvSpPr>
          <p:nvPr>
            <p:ph sz="half" idx="1"/>
          </p:nvPr>
        </p:nvSpPr>
        <p:spPr/>
        <p:txBody>
          <a:bodyPr>
            <a:normAutofit fontScale="62500" lnSpcReduction="20000"/>
          </a:bodyPr>
          <a:lstStyle/>
          <a:p>
            <a:pPr>
              <a:buFont typeface="Wingdings" panose="05000000000000000000" pitchFamily="2" charset="2"/>
              <a:buChar char="q"/>
            </a:pPr>
            <a:r>
              <a:rPr lang="en-US" dirty="0"/>
              <a:t> </a:t>
            </a:r>
            <a:r>
              <a:rPr lang="en-US" sz="3400" b="1" dirty="0"/>
              <a:t>Joint support</a:t>
            </a:r>
          </a:p>
          <a:p>
            <a:r>
              <a:rPr lang="en-US" sz="3400" dirty="0"/>
              <a:t>Several ligaments and muscles provide strength and support for the shoulder joint</a:t>
            </a:r>
          </a:p>
          <a:p>
            <a:r>
              <a:rPr lang="en-US" sz="3400" dirty="0"/>
              <a:t>Rotator cuff muscles (SITS) provide tone</a:t>
            </a:r>
          </a:p>
          <a:p>
            <a:r>
              <a:rPr lang="en-US" sz="3400" dirty="0"/>
              <a:t>A loose fibrous articular capsule covers the joint leaving 2 openings: </a:t>
            </a:r>
          </a:p>
          <a:p>
            <a:r>
              <a:rPr lang="en-US" sz="3400" dirty="0"/>
              <a:t>Between greater and lesser tubercle for passage of tendon of long head of biceps brachii</a:t>
            </a:r>
          </a:p>
          <a:p>
            <a:r>
              <a:rPr lang="en-US" sz="3400" dirty="0"/>
              <a:t>Inferior to coracoid process allowing for communication between subscapular bursa and the synovial cavity</a:t>
            </a:r>
          </a:p>
          <a:p>
            <a:pPr marL="0" indent="0">
              <a:buNone/>
            </a:pPr>
            <a:endParaRPr lang="en-NG" dirty="0"/>
          </a:p>
        </p:txBody>
      </p:sp>
      <p:sp>
        <p:nvSpPr>
          <p:cNvPr id="4" name="Content Placeholder 3">
            <a:extLst>
              <a:ext uri="{FF2B5EF4-FFF2-40B4-BE49-F238E27FC236}">
                <a16:creationId xmlns:a16="http://schemas.microsoft.com/office/drawing/2014/main" id="{D17F56CF-B5C3-9A6F-121A-2865455AABC8}"/>
              </a:ext>
            </a:extLst>
          </p:cNvPr>
          <p:cNvSpPr>
            <a:spLocks noGrp="1"/>
          </p:cNvSpPr>
          <p:nvPr>
            <p:ph sz="half" idx="2"/>
          </p:nvPr>
        </p:nvSpPr>
        <p:spPr/>
        <p:txBody>
          <a:bodyPr>
            <a:normAutofit fontScale="62500" lnSpcReduction="20000"/>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3200" b="0" i="0" u="none" strike="noStrike" kern="1200" cap="none" spc="0" normalizeH="0" baseline="0" noProof="0" dirty="0">
                <a:ln>
                  <a:noFill/>
                </a:ln>
                <a:solidFill>
                  <a:prstClr val="black"/>
                </a:solidFill>
                <a:effectLst/>
                <a:uLnTx/>
                <a:uFillTx/>
                <a:ea typeface="+mn-ea"/>
                <a:cs typeface="+mn-cs"/>
              </a:rPr>
              <a:t>Shunt muscles prevent dislocation: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prstClr val="black"/>
                </a:solidFill>
                <a:effectLst/>
                <a:uLnTx/>
                <a:uFillTx/>
                <a:ea typeface="+mn-ea"/>
                <a:cs typeface="+mn-cs"/>
              </a:rPr>
              <a:t>coracobrachialis, short head of biceps, long head of triceps which assist deltoid in preventing inferior displacement</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3200" b="0" i="0" u="none" strike="noStrike" kern="1200" cap="none" spc="0" normalizeH="0" baseline="0" noProof="0" dirty="0">
                <a:ln>
                  <a:noFill/>
                </a:ln>
                <a:solidFill>
                  <a:prstClr val="black"/>
                </a:solidFill>
                <a:effectLst/>
                <a:uLnTx/>
                <a:uFillTx/>
                <a:ea typeface="+mn-ea"/>
                <a:cs typeface="+mn-cs"/>
              </a:rPr>
              <a:t> Ligaments strengthen the articular capsule: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prstClr val="black"/>
                </a:solidFill>
                <a:effectLst/>
                <a:uLnTx/>
                <a:uFillTx/>
                <a:ea typeface="+mn-ea"/>
                <a:cs typeface="+mn-cs"/>
              </a:rPr>
              <a:t>Glenohumeral ligament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prstClr val="black"/>
                </a:solidFill>
                <a:effectLst/>
                <a:uLnTx/>
                <a:uFillTx/>
                <a:ea typeface="+mn-ea"/>
                <a:cs typeface="+mn-cs"/>
              </a:rPr>
              <a:t>Coracohumeral ligament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prstClr val="black"/>
                </a:solidFill>
                <a:effectLst/>
                <a:uLnTx/>
                <a:uFillTx/>
                <a:ea typeface="+mn-ea"/>
                <a:cs typeface="+mn-cs"/>
              </a:rPr>
              <a:t>Transverse humeral ligament (bridges the intertubercular sulcus converting it a canal that holds the synovial sheath and biceps brachii tendon)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3200" b="0" i="0" u="none" strike="noStrike" kern="1200" cap="none" spc="0" normalizeH="0" baseline="0" noProof="0" dirty="0">
                <a:ln>
                  <a:noFill/>
                </a:ln>
                <a:solidFill>
                  <a:prstClr val="black"/>
                </a:solidFill>
                <a:effectLst/>
                <a:uLnTx/>
                <a:uFillTx/>
                <a:ea typeface="+mn-ea"/>
                <a:cs typeface="+mn-cs"/>
              </a:rPr>
              <a:t>Coracoacromial arch prevents superior displacement</a:t>
            </a:r>
            <a:endParaRPr kumimoji="0" lang="en-NG" sz="3200" b="0" i="0" u="none" strike="noStrike" kern="1200" cap="none" spc="0" normalizeH="0" baseline="0" noProof="0" dirty="0">
              <a:ln>
                <a:noFill/>
              </a:ln>
              <a:solidFill>
                <a:prstClr val="black"/>
              </a:solidFill>
              <a:effectLst/>
              <a:uLnTx/>
              <a:uFillTx/>
              <a:ea typeface="+mn-ea"/>
              <a:cs typeface="+mn-cs"/>
            </a:endParaRPr>
          </a:p>
          <a:p>
            <a:endParaRPr lang="en-NG" dirty="0"/>
          </a:p>
        </p:txBody>
      </p:sp>
      <p:sp>
        <p:nvSpPr>
          <p:cNvPr id="5" name="Date Placeholder 4">
            <a:extLst>
              <a:ext uri="{FF2B5EF4-FFF2-40B4-BE49-F238E27FC236}">
                <a16:creationId xmlns:a16="http://schemas.microsoft.com/office/drawing/2014/main" id="{9709C730-2982-DE5A-A0D7-B72E8E7D62B6}"/>
              </a:ext>
            </a:extLst>
          </p:cNvPr>
          <p:cNvSpPr>
            <a:spLocks noGrp="1"/>
          </p:cNvSpPr>
          <p:nvPr>
            <p:ph type="dt" sz="half" idx="10"/>
          </p:nvPr>
        </p:nvSpPr>
        <p:spPr/>
        <p:txBody>
          <a:bodyPr/>
          <a:lstStyle/>
          <a:p>
            <a:fld id="{0A9C9DBB-B3EA-4D8A-B446-26750F67C3F7}" type="datetime8">
              <a:rPr lang="en-NG" smtClean="0"/>
              <a:t>18/10/2026 08:13</a:t>
            </a:fld>
            <a:endParaRPr lang="en-NG"/>
          </a:p>
        </p:txBody>
      </p:sp>
      <p:sp>
        <p:nvSpPr>
          <p:cNvPr id="6" name="Slide Number Placeholder 5">
            <a:extLst>
              <a:ext uri="{FF2B5EF4-FFF2-40B4-BE49-F238E27FC236}">
                <a16:creationId xmlns:a16="http://schemas.microsoft.com/office/drawing/2014/main" id="{3EA5FEE7-4108-15B6-AEC0-C53DC70C29D5}"/>
              </a:ext>
            </a:extLst>
          </p:cNvPr>
          <p:cNvSpPr>
            <a:spLocks noGrp="1"/>
          </p:cNvSpPr>
          <p:nvPr>
            <p:ph type="sldNum" sz="quarter" idx="12"/>
          </p:nvPr>
        </p:nvSpPr>
        <p:spPr/>
        <p:txBody>
          <a:bodyPr/>
          <a:lstStyle/>
          <a:p>
            <a:fld id="{AF15468F-FAE6-4D8E-9204-DF6230E3F4CD}" type="slidenum">
              <a:rPr lang="en-NG" smtClean="0"/>
              <a:t>12</a:t>
            </a:fld>
            <a:endParaRPr lang="en-NG"/>
          </a:p>
        </p:txBody>
      </p:sp>
    </p:spTree>
    <p:extLst>
      <p:ext uri="{BB962C8B-B14F-4D97-AF65-F5344CB8AC3E}">
        <p14:creationId xmlns:p14="http://schemas.microsoft.com/office/powerpoint/2010/main" val="853521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869F7-26D9-C1B3-9097-0745180C151D}"/>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Shoulder joint - movements</a:t>
            </a:r>
            <a:endParaRPr lang="en-NG" dirty="0"/>
          </a:p>
        </p:txBody>
      </p:sp>
      <p:sp>
        <p:nvSpPr>
          <p:cNvPr id="3" name="Content Placeholder 2">
            <a:extLst>
              <a:ext uri="{FF2B5EF4-FFF2-40B4-BE49-F238E27FC236}">
                <a16:creationId xmlns:a16="http://schemas.microsoft.com/office/drawing/2014/main" id="{4B746D27-DA6C-98AE-9113-343E49843B81}"/>
              </a:ext>
            </a:extLst>
          </p:cNvPr>
          <p:cNvSpPr>
            <a:spLocks noGrp="1"/>
          </p:cNvSpPr>
          <p:nvPr>
            <p:ph sz="half" idx="1"/>
          </p:nvPr>
        </p:nvSpPr>
        <p:spPr/>
        <p:txBody>
          <a:bodyPr>
            <a:noAutofit/>
          </a:bodyPr>
          <a:lstStyle/>
          <a:p>
            <a:r>
              <a:rPr lang="en-US" sz="2000" dirty="0"/>
              <a:t>Flexion: pectoralis major (clavicular part)(chief muscle) and anterior </a:t>
            </a:r>
            <a:r>
              <a:rPr lang="en-US" sz="2000" dirty="0" err="1"/>
              <a:t>fibres</a:t>
            </a:r>
            <a:r>
              <a:rPr lang="en-US" sz="2000" dirty="0"/>
              <a:t> of deltoid. assisted by coracobrachialis and biceps brachii</a:t>
            </a:r>
          </a:p>
          <a:p>
            <a:r>
              <a:rPr lang="en-US" sz="2000" dirty="0"/>
              <a:t>Extension: latissimus dorsi (chief), assisted by posterior </a:t>
            </a:r>
            <a:r>
              <a:rPr lang="en-US" sz="2000" dirty="0" err="1"/>
              <a:t>fibres</a:t>
            </a:r>
            <a:r>
              <a:rPr lang="en-US" sz="2000" dirty="0"/>
              <a:t> of deltoid</a:t>
            </a:r>
          </a:p>
          <a:p>
            <a:r>
              <a:rPr lang="en-US" sz="2000" dirty="0"/>
              <a:t>Abduction: entire deltoid (chief) esp. middle </a:t>
            </a:r>
            <a:r>
              <a:rPr lang="en-US" sz="2000" dirty="0" err="1"/>
              <a:t>fibres</a:t>
            </a:r>
            <a:r>
              <a:rPr lang="en-US" sz="2000" dirty="0"/>
              <a:t> after initiation of movement by supraspinatus</a:t>
            </a:r>
          </a:p>
          <a:p>
            <a:r>
              <a:rPr lang="en-US" sz="2000" dirty="0"/>
              <a:t>Adduction: P. major and latissimus dorsi</a:t>
            </a:r>
          </a:p>
          <a:p>
            <a:r>
              <a:rPr lang="en-US" sz="2000" dirty="0"/>
              <a:t>Medial rotation: subscapularis</a:t>
            </a:r>
          </a:p>
          <a:p>
            <a:r>
              <a:rPr lang="en-US" sz="2000" dirty="0"/>
              <a:t>Lateral  (external) rotation: infraspinatus</a:t>
            </a:r>
          </a:p>
          <a:p>
            <a:r>
              <a:rPr lang="en-US" sz="2000" dirty="0"/>
              <a:t>Circumduction</a:t>
            </a:r>
          </a:p>
        </p:txBody>
      </p:sp>
      <p:sp>
        <p:nvSpPr>
          <p:cNvPr id="4" name="Content Placeholder 3">
            <a:extLst>
              <a:ext uri="{FF2B5EF4-FFF2-40B4-BE49-F238E27FC236}">
                <a16:creationId xmlns:a16="http://schemas.microsoft.com/office/drawing/2014/main" id="{35AA5B5E-3B4E-33A4-F6CA-6BA112BCB6E3}"/>
              </a:ext>
            </a:extLst>
          </p:cNvPr>
          <p:cNvSpPr>
            <a:spLocks noGrp="1"/>
          </p:cNvSpPr>
          <p:nvPr>
            <p:ph sz="half" idx="2"/>
          </p:nvPr>
        </p:nvSpPr>
        <p:spPr>
          <a:xfrm>
            <a:off x="6172200" y="1304144"/>
            <a:ext cx="5181600" cy="4872819"/>
          </a:xfrm>
        </p:spPr>
        <p:txBody>
          <a:bodyPr>
            <a:normAutofit/>
          </a:bodyPr>
          <a:lstStyle/>
          <a:p>
            <a:endParaRPr lang="en-NG" dirty="0"/>
          </a:p>
        </p:txBody>
      </p:sp>
      <p:pic>
        <p:nvPicPr>
          <p:cNvPr id="5" name="Picture 4" descr="Shoulder Joint Ligament: Anatomy ...">
            <a:extLst>
              <a:ext uri="{FF2B5EF4-FFF2-40B4-BE49-F238E27FC236}">
                <a16:creationId xmlns:a16="http://schemas.microsoft.com/office/drawing/2014/main" id="{AA833262-8D06-EB8E-8951-61D4A011E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8025" y="3768852"/>
            <a:ext cx="3429000" cy="2267743"/>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4">
            <a:extLst>
              <a:ext uri="{FF2B5EF4-FFF2-40B4-BE49-F238E27FC236}">
                <a16:creationId xmlns:a16="http://schemas.microsoft.com/office/drawing/2014/main" id="{77955D49-60A9-9530-0F83-3FF7C64C969C}"/>
              </a:ext>
            </a:extLst>
          </p:cNvPr>
          <p:cNvPicPr>
            <a:picLocks noChangeAspect="1"/>
          </p:cNvPicPr>
          <p:nvPr/>
        </p:nvPicPr>
        <p:blipFill>
          <a:blip r:embed="rId3"/>
          <a:stretch>
            <a:fillRect/>
          </a:stretch>
        </p:blipFill>
        <p:spPr>
          <a:xfrm>
            <a:off x="6948487" y="1543987"/>
            <a:ext cx="3629025" cy="1757213"/>
          </a:xfrm>
          <a:prstGeom prst="rect">
            <a:avLst/>
          </a:prstGeom>
        </p:spPr>
      </p:pic>
      <p:sp>
        <p:nvSpPr>
          <p:cNvPr id="7" name="Date Placeholder 6">
            <a:extLst>
              <a:ext uri="{FF2B5EF4-FFF2-40B4-BE49-F238E27FC236}">
                <a16:creationId xmlns:a16="http://schemas.microsoft.com/office/drawing/2014/main" id="{C4135D2C-48F2-FD8A-D5AD-3F7CC2F5EEBD}"/>
              </a:ext>
            </a:extLst>
          </p:cNvPr>
          <p:cNvSpPr>
            <a:spLocks noGrp="1"/>
          </p:cNvSpPr>
          <p:nvPr>
            <p:ph type="dt" sz="half" idx="10"/>
          </p:nvPr>
        </p:nvSpPr>
        <p:spPr/>
        <p:txBody>
          <a:bodyPr/>
          <a:lstStyle/>
          <a:p>
            <a:fld id="{EC50BA77-DD5B-41DE-AB7A-6C43D71EAC49}" type="datetime8">
              <a:rPr lang="en-NG" smtClean="0"/>
              <a:t>18/10/2026 08:13</a:t>
            </a:fld>
            <a:endParaRPr lang="en-NG"/>
          </a:p>
        </p:txBody>
      </p:sp>
      <p:sp>
        <p:nvSpPr>
          <p:cNvPr id="8" name="Slide Number Placeholder 7">
            <a:extLst>
              <a:ext uri="{FF2B5EF4-FFF2-40B4-BE49-F238E27FC236}">
                <a16:creationId xmlns:a16="http://schemas.microsoft.com/office/drawing/2014/main" id="{A2F26587-FCE0-2F8F-4109-BD9ADD036072}"/>
              </a:ext>
            </a:extLst>
          </p:cNvPr>
          <p:cNvSpPr>
            <a:spLocks noGrp="1"/>
          </p:cNvSpPr>
          <p:nvPr>
            <p:ph type="sldNum" sz="quarter" idx="12"/>
          </p:nvPr>
        </p:nvSpPr>
        <p:spPr/>
        <p:txBody>
          <a:bodyPr/>
          <a:lstStyle/>
          <a:p>
            <a:fld id="{AF15468F-FAE6-4D8E-9204-DF6230E3F4CD}" type="slidenum">
              <a:rPr lang="en-NG" smtClean="0"/>
              <a:t>13</a:t>
            </a:fld>
            <a:endParaRPr lang="en-NG"/>
          </a:p>
        </p:txBody>
      </p:sp>
    </p:spTree>
    <p:extLst>
      <p:ext uri="{BB962C8B-B14F-4D97-AF65-F5344CB8AC3E}">
        <p14:creationId xmlns:p14="http://schemas.microsoft.com/office/powerpoint/2010/main" val="3180617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C9D1-B5DD-7A46-41AA-F1C032E65F9D}"/>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Shoulder joint</a:t>
            </a:r>
            <a:endParaRPr lang="en-NG" dirty="0"/>
          </a:p>
        </p:txBody>
      </p:sp>
      <p:sp>
        <p:nvSpPr>
          <p:cNvPr id="3" name="Content Placeholder 2">
            <a:extLst>
              <a:ext uri="{FF2B5EF4-FFF2-40B4-BE49-F238E27FC236}">
                <a16:creationId xmlns:a16="http://schemas.microsoft.com/office/drawing/2014/main" id="{3A0E1A3D-C5C5-7BEF-D4CC-89529851249A}"/>
              </a:ext>
            </a:extLst>
          </p:cNvPr>
          <p:cNvSpPr>
            <a:spLocks noGrp="1"/>
          </p:cNvSpPr>
          <p:nvPr>
            <p:ph sz="half" idx="1"/>
          </p:nvPr>
        </p:nvSpPr>
        <p:spPr/>
        <p:txBody>
          <a:bodyPr/>
          <a:lstStyle/>
          <a:p>
            <a:pPr marR="0" lvl="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t>Blood supply: </a:t>
            </a:r>
            <a:r>
              <a:rPr kumimoji="0" lang="en-GB" sz="2400" b="1" i="0" u="none" strike="noStrike" kern="1200" cap="none" spc="0" normalizeH="0" baseline="0" noProof="0" dirty="0">
                <a:ln>
                  <a:noFill/>
                </a:ln>
                <a:solidFill>
                  <a:srgbClr val="FF0000"/>
                </a:solidFill>
                <a:effectLst/>
                <a:uLnTx/>
                <a:uFillTx/>
                <a:ea typeface="+mn-ea"/>
                <a:cs typeface="+mn-cs"/>
              </a:rPr>
              <a:t>Anterior and posterior circumflex humeral arteries and branches of suprascapular artery</a:t>
            </a:r>
            <a:endParaRPr lang="en-US" sz="2400" b="1" dirty="0">
              <a:solidFill>
                <a:srgbClr val="FF0000"/>
              </a:solidFill>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t>Innervation: </a:t>
            </a:r>
            <a:r>
              <a:rPr kumimoji="0" lang="en-GB" sz="2400" b="1" i="0" u="none" strike="noStrike" kern="1200" cap="none" spc="0" normalizeH="0" baseline="0" noProof="0" dirty="0">
                <a:ln>
                  <a:noFill/>
                </a:ln>
                <a:solidFill>
                  <a:srgbClr val="FF0000"/>
                </a:solidFill>
                <a:effectLst/>
                <a:uLnTx/>
                <a:uFillTx/>
                <a:latin typeface="Calibri" panose="020F0502020204030204"/>
                <a:ea typeface="+mn-ea"/>
                <a:cs typeface="+mn-cs"/>
              </a:rPr>
              <a:t>Suprascapular nerve, Axillary nerve, Lateral pectoral nerves</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GB" sz="24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868A4C84-B1B3-DD2D-DFBB-DF0A828B8A9A}"/>
              </a:ext>
            </a:extLst>
          </p:cNvPr>
          <p:cNvSpPr>
            <a:spLocks noGrp="1"/>
          </p:cNvSpPr>
          <p:nvPr>
            <p:ph sz="half" idx="2"/>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kumimoji="0" lang="en-GB" b="1" i="0" u="sng" strike="noStrike" kern="1200" cap="none" spc="0" normalizeH="0" baseline="0" noProof="0" dirty="0">
                <a:ln>
                  <a:noFill/>
                </a:ln>
                <a:solidFill>
                  <a:prstClr val="black"/>
                </a:solidFill>
                <a:effectLst/>
                <a:uLnTx/>
                <a:uFillTx/>
                <a:ea typeface="+mn-ea"/>
                <a:cs typeface="+mn-cs"/>
              </a:rPr>
              <a:t>Clinical importance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Rotator tendon tears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Shoulder dislocation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Bursitis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Synovitis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osteoarthritis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Subluxation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Tendinitis</a:t>
            </a:r>
          </a:p>
          <a:p>
            <a:pPr marL="0" indent="0">
              <a:buNone/>
            </a:pPr>
            <a:endParaRPr lang="en-NG" dirty="0"/>
          </a:p>
        </p:txBody>
      </p:sp>
      <p:sp>
        <p:nvSpPr>
          <p:cNvPr id="5" name="Date Placeholder 4">
            <a:extLst>
              <a:ext uri="{FF2B5EF4-FFF2-40B4-BE49-F238E27FC236}">
                <a16:creationId xmlns:a16="http://schemas.microsoft.com/office/drawing/2014/main" id="{098A1EA7-96F1-5D05-2EF4-5D3D48696AAC}"/>
              </a:ext>
            </a:extLst>
          </p:cNvPr>
          <p:cNvSpPr>
            <a:spLocks noGrp="1"/>
          </p:cNvSpPr>
          <p:nvPr>
            <p:ph type="dt" sz="half" idx="10"/>
          </p:nvPr>
        </p:nvSpPr>
        <p:spPr/>
        <p:txBody>
          <a:bodyPr/>
          <a:lstStyle/>
          <a:p>
            <a:fld id="{92FA01CE-3588-4469-A298-0ED8039FD1A3}" type="datetime8">
              <a:rPr lang="en-NG" smtClean="0"/>
              <a:t>18/10/2026 08:13</a:t>
            </a:fld>
            <a:endParaRPr lang="en-NG"/>
          </a:p>
        </p:txBody>
      </p:sp>
      <p:sp>
        <p:nvSpPr>
          <p:cNvPr id="6" name="Slide Number Placeholder 5">
            <a:extLst>
              <a:ext uri="{FF2B5EF4-FFF2-40B4-BE49-F238E27FC236}">
                <a16:creationId xmlns:a16="http://schemas.microsoft.com/office/drawing/2014/main" id="{13250325-7921-D14F-121E-628056B56FCD}"/>
              </a:ext>
            </a:extLst>
          </p:cNvPr>
          <p:cNvSpPr>
            <a:spLocks noGrp="1"/>
          </p:cNvSpPr>
          <p:nvPr>
            <p:ph type="sldNum" sz="quarter" idx="12"/>
          </p:nvPr>
        </p:nvSpPr>
        <p:spPr/>
        <p:txBody>
          <a:bodyPr/>
          <a:lstStyle/>
          <a:p>
            <a:fld id="{AF15468F-FAE6-4D8E-9204-DF6230E3F4CD}" type="slidenum">
              <a:rPr lang="en-NG" smtClean="0"/>
              <a:t>14</a:t>
            </a:fld>
            <a:endParaRPr lang="en-NG"/>
          </a:p>
        </p:txBody>
      </p:sp>
    </p:spTree>
    <p:extLst>
      <p:ext uri="{BB962C8B-B14F-4D97-AF65-F5344CB8AC3E}">
        <p14:creationId xmlns:p14="http://schemas.microsoft.com/office/powerpoint/2010/main" val="384511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A90AE-A9DA-8794-D430-9414373C1ACE}"/>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Shoulder joint – clinical importance</a:t>
            </a:r>
            <a:endParaRPr lang="en-NG" dirty="0"/>
          </a:p>
        </p:txBody>
      </p:sp>
      <p:pic>
        <p:nvPicPr>
          <p:cNvPr id="6" name="Content Placeholder 5">
            <a:extLst>
              <a:ext uri="{FF2B5EF4-FFF2-40B4-BE49-F238E27FC236}">
                <a16:creationId xmlns:a16="http://schemas.microsoft.com/office/drawing/2014/main" id="{31817FF3-EC31-8504-5955-89CCEBF7E466}"/>
              </a:ext>
            </a:extLst>
          </p:cNvPr>
          <p:cNvPicPr>
            <a:picLocks noGrp="1" noChangeAspect="1"/>
          </p:cNvPicPr>
          <p:nvPr>
            <p:ph sz="half" idx="1"/>
          </p:nvPr>
        </p:nvPicPr>
        <p:blipFill>
          <a:blip r:embed="rId2"/>
          <a:stretch>
            <a:fillRect/>
          </a:stretch>
        </p:blipFill>
        <p:spPr>
          <a:xfrm>
            <a:off x="1229193" y="2623279"/>
            <a:ext cx="3762532" cy="2803160"/>
          </a:xfrm>
          <a:prstGeom prst="rect">
            <a:avLst/>
          </a:prstGeom>
        </p:spPr>
      </p:pic>
      <p:pic>
        <p:nvPicPr>
          <p:cNvPr id="8" name="Content Placeholder 7">
            <a:extLst>
              <a:ext uri="{FF2B5EF4-FFF2-40B4-BE49-F238E27FC236}">
                <a16:creationId xmlns:a16="http://schemas.microsoft.com/office/drawing/2014/main" id="{D7DE9CF6-DEBF-DF28-DB60-B8275A6C62CE}"/>
              </a:ext>
            </a:extLst>
          </p:cNvPr>
          <p:cNvPicPr>
            <a:picLocks noGrp="1" noChangeAspect="1"/>
          </p:cNvPicPr>
          <p:nvPr>
            <p:ph sz="half" idx="2"/>
          </p:nvPr>
        </p:nvPicPr>
        <p:blipFill>
          <a:blip r:embed="rId3"/>
          <a:stretch>
            <a:fillRect/>
          </a:stretch>
        </p:blipFill>
        <p:spPr>
          <a:xfrm>
            <a:off x="7030387" y="2891631"/>
            <a:ext cx="3357797" cy="2534808"/>
          </a:xfrm>
          <a:prstGeom prst="rect">
            <a:avLst/>
          </a:prstGeom>
        </p:spPr>
      </p:pic>
      <p:sp>
        <p:nvSpPr>
          <p:cNvPr id="3" name="Date Placeholder 2">
            <a:extLst>
              <a:ext uri="{FF2B5EF4-FFF2-40B4-BE49-F238E27FC236}">
                <a16:creationId xmlns:a16="http://schemas.microsoft.com/office/drawing/2014/main" id="{2FAEB6CD-ABA8-2B1F-D4C3-2F02D9DF5ADE}"/>
              </a:ext>
            </a:extLst>
          </p:cNvPr>
          <p:cNvSpPr>
            <a:spLocks noGrp="1"/>
          </p:cNvSpPr>
          <p:nvPr>
            <p:ph type="dt" sz="half" idx="10"/>
          </p:nvPr>
        </p:nvSpPr>
        <p:spPr/>
        <p:txBody>
          <a:bodyPr/>
          <a:lstStyle/>
          <a:p>
            <a:fld id="{8C14A172-5E1F-4A9A-AA84-BA005342BE50}" type="datetime8">
              <a:rPr lang="en-NG" smtClean="0"/>
              <a:t>18/10/2026 08:13</a:t>
            </a:fld>
            <a:endParaRPr lang="en-NG"/>
          </a:p>
        </p:txBody>
      </p:sp>
      <p:sp>
        <p:nvSpPr>
          <p:cNvPr id="4" name="Slide Number Placeholder 3">
            <a:extLst>
              <a:ext uri="{FF2B5EF4-FFF2-40B4-BE49-F238E27FC236}">
                <a16:creationId xmlns:a16="http://schemas.microsoft.com/office/drawing/2014/main" id="{A833CBCE-7E8C-5789-4561-1F2C722DE099}"/>
              </a:ext>
            </a:extLst>
          </p:cNvPr>
          <p:cNvSpPr>
            <a:spLocks noGrp="1"/>
          </p:cNvSpPr>
          <p:nvPr>
            <p:ph type="sldNum" sz="quarter" idx="12"/>
          </p:nvPr>
        </p:nvSpPr>
        <p:spPr/>
        <p:txBody>
          <a:bodyPr/>
          <a:lstStyle/>
          <a:p>
            <a:fld id="{AF15468F-FAE6-4D8E-9204-DF6230E3F4CD}" type="slidenum">
              <a:rPr lang="en-NG" smtClean="0"/>
              <a:t>15</a:t>
            </a:fld>
            <a:endParaRPr lang="en-NG"/>
          </a:p>
        </p:txBody>
      </p:sp>
    </p:spTree>
    <p:extLst>
      <p:ext uri="{BB962C8B-B14F-4D97-AF65-F5344CB8AC3E}">
        <p14:creationId xmlns:p14="http://schemas.microsoft.com/office/powerpoint/2010/main" val="317112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6E1B8-EFB1-94DA-E60E-853AFF79EB49}"/>
              </a:ext>
            </a:extLst>
          </p:cNvPr>
          <p:cNvSpPr>
            <a:spLocks noGrp="1"/>
          </p:cNvSpPr>
          <p:nvPr>
            <p:ph type="title"/>
          </p:nvPr>
        </p:nvSpPr>
        <p:spPr/>
        <p:txBody>
          <a:bodyPr/>
          <a:lstStyle/>
          <a:p>
            <a:r>
              <a:rPr lang="en-US" dirty="0"/>
              <a:t>The pectoral region</a:t>
            </a:r>
            <a:endParaRPr lang="en-NG" dirty="0"/>
          </a:p>
        </p:txBody>
      </p:sp>
      <p:sp>
        <p:nvSpPr>
          <p:cNvPr id="3" name="Content Placeholder 2">
            <a:extLst>
              <a:ext uri="{FF2B5EF4-FFF2-40B4-BE49-F238E27FC236}">
                <a16:creationId xmlns:a16="http://schemas.microsoft.com/office/drawing/2014/main" id="{F89C8298-709C-52DF-46C2-0AEF99DD00DE}"/>
              </a:ext>
            </a:extLst>
          </p:cNvPr>
          <p:cNvSpPr>
            <a:spLocks noGrp="1"/>
          </p:cNvSpPr>
          <p:nvPr>
            <p:ph sz="half" idx="1"/>
          </p:nvPr>
        </p:nvSpPr>
        <p:spPr/>
        <p:txBody>
          <a:bodyPr/>
          <a:lstStyle/>
          <a:p>
            <a:r>
              <a:rPr lang="en-US" dirty="0"/>
              <a:t>This is the most anterior  part of the upper chest wall</a:t>
            </a:r>
          </a:p>
          <a:p>
            <a:r>
              <a:rPr lang="en-US" dirty="0"/>
              <a:t>It contains primarily four muscles: the pectoralis major and minor, subclavius and serratus anterior</a:t>
            </a:r>
          </a:p>
          <a:p>
            <a:r>
              <a:rPr lang="en-US" dirty="0"/>
              <a:t>The muscles act to stabilize the shoulder and upper limb</a:t>
            </a:r>
          </a:p>
          <a:p>
            <a:r>
              <a:rPr lang="en-US" dirty="0"/>
              <a:t>And also bears the breast and wall of the axilla</a:t>
            </a:r>
          </a:p>
          <a:p>
            <a:endParaRPr lang="en-US" dirty="0"/>
          </a:p>
          <a:p>
            <a:endParaRPr lang="en-NG" dirty="0"/>
          </a:p>
        </p:txBody>
      </p:sp>
      <p:pic>
        <p:nvPicPr>
          <p:cNvPr id="5" name="Content Placeholder 4" descr="Breast and Pectoral Region | Basicmedical Key">
            <a:extLst>
              <a:ext uri="{FF2B5EF4-FFF2-40B4-BE49-F238E27FC236}">
                <a16:creationId xmlns:a16="http://schemas.microsoft.com/office/drawing/2014/main" id="{226B41B0-C0D7-CFC8-4AA5-A5F08B37B006}"/>
              </a:ext>
            </a:extLst>
          </p:cNvPr>
          <p:cNvPicPr>
            <a:picLocks noGrp="1" noChangeAspect="1"/>
          </p:cNvPicPr>
          <p:nvPr>
            <p:ph sz="half" idx="2"/>
          </p:nvPr>
        </p:nvPicPr>
        <p:blipFill>
          <a:blip r:embed="rId2"/>
          <a:stretch>
            <a:fillRect/>
          </a:stretch>
        </p:blipFill>
        <p:spPr>
          <a:xfrm>
            <a:off x="6883514" y="1825625"/>
            <a:ext cx="4044315" cy="4351338"/>
          </a:xfrm>
          <a:prstGeom prst="rect">
            <a:avLst/>
          </a:prstGeom>
        </p:spPr>
      </p:pic>
      <p:sp>
        <p:nvSpPr>
          <p:cNvPr id="4" name="Date Placeholder 3">
            <a:extLst>
              <a:ext uri="{FF2B5EF4-FFF2-40B4-BE49-F238E27FC236}">
                <a16:creationId xmlns:a16="http://schemas.microsoft.com/office/drawing/2014/main" id="{CF90E477-600E-8A0E-AF62-367543FDA05B}"/>
              </a:ext>
            </a:extLst>
          </p:cNvPr>
          <p:cNvSpPr>
            <a:spLocks noGrp="1"/>
          </p:cNvSpPr>
          <p:nvPr>
            <p:ph type="dt" sz="half" idx="10"/>
          </p:nvPr>
        </p:nvSpPr>
        <p:spPr/>
        <p:txBody>
          <a:bodyPr/>
          <a:lstStyle/>
          <a:p>
            <a:fld id="{4D0A5CBB-19F7-44E8-B4A1-CA66FDC8E1DC}" type="datetime8">
              <a:rPr lang="en-NG" smtClean="0"/>
              <a:t>18/10/2026 08:13</a:t>
            </a:fld>
            <a:endParaRPr lang="en-NG"/>
          </a:p>
        </p:txBody>
      </p:sp>
      <p:sp>
        <p:nvSpPr>
          <p:cNvPr id="6" name="Slide Number Placeholder 5">
            <a:extLst>
              <a:ext uri="{FF2B5EF4-FFF2-40B4-BE49-F238E27FC236}">
                <a16:creationId xmlns:a16="http://schemas.microsoft.com/office/drawing/2014/main" id="{233B1378-EDFF-8011-D3CF-6FAB6FF4F4D8}"/>
              </a:ext>
            </a:extLst>
          </p:cNvPr>
          <p:cNvSpPr>
            <a:spLocks noGrp="1"/>
          </p:cNvSpPr>
          <p:nvPr>
            <p:ph type="sldNum" sz="quarter" idx="12"/>
          </p:nvPr>
        </p:nvSpPr>
        <p:spPr/>
        <p:txBody>
          <a:bodyPr/>
          <a:lstStyle/>
          <a:p>
            <a:fld id="{AF15468F-FAE6-4D8E-9204-DF6230E3F4CD}" type="slidenum">
              <a:rPr lang="en-NG" smtClean="0"/>
              <a:t>16</a:t>
            </a:fld>
            <a:endParaRPr lang="en-NG"/>
          </a:p>
        </p:txBody>
      </p:sp>
    </p:spTree>
    <p:extLst>
      <p:ext uri="{BB962C8B-B14F-4D97-AF65-F5344CB8AC3E}">
        <p14:creationId xmlns:p14="http://schemas.microsoft.com/office/powerpoint/2010/main" val="1403411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0237A-9ABA-751F-3DD4-83CF87654E4E}"/>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The pectoral region</a:t>
            </a:r>
            <a:endParaRPr lang="en-NG" dirty="0"/>
          </a:p>
        </p:txBody>
      </p:sp>
      <p:sp>
        <p:nvSpPr>
          <p:cNvPr id="3" name="Content Placeholder 2">
            <a:extLst>
              <a:ext uri="{FF2B5EF4-FFF2-40B4-BE49-F238E27FC236}">
                <a16:creationId xmlns:a16="http://schemas.microsoft.com/office/drawing/2014/main" id="{48035200-A1DB-4524-297B-38A73D8D859B}"/>
              </a:ext>
            </a:extLst>
          </p:cNvPr>
          <p:cNvSpPr>
            <a:spLocks noGrp="1"/>
          </p:cNvSpPr>
          <p:nvPr>
            <p:ph sz="half" idx="1"/>
          </p:nvPr>
        </p:nvSpPr>
        <p:spPr/>
        <p:txBody>
          <a:bodyPr>
            <a:normAutofit fontScale="92500" lnSpcReduction="20000"/>
          </a:bodyPr>
          <a:lstStyle/>
          <a:p>
            <a:pPr>
              <a:buFont typeface="Wingdings" panose="05000000000000000000" pitchFamily="2" charset="2"/>
              <a:buChar char="q"/>
            </a:pPr>
            <a:r>
              <a:rPr lang="en-US" b="1" dirty="0"/>
              <a:t>Pectoralis Major: </a:t>
            </a:r>
          </a:p>
          <a:p>
            <a:pPr>
              <a:buFont typeface="Wingdings" panose="05000000000000000000" pitchFamily="2" charset="2"/>
              <a:buChar char="§"/>
            </a:pPr>
            <a:r>
              <a:rPr lang="en-US" dirty="0"/>
              <a:t>largest and most superficial muscle of the chest</a:t>
            </a:r>
          </a:p>
          <a:p>
            <a:pPr>
              <a:buFont typeface="Wingdings" panose="05000000000000000000" pitchFamily="2" charset="2"/>
              <a:buChar char="§"/>
            </a:pPr>
            <a:r>
              <a:rPr lang="en-US" dirty="0"/>
              <a:t>shaped like a fan</a:t>
            </a:r>
          </a:p>
          <a:p>
            <a:pPr>
              <a:buFont typeface="Wingdings" panose="05000000000000000000" pitchFamily="2" charset="2"/>
              <a:buChar char="§"/>
            </a:pPr>
            <a:r>
              <a:rPr lang="en-US" dirty="0"/>
              <a:t>Origin: clavicle, sternum, and upper costal cartilages</a:t>
            </a:r>
          </a:p>
          <a:p>
            <a:pPr>
              <a:buFont typeface="Wingdings" panose="05000000000000000000" pitchFamily="2" charset="2"/>
              <a:buChar char="§"/>
            </a:pPr>
            <a:r>
              <a:rPr lang="en-US" dirty="0"/>
              <a:t>Insertion: humerus </a:t>
            </a:r>
          </a:p>
          <a:p>
            <a:pPr>
              <a:buFont typeface="Wingdings" panose="05000000000000000000" pitchFamily="2" charset="2"/>
              <a:buChar char="§"/>
            </a:pPr>
            <a:r>
              <a:rPr lang="en-US" dirty="0"/>
              <a:t>Action: adducts and medially rotates the arm</a:t>
            </a:r>
          </a:p>
          <a:p>
            <a:pPr>
              <a:buFont typeface="Wingdings" panose="05000000000000000000" pitchFamily="2" charset="2"/>
              <a:buChar char="§"/>
            </a:pPr>
            <a:r>
              <a:rPr lang="en-US" dirty="0"/>
              <a:t>Innervation: Medial and Lateral pectoral nerves</a:t>
            </a:r>
            <a:endParaRPr lang="en-NG" dirty="0"/>
          </a:p>
        </p:txBody>
      </p:sp>
      <p:sp>
        <p:nvSpPr>
          <p:cNvPr id="4" name="Content Placeholder 3">
            <a:extLst>
              <a:ext uri="{FF2B5EF4-FFF2-40B4-BE49-F238E27FC236}">
                <a16:creationId xmlns:a16="http://schemas.microsoft.com/office/drawing/2014/main" id="{FF839352-4EF3-E0DD-7E2C-10F337CE78FF}"/>
              </a:ext>
            </a:extLst>
          </p:cNvPr>
          <p:cNvSpPr>
            <a:spLocks noGrp="1"/>
          </p:cNvSpPr>
          <p:nvPr>
            <p:ph sz="half" idx="2"/>
          </p:nvPr>
        </p:nvSpPr>
        <p:spPr/>
        <p:txBody>
          <a:bodyPr>
            <a:normAutofit fontScale="92500" lnSpcReduction="20000"/>
          </a:bodyPr>
          <a:lstStyle/>
          <a:p>
            <a:pPr>
              <a:buFont typeface="Wingdings" panose="05000000000000000000" pitchFamily="2" charset="2"/>
              <a:buChar char="q"/>
            </a:pPr>
            <a:r>
              <a:rPr lang="en-NG" b="1" u="none" strike="noStrike" dirty="0">
                <a:effectLst/>
              </a:rPr>
              <a:t>Pectoralis Minor</a:t>
            </a:r>
            <a:r>
              <a:rPr lang="en-NG" dirty="0"/>
              <a:t>:</a:t>
            </a:r>
            <a:endParaRPr lang="en-US" dirty="0"/>
          </a:p>
          <a:p>
            <a:pPr>
              <a:buFont typeface="Wingdings" panose="05000000000000000000" pitchFamily="2" charset="2"/>
              <a:buChar char="§"/>
            </a:pPr>
            <a:r>
              <a:rPr lang="en-NG" dirty="0"/>
              <a:t>smaller, triangular muscle</a:t>
            </a:r>
            <a:endParaRPr lang="en-US" dirty="0"/>
          </a:p>
          <a:p>
            <a:pPr>
              <a:buFont typeface="Wingdings" panose="05000000000000000000" pitchFamily="2" charset="2"/>
              <a:buChar char="§"/>
            </a:pPr>
            <a:r>
              <a:rPr lang="en-NG" dirty="0"/>
              <a:t>located directly beneath the pectoralis major</a:t>
            </a:r>
            <a:endParaRPr lang="en-US" dirty="0"/>
          </a:p>
          <a:p>
            <a:pPr>
              <a:buFont typeface="Wingdings" panose="05000000000000000000" pitchFamily="2" charset="2"/>
              <a:buChar char="§"/>
            </a:pPr>
            <a:r>
              <a:rPr lang="en-US" dirty="0"/>
              <a:t>Origin:</a:t>
            </a:r>
            <a:r>
              <a:rPr lang="en-NG" dirty="0"/>
              <a:t> 3rd to 5th ribs </a:t>
            </a:r>
            <a:endParaRPr lang="en-US" dirty="0"/>
          </a:p>
          <a:p>
            <a:pPr>
              <a:buFont typeface="Wingdings" panose="05000000000000000000" pitchFamily="2" charset="2"/>
              <a:buChar char="§"/>
            </a:pPr>
            <a:r>
              <a:rPr lang="en-US" dirty="0"/>
              <a:t>Insertion:</a:t>
            </a:r>
            <a:r>
              <a:rPr lang="en-NG" dirty="0"/>
              <a:t> coracoid process of the scapula</a:t>
            </a:r>
            <a:endParaRPr lang="en-US" dirty="0"/>
          </a:p>
          <a:p>
            <a:pPr>
              <a:buFont typeface="Wingdings" panose="05000000000000000000" pitchFamily="2" charset="2"/>
              <a:buChar char="§"/>
            </a:pPr>
            <a:r>
              <a:rPr lang="en-US" dirty="0"/>
              <a:t>Action:</a:t>
            </a:r>
            <a:r>
              <a:rPr lang="en-NG" dirty="0"/>
              <a:t> protract and depress the scapula</a:t>
            </a:r>
            <a:endParaRPr lang="en-US" dirty="0"/>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Innervation: Medial and Lateral pectoral nerves</a:t>
            </a:r>
            <a:endParaRPr kumimoji="0" lang="en-NG" sz="2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indent="0">
              <a:buNone/>
            </a:pPr>
            <a:endParaRPr lang="en-US" dirty="0"/>
          </a:p>
          <a:p>
            <a:pPr>
              <a:buFont typeface="Wingdings" panose="05000000000000000000" pitchFamily="2" charset="2"/>
              <a:buChar char="§"/>
            </a:pPr>
            <a:endParaRPr lang="en-NG" dirty="0"/>
          </a:p>
        </p:txBody>
      </p:sp>
      <p:sp>
        <p:nvSpPr>
          <p:cNvPr id="5" name="Date Placeholder 4">
            <a:extLst>
              <a:ext uri="{FF2B5EF4-FFF2-40B4-BE49-F238E27FC236}">
                <a16:creationId xmlns:a16="http://schemas.microsoft.com/office/drawing/2014/main" id="{6131BC87-E117-5760-9028-637135A9056E}"/>
              </a:ext>
            </a:extLst>
          </p:cNvPr>
          <p:cNvSpPr>
            <a:spLocks noGrp="1"/>
          </p:cNvSpPr>
          <p:nvPr>
            <p:ph type="dt" sz="half" idx="10"/>
          </p:nvPr>
        </p:nvSpPr>
        <p:spPr/>
        <p:txBody>
          <a:bodyPr/>
          <a:lstStyle/>
          <a:p>
            <a:fld id="{DCA1ABA5-F873-4E4D-8EC7-DE16FFF1FA5B}" type="datetime8">
              <a:rPr lang="en-NG" smtClean="0"/>
              <a:t>18/10/2026 08:13</a:t>
            </a:fld>
            <a:endParaRPr lang="en-NG"/>
          </a:p>
        </p:txBody>
      </p:sp>
      <p:sp>
        <p:nvSpPr>
          <p:cNvPr id="6" name="Slide Number Placeholder 5">
            <a:extLst>
              <a:ext uri="{FF2B5EF4-FFF2-40B4-BE49-F238E27FC236}">
                <a16:creationId xmlns:a16="http://schemas.microsoft.com/office/drawing/2014/main" id="{38E9A2B9-869E-1C74-1D86-CBE4ECB4B88D}"/>
              </a:ext>
            </a:extLst>
          </p:cNvPr>
          <p:cNvSpPr>
            <a:spLocks noGrp="1"/>
          </p:cNvSpPr>
          <p:nvPr>
            <p:ph type="sldNum" sz="quarter" idx="12"/>
          </p:nvPr>
        </p:nvSpPr>
        <p:spPr/>
        <p:txBody>
          <a:bodyPr/>
          <a:lstStyle/>
          <a:p>
            <a:fld id="{AF15468F-FAE6-4D8E-9204-DF6230E3F4CD}" type="slidenum">
              <a:rPr lang="en-NG" smtClean="0"/>
              <a:t>17</a:t>
            </a:fld>
            <a:endParaRPr lang="en-NG"/>
          </a:p>
        </p:txBody>
      </p:sp>
    </p:spTree>
    <p:extLst>
      <p:ext uri="{BB962C8B-B14F-4D97-AF65-F5344CB8AC3E}">
        <p14:creationId xmlns:p14="http://schemas.microsoft.com/office/powerpoint/2010/main" val="3575365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3CCB-84C0-92D3-4B7A-B336A888B288}"/>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The pectoral region</a:t>
            </a:r>
            <a:endParaRPr lang="en-NG" dirty="0"/>
          </a:p>
        </p:txBody>
      </p:sp>
      <p:sp>
        <p:nvSpPr>
          <p:cNvPr id="3" name="Content Placeholder 2">
            <a:extLst>
              <a:ext uri="{FF2B5EF4-FFF2-40B4-BE49-F238E27FC236}">
                <a16:creationId xmlns:a16="http://schemas.microsoft.com/office/drawing/2014/main" id="{2EA3092A-16CB-51AD-23AC-D2BC60F7B622}"/>
              </a:ext>
            </a:extLst>
          </p:cNvPr>
          <p:cNvSpPr>
            <a:spLocks noGrp="1"/>
          </p:cNvSpPr>
          <p:nvPr>
            <p:ph sz="half" idx="1"/>
          </p:nvPr>
        </p:nvSpPr>
        <p:spPr>
          <a:xfrm>
            <a:off x="838200" y="1825625"/>
            <a:ext cx="3748790" cy="4351338"/>
          </a:xfrm>
        </p:spPr>
        <p:txBody>
          <a:bodyPr>
            <a:normAutofit fontScale="77500" lnSpcReduction="20000"/>
          </a:bodyPr>
          <a:lstStyle/>
          <a:p>
            <a:pPr marL="0" marR="0">
              <a:spcBef>
                <a:spcPts val="1800"/>
              </a:spcBef>
              <a:spcAft>
                <a:spcPts val="900"/>
              </a:spcAft>
              <a:buNone/>
            </a:pPr>
            <a:r>
              <a:rPr lang="en-NG" sz="3600" b="1" u="none" strike="noStrike" dirty="0">
                <a:effectLst/>
                <a:latin typeface="Google Sans"/>
              </a:rPr>
              <a:t>Subclavius Muscle</a:t>
            </a:r>
          </a:p>
          <a:p>
            <a:pPr marL="342900" marR="0" lvl="0" indent="-342900">
              <a:spcBef>
                <a:spcPts val="900"/>
              </a:spcBef>
              <a:spcAft>
                <a:spcPts val="900"/>
              </a:spcAft>
              <a:buFont typeface="Arial" panose="020B0604020202020204" pitchFamily="34" charset="0"/>
              <a:buChar char="•"/>
            </a:pPr>
            <a:r>
              <a:rPr lang="en-NG" sz="3400" b="1" u="none" strike="noStrike" dirty="0">
                <a:effectLst/>
                <a:latin typeface="Google Sans"/>
              </a:rPr>
              <a:t>Origin:</a:t>
            </a:r>
            <a:r>
              <a:rPr lang="en-NG" sz="3400" b="0" u="none" strike="noStrike" dirty="0">
                <a:effectLst/>
                <a:latin typeface="Google Sans"/>
              </a:rPr>
              <a:t> Junction of the </a:t>
            </a:r>
            <a:r>
              <a:rPr lang="en-NG" sz="3400" b="1" u="none" strike="noStrike" dirty="0">
                <a:effectLst/>
                <a:latin typeface="Google Sans"/>
              </a:rPr>
              <a:t>first rib</a:t>
            </a:r>
            <a:r>
              <a:rPr lang="en-NG" sz="3400" b="0" u="none" strike="noStrike" dirty="0">
                <a:effectLst/>
                <a:latin typeface="Google Sans"/>
              </a:rPr>
              <a:t> and its costal cartilage</a:t>
            </a:r>
          </a:p>
          <a:p>
            <a:pPr marL="342900" marR="0" lvl="0" indent="-342900">
              <a:spcBef>
                <a:spcPts val="900"/>
              </a:spcBef>
              <a:spcAft>
                <a:spcPts val="1200"/>
              </a:spcAft>
              <a:buFont typeface="Arial" panose="020B0604020202020204" pitchFamily="34" charset="0"/>
              <a:buChar char="•"/>
            </a:pPr>
            <a:r>
              <a:rPr lang="en-NG" sz="3400" b="1" u="none" strike="noStrike" dirty="0">
                <a:effectLst/>
                <a:latin typeface="Google Sans"/>
              </a:rPr>
              <a:t>Insertion:</a:t>
            </a:r>
            <a:r>
              <a:rPr lang="en-NG" sz="3400" b="0" u="none" strike="noStrike" dirty="0">
                <a:effectLst/>
                <a:latin typeface="Google Sans"/>
              </a:rPr>
              <a:t> Subclavian groove on the inferior (underside) surface of the middle third of the </a:t>
            </a:r>
            <a:r>
              <a:rPr lang="en-NG" sz="3400" b="1" u="none" strike="noStrike" dirty="0">
                <a:effectLst/>
                <a:latin typeface="Google Sans"/>
              </a:rPr>
              <a:t>clavicle</a:t>
            </a:r>
            <a:endParaRPr lang="en-NG" sz="3400" b="0" u="none" strike="noStrike" dirty="0">
              <a:effectLst/>
              <a:latin typeface="Google Sans"/>
            </a:endParaRPr>
          </a:p>
          <a:p>
            <a:endParaRPr lang="en-NG" dirty="0"/>
          </a:p>
        </p:txBody>
      </p:sp>
      <p:sp>
        <p:nvSpPr>
          <p:cNvPr id="4" name="Content Placeholder 3">
            <a:extLst>
              <a:ext uri="{FF2B5EF4-FFF2-40B4-BE49-F238E27FC236}">
                <a16:creationId xmlns:a16="http://schemas.microsoft.com/office/drawing/2014/main" id="{A1CEB35A-E190-5F3E-F8B7-0A118C79D2D9}"/>
              </a:ext>
            </a:extLst>
          </p:cNvPr>
          <p:cNvSpPr>
            <a:spLocks noGrp="1"/>
          </p:cNvSpPr>
          <p:nvPr>
            <p:ph sz="half" idx="2"/>
          </p:nvPr>
        </p:nvSpPr>
        <p:spPr>
          <a:xfrm>
            <a:off x="5171607" y="1825625"/>
            <a:ext cx="6182193" cy="4351338"/>
          </a:xfrm>
        </p:spPr>
        <p:txBody>
          <a:bodyPr>
            <a:normAutofit fontScale="77500" lnSpcReduction="20000"/>
          </a:bodyPr>
          <a:lstStyle/>
          <a:p>
            <a:pPr marL="0" marR="0">
              <a:spcBef>
                <a:spcPts val="1800"/>
              </a:spcBef>
              <a:spcAft>
                <a:spcPts val="900"/>
              </a:spcAft>
              <a:buNone/>
            </a:pPr>
            <a:r>
              <a:rPr lang="en-NG" sz="3600" b="1" u="none" strike="noStrike" dirty="0">
                <a:effectLst/>
                <a:latin typeface="Google Sans"/>
              </a:rPr>
              <a:t>Serratus Anterior Muscle</a:t>
            </a:r>
          </a:p>
          <a:p>
            <a:pPr marL="342900" marR="0" lvl="0" indent="-342900">
              <a:spcBef>
                <a:spcPts val="900"/>
              </a:spcBef>
              <a:spcAft>
                <a:spcPts val="900"/>
              </a:spcAft>
              <a:buFont typeface="Arial" panose="020B0604020202020204" pitchFamily="34" charset="0"/>
              <a:buChar char="•"/>
            </a:pPr>
            <a:r>
              <a:rPr lang="en-NG" sz="2800" b="1" u="none" strike="noStrike" dirty="0">
                <a:effectLst/>
                <a:latin typeface="Google Sans"/>
              </a:rPr>
              <a:t>Origin:</a:t>
            </a:r>
            <a:r>
              <a:rPr lang="en-NG" sz="2800" b="0" u="none" strike="noStrike" dirty="0">
                <a:effectLst/>
                <a:latin typeface="Google Sans"/>
              </a:rPr>
              <a:t> Outer surfaces and superior borders of the</a:t>
            </a:r>
            <a:r>
              <a:rPr lang="en-NG" sz="2800" b="1" u="none" strike="noStrike" dirty="0">
                <a:effectLst/>
                <a:latin typeface="Google Sans"/>
              </a:rPr>
              <a:t> ribs</a:t>
            </a:r>
            <a:r>
              <a:rPr lang="en-US" sz="2800" b="1" u="none" strike="noStrike" dirty="0">
                <a:effectLst/>
                <a:latin typeface="Google Sans"/>
              </a:rPr>
              <a:t> 1-8 and sometimes 9</a:t>
            </a:r>
            <a:r>
              <a:rPr lang="en-US" sz="2800" b="1" u="none" strike="noStrike" baseline="30000" dirty="0">
                <a:effectLst/>
                <a:latin typeface="Google Sans"/>
              </a:rPr>
              <a:t>th</a:t>
            </a:r>
            <a:r>
              <a:rPr lang="en-US" sz="2800" b="1" u="none" strike="noStrike" dirty="0">
                <a:effectLst/>
                <a:latin typeface="Google Sans"/>
              </a:rPr>
              <a:t> rib</a:t>
            </a:r>
            <a:r>
              <a:rPr lang="en-NG" sz="2800" b="0" u="none" strike="noStrike" dirty="0">
                <a:effectLst/>
                <a:latin typeface="Google Sans"/>
              </a:rPr>
              <a:t>.</a:t>
            </a:r>
          </a:p>
          <a:p>
            <a:pPr marL="342900" marR="0" lvl="0" indent="-342900">
              <a:spcBef>
                <a:spcPts val="900"/>
              </a:spcBef>
              <a:spcAft>
                <a:spcPts val="1200"/>
              </a:spcAft>
              <a:buFont typeface="Arial" panose="020B0604020202020204" pitchFamily="34" charset="0"/>
              <a:buChar char="•"/>
            </a:pPr>
            <a:r>
              <a:rPr lang="en-NG" sz="2800" b="1" u="none" strike="noStrike" dirty="0">
                <a:effectLst/>
                <a:latin typeface="Google Sans"/>
              </a:rPr>
              <a:t>Insertion:</a:t>
            </a:r>
            <a:r>
              <a:rPr lang="en-NG" sz="2800" b="0" u="none" strike="noStrike" dirty="0">
                <a:effectLst/>
                <a:latin typeface="Google Sans"/>
              </a:rPr>
              <a:t> Costal (anterior) surface of the </a:t>
            </a:r>
            <a:r>
              <a:rPr lang="en-NG" sz="2800" b="1" u="none" strike="noStrike" dirty="0">
                <a:effectLst/>
                <a:latin typeface="Google Sans"/>
              </a:rPr>
              <a:t>medial border of the scapula</a:t>
            </a:r>
            <a:r>
              <a:rPr lang="en-NG" sz="2800" b="0" u="none" strike="noStrike" dirty="0">
                <a:effectLst/>
                <a:latin typeface="Google Sans"/>
              </a:rPr>
              <a:t> (shoulder blade), spanning from the superior angle down to the inferior angle</a:t>
            </a:r>
            <a:endParaRPr lang="en-US" sz="2800" b="0" u="none" strike="noStrike" dirty="0">
              <a:effectLst/>
              <a:latin typeface="Google Sans"/>
            </a:endParaRPr>
          </a:p>
          <a:p>
            <a:pPr marL="342900" marR="0" lvl="0" indent="-342900">
              <a:spcBef>
                <a:spcPts val="900"/>
              </a:spcBef>
              <a:spcAft>
                <a:spcPts val="1200"/>
              </a:spcAft>
              <a:buFont typeface="Arial" panose="020B0604020202020204" pitchFamily="34" charset="0"/>
              <a:buChar char="•"/>
            </a:pPr>
            <a:r>
              <a:rPr lang="en-US" sz="2800" b="0" u="none" strike="noStrike" dirty="0">
                <a:effectLst/>
                <a:latin typeface="Google Sans"/>
              </a:rPr>
              <a:t>Action: Anchors the scapula to the thoracic cage, as in </a:t>
            </a:r>
            <a:r>
              <a:rPr lang="en-US" dirty="0">
                <a:latin typeface="Google Sans"/>
              </a:rPr>
              <a:t>pro</a:t>
            </a:r>
            <a:r>
              <a:rPr lang="en-US" sz="2800" b="0" u="none" strike="noStrike" dirty="0">
                <a:effectLst/>
                <a:latin typeface="Google Sans"/>
              </a:rPr>
              <a:t>traction</a:t>
            </a:r>
          </a:p>
          <a:p>
            <a:pPr marL="342900" marR="0" lvl="0" indent="-342900">
              <a:spcBef>
                <a:spcPts val="900"/>
              </a:spcBef>
              <a:spcAft>
                <a:spcPts val="1200"/>
              </a:spcAft>
              <a:buFont typeface="Arial" panose="020B0604020202020204" pitchFamily="34" charset="0"/>
              <a:buChar char="•"/>
            </a:pPr>
            <a:r>
              <a:rPr lang="en-US" sz="2800" b="0" u="none" strike="noStrike" dirty="0">
                <a:effectLst/>
                <a:latin typeface="Google Sans"/>
              </a:rPr>
              <a:t>Nerve supply: Long thoracic nerve of Bell</a:t>
            </a:r>
          </a:p>
          <a:p>
            <a:pPr marL="342900" marR="0" lvl="0" indent="-342900">
              <a:spcBef>
                <a:spcPts val="900"/>
              </a:spcBef>
              <a:spcAft>
                <a:spcPts val="1200"/>
              </a:spcAft>
              <a:buFont typeface="Arial" panose="020B0604020202020204" pitchFamily="34" charset="0"/>
              <a:buChar char="•"/>
            </a:pPr>
            <a:r>
              <a:rPr lang="en-US" dirty="0">
                <a:latin typeface="Google Sans"/>
              </a:rPr>
              <a:t>Clinicals: Winging of the scapula</a:t>
            </a:r>
            <a:endParaRPr lang="en-NG" sz="2800" b="0" u="none" strike="noStrike" dirty="0">
              <a:effectLst/>
              <a:latin typeface="Google Sans"/>
            </a:endParaRPr>
          </a:p>
          <a:p>
            <a:endParaRPr lang="en-NG" dirty="0"/>
          </a:p>
        </p:txBody>
      </p:sp>
      <p:sp>
        <p:nvSpPr>
          <p:cNvPr id="5" name="Date Placeholder 4">
            <a:extLst>
              <a:ext uri="{FF2B5EF4-FFF2-40B4-BE49-F238E27FC236}">
                <a16:creationId xmlns:a16="http://schemas.microsoft.com/office/drawing/2014/main" id="{BA1293ED-53E3-B8E6-F769-FC0754FCC172}"/>
              </a:ext>
            </a:extLst>
          </p:cNvPr>
          <p:cNvSpPr>
            <a:spLocks noGrp="1"/>
          </p:cNvSpPr>
          <p:nvPr>
            <p:ph type="dt" sz="half" idx="10"/>
          </p:nvPr>
        </p:nvSpPr>
        <p:spPr/>
        <p:txBody>
          <a:bodyPr/>
          <a:lstStyle/>
          <a:p>
            <a:fld id="{5A650A00-F5DF-46CD-A7A5-020C8B269F38}" type="datetime8">
              <a:rPr lang="en-NG" smtClean="0"/>
              <a:t>18/10/2026 08:13</a:t>
            </a:fld>
            <a:endParaRPr lang="en-NG"/>
          </a:p>
        </p:txBody>
      </p:sp>
      <p:sp>
        <p:nvSpPr>
          <p:cNvPr id="6" name="Slide Number Placeholder 5">
            <a:extLst>
              <a:ext uri="{FF2B5EF4-FFF2-40B4-BE49-F238E27FC236}">
                <a16:creationId xmlns:a16="http://schemas.microsoft.com/office/drawing/2014/main" id="{56F422B4-21A1-0E6F-7015-B463A40A5E1B}"/>
              </a:ext>
            </a:extLst>
          </p:cNvPr>
          <p:cNvSpPr>
            <a:spLocks noGrp="1"/>
          </p:cNvSpPr>
          <p:nvPr>
            <p:ph type="sldNum" sz="quarter" idx="12"/>
          </p:nvPr>
        </p:nvSpPr>
        <p:spPr/>
        <p:txBody>
          <a:bodyPr/>
          <a:lstStyle/>
          <a:p>
            <a:fld id="{AF15468F-FAE6-4D8E-9204-DF6230E3F4CD}" type="slidenum">
              <a:rPr lang="en-NG" smtClean="0"/>
              <a:t>18</a:t>
            </a:fld>
            <a:endParaRPr lang="en-NG"/>
          </a:p>
        </p:txBody>
      </p:sp>
    </p:spTree>
    <p:extLst>
      <p:ext uri="{BB962C8B-B14F-4D97-AF65-F5344CB8AC3E}">
        <p14:creationId xmlns:p14="http://schemas.microsoft.com/office/powerpoint/2010/main" val="3653856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535E-6EC2-E2C3-0519-A1035900168D}"/>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The pectoral region - clinicals</a:t>
            </a:r>
            <a:endParaRPr lang="en-NG" dirty="0"/>
          </a:p>
        </p:txBody>
      </p:sp>
      <p:pic>
        <p:nvPicPr>
          <p:cNvPr id="5" name="Content Placeholder 4" descr="Scapular Winging | Winged Scapula | Best Shoulder Doctor in Bangalore">
            <a:extLst>
              <a:ext uri="{FF2B5EF4-FFF2-40B4-BE49-F238E27FC236}">
                <a16:creationId xmlns:a16="http://schemas.microsoft.com/office/drawing/2014/main" id="{D61205A3-723B-BCF9-7E4E-1AF9F95EADF7}"/>
              </a:ext>
            </a:extLst>
          </p:cNvPr>
          <p:cNvPicPr>
            <a:picLocks noGrp="1" noChangeAspect="1"/>
          </p:cNvPicPr>
          <p:nvPr>
            <p:ph sz="half" idx="1"/>
          </p:nvPr>
        </p:nvPicPr>
        <p:blipFill>
          <a:blip r:embed="rId2"/>
          <a:stretch>
            <a:fillRect/>
          </a:stretch>
        </p:blipFill>
        <p:spPr>
          <a:xfrm>
            <a:off x="1288422" y="1825625"/>
            <a:ext cx="3778253" cy="3735725"/>
          </a:xfrm>
          <a:prstGeom prst="rect">
            <a:avLst/>
          </a:prstGeom>
        </p:spPr>
      </p:pic>
      <p:pic>
        <p:nvPicPr>
          <p:cNvPr id="7" name="Content Placeholder 6">
            <a:extLst>
              <a:ext uri="{FF2B5EF4-FFF2-40B4-BE49-F238E27FC236}">
                <a16:creationId xmlns:a16="http://schemas.microsoft.com/office/drawing/2014/main" id="{50229075-DC3C-52FB-5DF1-AD08ECECC56A}"/>
              </a:ext>
            </a:extLst>
          </p:cNvPr>
          <p:cNvPicPr>
            <a:picLocks noGrp="1" noChangeAspect="1"/>
          </p:cNvPicPr>
          <p:nvPr>
            <p:ph sz="half" idx="2"/>
          </p:nvPr>
        </p:nvPicPr>
        <p:blipFill>
          <a:blip r:embed="rId3"/>
          <a:stretch>
            <a:fillRect/>
          </a:stretch>
        </p:blipFill>
        <p:spPr>
          <a:xfrm>
            <a:off x="7591424" y="2368445"/>
            <a:ext cx="2841729" cy="3192905"/>
          </a:xfrm>
          <a:prstGeom prst="rect">
            <a:avLst/>
          </a:prstGeom>
        </p:spPr>
      </p:pic>
      <p:sp>
        <p:nvSpPr>
          <p:cNvPr id="3" name="Date Placeholder 2">
            <a:extLst>
              <a:ext uri="{FF2B5EF4-FFF2-40B4-BE49-F238E27FC236}">
                <a16:creationId xmlns:a16="http://schemas.microsoft.com/office/drawing/2014/main" id="{4522212A-7C9A-1BD4-0958-1E6DF8403233}"/>
              </a:ext>
            </a:extLst>
          </p:cNvPr>
          <p:cNvSpPr>
            <a:spLocks noGrp="1"/>
          </p:cNvSpPr>
          <p:nvPr>
            <p:ph type="dt" sz="half" idx="10"/>
          </p:nvPr>
        </p:nvSpPr>
        <p:spPr/>
        <p:txBody>
          <a:bodyPr/>
          <a:lstStyle/>
          <a:p>
            <a:fld id="{44598F27-CB52-4224-8AAE-1B8410302741}" type="datetime8">
              <a:rPr lang="en-NG" smtClean="0"/>
              <a:t>18/10/2026 08:13</a:t>
            </a:fld>
            <a:endParaRPr lang="en-NG"/>
          </a:p>
        </p:txBody>
      </p:sp>
      <p:sp>
        <p:nvSpPr>
          <p:cNvPr id="4" name="Slide Number Placeholder 3">
            <a:extLst>
              <a:ext uri="{FF2B5EF4-FFF2-40B4-BE49-F238E27FC236}">
                <a16:creationId xmlns:a16="http://schemas.microsoft.com/office/drawing/2014/main" id="{735C981F-DD53-15E8-2B37-6D7F12743637}"/>
              </a:ext>
            </a:extLst>
          </p:cNvPr>
          <p:cNvSpPr>
            <a:spLocks noGrp="1"/>
          </p:cNvSpPr>
          <p:nvPr>
            <p:ph type="sldNum" sz="quarter" idx="12"/>
          </p:nvPr>
        </p:nvSpPr>
        <p:spPr/>
        <p:txBody>
          <a:bodyPr/>
          <a:lstStyle/>
          <a:p>
            <a:fld id="{AF15468F-FAE6-4D8E-9204-DF6230E3F4CD}" type="slidenum">
              <a:rPr lang="en-NG" smtClean="0"/>
              <a:t>19</a:t>
            </a:fld>
            <a:endParaRPr lang="en-NG"/>
          </a:p>
        </p:txBody>
      </p:sp>
    </p:spTree>
    <p:extLst>
      <p:ext uri="{BB962C8B-B14F-4D97-AF65-F5344CB8AC3E}">
        <p14:creationId xmlns:p14="http://schemas.microsoft.com/office/powerpoint/2010/main" val="3494740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D7959-5B21-A391-53CC-EC22DA57860F}"/>
              </a:ext>
            </a:extLst>
          </p:cNvPr>
          <p:cNvSpPr>
            <a:spLocks noGrp="1"/>
          </p:cNvSpPr>
          <p:nvPr>
            <p:ph type="title"/>
          </p:nvPr>
        </p:nvSpPr>
        <p:spPr/>
        <p:txBody>
          <a:bodyPr/>
          <a:lstStyle/>
          <a:p>
            <a:r>
              <a:rPr lang="en-US" dirty="0"/>
              <a:t>The Axilla</a:t>
            </a:r>
            <a:endParaRPr lang="en-NG" dirty="0"/>
          </a:p>
        </p:txBody>
      </p:sp>
      <p:sp>
        <p:nvSpPr>
          <p:cNvPr id="3" name="Content Placeholder 2">
            <a:extLst>
              <a:ext uri="{FF2B5EF4-FFF2-40B4-BE49-F238E27FC236}">
                <a16:creationId xmlns:a16="http://schemas.microsoft.com/office/drawing/2014/main" id="{11B5BE14-2B54-6836-ADB9-3F81045AB886}"/>
              </a:ext>
            </a:extLst>
          </p:cNvPr>
          <p:cNvSpPr>
            <a:spLocks noGrp="1"/>
          </p:cNvSpPr>
          <p:nvPr>
            <p:ph sz="half" idx="1"/>
          </p:nvPr>
        </p:nvSpPr>
        <p:spPr>
          <a:xfrm>
            <a:off x="838200" y="1825625"/>
            <a:ext cx="3868711" cy="4351338"/>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Introduction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Boundaries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Contents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Clinical anatomy</a:t>
            </a:r>
            <a:endParaRPr kumimoji="0" lang="en-NG"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NG" dirty="0"/>
          </a:p>
        </p:txBody>
      </p:sp>
      <p:sp>
        <p:nvSpPr>
          <p:cNvPr id="4" name="Content Placeholder 3">
            <a:extLst>
              <a:ext uri="{FF2B5EF4-FFF2-40B4-BE49-F238E27FC236}">
                <a16:creationId xmlns:a16="http://schemas.microsoft.com/office/drawing/2014/main" id="{36C6ABAE-B3B4-618E-197C-65AE21EB34CC}"/>
              </a:ext>
            </a:extLst>
          </p:cNvPr>
          <p:cNvSpPr>
            <a:spLocks noGrp="1"/>
          </p:cNvSpPr>
          <p:nvPr>
            <p:ph sz="half" idx="2"/>
          </p:nvPr>
        </p:nvSpPr>
        <p:spPr>
          <a:xfrm>
            <a:off x="5025990" y="1109272"/>
            <a:ext cx="6327810" cy="5067691"/>
          </a:xfrm>
        </p:spPr>
        <p:txBody>
          <a:bodyPr/>
          <a:lstStyle/>
          <a:p>
            <a:endParaRPr lang="en-NG" dirty="0"/>
          </a:p>
        </p:txBody>
      </p:sp>
      <p:pic>
        <p:nvPicPr>
          <p:cNvPr id="5" name="Content Placeholder 4">
            <a:extLst>
              <a:ext uri="{FF2B5EF4-FFF2-40B4-BE49-F238E27FC236}">
                <a16:creationId xmlns:a16="http://schemas.microsoft.com/office/drawing/2014/main" id="{3DF5E563-BF30-C822-B7E0-6BDDC46832D1}"/>
              </a:ext>
            </a:extLst>
          </p:cNvPr>
          <p:cNvPicPr>
            <a:picLocks noChangeAspect="1"/>
          </p:cNvPicPr>
          <p:nvPr/>
        </p:nvPicPr>
        <p:blipFill>
          <a:blip r:embed="rId2"/>
          <a:stretch>
            <a:fillRect/>
          </a:stretch>
        </p:blipFill>
        <p:spPr>
          <a:xfrm>
            <a:off x="1157279" y="4091787"/>
            <a:ext cx="2466975" cy="1847850"/>
          </a:xfrm>
          <a:prstGeom prst="rect">
            <a:avLst/>
          </a:prstGeom>
        </p:spPr>
      </p:pic>
      <p:pic>
        <p:nvPicPr>
          <p:cNvPr id="6" name="Picture 5">
            <a:extLst>
              <a:ext uri="{FF2B5EF4-FFF2-40B4-BE49-F238E27FC236}">
                <a16:creationId xmlns:a16="http://schemas.microsoft.com/office/drawing/2014/main" id="{A9DAB6B5-3E39-C00A-5E99-D4E75513CBC3}"/>
              </a:ext>
            </a:extLst>
          </p:cNvPr>
          <p:cNvPicPr>
            <a:picLocks noChangeAspect="1"/>
          </p:cNvPicPr>
          <p:nvPr/>
        </p:nvPicPr>
        <p:blipFill>
          <a:blip r:embed="rId3"/>
          <a:stretch>
            <a:fillRect/>
          </a:stretch>
        </p:blipFill>
        <p:spPr>
          <a:xfrm>
            <a:off x="5411463" y="2203554"/>
            <a:ext cx="2743189" cy="3054479"/>
          </a:xfrm>
          <a:prstGeom prst="rect">
            <a:avLst/>
          </a:prstGeom>
        </p:spPr>
      </p:pic>
      <p:pic>
        <p:nvPicPr>
          <p:cNvPr id="7" name="Picture 6">
            <a:extLst>
              <a:ext uri="{FF2B5EF4-FFF2-40B4-BE49-F238E27FC236}">
                <a16:creationId xmlns:a16="http://schemas.microsoft.com/office/drawing/2014/main" id="{40E9613C-E320-B474-8CDC-5A8070675FD7}"/>
              </a:ext>
            </a:extLst>
          </p:cNvPr>
          <p:cNvPicPr>
            <a:picLocks noChangeAspect="1"/>
          </p:cNvPicPr>
          <p:nvPr/>
        </p:nvPicPr>
        <p:blipFill>
          <a:blip r:embed="rId4"/>
          <a:stretch>
            <a:fillRect/>
          </a:stretch>
        </p:blipFill>
        <p:spPr>
          <a:xfrm>
            <a:off x="8501073" y="1825625"/>
            <a:ext cx="2743189" cy="3432408"/>
          </a:xfrm>
          <a:prstGeom prst="rect">
            <a:avLst/>
          </a:prstGeom>
        </p:spPr>
      </p:pic>
      <p:sp>
        <p:nvSpPr>
          <p:cNvPr id="8" name="Date Placeholder 7">
            <a:extLst>
              <a:ext uri="{FF2B5EF4-FFF2-40B4-BE49-F238E27FC236}">
                <a16:creationId xmlns:a16="http://schemas.microsoft.com/office/drawing/2014/main" id="{431E1EE3-4FB7-4292-6BA5-4C1BBA95DFAF}"/>
              </a:ext>
            </a:extLst>
          </p:cNvPr>
          <p:cNvSpPr>
            <a:spLocks noGrp="1"/>
          </p:cNvSpPr>
          <p:nvPr>
            <p:ph type="dt" sz="half" idx="10"/>
          </p:nvPr>
        </p:nvSpPr>
        <p:spPr/>
        <p:txBody>
          <a:bodyPr/>
          <a:lstStyle/>
          <a:p>
            <a:fld id="{1C54B832-DA0E-48FB-A075-5D0D439F30AF}" type="datetime8">
              <a:rPr lang="en-NG" smtClean="0"/>
              <a:t>18/10/2026 08:13</a:t>
            </a:fld>
            <a:endParaRPr lang="en-NG"/>
          </a:p>
        </p:txBody>
      </p:sp>
      <p:sp>
        <p:nvSpPr>
          <p:cNvPr id="9" name="Slide Number Placeholder 8">
            <a:extLst>
              <a:ext uri="{FF2B5EF4-FFF2-40B4-BE49-F238E27FC236}">
                <a16:creationId xmlns:a16="http://schemas.microsoft.com/office/drawing/2014/main" id="{7037B2F0-31B5-0B56-94CC-73B288A1BF86}"/>
              </a:ext>
            </a:extLst>
          </p:cNvPr>
          <p:cNvSpPr>
            <a:spLocks noGrp="1"/>
          </p:cNvSpPr>
          <p:nvPr>
            <p:ph type="sldNum" sz="quarter" idx="12"/>
          </p:nvPr>
        </p:nvSpPr>
        <p:spPr/>
        <p:txBody>
          <a:bodyPr/>
          <a:lstStyle/>
          <a:p>
            <a:fld id="{AF15468F-FAE6-4D8E-9204-DF6230E3F4CD}" type="slidenum">
              <a:rPr lang="en-NG" smtClean="0"/>
              <a:t>20</a:t>
            </a:fld>
            <a:endParaRPr lang="en-NG"/>
          </a:p>
        </p:txBody>
      </p:sp>
    </p:spTree>
    <p:extLst>
      <p:ext uri="{BB962C8B-B14F-4D97-AF65-F5344CB8AC3E}">
        <p14:creationId xmlns:p14="http://schemas.microsoft.com/office/powerpoint/2010/main" val="1308573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2506A-FB85-6522-E6E8-8509261EFEE8}"/>
              </a:ext>
            </a:extLst>
          </p:cNvPr>
          <p:cNvSpPr>
            <a:spLocks noGrp="1"/>
          </p:cNvSpPr>
          <p:nvPr>
            <p:ph type="title"/>
          </p:nvPr>
        </p:nvSpPr>
        <p:spPr/>
        <p:txBody>
          <a:bodyPr/>
          <a:lstStyle/>
          <a:p>
            <a:r>
              <a:rPr lang="en-US" dirty="0"/>
              <a:t>The Arm</a:t>
            </a:r>
            <a:endParaRPr lang="en-NG" dirty="0"/>
          </a:p>
        </p:txBody>
      </p:sp>
      <p:sp>
        <p:nvSpPr>
          <p:cNvPr id="3" name="Content Placeholder 2">
            <a:extLst>
              <a:ext uri="{FF2B5EF4-FFF2-40B4-BE49-F238E27FC236}">
                <a16:creationId xmlns:a16="http://schemas.microsoft.com/office/drawing/2014/main" id="{0CE04DBB-73A2-A92C-4B0C-2DCF8CAEA50B}"/>
              </a:ext>
            </a:extLst>
          </p:cNvPr>
          <p:cNvSpPr>
            <a:spLocks noGrp="1"/>
          </p:cNvSpPr>
          <p:nvPr>
            <p:ph sz="half" idx="1"/>
          </p:nvPr>
        </p:nvSpPr>
        <p:spPr/>
        <p:txBody>
          <a:bodyPr>
            <a:normAutofit lnSpcReduction="10000"/>
          </a:bodyPr>
          <a:lstStyle/>
          <a:p>
            <a:r>
              <a:rPr lang="en-US" dirty="0"/>
              <a:t>Region of upper limb between the shoulder and elbow</a:t>
            </a:r>
          </a:p>
          <a:p>
            <a:r>
              <a:rPr lang="en-US" dirty="0"/>
              <a:t>Divided into anterior and posterior compartments</a:t>
            </a:r>
          </a:p>
          <a:p>
            <a:r>
              <a:rPr lang="en-US" dirty="0"/>
              <a:t>Anterior (flexors):</a:t>
            </a:r>
          </a:p>
          <a:p>
            <a:pPr>
              <a:buFont typeface="Wingdings" panose="05000000000000000000" pitchFamily="2" charset="2"/>
              <a:buChar char="ü"/>
            </a:pPr>
            <a:r>
              <a:rPr lang="en-US" dirty="0"/>
              <a:t>Muscles include biceps brachii, brachialis and coracobrachialis</a:t>
            </a:r>
          </a:p>
          <a:p>
            <a:pPr>
              <a:buFont typeface="Wingdings" panose="05000000000000000000" pitchFamily="2" charset="2"/>
              <a:buChar char="ü"/>
            </a:pPr>
            <a:r>
              <a:rPr lang="en-US" dirty="0"/>
              <a:t>Innervation by musculocutaneous nerve</a:t>
            </a:r>
            <a:endParaRPr lang="en-NG" dirty="0"/>
          </a:p>
        </p:txBody>
      </p:sp>
      <p:sp>
        <p:nvSpPr>
          <p:cNvPr id="4" name="Content Placeholder 3">
            <a:extLst>
              <a:ext uri="{FF2B5EF4-FFF2-40B4-BE49-F238E27FC236}">
                <a16:creationId xmlns:a16="http://schemas.microsoft.com/office/drawing/2014/main" id="{AD99EAD5-31B8-8A1A-904A-F44E55532DC5}"/>
              </a:ext>
            </a:extLst>
          </p:cNvPr>
          <p:cNvSpPr>
            <a:spLocks noGrp="1"/>
          </p:cNvSpPr>
          <p:nvPr>
            <p:ph sz="half" idx="2"/>
          </p:nvPr>
        </p:nvSpPr>
        <p:spPr/>
        <p:txBody>
          <a:bodyPr>
            <a:normAutofit lnSpcReduction="10000"/>
          </a:bodyPr>
          <a:lstStyle/>
          <a:p>
            <a:r>
              <a:rPr lang="en-US" dirty="0"/>
              <a:t>Posterior (extensors):</a:t>
            </a:r>
          </a:p>
          <a:p>
            <a:pPr>
              <a:buFont typeface="Wingdings" panose="05000000000000000000" pitchFamily="2" charset="2"/>
              <a:buChar char="ü"/>
            </a:pPr>
            <a:r>
              <a:rPr lang="en-US" dirty="0"/>
              <a:t>Muscles include triceps brachii (long head, lateral and medial heads) and a small triangular muscle near the elbow joint called anconeus</a:t>
            </a:r>
          </a:p>
          <a:p>
            <a:pPr>
              <a:buFont typeface="Wingdings" panose="05000000000000000000" pitchFamily="2" charset="2"/>
              <a:buChar char="ü"/>
            </a:pPr>
            <a:r>
              <a:rPr lang="en-US" dirty="0"/>
              <a:t>Innervation by radial nerve</a:t>
            </a:r>
          </a:p>
          <a:p>
            <a:pPr>
              <a:buFont typeface="Wingdings" panose="05000000000000000000" pitchFamily="2" charset="2"/>
              <a:buChar char="ü"/>
            </a:pPr>
            <a:endParaRPr lang="en-US" dirty="0"/>
          </a:p>
          <a:p>
            <a:pPr>
              <a:buFont typeface="Wingdings" panose="05000000000000000000" pitchFamily="2" charset="2"/>
              <a:buChar char="Ø"/>
            </a:pPr>
            <a:r>
              <a:rPr lang="en-US" dirty="0"/>
              <a:t> </a:t>
            </a:r>
            <a:r>
              <a:rPr lang="en-US" b="1" dirty="0">
                <a:solidFill>
                  <a:srgbClr val="FF0000"/>
                </a:solidFill>
              </a:rPr>
              <a:t>Look up elbow joint and elbow anastomosis</a:t>
            </a:r>
            <a:endParaRPr lang="en-NG" b="1" dirty="0">
              <a:solidFill>
                <a:srgbClr val="FF0000"/>
              </a:solidFill>
            </a:endParaRPr>
          </a:p>
        </p:txBody>
      </p:sp>
      <p:sp>
        <p:nvSpPr>
          <p:cNvPr id="5" name="Date Placeholder 4">
            <a:extLst>
              <a:ext uri="{FF2B5EF4-FFF2-40B4-BE49-F238E27FC236}">
                <a16:creationId xmlns:a16="http://schemas.microsoft.com/office/drawing/2014/main" id="{51A79211-C6FE-DC64-9A05-C96EDB59FFAE}"/>
              </a:ext>
            </a:extLst>
          </p:cNvPr>
          <p:cNvSpPr>
            <a:spLocks noGrp="1"/>
          </p:cNvSpPr>
          <p:nvPr>
            <p:ph type="dt" sz="half" idx="10"/>
          </p:nvPr>
        </p:nvSpPr>
        <p:spPr/>
        <p:txBody>
          <a:bodyPr/>
          <a:lstStyle/>
          <a:p>
            <a:fld id="{7AD4241A-96FD-4D39-95A2-E2B2A1156953}" type="datetime8">
              <a:rPr lang="en-NG" smtClean="0"/>
              <a:t>18/10/2026 08:13</a:t>
            </a:fld>
            <a:endParaRPr lang="en-NG"/>
          </a:p>
        </p:txBody>
      </p:sp>
      <p:sp>
        <p:nvSpPr>
          <p:cNvPr id="6" name="Slide Number Placeholder 5">
            <a:extLst>
              <a:ext uri="{FF2B5EF4-FFF2-40B4-BE49-F238E27FC236}">
                <a16:creationId xmlns:a16="http://schemas.microsoft.com/office/drawing/2014/main" id="{0CE8A437-71E7-DC96-E8D7-5D12E928505B}"/>
              </a:ext>
            </a:extLst>
          </p:cNvPr>
          <p:cNvSpPr>
            <a:spLocks noGrp="1"/>
          </p:cNvSpPr>
          <p:nvPr>
            <p:ph type="sldNum" sz="quarter" idx="12"/>
          </p:nvPr>
        </p:nvSpPr>
        <p:spPr/>
        <p:txBody>
          <a:bodyPr/>
          <a:lstStyle/>
          <a:p>
            <a:fld id="{AF15468F-FAE6-4D8E-9204-DF6230E3F4CD}" type="slidenum">
              <a:rPr lang="en-NG" smtClean="0"/>
              <a:t>21</a:t>
            </a:fld>
            <a:endParaRPr lang="en-NG"/>
          </a:p>
        </p:txBody>
      </p:sp>
    </p:spTree>
    <p:extLst>
      <p:ext uri="{BB962C8B-B14F-4D97-AF65-F5344CB8AC3E}">
        <p14:creationId xmlns:p14="http://schemas.microsoft.com/office/powerpoint/2010/main" val="860101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8B420-2525-E3D4-F192-2395519F1240}"/>
              </a:ext>
            </a:extLst>
          </p:cNvPr>
          <p:cNvSpPr>
            <a:spLocks noGrp="1"/>
          </p:cNvSpPr>
          <p:nvPr>
            <p:ph type="title"/>
          </p:nvPr>
        </p:nvSpPr>
        <p:spPr/>
        <p:txBody>
          <a:bodyPr/>
          <a:lstStyle/>
          <a:p>
            <a:r>
              <a:rPr lang="en-US" dirty="0"/>
              <a:t>The Arm – cubital fossa</a:t>
            </a:r>
            <a:endParaRPr lang="en-NG" dirty="0"/>
          </a:p>
        </p:txBody>
      </p:sp>
      <p:sp>
        <p:nvSpPr>
          <p:cNvPr id="3" name="Content Placeholder 2">
            <a:extLst>
              <a:ext uri="{FF2B5EF4-FFF2-40B4-BE49-F238E27FC236}">
                <a16:creationId xmlns:a16="http://schemas.microsoft.com/office/drawing/2014/main" id="{54DC5A15-B338-FF6A-C969-4EC19DC96A97}"/>
              </a:ext>
            </a:extLst>
          </p:cNvPr>
          <p:cNvSpPr>
            <a:spLocks noGrp="1"/>
          </p:cNvSpPr>
          <p:nvPr>
            <p:ph sz="half" idx="1"/>
          </p:nvPr>
        </p:nvSpPr>
        <p:spPr/>
        <p:txBody>
          <a:bodyPr/>
          <a:lstStyle/>
          <a:p>
            <a:r>
              <a:rPr lang="en-US" dirty="0"/>
              <a:t>Introduction</a:t>
            </a:r>
          </a:p>
          <a:p>
            <a:r>
              <a:rPr lang="en-US" dirty="0"/>
              <a:t>Boundaries</a:t>
            </a:r>
          </a:p>
          <a:p>
            <a:r>
              <a:rPr lang="en-US" dirty="0"/>
              <a:t>Contents</a:t>
            </a:r>
          </a:p>
          <a:p>
            <a:r>
              <a:rPr lang="en-US" dirty="0"/>
              <a:t>clinicals</a:t>
            </a:r>
            <a:endParaRPr lang="en-NG" dirty="0"/>
          </a:p>
        </p:txBody>
      </p:sp>
      <p:pic>
        <p:nvPicPr>
          <p:cNvPr id="5" name="Content Placeholder 4" descr="The Cubital Fossa - Borders - Contents - TeachMeAnatomy">
            <a:extLst>
              <a:ext uri="{FF2B5EF4-FFF2-40B4-BE49-F238E27FC236}">
                <a16:creationId xmlns:a16="http://schemas.microsoft.com/office/drawing/2014/main" id="{FB240E51-3E80-6E51-C75E-5A4771E5D686}"/>
              </a:ext>
            </a:extLst>
          </p:cNvPr>
          <p:cNvPicPr>
            <a:picLocks noGrp="1" noChangeAspect="1"/>
          </p:cNvPicPr>
          <p:nvPr>
            <p:ph sz="half" idx="2"/>
          </p:nvPr>
        </p:nvPicPr>
        <p:blipFill>
          <a:blip r:embed="rId2"/>
          <a:stretch>
            <a:fillRect/>
          </a:stretch>
        </p:blipFill>
        <p:spPr>
          <a:xfrm>
            <a:off x="6579462" y="1825625"/>
            <a:ext cx="4367075" cy="4351338"/>
          </a:xfrm>
          <a:prstGeom prst="rect">
            <a:avLst/>
          </a:prstGeom>
        </p:spPr>
      </p:pic>
      <p:sp>
        <p:nvSpPr>
          <p:cNvPr id="4" name="Date Placeholder 3">
            <a:extLst>
              <a:ext uri="{FF2B5EF4-FFF2-40B4-BE49-F238E27FC236}">
                <a16:creationId xmlns:a16="http://schemas.microsoft.com/office/drawing/2014/main" id="{D16BD5F4-EBFF-3F77-7915-9BAF9BBE82EF}"/>
              </a:ext>
            </a:extLst>
          </p:cNvPr>
          <p:cNvSpPr>
            <a:spLocks noGrp="1"/>
          </p:cNvSpPr>
          <p:nvPr>
            <p:ph type="dt" sz="half" idx="10"/>
          </p:nvPr>
        </p:nvSpPr>
        <p:spPr/>
        <p:txBody>
          <a:bodyPr/>
          <a:lstStyle/>
          <a:p>
            <a:fld id="{94683023-8F54-4419-A3E3-D85A53C6AD40}" type="datetime8">
              <a:rPr lang="en-NG" smtClean="0"/>
              <a:t>18/10/2026 08:13</a:t>
            </a:fld>
            <a:endParaRPr lang="en-NG"/>
          </a:p>
        </p:txBody>
      </p:sp>
      <p:sp>
        <p:nvSpPr>
          <p:cNvPr id="6" name="Slide Number Placeholder 5">
            <a:extLst>
              <a:ext uri="{FF2B5EF4-FFF2-40B4-BE49-F238E27FC236}">
                <a16:creationId xmlns:a16="http://schemas.microsoft.com/office/drawing/2014/main" id="{24CD7B82-AB3C-9225-006B-4B1BDE47D224}"/>
              </a:ext>
            </a:extLst>
          </p:cNvPr>
          <p:cNvSpPr>
            <a:spLocks noGrp="1"/>
          </p:cNvSpPr>
          <p:nvPr>
            <p:ph type="sldNum" sz="quarter" idx="12"/>
          </p:nvPr>
        </p:nvSpPr>
        <p:spPr/>
        <p:txBody>
          <a:bodyPr/>
          <a:lstStyle/>
          <a:p>
            <a:fld id="{AF15468F-FAE6-4D8E-9204-DF6230E3F4CD}" type="slidenum">
              <a:rPr lang="en-NG" smtClean="0"/>
              <a:t>22</a:t>
            </a:fld>
            <a:endParaRPr lang="en-NG"/>
          </a:p>
        </p:txBody>
      </p:sp>
    </p:spTree>
    <p:extLst>
      <p:ext uri="{BB962C8B-B14F-4D97-AF65-F5344CB8AC3E}">
        <p14:creationId xmlns:p14="http://schemas.microsoft.com/office/powerpoint/2010/main" val="2874317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C455-F0D4-7360-EB85-7C0F0B363115}"/>
              </a:ext>
            </a:extLst>
          </p:cNvPr>
          <p:cNvSpPr>
            <a:spLocks noGrp="1"/>
          </p:cNvSpPr>
          <p:nvPr>
            <p:ph type="title"/>
          </p:nvPr>
        </p:nvSpPr>
        <p:spPr/>
        <p:txBody>
          <a:bodyPr/>
          <a:lstStyle/>
          <a:p>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The Forearm</a:t>
            </a:r>
            <a:endParaRPr lang="en-NG" dirty="0"/>
          </a:p>
        </p:txBody>
      </p:sp>
      <p:sp>
        <p:nvSpPr>
          <p:cNvPr id="3" name="Content Placeholder 2">
            <a:extLst>
              <a:ext uri="{FF2B5EF4-FFF2-40B4-BE49-F238E27FC236}">
                <a16:creationId xmlns:a16="http://schemas.microsoft.com/office/drawing/2014/main" id="{6E818ADF-A0EF-9128-12E1-B9A96A483E4A}"/>
              </a:ext>
            </a:extLst>
          </p:cNvPr>
          <p:cNvSpPr>
            <a:spLocks noGrp="1"/>
          </p:cNvSpPr>
          <p:nvPr>
            <p:ph sz="half" idx="1"/>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Lies btw the elbow and the wrist and contains two bones: the ulna and radius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Both bones are joined by the interosseous membrane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It is made up of two compartments: Anterior and Posterior compartments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The muscles of the forearm pass as tendons into the wrist, hand and digits</a:t>
            </a:r>
            <a:endParaRPr kumimoji="0" lang="en-NG"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NG" dirty="0"/>
          </a:p>
        </p:txBody>
      </p:sp>
      <p:sp>
        <p:nvSpPr>
          <p:cNvPr id="4" name="Content Placeholder 3">
            <a:extLst>
              <a:ext uri="{FF2B5EF4-FFF2-40B4-BE49-F238E27FC236}">
                <a16:creationId xmlns:a16="http://schemas.microsoft.com/office/drawing/2014/main" id="{FCB27852-9B04-6FE1-30B8-16C7B335FF50}"/>
              </a:ext>
            </a:extLst>
          </p:cNvPr>
          <p:cNvSpPr>
            <a:spLocks noGrp="1"/>
          </p:cNvSpPr>
          <p:nvPr>
            <p:ph sz="half" idx="2"/>
          </p:nvPr>
        </p:nvSpPr>
        <p:spPr/>
        <p:txBody>
          <a:bodyPr>
            <a:normAutofit lnSpcReduction="10000"/>
          </a:bodyPr>
          <a:lstStyle/>
          <a:p>
            <a:endParaRPr lang="en-NG" dirty="0"/>
          </a:p>
        </p:txBody>
      </p:sp>
      <p:pic>
        <p:nvPicPr>
          <p:cNvPr id="5" name="Picture 4">
            <a:extLst>
              <a:ext uri="{FF2B5EF4-FFF2-40B4-BE49-F238E27FC236}">
                <a16:creationId xmlns:a16="http://schemas.microsoft.com/office/drawing/2014/main" id="{432B4B03-F0F6-D11F-0ABB-A04FFF5C5F6A}"/>
              </a:ext>
            </a:extLst>
          </p:cNvPr>
          <p:cNvPicPr>
            <a:picLocks noChangeAspect="1"/>
          </p:cNvPicPr>
          <p:nvPr/>
        </p:nvPicPr>
        <p:blipFill>
          <a:blip r:embed="rId2"/>
          <a:stretch>
            <a:fillRect/>
          </a:stretch>
        </p:blipFill>
        <p:spPr>
          <a:xfrm>
            <a:off x="7529514" y="3543301"/>
            <a:ext cx="3400424" cy="2276478"/>
          </a:xfrm>
          <a:prstGeom prst="rect">
            <a:avLst/>
          </a:prstGeom>
        </p:spPr>
      </p:pic>
      <p:pic>
        <p:nvPicPr>
          <p:cNvPr id="6" name="Content Placeholder 4">
            <a:extLst>
              <a:ext uri="{FF2B5EF4-FFF2-40B4-BE49-F238E27FC236}">
                <a16:creationId xmlns:a16="http://schemas.microsoft.com/office/drawing/2014/main" id="{1924ABF2-E543-F103-7961-E654818CBC40}"/>
              </a:ext>
            </a:extLst>
          </p:cNvPr>
          <p:cNvPicPr>
            <a:picLocks noChangeAspect="1"/>
          </p:cNvPicPr>
          <p:nvPr/>
        </p:nvPicPr>
        <p:blipFill>
          <a:blip r:embed="rId3"/>
          <a:stretch>
            <a:fillRect/>
          </a:stretch>
        </p:blipFill>
        <p:spPr>
          <a:xfrm>
            <a:off x="7781928" y="2020495"/>
            <a:ext cx="2619375" cy="1189818"/>
          </a:xfrm>
          <a:prstGeom prst="rect">
            <a:avLst/>
          </a:prstGeom>
        </p:spPr>
      </p:pic>
      <p:sp>
        <p:nvSpPr>
          <p:cNvPr id="7" name="Date Placeholder 6">
            <a:extLst>
              <a:ext uri="{FF2B5EF4-FFF2-40B4-BE49-F238E27FC236}">
                <a16:creationId xmlns:a16="http://schemas.microsoft.com/office/drawing/2014/main" id="{12D04330-77A9-4565-375F-9DE384F643B1}"/>
              </a:ext>
            </a:extLst>
          </p:cNvPr>
          <p:cNvSpPr>
            <a:spLocks noGrp="1"/>
          </p:cNvSpPr>
          <p:nvPr>
            <p:ph type="dt" sz="half" idx="10"/>
          </p:nvPr>
        </p:nvSpPr>
        <p:spPr/>
        <p:txBody>
          <a:bodyPr/>
          <a:lstStyle/>
          <a:p>
            <a:fld id="{4B736D94-63DA-4485-B5B0-149FF4B0DB7C}" type="datetime8">
              <a:rPr lang="en-NG" smtClean="0"/>
              <a:t>18/10/2026 08:13</a:t>
            </a:fld>
            <a:endParaRPr lang="en-NG"/>
          </a:p>
        </p:txBody>
      </p:sp>
      <p:sp>
        <p:nvSpPr>
          <p:cNvPr id="8" name="Slide Number Placeholder 7">
            <a:extLst>
              <a:ext uri="{FF2B5EF4-FFF2-40B4-BE49-F238E27FC236}">
                <a16:creationId xmlns:a16="http://schemas.microsoft.com/office/drawing/2014/main" id="{D32E3C25-0172-ECFA-426B-9001DC35EE70}"/>
              </a:ext>
            </a:extLst>
          </p:cNvPr>
          <p:cNvSpPr>
            <a:spLocks noGrp="1"/>
          </p:cNvSpPr>
          <p:nvPr>
            <p:ph type="sldNum" sz="quarter" idx="12"/>
          </p:nvPr>
        </p:nvSpPr>
        <p:spPr/>
        <p:txBody>
          <a:bodyPr/>
          <a:lstStyle/>
          <a:p>
            <a:fld id="{AF15468F-FAE6-4D8E-9204-DF6230E3F4CD}" type="slidenum">
              <a:rPr lang="en-NG" smtClean="0"/>
              <a:t>23</a:t>
            </a:fld>
            <a:endParaRPr lang="en-NG"/>
          </a:p>
        </p:txBody>
      </p:sp>
    </p:spTree>
    <p:extLst>
      <p:ext uri="{BB962C8B-B14F-4D97-AF65-F5344CB8AC3E}">
        <p14:creationId xmlns:p14="http://schemas.microsoft.com/office/powerpoint/2010/main" val="1106530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C4C7-873E-1139-78E5-AA85C3CA7922}"/>
              </a:ext>
            </a:extLst>
          </p:cNvPr>
          <p:cNvSpPr>
            <a:spLocks noGrp="1"/>
          </p:cNvSpPr>
          <p:nvPr>
            <p:ph type="title"/>
          </p:nvPr>
        </p:nvSpPr>
        <p:spPr/>
        <p:txBody>
          <a:bodyPr/>
          <a:lstStyle/>
          <a:p>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Forearm- Anterior compartment</a:t>
            </a:r>
            <a:endParaRPr lang="en-NG" dirty="0"/>
          </a:p>
        </p:txBody>
      </p:sp>
      <p:sp>
        <p:nvSpPr>
          <p:cNvPr id="3" name="Content Placeholder 2">
            <a:extLst>
              <a:ext uri="{FF2B5EF4-FFF2-40B4-BE49-F238E27FC236}">
                <a16:creationId xmlns:a16="http://schemas.microsoft.com/office/drawing/2014/main" id="{F3EFAA5B-0E5B-3217-2442-6E942D606DE9}"/>
              </a:ext>
            </a:extLst>
          </p:cNvPr>
          <p:cNvSpPr>
            <a:spLocks noGrp="1"/>
          </p:cNvSpPr>
          <p:nvPr>
            <p:ph sz="half" idx="1"/>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Also termed flexor-pronator compartment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Contains the flexor muscles with origin from the common flexor origin (the medial epicondyle of the humerus)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They are responsible for the pronation of the forearm, hence the name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These muscles on exit into the hand are held in place at the wrist by the flexor retinaculum (transverse carpal ligament) and palmar carpal ligament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Ligaments are the thickenings of the antebrachial fascia</a:t>
            </a:r>
            <a:endParaRPr kumimoji="0" lang="en-NG" sz="2400" b="0" i="0" u="none" strike="noStrike" kern="1200" cap="none" spc="0" normalizeH="0" baseline="0" noProof="0" dirty="0">
              <a:ln>
                <a:noFill/>
              </a:ln>
              <a:solidFill>
                <a:prstClr val="black"/>
              </a:solidFill>
              <a:effectLst/>
              <a:uLnTx/>
              <a:uFillTx/>
              <a:ea typeface="+mn-ea"/>
              <a:cs typeface="+mn-cs"/>
            </a:endParaRPr>
          </a:p>
          <a:p>
            <a:pPr marL="0" indent="0">
              <a:buNone/>
            </a:pPr>
            <a:endParaRPr lang="en-NG" dirty="0"/>
          </a:p>
        </p:txBody>
      </p:sp>
      <p:sp>
        <p:nvSpPr>
          <p:cNvPr id="4" name="Content Placeholder 3">
            <a:extLst>
              <a:ext uri="{FF2B5EF4-FFF2-40B4-BE49-F238E27FC236}">
                <a16:creationId xmlns:a16="http://schemas.microsoft.com/office/drawing/2014/main" id="{3AFB91C6-A6D6-BD3D-1A96-0F57FD85C427}"/>
              </a:ext>
            </a:extLst>
          </p:cNvPr>
          <p:cNvSpPr>
            <a:spLocks noGrp="1"/>
          </p:cNvSpPr>
          <p:nvPr>
            <p:ph sz="half" idx="2"/>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ea typeface="+mn-ea"/>
                <a:cs typeface="+mn-cs"/>
              </a:rPr>
              <a:t>The muscles are divided into 3 layers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2600" b="0" i="0" u="none" strike="noStrike" kern="1200" cap="none" spc="0" normalizeH="0" baseline="0" noProof="0" dirty="0">
                <a:ln>
                  <a:noFill/>
                </a:ln>
                <a:solidFill>
                  <a:prstClr val="black"/>
                </a:solidFill>
                <a:effectLst/>
                <a:uLnTx/>
                <a:uFillTx/>
                <a:ea typeface="+mn-ea"/>
                <a:cs typeface="+mn-cs"/>
              </a:rPr>
              <a:t>A superficial layer: pronator teres, flexor carpi radialis, palmaris longus, and flexor carpi </a:t>
            </a:r>
            <a:r>
              <a:rPr kumimoji="0" lang="en-GB" sz="2600" b="0" i="0" u="none" strike="noStrike" kern="1200" cap="none" spc="0" normalizeH="0" baseline="0" noProof="0" dirty="0" err="1">
                <a:ln>
                  <a:noFill/>
                </a:ln>
                <a:solidFill>
                  <a:prstClr val="black"/>
                </a:solidFill>
                <a:effectLst/>
                <a:uLnTx/>
                <a:uFillTx/>
                <a:ea typeface="+mn-ea"/>
                <a:cs typeface="+mn-cs"/>
              </a:rPr>
              <a:t>ulnaris</a:t>
            </a:r>
            <a:r>
              <a:rPr kumimoji="0" lang="en-GB" sz="2600" b="0" i="0" u="none" strike="noStrike" kern="1200" cap="none" spc="0" normalizeH="0" baseline="0" noProof="0" dirty="0">
                <a:ln>
                  <a:noFill/>
                </a:ln>
                <a:solidFill>
                  <a:prstClr val="black"/>
                </a:solidFill>
                <a:effectLst/>
                <a:uLnTx/>
                <a:uFillTx/>
                <a:ea typeface="+mn-ea"/>
                <a:cs typeface="+mn-cs"/>
              </a:rPr>
              <a:t> (FCU)</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2600" b="0" i="0" u="none" strike="noStrike" kern="1200" cap="none" spc="0" normalizeH="0" baseline="0" noProof="0" dirty="0">
                <a:ln>
                  <a:noFill/>
                </a:ln>
                <a:solidFill>
                  <a:prstClr val="black"/>
                </a:solidFill>
                <a:effectLst/>
                <a:uLnTx/>
                <a:uFillTx/>
                <a:ea typeface="+mn-ea"/>
                <a:cs typeface="+mn-cs"/>
              </a:rPr>
              <a:t> An intermediate layer or group, consisting of one muscle: flexor digitorum superficialis (FDS)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en-GB" sz="2600" b="0" i="0" u="none" strike="noStrike" kern="1200" cap="none" spc="0" normalizeH="0" baseline="0" noProof="0" dirty="0">
                <a:ln>
                  <a:noFill/>
                </a:ln>
                <a:solidFill>
                  <a:prstClr val="black"/>
                </a:solidFill>
                <a:effectLst/>
                <a:uLnTx/>
                <a:uFillTx/>
                <a:ea typeface="+mn-ea"/>
                <a:cs typeface="+mn-cs"/>
              </a:rPr>
              <a:t>A deep layer or group of three muscles: flexor digitorum </a:t>
            </a:r>
            <a:r>
              <a:rPr kumimoji="0" lang="en-GB" sz="2600" b="0" i="0" u="none" strike="noStrike" kern="1200" cap="none" spc="0" normalizeH="0" baseline="0" noProof="0" dirty="0" err="1">
                <a:ln>
                  <a:noFill/>
                </a:ln>
                <a:solidFill>
                  <a:prstClr val="black"/>
                </a:solidFill>
                <a:effectLst/>
                <a:uLnTx/>
                <a:uFillTx/>
                <a:ea typeface="+mn-ea"/>
                <a:cs typeface="+mn-cs"/>
              </a:rPr>
              <a:t>profundus</a:t>
            </a:r>
            <a:r>
              <a:rPr kumimoji="0" lang="en-GB" sz="2600" b="0" i="0" u="none" strike="noStrike" kern="1200" cap="none" spc="0" normalizeH="0" baseline="0" noProof="0" dirty="0">
                <a:ln>
                  <a:noFill/>
                </a:ln>
                <a:solidFill>
                  <a:prstClr val="black"/>
                </a:solidFill>
                <a:effectLst/>
                <a:uLnTx/>
                <a:uFillTx/>
                <a:ea typeface="+mn-ea"/>
                <a:cs typeface="+mn-cs"/>
              </a:rPr>
              <a:t> (FDP), flexor pollicis longus (FPL), and pronator quadratus</a:t>
            </a:r>
            <a:endParaRPr kumimoji="0" lang="en-NG" sz="2600" b="0" i="0" u="none" strike="noStrike" kern="1200" cap="none" spc="0" normalizeH="0" baseline="0" noProof="0" dirty="0">
              <a:ln>
                <a:noFill/>
              </a:ln>
              <a:solidFill>
                <a:prstClr val="black"/>
              </a:solidFill>
              <a:effectLst/>
              <a:uLnTx/>
              <a:uFillTx/>
              <a:ea typeface="+mn-ea"/>
              <a:cs typeface="+mn-cs"/>
            </a:endParaRPr>
          </a:p>
          <a:p>
            <a:pPr marL="0" indent="0">
              <a:buNone/>
            </a:pPr>
            <a:endParaRPr lang="en-NG" dirty="0"/>
          </a:p>
        </p:txBody>
      </p:sp>
      <p:sp>
        <p:nvSpPr>
          <p:cNvPr id="5" name="Date Placeholder 4">
            <a:extLst>
              <a:ext uri="{FF2B5EF4-FFF2-40B4-BE49-F238E27FC236}">
                <a16:creationId xmlns:a16="http://schemas.microsoft.com/office/drawing/2014/main" id="{46B3ADC0-C719-0603-0D23-E9F1760109D2}"/>
              </a:ext>
            </a:extLst>
          </p:cNvPr>
          <p:cNvSpPr>
            <a:spLocks noGrp="1"/>
          </p:cNvSpPr>
          <p:nvPr>
            <p:ph type="dt" sz="half" idx="10"/>
          </p:nvPr>
        </p:nvSpPr>
        <p:spPr/>
        <p:txBody>
          <a:bodyPr/>
          <a:lstStyle/>
          <a:p>
            <a:fld id="{B8E1C41F-048D-4903-8C64-0D2D70679B11}" type="datetime8">
              <a:rPr lang="en-NG" smtClean="0"/>
              <a:t>18/10/2026 08:13</a:t>
            </a:fld>
            <a:endParaRPr lang="en-NG"/>
          </a:p>
        </p:txBody>
      </p:sp>
      <p:sp>
        <p:nvSpPr>
          <p:cNvPr id="6" name="Slide Number Placeholder 5">
            <a:extLst>
              <a:ext uri="{FF2B5EF4-FFF2-40B4-BE49-F238E27FC236}">
                <a16:creationId xmlns:a16="http://schemas.microsoft.com/office/drawing/2014/main" id="{EED7D53A-C1A1-2D6F-1579-B9F8618D5B81}"/>
              </a:ext>
            </a:extLst>
          </p:cNvPr>
          <p:cNvSpPr>
            <a:spLocks noGrp="1"/>
          </p:cNvSpPr>
          <p:nvPr>
            <p:ph type="sldNum" sz="quarter" idx="12"/>
          </p:nvPr>
        </p:nvSpPr>
        <p:spPr/>
        <p:txBody>
          <a:bodyPr/>
          <a:lstStyle/>
          <a:p>
            <a:fld id="{AF15468F-FAE6-4D8E-9204-DF6230E3F4CD}" type="slidenum">
              <a:rPr lang="en-NG" smtClean="0"/>
              <a:t>24</a:t>
            </a:fld>
            <a:endParaRPr lang="en-NG"/>
          </a:p>
        </p:txBody>
      </p:sp>
    </p:spTree>
    <p:extLst>
      <p:ext uri="{BB962C8B-B14F-4D97-AF65-F5344CB8AC3E}">
        <p14:creationId xmlns:p14="http://schemas.microsoft.com/office/powerpoint/2010/main" val="843305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D5259-EB8E-16EA-37BC-01BBF3813E8E}"/>
              </a:ext>
            </a:extLst>
          </p:cNvPr>
          <p:cNvSpPr>
            <a:spLocks noGrp="1"/>
          </p:cNvSpPr>
          <p:nvPr>
            <p:ph type="title"/>
          </p:nvPr>
        </p:nvSpPr>
        <p:spPr>
          <a:xfrm>
            <a:off x="838200" y="365125"/>
            <a:ext cx="9340121" cy="1325563"/>
          </a:xfrm>
        </p:spPr>
        <p:txBody>
          <a:bodyPr/>
          <a:lstStyle/>
          <a:p>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Forearm- Anterior compartment</a:t>
            </a:r>
            <a:endParaRPr lang="en-NG" dirty="0"/>
          </a:p>
        </p:txBody>
      </p:sp>
      <p:sp>
        <p:nvSpPr>
          <p:cNvPr id="3" name="Content Placeholder 2">
            <a:extLst>
              <a:ext uri="{FF2B5EF4-FFF2-40B4-BE49-F238E27FC236}">
                <a16:creationId xmlns:a16="http://schemas.microsoft.com/office/drawing/2014/main" id="{AC3D0DB0-17FE-D1E5-919D-83C264DB1943}"/>
              </a:ext>
            </a:extLst>
          </p:cNvPr>
          <p:cNvSpPr>
            <a:spLocks noGrp="1"/>
          </p:cNvSpPr>
          <p:nvPr>
            <p:ph sz="half" idx="1"/>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200" b="0" i="0" u="none" strike="noStrike" kern="1200" cap="none" spc="0" normalizeH="0" baseline="0" noProof="0" dirty="0">
                <a:ln>
                  <a:noFill/>
                </a:ln>
                <a:solidFill>
                  <a:prstClr val="black"/>
                </a:solidFill>
                <a:effectLst/>
                <a:uLnTx/>
                <a:uFillTx/>
                <a:ea typeface="+mn-ea"/>
                <a:cs typeface="+mn-cs"/>
              </a:rPr>
              <a:t>The five superficial and intermediate muscles cross the elbow joint but the three deep muscles do not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200" b="0" i="0" u="none" strike="noStrike" kern="1200" cap="none" spc="0" normalizeH="0" baseline="0" noProof="0" dirty="0">
                <a:ln>
                  <a:noFill/>
                </a:ln>
                <a:solidFill>
                  <a:prstClr val="black"/>
                </a:solidFill>
                <a:effectLst/>
                <a:uLnTx/>
                <a:uFillTx/>
                <a:ea typeface="+mn-ea"/>
                <a:cs typeface="+mn-cs"/>
              </a:rPr>
              <a:t>Functionally, the brachioradialis is a flexor of the forearm, but it is located in the extensor (posterior) compartment and is thus supplied by the radial nerve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200" b="0" i="0" u="none" strike="noStrike" kern="1200" cap="none" spc="0" normalizeH="0" baseline="0" noProof="0" dirty="0">
                <a:ln>
                  <a:noFill/>
                </a:ln>
                <a:solidFill>
                  <a:prstClr val="black"/>
                </a:solidFill>
                <a:effectLst/>
                <a:uLnTx/>
                <a:uFillTx/>
                <a:ea typeface="+mn-ea"/>
                <a:cs typeface="+mn-cs"/>
              </a:rPr>
              <a:t>Therefore, the brachioradialis is a major exception to the generalization that the radial nerve supplies only extensor muscles and that all flexors lie in the anterior compartment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200" b="0" i="0" u="none" strike="noStrike" kern="1200" cap="none" spc="0" normalizeH="0" baseline="0" noProof="0" dirty="0">
                <a:ln>
                  <a:noFill/>
                </a:ln>
                <a:solidFill>
                  <a:prstClr val="black"/>
                </a:solidFill>
                <a:effectLst/>
                <a:uLnTx/>
                <a:uFillTx/>
                <a:ea typeface="+mn-ea"/>
                <a:cs typeface="+mn-cs"/>
              </a:rPr>
              <a:t>The long flexors of the digits (FDS and FDP) also flex the metacarpophalangeal and wrist joints</a:t>
            </a:r>
            <a:endParaRPr kumimoji="0" lang="en-NG" sz="2200" b="0" i="0" u="none" strike="noStrike" kern="1200" cap="none" spc="0" normalizeH="0" baseline="0" noProof="0" dirty="0">
              <a:ln>
                <a:noFill/>
              </a:ln>
              <a:solidFill>
                <a:prstClr val="black"/>
              </a:solidFill>
              <a:effectLst/>
              <a:uLnTx/>
              <a:uFillTx/>
              <a:ea typeface="+mn-ea"/>
              <a:cs typeface="+mn-cs"/>
            </a:endParaRPr>
          </a:p>
          <a:p>
            <a:pPr marL="0" indent="0">
              <a:buNone/>
            </a:pPr>
            <a:endParaRPr lang="en-NG" dirty="0"/>
          </a:p>
        </p:txBody>
      </p:sp>
      <p:sp>
        <p:nvSpPr>
          <p:cNvPr id="4" name="Content Placeholder 3">
            <a:extLst>
              <a:ext uri="{FF2B5EF4-FFF2-40B4-BE49-F238E27FC236}">
                <a16:creationId xmlns:a16="http://schemas.microsoft.com/office/drawing/2014/main" id="{81F94487-E7E0-5A36-DC95-B8040A6050F5}"/>
              </a:ext>
            </a:extLst>
          </p:cNvPr>
          <p:cNvSpPr>
            <a:spLocks noGrp="1"/>
          </p:cNvSpPr>
          <p:nvPr>
            <p:ph sz="half" idx="2"/>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200" b="0" i="0" u="sng" strike="noStrike" kern="1200" cap="none" spc="0" normalizeH="0" baseline="0" noProof="0" dirty="0">
                <a:ln>
                  <a:noFill/>
                </a:ln>
                <a:solidFill>
                  <a:prstClr val="black"/>
                </a:solidFill>
                <a:effectLst/>
                <a:uLnTx/>
                <a:uFillTx/>
                <a:ea typeface="+mn-ea"/>
                <a:cs typeface="+mn-cs"/>
              </a:rPr>
              <a:t>Innervation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200" b="0" i="0" u="none" strike="noStrike" kern="1200" cap="none" spc="0" normalizeH="0" baseline="0" noProof="0" dirty="0">
                <a:ln>
                  <a:noFill/>
                </a:ln>
                <a:solidFill>
                  <a:prstClr val="black"/>
                </a:solidFill>
                <a:effectLst/>
                <a:uLnTx/>
                <a:uFillTx/>
                <a:ea typeface="+mn-ea"/>
                <a:cs typeface="+mn-cs"/>
              </a:rPr>
              <a:t>Median nerve supplies medial 3 1/2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200" b="0" i="0" u="none" strike="noStrike" kern="1200" cap="none" spc="0" normalizeH="0" baseline="0" noProof="0" dirty="0">
                <a:ln>
                  <a:noFill/>
                </a:ln>
                <a:solidFill>
                  <a:prstClr val="black"/>
                </a:solidFill>
                <a:effectLst/>
                <a:uLnTx/>
                <a:uFillTx/>
                <a:ea typeface="+mn-ea"/>
                <a:cs typeface="+mn-cs"/>
              </a:rPr>
              <a:t>Ulnar nerve supplies lateral 1 1/2</a:t>
            </a:r>
            <a:endParaRPr kumimoji="0" lang="en-NG" sz="2200" b="0" i="0" u="none" strike="noStrike" kern="1200" cap="none" spc="0" normalizeH="0" baseline="0" noProof="0" dirty="0">
              <a:ln>
                <a:noFill/>
              </a:ln>
              <a:solidFill>
                <a:prstClr val="black"/>
              </a:solidFill>
              <a:effectLst/>
              <a:uLnTx/>
              <a:uFillTx/>
              <a:ea typeface="+mn-ea"/>
              <a:cs typeface="+mn-cs"/>
            </a:endParaRPr>
          </a:p>
          <a:p>
            <a:pPr marL="0" indent="0">
              <a:buNone/>
            </a:pPr>
            <a:endParaRPr lang="en-NG" dirty="0"/>
          </a:p>
        </p:txBody>
      </p:sp>
      <p:sp>
        <p:nvSpPr>
          <p:cNvPr id="5" name="Date Placeholder 4">
            <a:extLst>
              <a:ext uri="{FF2B5EF4-FFF2-40B4-BE49-F238E27FC236}">
                <a16:creationId xmlns:a16="http://schemas.microsoft.com/office/drawing/2014/main" id="{8CFC7F25-AECA-A514-E1CA-371B7C134247}"/>
              </a:ext>
            </a:extLst>
          </p:cNvPr>
          <p:cNvSpPr>
            <a:spLocks noGrp="1"/>
          </p:cNvSpPr>
          <p:nvPr>
            <p:ph type="dt" sz="half" idx="10"/>
          </p:nvPr>
        </p:nvSpPr>
        <p:spPr/>
        <p:txBody>
          <a:bodyPr/>
          <a:lstStyle/>
          <a:p>
            <a:fld id="{442A570A-AF3E-43AC-A005-1E0AE4D22994}" type="datetime8">
              <a:rPr lang="en-NG" smtClean="0"/>
              <a:t>18/10/2026 08:13</a:t>
            </a:fld>
            <a:endParaRPr lang="en-NG"/>
          </a:p>
        </p:txBody>
      </p:sp>
      <p:sp>
        <p:nvSpPr>
          <p:cNvPr id="6" name="Slide Number Placeholder 5">
            <a:extLst>
              <a:ext uri="{FF2B5EF4-FFF2-40B4-BE49-F238E27FC236}">
                <a16:creationId xmlns:a16="http://schemas.microsoft.com/office/drawing/2014/main" id="{251D016B-A8B2-EA35-6EBF-05A4666AFC25}"/>
              </a:ext>
            </a:extLst>
          </p:cNvPr>
          <p:cNvSpPr>
            <a:spLocks noGrp="1"/>
          </p:cNvSpPr>
          <p:nvPr>
            <p:ph type="sldNum" sz="quarter" idx="12"/>
          </p:nvPr>
        </p:nvSpPr>
        <p:spPr/>
        <p:txBody>
          <a:bodyPr/>
          <a:lstStyle/>
          <a:p>
            <a:fld id="{AF15468F-FAE6-4D8E-9204-DF6230E3F4CD}" type="slidenum">
              <a:rPr lang="en-NG" smtClean="0"/>
              <a:t>25</a:t>
            </a:fld>
            <a:endParaRPr lang="en-NG"/>
          </a:p>
        </p:txBody>
      </p:sp>
    </p:spTree>
    <p:extLst>
      <p:ext uri="{BB962C8B-B14F-4D97-AF65-F5344CB8AC3E}">
        <p14:creationId xmlns:p14="http://schemas.microsoft.com/office/powerpoint/2010/main" val="282984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47049-FB59-A276-D55C-438677ADAB65}"/>
              </a:ext>
            </a:extLst>
          </p:cNvPr>
          <p:cNvSpPr>
            <a:spLocks noGrp="1"/>
          </p:cNvSpPr>
          <p:nvPr>
            <p:ph type="title"/>
          </p:nvPr>
        </p:nvSpPr>
        <p:spPr/>
        <p:txBody>
          <a:bodyPr/>
          <a:lstStyle/>
          <a:p>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Forearm- Posterior compartment</a:t>
            </a:r>
            <a:endParaRPr lang="en-NG" dirty="0"/>
          </a:p>
        </p:txBody>
      </p:sp>
      <p:sp>
        <p:nvSpPr>
          <p:cNvPr id="3" name="Content Placeholder 2">
            <a:extLst>
              <a:ext uri="{FF2B5EF4-FFF2-40B4-BE49-F238E27FC236}">
                <a16:creationId xmlns:a16="http://schemas.microsoft.com/office/drawing/2014/main" id="{BF204233-0570-A031-98E9-4DAAEB106F38}"/>
              </a:ext>
            </a:extLst>
          </p:cNvPr>
          <p:cNvSpPr>
            <a:spLocks noGrp="1"/>
          </p:cNvSpPr>
          <p:nvPr>
            <p:ph sz="half" idx="1"/>
          </p:nvPr>
        </p:nvSpPr>
        <p:spPr/>
        <p:txBody>
          <a:bodyPr>
            <a:normAutofit fontScale="85000" lnSpcReduction="20000"/>
          </a:bodyPr>
          <a:lstStyle/>
          <a:p>
            <a:r>
              <a:rPr lang="en-GB" dirty="0"/>
              <a:t>Also termed extensor-supinator compartment</a:t>
            </a:r>
          </a:p>
          <a:p>
            <a:r>
              <a:rPr lang="en-GB" dirty="0"/>
              <a:t>Contains the extensor group of muscles responsible for the supination of the forearm</a:t>
            </a:r>
          </a:p>
          <a:p>
            <a:r>
              <a:rPr lang="en-GB" dirty="0"/>
              <a:t>These muscles are divided into 3 groups based on their action or function</a:t>
            </a:r>
          </a:p>
          <a:p>
            <a:r>
              <a:rPr lang="en-GB" dirty="0"/>
              <a:t>They originate from their common extensor origin (lateral epicondyle of the humerus)</a:t>
            </a:r>
          </a:p>
          <a:p>
            <a:r>
              <a:rPr lang="en-GB" dirty="0"/>
              <a:t>All supplied by the radial nerve</a:t>
            </a:r>
            <a:endParaRPr lang="en-NG" dirty="0"/>
          </a:p>
          <a:p>
            <a:pPr marL="0" indent="0">
              <a:buNone/>
            </a:pPr>
            <a:endParaRPr lang="en-NG" dirty="0"/>
          </a:p>
        </p:txBody>
      </p:sp>
      <p:sp>
        <p:nvSpPr>
          <p:cNvPr id="4" name="Content Placeholder 3">
            <a:extLst>
              <a:ext uri="{FF2B5EF4-FFF2-40B4-BE49-F238E27FC236}">
                <a16:creationId xmlns:a16="http://schemas.microsoft.com/office/drawing/2014/main" id="{69A4919E-A1B7-5C17-DE89-236992457A4E}"/>
              </a:ext>
            </a:extLst>
          </p:cNvPr>
          <p:cNvSpPr>
            <a:spLocks noGrp="1"/>
          </p:cNvSpPr>
          <p:nvPr>
            <p:ph sz="half" idx="2"/>
          </p:nvPr>
        </p:nvSpPr>
        <p:spPr/>
        <p:txBody>
          <a:bodyPr>
            <a:normAutofit fontScale="85000" lnSpcReduction="20000"/>
          </a:bodyPr>
          <a:lstStyle/>
          <a:p>
            <a:r>
              <a:rPr lang="en-GB" dirty="0"/>
              <a:t>Muscles that extend and abduct or adduct the hand at the wrist joint:</a:t>
            </a:r>
          </a:p>
          <a:p>
            <a:r>
              <a:rPr lang="en-GB" dirty="0"/>
              <a:t>extensor carpi radialis longus, extensor carpi radialis brevis, and extensor carpi </a:t>
            </a:r>
            <a:r>
              <a:rPr lang="en-GB" dirty="0" err="1"/>
              <a:t>ulnaris</a:t>
            </a:r>
            <a:endParaRPr lang="en-GB" dirty="0"/>
          </a:p>
          <a:p>
            <a:r>
              <a:rPr lang="en-GB" dirty="0"/>
              <a:t>Muscles that extend the medial four digits: </a:t>
            </a:r>
          </a:p>
          <a:p>
            <a:r>
              <a:rPr lang="en-GB" dirty="0"/>
              <a:t>extensor digitorum, extensor indicis, and extensor digiti </a:t>
            </a:r>
            <a:r>
              <a:rPr lang="en-GB" dirty="0" err="1"/>
              <a:t>minimi</a:t>
            </a:r>
            <a:endParaRPr lang="en-GB" dirty="0"/>
          </a:p>
          <a:p>
            <a:r>
              <a:rPr lang="en-GB" dirty="0"/>
              <a:t>Muscles that extend or abduct the thumb: </a:t>
            </a:r>
          </a:p>
          <a:p>
            <a:r>
              <a:rPr lang="en-GB" dirty="0"/>
              <a:t>abductor pollicis longus (APL), extensor pollicis brevis (EPB), and extensor pollicis longus (EPL)</a:t>
            </a:r>
            <a:endParaRPr lang="en-NG" dirty="0"/>
          </a:p>
          <a:p>
            <a:pPr marL="0" indent="0">
              <a:buNone/>
            </a:pPr>
            <a:endParaRPr lang="en-NG" dirty="0"/>
          </a:p>
        </p:txBody>
      </p:sp>
      <p:sp>
        <p:nvSpPr>
          <p:cNvPr id="5" name="Date Placeholder 4">
            <a:extLst>
              <a:ext uri="{FF2B5EF4-FFF2-40B4-BE49-F238E27FC236}">
                <a16:creationId xmlns:a16="http://schemas.microsoft.com/office/drawing/2014/main" id="{AB224BF8-7160-4C2F-A308-8E96E7659400}"/>
              </a:ext>
            </a:extLst>
          </p:cNvPr>
          <p:cNvSpPr>
            <a:spLocks noGrp="1"/>
          </p:cNvSpPr>
          <p:nvPr>
            <p:ph type="dt" sz="half" idx="10"/>
          </p:nvPr>
        </p:nvSpPr>
        <p:spPr/>
        <p:txBody>
          <a:bodyPr/>
          <a:lstStyle/>
          <a:p>
            <a:fld id="{787AFB4A-7DA8-40CF-AD69-8653A7318059}" type="datetime8">
              <a:rPr lang="en-NG" smtClean="0"/>
              <a:t>18/10/2026 08:13</a:t>
            </a:fld>
            <a:endParaRPr lang="en-NG"/>
          </a:p>
        </p:txBody>
      </p:sp>
      <p:sp>
        <p:nvSpPr>
          <p:cNvPr id="6" name="Slide Number Placeholder 5">
            <a:extLst>
              <a:ext uri="{FF2B5EF4-FFF2-40B4-BE49-F238E27FC236}">
                <a16:creationId xmlns:a16="http://schemas.microsoft.com/office/drawing/2014/main" id="{7019D3C3-EDD3-7039-5B2B-53843B6BB6AD}"/>
              </a:ext>
            </a:extLst>
          </p:cNvPr>
          <p:cNvSpPr>
            <a:spLocks noGrp="1"/>
          </p:cNvSpPr>
          <p:nvPr>
            <p:ph type="sldNum" sz="quarter" idx="12"/>
          </p:nvPr>
        </p:nvSpPr>
        <p:spPr/>
        <p:txBody>
          <a:bodyPr/>
          <a:lstStyle/>
          <a:p>
            <a:fld id="{AF15468F-FAE6-4D8E-9204-DF6230E3F4CD}" type="slidenum">
              <a:rPr lang="en-NG" smtClean="0"/>
              <a:t>26</a:t>
            </a:fld>
            <a:endParaRPr lang="en-NG"/>
          </a:p>
        </p:txBody>
      </p:sp>
    </p:spTree>
    <p:extLst>
      <p:ext uri="{BB962C8B-B14F-4D97-AF65-F5344CB8AC3E}">
        <p14:creationId xmlns:p14="http://schemas.microsoft.com/office/powerpoint/2010/main" val="714765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AEE30-6D0D-8802-F5D2-AF5B371F2251}"/>
              </a:ext>
            </a:extLst>
          </p:cNvPr>
          <p:cNvSpPr>
            <a:spLocks noGrp="1"/>
          </p:cNvSpPr>
          <p:nvPr>
            <p:ph type="title"/>
          </p:nvPr>
        </p:nvSpPr>
        <p:spPr/>
        <p:txBody>
          <a:bodyPr/>
          <a:lstStyle/>
          <a:p>
            <a:r>
              <a:rPr kumimoji="0" lang="en-GB" sz="4400" b="0" i="0" u="none" strike="noStrike" kern="1200" cap="none" spc="0" normalizeH="0" baseline="0" noProof="0" dirty="0">
                <a:ln>
                  <a:noFill/>
                </a:ln>
                <a:solidFill>
                  <a:prstClr val="black"/>
                </a:solidFill>
                <a:effectLst/>
                <a:uLnTx/>
                <a:uFillTx/>
                <a:latin typeface="Calibri Light" panose="020F0302020204030204"/>
                <a:ea typeface="+mj-ea"/>
                <a:cs typeface="+mj-cs"/>
              </a:rPr>
              <a:t>Forearm- clinicals</a:t>
            </a:r>
            <a:endParaRPr lang="en-NG" dirty="0"/>
          </a:p>
        </p:txBody>
      </p:sp>
      <p:sp>
        <p:nvSpPr>
          <p:cNvPr id="3" name="Content Placeholder 2">
            <a:extLst>
              <a:ext uri="{FF2B5EF4-FFF2-40B4-BE49-F238E27FC236}">
                <a16:creationId xmlns:a16="http://schemas.microsoft.com/office/drawing/2014/main" id="{162C9252-B6E6-B0F9-3CC6-A29973765838}"/>
              </a:ext>
            </a:extLst>
          </p:cNvPr>
          <p:cNvSpPr>
            <a:spLocks noGrp="1"/>
          </p:cNvSpPr>
          <p:nvPr>
            <p:ph sz="half" idx="1"/>
          </p:nvPr>
        </p:nvSpPr>
        <p:spPr/>
        <p:txBody>
          <a:bodyPr>
            <a:normAutofit fontScale="925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600" b="0" i="0" u="sng" strike="noStrike" kern="1200" cap="none" spc="0" normalizeH="0" baseline="0" noProof="0" dirty="0">
                <a:ln>
                  <a:noFill/>
                </a:ln>
                <a:solidFill>
                  <a:prstClr val="black"/>
                </a:solidFill>
                <a:effectLst/>
                <a:uLnTx/>
                <a:uFillTx/>
                <a:ea typeface="+mn-ea"/>
                <a:cs typeface="+mn-cs"/>
              </a:rPr>
              <a:t>Carpal tunnel syndrome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ea typeface="+mn-ea"/>
                <a:cs typeface="+mn-cs"/>
              </a:rPr>
              <a:t>The tunnel is formed btw the carpal bones (pisiform and hamate medially as well as scaphoid and trapezoid laterally)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ea typeface="+mn-ea"/>
                <a:cs typeface="+mn-cs"/>
              </a:rPr>
              <a:t>Carpal bones are overlaid by the flexor retinaculum which converts it into a tunnel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ea typeface="+mn-ea"/>
                <a:cs typeface="+mn-cs"/>
              </a:rPr>
              <a:t>Flexor tendons run under (FDP) and above it (FDS)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prstClr val="black"/>
                </a:solidFill>
                <a:effectLst/>
                <a:uLnTx/>
                <a:uFillTx/>
                <a:ea typeface="+mn-ea"/>
                <a:cs typeface="+mn-cs"/>
              </a:rPr>
              <a:t>Compression of the median nerve within this tunnel following trauma leads to median nerve palsy</a:t>
            </a:r>
            <a:endParaRPr kumimoji="0" lang="en-NG" sz="2600" b="0" i="0" u="none" strike="noStrike" kern="1200" cap="none" spc="0" normalizeH="0" baseline="0" noProof="0" dirty="0">
              <a:ln>
                <a:noFill/>
              </a:ln>
              <a:solidFill>
                <a:prstClr val="black"/>
              </a:solidFill>
              <a:effectLst/>
              <a:uLnTx/>
              <a:uFillTx/>
              <a:ea typeface="+mn-ea"/>
              <a:cs typeface="+mn-cs"/>
            </a:endParaRPr>
          </a:p>
          <a:p>
            <a:pPr marL="0" indent="0">
              <a:buNone/>
            </a:pPr>
            <a:endParaRPr lang="en-NG" dirty="0"/>
          </a:p>
        </p:txBody>
      </p:sp>
      <p:sp>
        <p:nvSpPr>
          <p:cNvPr id="4" name="Content Placeholder 3">
            <a:extLst>
              <a:ext uri="{FF2B5EF4-FFF2-40B4-BE49-F238E27FC236}">
                <a16:creationId xmlns:a16="http://schemas.microsoft.com/office/drawing/2014/main" id="{90E8CE0F-B81A-0F0F-57E8-FFF6A91B668F}"/>
              </a:ext>
            </a:extLst>
          </p:cNvPr>
          <p:cNvSpPr>
            <a:spLocks noGrp="1"/>
          </p:cNvSpPr>
          <p:nvPr>
            <p:ph sz="half" idx="2"/>
          </p:nvPr>
        </p:nvSpPr>
        <p:spPr/>
        <p:txBody>
          <a:bodyPr>
            <a:normAutofit fontScale="92500" lnSpcReduction="20000"/>
          </a:bodyPr>
          <a:lstStyle/>
          <a:p>
            <a:pPr>
              <a:buFont typeface="Wingdings" panose="05000000000000000000" pitchFamily="2" charset="2"/>
              <a:buChar char="q"/>
            </a:pPr>
            <a:r>
              <a:rPr kumimoji="0" lang="en-GB" sz="3600" b="0" i="0" u="none" strike="noStrike" kern="1200" cap="none" spc="0" normalizeH="0" baseline="0" noProof="0" dirty="0">
                <a:ln>
                  <a:noFill/>
                </a:ln>
                <a:solidFill>
                  <a:prstClr val="black"/>
                </a:solidFill>
                <a:effectLst/>
                <a:uLnTx/>
                <a:uFillTx/>
                <a:latin typeface="Calibri Light" panose="020F0302020204030204"/>
                <a:ea typeface="+mj-ea"/>
                <a:cs typeface="+mj-cs"/>
              </a:rPr>
              <a:t>Forearm – Blood supply</a:t>
            </a:r>
          </a:p>
          <a:p>
            <a:pPr>
              <a:buFont typeface="Wingdings" panose="05000000000000000000" pitchFamily="2" charset="2"/>
              <a:buChar char="ü"/>
            </a:pPr>
            <a:r>
              <a:rPr lang="en-GB" sz="2600" dirty="0"/>
              <a:t>The brachial artery ends in the distal part of the cubital fossa opposite the neck of the radius by dividing into the ulnar and radial arteries, the main arteries of the forearm </a:t>
            </a:r>
          </a:p>
          <a:p>
            <a:pPr marL="0" indent="0">
              <a:buNone/>
            </a:pPr>
            <a:endParaRPr lang="en-GB" sz="2600" dirty="0"/>
          </a:p>
          <a:p>
            <a:pPr>
              <a:buFont typeface="Wingdings" panose="05000000000000000000" pitchFamily="2" charset="2"/>
              <a:buChar char="ü"/>
            </a:pPr>
            <a:r>
              <a:rPr lang="en-GB" sz="2600" dirty="0"/>
              <a:t>The ulnar artery descends through the anterior (flexor-pronator) compartment of the forearm, deep to the pronator teres</a:t>
            </a:r>
          </a:p>
          <a:p>
            <a:endParaRPr lang="en-NG" sz="2000" dirty="0"/>
          </a:p>
        </p:txBody>
      </p:sp>
      <p:sp>
        <p:nvSpPr>
          <p:cNvPr id="5" name="Date Placeholder 4">
            <a:extLst>
              <a:ext uri="{FF2B5EF4-FFF2-40B4-BE49-F238E27FC236}">
                <a16:creationId xmlns:a16="http://schemas.microsoft.com/office/drawing/2014/main" id="{BFD7C0C6-4CAB-FE49-69FE-FDEAA686761B}"/>
              </a:ext>
            </a:extLst>
          </p:cNvPr>
          <p:cNvSpPr>
            <a:spLocks noGrp="1"/>
          </p:cNvSpPr>
          <p:nvPr>
            <p:ph type="dt" sz="half" idx="10"/>
          </p:nvPr>
        </p:nvSpPr>
        <p:spPr/>
        <p:txBody>
          <a:bodyPr/>
          <a:lstStyle/>
          <a:p>
            <a:fld id="{016AA468-E9DA-47A3-B16F-C73A9E158FFA}" type="datetime8">
              <a:rPr lang="en-NG" smtClean="0"/>
              <a:t>18/10/2026 08:13</a:t>
            </a:fld>
            <a:endParaRPr lang="en-NG"/>
          </a:p>
        </p:txBody>
      </p:sp>
      <p:sp>
        <p:nvSpPr>
          <p:cNvPr id="6" name="Slide Number Placeholder 5">
            <a:extLst>
              <a:ext uri="{FF2B5EF4-FFF2-40B4-BE49-F238E27FC236}">
                <a16:creationId xmlns:a16="http://schemas.microsoft.com/office/drawing/2014/main" id="{99167B6A-23ED-0C79-209B-8FACB3070D29}"/>
              </a:ext>
            </a:extLst>
          </p:cNvPr>
          <p:cNvSpPr>
            <a:spLocks noGrp="1"/>
          </p:cNvSpPr>
          <p:nvPr>
            <p:ph type="sldNum" sz="quarter" idx="12"/>
          </p:nvPr>
        </p:nvSpPr>
        <p:spPr/>
        <p:txBody>
          <a:bodyPr/>
          <a:lstStyle/>
          <a:p>
            <a:fld id="{AF15468F-FAE6-4D8E-9204-DF6230E3F4CD}" type="slidenum">
              <a:rPr lang="en-NG" smtClean="0"/>
              <a:t>27</a:t>
            </a:fld>
            <a:endParaRPr lang="en-NG"/>
          </a:p>
        </p:txBody>
      </p:sp>
    </p:spTree>
    <p:extLst>
      <p:ext uri="{BB962C8B-B14F-4D97-AF65-F5344CB8AC3E}">
        <p14:creationId xmlns:p14="http://schemas.microsoft.com/office/powerpoint/2010/main" val="3899234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36FB8-6344-44D2-9802-F4B707844416}"/>
              </a:ext>
            </a:extLst>
          </p:cNvPr>
          <p:cNvSpPr>
            <a:spLocks noGrp="1"/>
          </p:cNvSpPr>
          <p:nvPr>
            <p:ph type="title"/>
          </p:nvPr>
        </p:nvSpPr>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br>
              <a:rPr kumimoji="0" lang="en-GB" sz="3300" b="1" i="0" u="none" strike="noStrike" kern="1200" cap="none" spc="0" normalizeH="0" baseline="0" noProof="0" dirty="0">
                <a:ln>
                  <a:noFill/>
                </a:ln>
                <a:solidFill>
                  <a:prstClr val="black"/>
                </a:solidFill>
                <a:effectLst/>
                <a:uLnTx/>
                <a:uFillTx/>
                <a:latin typeface="+mn-lt"/>
                <a:ea typeface="+mn-ea"/>
                <a:cs typeface="+mn-cs"/>
              </a:rPr>
            </a:br>
            <a:br>
              <a:rPr kumimoji="0" lang="en-GB" sz="3300" b="1" i="0" u="none" strike="noStrike" kern="1200" cap="none" spc="0" normalizeH="0" baseline="0" noProof="0" dirty="0">
                <a:ln>
                  <a:noFill/>
                </a:ln>
                <a:solidFill>
                  <a:prstClr val="black"/>
                </a:solidFill>
                <a:effectLst/>
                <a:uLnTx/>
                <a:uFillTx/>
                <a:latin typeface="+mn-lt"/>
                <a:ea typeface="+mn-ea"/>
                <a:cs typeface="+mn-cs"/>
              </a:rPr>
            </a:br>
            <a:r>
              <a:rPr kumimoji="0" lang="en-GB" sz="3300" b="1" i="0" u="none" strike="noStrike" kern="1200" cap="none" spc="0" normalizeH="0" baseline="0" noProof="0" dirty="0">
                <a:ln>
                  <a:noFill/>
                </a:ln>
                <a:solidFill>
                  <a:prstClr val="black"/>
                </a:solidFill>
                <a:effectLst/>
                <a:uLnTx/>
                <a:uFillTx/>
                <a:latin typeface="+mn-lt"/>
                <a:ea typeface="+mn-ea"/>
                <a:cs typeface="+mn-cs"/>
              </a:rPr>
              <a:t>Forearm – Blood supply</a:t>
            </a:r>
            <a:br>
              <a:rPr kumimoji="0" lang="en-GB" sz="3300" b="0" i="0" u="none" strike="noStrike" kern="1200" cap="none" spc="0" normalizeH="0" baseline="0" noProof="0" dirty="0">
                <a:ln>
                  <a:noFill/>
                </a:ln>
                <a:solidFill>
                  <a:prstClr val="black"/>
                </a:solidFill>
                <a:effectLst/>
                <a:uLnTx/>
                <a:uFillTx/>
                <a:latin typeface="Calibri Light" panose="020F0302020204030204"/>
                <a:ea typeface="+mn-ea"/>
                <a:cs typeface="+mn-cs"/>
              </a:rPr>
            </a:br>
            <a:endParaRPr lang="en-NG" dirty="0"/>
          </a:p>
        </p:txBody>
      </p:sp>
      <p:sp>
        <p:nvSpPr>
          <p:cNvPr id="3" name="Content Placeholder 2">
            <a:extLst>
              <a:ext uri="{FF2B5EF4-FFF2-40B4-BE49-F238E27FC236}">
                <a16:creationId xmlns:a16="http://schemas.microsoft.com/office/drawing/2014/main" id="{92B08615-5D06-BDB9-C01E-2C7A69FBF24C}"/>
              </a:ext>
            </a:extLst>
          </p:cNvPr>
          <p:cNvSpPr>
            <a:spLocks noGrp="1"/>
          </p:cNvSpPr>
          <p:nvPr>
            <p:ph sz="half" idx="1"/>
          </p:nvPr>
        </p:nvSpPr>
        <p:spPr/>
        <p:txBody>
          <a:bodyPr>
            <a:normAutofit fontScale="92500"/>
          </a:bodyPr>
          <a:lstStyle/>
          <a:p>
            <a:r>
              <a:rPr lang="en-GB" dirty="0"/>
              <a:t>Pulsations of the ulnar artery can be palpated on the lateral side of the FCU tendon, where it lies anterior to the ulnar head </a:t>
            </a:r>
          </a:p>
          <a:p>
            <a:r>
              <a:rPr lang="en-GB" dirty="0"/>
              <a:t>The ulnar nerve is on the medial side of the ulnar artery</a:t>
            </a:r>
            <a:endParaRPr lang="en-NG" dirty="0"/>
          </a:p>
          <a:p>
            <a:endParaRPr lang="en-NG" dirty="0"/>
          </a:p>
        </p:txBody>
      </p:sp>
      <p:sp>
        <p:nvSpPr>
          <p:cNvPr id="4" name="Content Placeholder 3">
            <a:extLst>
              <a:ext uri="{FF2B5EF4-FFF2-40B4-BE49-F238E27FC236}">
                <a16:creationId xmlns:a16="http://schemas.microsoft.com/office/drawing/2014/main" id="{2A7EB89D-2052-1349-CEAF-518033CA870D}"/>
              </a:ext>
            </a:extLst>
          </p:cNvPr>
          <p:cNvSpPr>
            <a:spLocks noGrp="1"/>
          </p:cNvSpPr>
          <p:nvPr>
            <p:ph sz="half" idx="2"/>
          </p:nvPr>
        </p:nvSpPr>
        <p:spPr/>
        <p:txBody>
          <a:bodyPr>
            <a:normAutofit fontScale="925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The radial artery leaves the forearm by winding around the lateral aspect of the wrist and crossing the floor of the anatomical snuff box to reach the hand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The pulsation of the radial artery is usually measured on the distal radius between the tendons of flexor carpi radialis and abductor pollicis longus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ea typeface="+mn-ea"/>
                <a:cs typeface="+mn-cs"/>
              </a:rPr>
              <a:t>There are superficial and deep veins in the forearm: superficial veins ascend in the subcutaneous tissue; deep veins accompany the deep arteries</a:t>
            </a:r>
            <a:endParaRPr kumimoji="0" lang="en-NG" sz="2400" b="0" i="0" u="none" strike="noStrike" kern="1200" cap="none" spc="0" normalizeH="0" baseline="0" noProof="0" dirty="0">
              <a:ln>
                <a:noFill/>
              </a:ln>
              <a:solidFill>
                <a:prstClr val="black"/>
              </a:solidFill>
              <a:effectLst/>
              <a:uLnTx/>
              <a:uFillTx/>
              <a:ea typeface="+mn-ea"/>
              <a:cs typeface="+mn-cs"/>
            </a:endParaRPr>
          </a:p>
          <a:p>
            <a:pPr marL="0" indent="0">
              <a:buNone/>
            </a:pPr>
            <a:endParaRPr lang="en-NG" dirty="0"/>
          </a:p>
        </p:txBody>
      </p:sp>
      <p:sp>
        <p:nvSpPr>
          <p:cNvPr id="5" name="Date Placeholder 4">
            <a:extLst>
              <a:ext uri="{FF2B5EF4-FFF2-40B4-BE49-F238E27FC236}">
                <a16:creationId xmlns:a16="http://schemas.microsoft.com/office/drawing/2014/main" id="{43300A60-1A36-B639-67FA-391524EC0E09}"/>
              </a:ext>
            </a:extLst>
          </p:cNvPr>
          <p:cNvSpPr>
            <a:spLocks noGrp="1"/>
          </p:cNvSpPr>
          <p:nvPr>
            <p:ph type="dt" sz="half" idx="10"/>
          </p:nvPr>
        </p:nvSpPr>
        <p:spPr/>
        <p:txBody>
          <a:bodyPr/>
          <a:lstStyle/>
          <a:p>
            <a:fld id="{EAEE2291-55CA-463E-97CB-4A22BBA344E8}" type="datetime8">
              <a:rPr lang="en-NG" smtClean="0"/>
              <a:t>18/10/2026 08:13</a:t>
            </a:fld>
            <a:endParaRPr lang="en-NG"/>
          </a:p>
        </p:txBody>
      </p:sp>
      <p:sp>
        <p:nvSpPr>
          <p:cNvPr id="6" name="Slide Number Placeholder 5">
            <a:extLst>
              <a:ext uri="{FF2B5EF4-FFF2-40B4-BE49-F238E27FC236}">
                <a16:creationId xmlns:a16="http://schemas.microsoft.com/office/drawing/2014/main" id="{10662521-E880-072E-F81B-C1DEB55613C2}"/>
              </a:ext>
            </a:extLst>
          </p:cNvPr>
          <p:cNvSpPr>
            <a:spLocks noGrp="1"/>
          </p:cNvSpPr>
          <p:nvPr>
            <p:ph type="sldNum" sz="quarter" idx="12"/>
          </p:nvPr>
        </p:nvSpPr>
        <p:spPr/>
        <p:txBody>
          <a:bodyPr/>
          <a:lstStyle/>
          <a:p>
            <a:fld id="{AF15468F-FAE6-4D8E-9204-DF6230E3F4CD}" type="slidenum">
              <a:rPr lang="en-NG" smtClean="0"/>
              <a:t>28</a:t>
            </a:fld>
            <a:endParaRPr lang="en-NG"/>
          </a:p>
        </p:txBody>
      </p:sp>
    </p:spTree>
    <p:extLst>
      <p:ext uri="{BB962C8B-B14F-4D97-AF65-F5344CB8AC3E}">
        <p14:creationId xmlns:p14="http://schemas.microsoft.com/office/powerpoint/2010/main" val="3428357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54E1A-61E0-8596-FD6C-FDC8C7FA9EFA}"/>
              </a:ext>
            </a:extLst>
          </p:cNvPr>
          <p:cNvSpPr>
            <a:spLocks noGrp="1"/>
          </p:cNvSpPr>
          <p:nvPr>
            <p:ph type="title"/>
          </p:nvPr>
        </p:nvSpPr>
        <p:spPr/>
        <p:txBody>
          <a:bodyPr/>
          <a:lstStyle/>
          <a:p>
            <a:r>
              <a:rPr lang="en-US" dirty="0"/>
              <a:t>Blood supply to the Upper limbs</a:t>
            </a:r>
            <a:endParaRPr lang="en-NG" dirty="0"/>
          </a:p>
        </p:txBody>
      </p:sp>
      <p:pic>
        <p:nvPicPr>
          <p:cNvPr id="5" name="Content Placeholder 4" descr="Blood Supply of the Upper Limb | Anatomy | Geeky Medics">
            <a:extLst>
              <a:ext uri="{FF2B5EF4-FFF2-40B4-BE49-F238E27FC236}">
                <a16:creationId xmlns:a16="http://schemas.microsoft.com/office/drawing/2014/main" id="{5745685C-667E-4417-320A-AE2E71F1CFF5}"/>
              </a:ext>
            </a:extLst>
          </p:cNvPr>
          <p:cNvPicPr>
            <a:picLocks noGrp="1" noChangeAspect="1"/>
          </p:cNvPicPr>
          <p:nvPr>
            <p:ph sz="half" idx="1"/>
          </p:nvPr>
        </p:nvPicPr>
        <p:blipFill>
          <a:blip r:embed="rId2"/>
          <a:stretch>
            <a:fillRect/>
          </a:stretch>
        </p:blipFill>
        <p:spPr>
          <a:xfrm>
            <a:off x="1573967" y="1825625"/>
            <a:ext cx="3083090" cy="4351338"/>
          </a:xfrm>
          <a:prstGeom prst="rect">
            <a:avLst/>
          </a:prstGeom>
        </p:spPr>
      </p:pic>
      <p:pic>
        <p:nvPicPr>
          <p:cNvPr id="6" name="Content Placeholder 5" descr="Blood Supply to Hand - Hand - Orthobullets">
            <a:extLst>
              <a:ext uri="{FF2B5EF4-FFF2-40B4-BE49-F238E27FC236}">
                <a16:creationId xmlns:a16="http://schemas.microsoft.com/office/drawing/2014/main" id="{5328E1BE-975B-0CCC-5F53-84946560343C}"/>
              </a:ext>
            </a:extLst>
          </p:cNvPr>
          <p:cNvPicPr>
            <a:picLocks noGrp="1" noChangeAspect="1"/>
          </p:cNvPicPr>
          <p:nvPr>
            <p:ph sz="half" idx="2"/>
          </p:nvPr>
        </p:nvPicPr>
        <p:blipFill>
          <a:blip r:embed="rId3"/>
          <a:stretch>
            <a:fillRect/>
          </a:stretch>
        </p:blipFill>
        <p:spPr>
          <a:xfrm>
            <a:off x="7064602" y="1825625"/>
            <a:ext cx="3396795" cy="4351338"/>
          </a:xfrm>
          <a:prstGeom prst="rect">
            <a:avLst/>
          </a:prstGeom>
        </p:spPr>
      </p:pic>
      <p:sp>
        <p:nvSpPr>
          <p:cNvPr id="3" name="Date Placeholder 2">
            <a:extLst>
              <a:ext uri="{FF2B5EF4-FFF2-40B4-BE49-F238E27FC236}">
                <a16:creationId xmlns:a16="http://schemas.microsoft.com/office/drawing/2014/main" id="{ED0037A2-DA4E-042B-C156-204D7DBC1329}"/>
              </a:ext>
            </a:extLst>
          </p:cNvPr>
          <p:cNvSpPr>
            <a:spLocks noGrp="1"/>
          </p:cNvSpPr>
          <p:nvPr>
            <p:ph type="dt" sz="half" idx="10"/>
          </p:nvPr>
        </p:nvSpPr>
        <p:spPr/>
        <p:txBody>
          <a:bodyPr/>
          <a:lstStyle/>
          <a:p>
            <a:fld id="{729D0CD2-1207-4FEA-B89F-4E82EF6B1B67}" type="datetime8">
              <a:rPr lang="en-NG" smtClean="0"/>
              <a:t>18/10/2026 08:13</a:t>
            </a:fld>
            <a:endParaRPr lang="en-NG"/>
          </a:p>
        </p:txBody>
      </p:sp>
      <p:sp>
        <p:nvSpPr>
          <p:cNvPr id="4" name="Slide Number Placeholder 3">
            <a:extLst>
              <a:ext uri="{FF2B5EF4-FFF2-40B4-BE49-F238E27FC236}">
                <a16:creationId xmlns:a16="http://schemas.microsoft.com/office/drawing/2014/main" id="{D66337D5-C91B-34F9-6CFD-38DFC6E2F7A6}"/>
              </a:ext>
            </a:extLst>
          </p:cNvPr>
          <p:cNvSpPr>
            <a:spLocks noGrp="1"/>
          </p:cNvSpPr>
          <p:nvPr>
            <p:ph type="sldNum" sz="quarter" idx="12"/>
          </p:nvPr>
        </p:nvSpPr>
        <p:spPr/>
        <p:txBody>
          <a:bodyPr/>
          <a:lstStyle/>
          <a:p>
            <a:fld id="{AF15468F-FAE6-4D8E-9204-DF6230E3F4CD}" type="slidenum">
              <a:rPr lang="en-NG" smtClean="0"/>
              <a:t>29</a:t>
            </a:fld>
            <a:endParaRPr lang="en-NG"/>
          </a:p>
        </p:txBody>
      </p:sp>
    </p:spTree>
    <p:extLst>
      <p:ext uri="{BB962C8B-B14F-4D97-AF65-F5344CB8AC3E}">
        <p14:creationId xmlns:p14="http://schemas.microsoft.com/office/powerpoint/2010/main" val="2064157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E1038-E154-85A0-AF66-108FAAB4E558}"/>
              </a:ext>
            </a:extLst>
          </p:cNvPr>
          <p:cNvSpPr>
            <a:spLocks noGrp="1"/>
          </p:cNvSpPr>
          <p:nvPr>
            <p:ph type="title"/>
          </p:nvPr>
        </p:nvSpPr>
        <p:spPr/>
        <p:txBody>
          <a:bodyPr/>
          <a:lstStyle/>
          <a:p>
            <a:r>
              <a:rPr lang="en-US" dirty="0"/>
              <a:t>The hand</a:t>
            </a:r>
            <a:endParaRPr lang="en-NG" dirty="0"/>
          </a:p>
        </p:txBody>
      </p:sp>
      <p:sp>
        <p:nvSpPr>
          <p:cNvPr id="3" name="Content Placeholder 2">
            <a:extLst>
              <a:ext uri="{FF2B5EF4-FFF2-40B4-BE49-F238E27FC236}">
                <a16:creationId xmlns:a16="http://schemas.microsoft.com/office/drawing/2014/main" id="{F8B0341E-4416-6CB1-D1D6-B29600CB9D08}"/>
              </a:ext>
            </a:extLst>
          </p:cNvPr>
          <p:cNvSpPr>
            <a:spLocks noGrp="1"/>
          </p:cNvSpPr>
          <p:nvPr>
            <p:ph sz="half" idx="1"/>
          </p:nvPr>
        </p:nvSpPr>
        <p:spPr/>
        <p:txBody>
          <a:bodyPr>
            <a:normAutofit fontScale="85000" lnSpcReduction="20000"/>
          </a:bodyPr>
          <a:lstStyle/>
          <a:p>
            <a:r>
              <a:rPr lang="en-US" dirty="0"/>
              <a:t>The hand is a musculoskeletal region </a:t>
            </a:r>
          </a:p>
          <a:p>
            <a:r>
              <a:rPr lang="en-US" dirty="0"/>
              <a:t>It consists of 8 carpal bones, 5 metacarpals and 14 phalanges, as well muscles and tendons </a:t>
            </a:r>
          </a:p>
          <a:p>
            <a:r>
              <a:rPr lang="en-US" dirty="0"/>
              <a:t>Muscles: extrinsic and intrinsic groups</a:t>
            </a:r>
          </a:p>
          <a:p>
            <a:pPr>
              <a:buFont typeface="Wingdings" panose="05000000000000000000" pitchFamily="2" charset="2"/>
              <a:buChar char="q"/>
            </a:pPr>
            <a:r>
              <a:rPr lang="en-US" dirty="0"/>
              <a:t>The extrinsic groups arise from both medial (flexors) and lateral (extensors) epicondyles</a:t>
            </a:r>
          </a:p>
          <a:p>
            <a:pPr>
              <a:buFont typeface="Wingdings" panose="05000000000000000000" pitchFamily="2" charset="2"/>
              <a:buChar char="ü"/>
            </a:pPr>
            <a:r>
              <a:rPr lang="en-US" dirty="0"/>
              <a:t>They cross the wrist through the carpal tunnel deep to the flexor retinaculum </a:t>
            </a:r>
            <a:endParaRPr lang="en-NG" dirty="0"/>
          </a:p>
        </p:txBody>
      </p:sp>
      <p:sp>
        <p:nvSpPr>
          <p:cNvPr id="4" name="Content Placeholder 3">
            <a:extLst>
              <a:ext uri="{FF2B5EF4-FFF2-40B4-BE49-F238E27FC236}">
                <a16:creationId xmlns:a16="http://schemas.microsoft.com/office/drawing/2014/main" id="{4911F00C-50E8-AE9A-7B7F-90D8BEB1C911}"/>
              </a:ext>
            </a:extLst>
          </p:cNvPr>
          <p:cNvSpPr>
            <a:spLocks noGrp="1"/>
          </p:cNvSpPr>
          <p:nvPr>
            <p:ph sz="half" idx="2"/>
          </p:nvPr>
        </p:nvSpPr>
        <p:spPr/>
        <p:txBody>
          <a:bodyPr>
            <a:normAutofit fontScale="85000" lnSpcReduction="20000"/>
          </a:bodyPr>
          <a:lstStyle/>
          <a:p>
            <a:pPr>
              <a:buFont typeface="Wingdings" panose="05000000000000000000" pitchFamily="2" charset="2"/>
              <a:buChar char="q"/>
            </a:pPr>
            <a:r>
              <a:rPr lang="en-US" dirty="0"/>
              <a:t>The Intrinsic groups: </a:t>
            </a:r>
          </a:p>
          <a:p>
            <a:pPr>
              <a:buFont typeface="Wingdings" panose="05000000000000000000" pitchFamily="2" charset="2"/>
              <a:buChar char="ü"/>
            </a:pPr>
            <a:r>
              <a:rPr lang="en-US" dirty="0"/>
              <a:t>Thenar group: Form the base of the thumb (abductor pollicis brevis, flexor pollicis brevis, </a:t>
            </a:r>
            <a:r>
              <a:rPr lang="en-US" dirty="0" err="1"/>
              <a:t>opponens</a:t>
            </a:r>
            <a:r>
              <a:rPr lang="en-US" dirty="0"/>
              <a:t> pollicis)</a:t>
            </a:r>
          </a:p>
          <a:p>
            <a:pPr marL="0" indent="0">
              <a:buNone/>
            </a:pPr>
            <a:endParaRPr lang="en-US" dirty="0"/>
          </a:p>
          <a:p>
            <a:pPr>
              <a:buFont typeface="Wingdings" panose="05000000000000000000" pitchFamily="2" charset="2"/>
              <a:buChar char="ü"/>
            </a:pPr>
            <a:r>
              <a:rPr lang="en-US" dirty="0"/>
              <a:t>Hypothenar group: Form the base of the little finger (abductor, flexor, and </a:t>
            </a:r>
            <a:r>
              <a:rPr lang="en-US" dirty="0" err="1"/>
              <a:t>opponens</a:t>
            </a:r>
            <a:r>
              <a:rPr lang="en-US" dirty="0"/>
              <a:t> digiti </a:t>
            </a:r>
            <a:r>
              <a:rPr lang="en-US" dirty="0" err="1"/>
              <a:t>minimi</a:t>
            </a:r>
            <a:r>
              <a:rPr lang="en-US"/>
              <a:t>)</a:t>
            </a:r>
            <a:br>
              <a:rPr lang="en-US"/>
            </a:br>
            <a:endParaRPr lang="en-US" dirty="0"/>
          </a:p>
          <a:p>
            <a:pPr>
              <a:buFont typeface="Wingdings" panose="05000000000000000000" pitchFamily="2" charset="2"/>
              <a:buChar char="ü"/>
            </a:pPr>
            <a:r>
              <a:rPr lang="en-US" dirty="0" err="1"/>
              <a:t>Midpalmar</a:t>
            </a:r>
            <a:r>
              <a:rPr lang="en-US" dirty="0"/>
              <a:t> group: Includes the lumbricals and interossei (dorsal and palmar) </a:t>
            </a:r>
          </a:p>
          <a:p>
            <a:endParaRPr lang="en-NG" dirty="0"/>
          </a:p>
        </p:txBody>
      </p:sp>
      <p:sp>
        <p:nvSpPr>
          <p:cNvPr id="5" name="Date Placeholder 4">
            <a:extLst>
              <a:ext uri="{FF2B5EF4-FFF2-40B4-BE49-F238E27FC236}">
                <a16:creationId xmlns:a16="http://schemas.microsoft.com/office/drawing/2014/main" id="{A614E96D-4F15-2049-1A87-E00375C33767}"/>
              </a:ext>
            </a:extLst>
          </p:cNvPr>
          <p:cNvSpPr>
            <a:spLocks noGrp="1"/>
          </p:cNvSpPr>
          <p:nvPr>
            <p:ph type="dt" sz="half" idx="10"/>
          </p:nvPr>
        </p:nvSpPr>
        <p:spPr/>
        <p:txBody>
          <a:bodyPr/>
          <a:lstStyle/>
          <a:p>
            <a:fld id="{F7750FD3-23A1-496F-B898-A143C04B552C}" type="datetime8">
              <a:rPr lang="en-NG" smtClean="0"/>
              <a:t>18/10/2026 08:13</a:t>
            </a:fld>
            <a:endParaRPr lang="en-NG"/>
          </a:p>
        </p:txBody>
      </p:sp>
      <p:sp>
        <p:nvSpPr>
          <p:cNvPr id="6" name="Slide Number Placeholder 5">
            <a:extLst>
              <a:ext uri="{FF2B5EF4-FFF2-40B4-BE49-F238E27FC236}">
                <a16:creationId xmlns:a16="http://schemas.microsoft.com/office/drawing/2014/main" id="{13F7848E-CD11-9B66-96B9-B4CCD2FEAEAC}"/>
              </a:ext>
            </a:extLst>
          </p:cNvPr>
          <p:cNvSpPr>
            <a:spLocks noGrp="1"/>
          </p:cNvSpPr>
          <p:nvPr>
            <p:ph type="sldNum" sz="quarter" idx="12"/>
          </p:nvPr>
        </p:nvSpPr>
        <p:spPr/>
        <p:txBody>
          <a:bodyPr/>
          <a:lstStyle/>
          <a:p>
            <a:fld id="{AF15468F-FAE6-4D8E-9204-DF6230E3F4CD}" type="slidenum">
              <a:rPr lang="en-NG" smtClean="0"/>
              <a:t>30</a:t>
            </a:fld>
            <a:endParaRPr lang="en-NG"/>
          </a:p>
        </p:txBody>
      </p:sp>
    </p:spTree>
    <p:extLst>
      <p:ext uri="{BB962C8B-B14F-4D97-AF65-F5344CB8AC3E}">
        <p14:creationId xmlns:p14="http://schemas.microsoft.com/office/powerpoint/2010/main" val="21051115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2DB82-9FEF-DF27-2EF8-A7A42F605EAF}"/>
              </a:ext>
            </a:extLst>
          </p:cNvPr>
          <p:cNvSpPr>
            <a:spLocks noGrp="1"/>
          </p:cNvSpPr>
          <p:nvPr>
            <p:ph type="title"/>
          </p:nvPr>
        </p:nvSpPr>
        <p:spPr/>
        <p:txBody>
          <a:bodyPr/>
          <a:lstStyle/>
          <a:p>
            <a:r>
              <a:rPr lang="en-US" dirty="0"/>
              <a:t>Hand compartments and spaces</a:t>
            </a:r>
            <a:endParaRPr lang="en-NG" dirty="0"/>
          </a:p>
        </p:txBody>
      </p:sp>
      <p:sp>
        <p:nvSpPr>
          <p:cNvPr id="3" name="Content Placeholder 2">
            <a:extLst>
              <a:ext uri="{FF2B5EF4-FFF2-40B4-BE49-F238E27FC236}">
                <a16:creationId xmlns:a16="http://schemas.microsoft.com/office/drawing/2014/main" id="{BF16DC38-B90D-3F91-B4F0-3907708DDEBD}"/>
              </a:ext>
            </a:extLst>
          </p:cNvPr>
          <p:cNvSpPr>
            <a:spLocks noGrp="1"/>
          </p:cNvSpPr>
          <p:nvPr>
            <p:ph sz="half" idx="1"/>
          </p:nvPr>
        </p:nvSpPr>
        <p:spPr/>
        <p:txBody>
          <a:bodyPr>
            <a:normAutofit fontScale="92500" lnSpcReduction="20000"/>
          </a:bodyPr>
          <a:lstStyle/>
          <a:p>
            <a:r>
              <a:rPr lang="en-NG" dirty="0"/>
              <a:t>The palm and hand are divided by deep fascial septa into primary spaces housing specific muscles, nerves, and vessels</a:t>
            </a:r>
            <a:endParaRPr lang="en-US" dirty="0"/>
          </a:p>
          <a:p>
            <a:pPr marL="0" indent="0">
              <a:buNone/>
            </a:pPr>
            <a:endParaRPr lang="en-US" dirty="0"/>
          </a:p>
          <a:p>
            <a:pPr>
              <a:buFont typeface="Wingdings" panose="05000000000000000000" pitchFamily="2" charset="2"/>
              <a:buChar char="q"/>
            </a:pPr>
            <a:r>
              <a:rPr lang="en-US" dirty="0"/>
              <a:t>Thenar compartment: </a:t>
            </a:r>
          </a:p>
          <a:p>
            <a:pPr>
              <a:buFont typeface="Wingdings" panose="05000000000000000000" pitchFamily="2" charset="2"/>
              <a:buChar char="ü"/>
            </a:pPr>
            <a:r>
              <a:rPr lang="en-US" dirty="0"/>
              <a:t>Base of thumb</a:t>
            </a:r>
          </a:p>
          <a:p>
            <a:pPr>
              <a:buFont typeface="Wingdings" panose="05000000000000000000" pitchFamily="2" charset="2"/>
              <a:buChar char="ü"/>
            </a:pPr>
            <a:r>
              <a:rPr lang="en-NG" dirty="0"/>
              <a:t>Contents: Abductor pollicis brevis, </a:t>
            </a:r>
            <a:r>
              <a:rPr lang="en-NG" dirty="0" err="1"/>
              <a:t>opponens</a:t>
            </a:r>
            <a:r>
              <a:rPr lang="en-NG" dirty="0"/>
              <a:t> pollicis, flexor pollicis brevis, and branches of the median nerve</a:t>
            </a:r>
            <a:endParaRPr lang="en-US" dirty="0"/>
          </a:p>
        </p:txBody>
      </p:sp>
      <p:sp>
        <p:nvSpPr>
          <p:cNvPr id="4" name="Content Placeholder 3">
            <a:extLst>
              <a:ext uri="{FF2B5EF4-FFF2-40B4-BE49-F238E27FC236}">
                <a16:creationId xmlns:a16="http://schemas.microsoft.com/office/drawing/2014/main" id="{7208FD59-9FA7-EEAB-299B-116DF7944F68}"/>
              </a:ext>
            </a:extLst>
          </p:cNvPr>
          <p:cNvSpPr>
            <a:spLocks noGrp="1"/>
          </p:cNvSpPr>
          <p:nvPr>
            <p:ph sz="half" idx="2"/>
          </p:nvPr>
        </p:nvSpPr>
        <p:spPr/>
        <p:txBody>
          <a:bodyPr>
            <a:normAutofit fontScale="92500" lnSpcReduction="20000"/>
          </a:bodyPr>
          <a:lstStyle/>
          <a:p>
            <a:pPr>
              <a:buFont typeface="Wingdings" panose="05000000000000000000" pitchFamily="2" charset="2"/>
              <a:buChar char="q"/>
            </a:pPr>
            <a:r>
              <a:rPr lang="en-US" dirty="0"/>
              <a:t> Hypothenar compartment:</a:t>
            </a:r>
          </a:p>
          <a:p>
            <a:pPr>
              <a:buFont typeface="Wingdings" panose="05000000000000000000" pitchFamily="2" charset="2"/>
              <a:buChar char="ü"/>
            </a:pPr>
            <a:r>
              <a:rPr lang="en-US" dirty="0"/>
              <a:t>Base of little finger</a:t>
            </a:r>
          </a:p>
          <a:p>
            <a:pPr>
              <a:buFont typeface="Wingdings" panose="05000000000000000000" pitchFamily="2" charset="2"/>
              <a:buChar char="ü"/>
            </a:pPr>
            <a:r>
              <a:rPr lang="en-NG" dirty="0"/>
              <a:t>Contents: Abductor digiti </a:t>
            </a:r>
            <a:r>
              <a:rPr lang="en-NG" dirty="0" err="1"/>
              <a:t>minimi</a:t>
            </a:r>
            <a:r>
              <a:rPr lang="en-NG" dirty="0"/>
              <a:t>, flexor digiti </a:t>
            </a:r>
            <a:r>
              <a:rPr lang="en-NG" dirty="0" err="1"/>
              <a:t>minimi</a:t>
            </a:r>
            <a:r>
              <a:rPr lang="en-NG" dirty="0"/>
              <a:t> brevis, </a:t>
            </a:r>
            <a:r>
              <a:rPr lang="en-NG" dirty="0" err="1"/>
              <a:t>opponens</a:t>
            </a:r>
            <a:r>
              <a:rPr lang="en-NG" dirty="0"/>
              <a:t> digiti </a:t>
            </a:r>
            <a:r>
              <a:rPr lang="en-NG" dirty="0" err="1"/>
              <a:t>minimi</a:t>
            </a:r>
            <a:r>
              <a:rPr lang="en-NG" dirty="0"/>
              <a:t>, and branches of the ulnar </a:t>
            </a:r>
            <a:r>
              <a:rPr lang="en-US" dirty="0"/>
              <a:t>n</a:t>
            </a:r>
            <a:r>
              <a:rPr lang="en-NG" dirty="0" err="1"/>
              <a:t>erve</a:t>
            </a:r>
            <a:endParaRPr lang="en-US" dirty="0"/>
          </a:p>
          <a:p>
            <a:pPr marL="0" indent="0">
              <a:buNone/>
            </a:pPr>
            <a:endParaRPr lang="en-US" dirty="0"/>
          </a:p>
          <a:p>
            <a:pPr>
              <a:buFont typeface="Wingdings" panose="05000000000000000000" pitchFamily="2" charset="2"/>
              <a:buChar char="q"/>
            </a:pPr>
            <a:r>
              <a:rPr lang="en-US" dirty="0"/>
              <a:t> Adductor compartment:</a:t>
            </a:r>
          </a:p>
          <a:p>
            <a:pPr>
              <a:buFont typeface="Wingdings" panose="05000000000000000000" pitchFamily="2" charset="2"/>
              <a:buChar char="ü"/>
            </a:pPr>
            <a:r>
              <a:rPr lang="en-US" dirty="0"/>
              <a:t> deep in the central palm</a:t>
            </a:r>
          </a:p>
          <a:p>
            <a:pPr>
              <a:buFont typeface="Wingdings" panose="05000000000000000000" pitchFamily="2" charset="2"/>
              <a:buChar char="ü"/>
            </a:pPr>
            <a:r>
              <a:rPr lang="en-NG" dirty="0"/>
              <a:t>Contents: Adductor pollicis muscle</a:t>
            </a:r>
          </a:p>
        </p:txBody>
      </p:sp>
      <p:sp>
        <p:nvSpPr>
          <p:cNvPr id="5" name="Date Placeholder 4">
            <a:extLst>
              <a:ext uri="{FF2B5EF4-FFF2-40B4-BE49-F238E27FC236}">
                <a16:creationId xmlns:a16="http://schemas.microsoft.com/office/drawing/2014/main" id="{46627A02-AD43-EDC4-8284-9FD25C5856F5}"/>
              </a:ext>
            </a:extLst>
          </p:cNvPr>
          <p:cNvSpPr>
            <a:spLocks noGrp="1"/>
          </p:cNvSpPr>
          <p:nvPr>
            <p:ph type="dt" sz="half" idx="10"/>
          </p:nvPr>
        </p:nvSpPr>
        <p:spPr/>
        <p:txBody>
          <a:bodyPr/>
          <a:lstStyle/>
          <a:p>
            <a:fld id="{33E6352B-7371-4C7B-A97D-A79E7E6F3516}" type="datetime8">
              <a:rPr lang="en-NG" smtClean="0"/>
              <a:t>18/10/2026 08:13</a:t>
            </a:fld>
            <a:endParaRPr lang="en-NG"/>
          </a:p>
        </p:txBody>
      </p:sp>
      <p:sp>
        <p:nvSpPr>
          <p:cNvPr id="6" name="Slide Number Placeholder 5">
            <a:extLst>
              <a:ext uri="{FF2B5EF4-FFF2-40B4-BE49-F238E27FC236}">
                <a16:creationId xmlns:a16="http://schemas.microsoft.com/office/drawing/2014/main" id="{68F8EED8-01C3-68C1-87B0-5074A0FB102B}"/>
              </a:ext>
            </a:extLst>
          </p:cNvPr>
          <p:cNvSpPr>
            <a:spLocks noGrp="1"/>
          </p:cNvSpPr>
          <p:nvPr>
            <p:ph type="sldNum" sz="quarter" idx="12"/>
          </p:nvPr>
        </p:nvSpPr>
        <p:spPr/>
        <p:txBody>
          <a:bodyPr/>
          <a:lstStyle/>
          <a:p>
            <a:fld id="{AF15468F-FAE6-4D8E-9204-DF6230E3F4CD}" type="slidenum">
              <a:rPr lang="en-NG" smtClean="0"/>
              <a:t>31</a:t>
            </a:fld>
            <a:endParaRPr lang="en-NG"/>
          </a:p>
        </p:txBody>
      </p:sp>
    </p:spTree>
    <p:extLst>
      <p:ext uri="{BB962C8B-B14F-4D97-AF65-F5344CB8AC3E}">
        <p14:creationId xmlns:p14="http://schemas.microsoft.com/office/powerpoint/2010/main" val="2544402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B3F2B-4A84-3E30-0566-CF8F4325EAEF}"/>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Hand compartments and spaces</a:t>
            </a:r>
            <a:endParaRPr lang="en-NG" dirty="0"/>
          </a:p>
        </p:txBody>
      </p:sp>
      <p:sp>
        <p:nvSpPr>
          <p:cNvPr id="3" name="Content Placeholder 2">
            <a:extLst>
              <a:ext uri="{FF2B5EF4-FFF2-40B4-BE49-F238E27FC236}">
                <a16:creationId xmlns:a16="http://schemas.microsoft.com/office/drawing/2014/main" id="{8222E8A4-C85A-2164-E34C-AC346B6B7270}"/>
              </a:ext>
            </a:extLst>
          </p:cNvPr>
          <p:cNvSpPr>
            <a:spLocks noGrp="1"/>
          </p:cNvSpPr>
          <p:nvPr>
            <p:ph sz="half" idx="1"/>
          </p:nvPr>
        </p:nvSpPr>
        <p:spPr/>
        <p:txBody>
          <a:bodyPr/>
          <a:lstStyle/>
          <a:p>
            <a:pPr lvl="0">
              <a:buFont typeface="Wingdings" panose="05000000000000000000" pitchFamily="2" charset="2"/>
              <a:buChar char="q"/>
            </a:pPr>
            <a:r>
              <a:rPr lang="en-NG" dirty="0"/>
              <a:t>Central (</a:t>
            </a:r>
            <a:r>
              <a:rPr lang="en-NG" dirty="0" err="1"/>
              <a:t>Midpalmar</a:t>
            </a:r>
            <a:r>
              <a:rPr lang="en-NG" dirty="0"/>
              <a:t>) Compartment: </a:t>
            </a:r>
            <a:endParaRPr lang="en-US" dirty="0"/>
          </a:p>
          <a:p>
            <a:pPr lvl="0">
              <a:buFont typeface="Wingdings" panose="05000000000000000000" pitchFamily="2" charset="2"/>
              <a:buChar char="ü"/>
            </a:pPr>
            <a:r>
              <a:rPr lang="en-NG" dirty="0"/>
              <a:t>middle of the palm</a:t>
            </a:r>
            <a:endParaRPr lang="en-US" dirty="0"/>
          </a:p>
          <a:p>
            <a:pPr lvl="0">
              <a:buFont typeface="Wingdings" panose="05000000000000000000" pitchFamily="2" charset="2"/>
              <a:buChar char="ü"/>
            </a:pPr>
            <a:r>
              <a:rPr lang="en-NG" dirty="0"/>
              <a:t>Contents: Long flexor tendons, lumbrical muscles, superficial/deep palmar arterial arches, and portions of the median and ulnar nerves</a:t>
            </a:r>
          </a:p>
          <a:p>
            <a:endParaRPr lang="en-NG" dirty="0"/>
          </a:p>
        </p:txBody>
      </p:sp>
      <p:sp>
        <p:nvSpPr>
          <p:cNvPr id="4" name="Content Placeholder 3">
            <a:extLst>
              <a:ext uri="{FF2B5EF4-FFF2-40B4-BE49-F238E27FC236}">
                <a16:creationId xmlns:a16="http://schemas.microsoft.com/office/drawing/2014/main" id="{53B3DB52-CBDD-7F44-8790-13B0F6F4A87F}"/>
              </a:ext>
            </a:extLst>
          </p:cNvPr>
          <p:cNvSpPr>
            <a:spLocks noGrp="1"/>
          </p:cNvSpPr>
          <p:nvPr>
            <p:ph sz="half" idx="2"/>
          </p:nvPr>
        </p:nvSpPr>
        <p:spPr/>
        <p:txBody>
          <a:bodyPr/>
          <a:lstStyle/>
          <a:p>
            <a:pPr>
              <a:buFont typeface="Wingdings" panose="05000000000000000000" pitchFamily="2" charset="2"/>
              <a:buChar char="q"/>
            </a:pPr>
            <a:r>
              <a:rPr lang="en-NG" dirty="0"/>
              <a:t>Interossei and Other Spaces: </a:t>
            </a:r>
            <a:endParaRPr lang="en-US" dirty="0"/>
          </a:p>
          <a:p>
            <a:pPr>
              <a:buFont typeface="Wingdings" panose="05000000000000000000" pitchFamily="2" charset="2"/>
              <a:buChar char="ü"/>
            </a:pPr>
            <a:r>
              <a:rPr lang="en-NG" dirty="0"/>
              <a:t>Includes dorsal and volar (palmar) interossei compartments between the metacarpal bones</a:t>
            </a:r>
            <a:endParaRPr lang="en-US" dirty="0"/>
          </a:p>
          <a:p>
            <a:pPr>
              <a:buFont typeface="Wingdings" panose="05000000000000000000" pitchFamily="2" charset="2"/>
              <a:buChar char="ü"/>
            </a:pPr>
            <a:r>
              <a:rPr lang="en-US" dirty="0"/>
              <a:t>And</a:t>
            </a:r>
            <a:r>
              <a:rPr lang="en-NG" dirty="0"/>
              <a:t> spaces like the carpal tunnel and digit compartments</a:t>
            </a:r>
          </a:p>
        </p:txBody>
      </p:sp>
      <p:sp>
        <p:nvSpPr>
          <p:cNvPr id="5" name="Date Placeholder 4">
            <a:extLst>
              <a:ext uri="{FF2B5EF4-FFF2-40B4-BE49-F238E27FC236}">
                <a16:creationId xmlns:a16="http://schemas.microsoft.com/office/drawing/2014/main" id="{D0E62EFC-B0F4-BD6D-BA99-ED1EE1D38D37}"/>
              </a:ext>
            </a:extLst>
          </p:cNvPr>
          <p:cNvSpPr>
            <a:spLocks noGrp="1"/>
          </p:cNvSpPr>
          <p:nvPr>
            <p:ph type="dt" sz="half" idx="10"/>
          </p:nvPr>
        </p:nvSpPr>
        <p:spPr/>
        <p:txBody>
          <a:bodyPr/>
          <a:lstStyle/>
          <a:p>
            <a:fld id="{84C624C4-BD3B-45D9-B7A2-F240464CF22A}" type="datetime8">
              <a:rPr lang="en-NG" smtClean="0"/>
              <a:t>18/10/2026 08:13</a:t>
            </a:fld>
            <a:endParaRPr lang="en-NG"/>
          </a:p>
        </p:txBody>
      </p:sp>
      <p:sp>
        <p:nvSpPr>
          <p:cNvPr id="6" name="Slide Number Placeholder 5">
            <a:extLst>
              <a:ext uri="{FF2B5EF4-FFF2-40B4-BE49-F238E27FC236}">
                <a16:creationId xmlns:a16="http://schemas.microsoft.com/office/drawing/2014/main" id="{5398E940-5455-0BAA-5869-AE14C8064D11}"/>
              </a:ext>
            </a:extLst>
          </p:cNvPr>
          <p:cNvSpPr>
            <a:spLocks noGrp="1"/>
          </p:cNvSpPr>
          <p:nvPr>
            <p:ph type="sldNum" sz="quarter" idx="12"/>
          </p:nvPr>
        </p:nvSpPr>
        <p:spPr/>
        <p:txBody>
          <a:bodyPr/>
          <a:lstStyle/>
          <a:p>
            <a:fld id="{AF15468F-FAE6-4D8E-9204-DF6230E3F4CD}" type="slidenum">
              <a:rPr lang="en-NG" smtClean="0"/>
              <a:t>32</a:t>
            </a:fld>
            <a:endParaRPr lang="en-NG"/>
          </a:p>
        </p:txBody>
      </p:sp>
    </p:spTree>
    <p:extLst>
      <p:ext uri="{BB962C8B-B14F-4D97-AF65-F5344CB8AC3E}">
        <p14:creationId xmlns:p14="http://schemas.microsoft.com/office/powerpoint/2010/main" val="1089551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C27A-1C21-4FD0-E14E-A4541B0B3E16}"/>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Hand compartments and spaces</a:t>
            </a:r>
            <a:endParaRPr lang="en-NG" dirty="0"/>
          </a:p>
        </p:txBody>
      </p:sp>
      <p:sp>
        <p:nvSpPr>
          <p:cNvPr id="3" name="Content Placeholder 2">
            <a:extLst>
              <a:ext uri="{FF2B5EF4-FFF2-40B4-BE49-F238E27FC236}">
                <a16:creationId xmlns:a16="http://schemas.microsoft.com/office/drawing/2014/main" id="{A416C63C-D5B8-8181-12D2-453964984154}"/>
              </a:ext>
            </a:extLst>
          </p:cNvPr>
          <p:cNvSpPr>
            <a:spLocks noGrp="1"/>
          </p:cNvSpPr>
          <p:nvPr>
            <p:ph sz="half" idx="1"/>
          </p:nvPr>
        </p:nvSpPr>
        <p:spPr/>
        <p:txBody>
          <a:bodyPr>
            <a:normAutofit fontScale="92500" lnSpcReduction="10000"/>
          </a:bodyPr>
          <a:lstStyle/>
          <a:p>
            <a:r>
              <a:rPr lang="en-US" dirty="0"/>
              <a:t>The hand spaces are potential anatomical spaces within the hand</a:t>
            </a:r>
          </a:p>
          <a:p>
            <a:r>
              <a:rPr lang="en-US" dirty="0"/>
              <a:t>Formed by septa and deep fascia penetration into the hand</a:t>
            </a:r>
          </a:p>
          <a:p>
            <a:r>
              <a:rPr lang="en-US" dirty="0"/>
              <a:t>They are filled with loose connective tissues and are thus tightly closed</a:t>
            </a:r>
          </a:p>
          <a:p>
            <a:r>
              <a:rPr lang="en-US" dirty="0"/>
              <a:t>They are important clinically in localizing infections and pus discharge</a:t>
            </a:r>
            <a:endParaRPr lang="en-NG" dirty="0"/>
          </a:p>
        </p:txBody>
      </p:sp>
      <p:sp>
        <p:nvSpPr>
          <p:cNvPr id="4" name="Content Placeholder 3">
            <a:extLst>
              <a:ext uri="{FF2B5EF4-FFF2-40B4-BE49-F238E27FC236}">
                <a16:creationId xmlns:a16="http://schemas.microsoft.com/office/drawing/2014/main" id="{9D9FA7F8-EE05-0C79-356D-F731D3AF0178}"/>
              </a:ext>
            </a:extLst>
          </p:cNvPr>
          <p:cNvSpPr>
            <a:spLocks noGrp="1"/>
          </p:cNvSpPr>
          <p:nvPr>
            <p:ph sz="half" idx="2"/>
          </p:nvPr>
        </p:nvSpPr>
        <p:spPr/>
        <p:txBody>
          <a:bodyPr>
            <a:normAutofit fontScale="92500" lnSpcReduction="10000"/>
          </a:bodyPr>
          <a:lstStyle/>
          <a:p>
            <a:pPr>
              <a:buFont typeface="Wingdings" panose="05000000000000000000" pitchFamily="2" charset="2"/>
              <a:buChar char="q"/>
            </a:pPr>
            <a:r>
              <a:rPr lang="en-US" dirty="0"/>
              <a:t> Deep palmar spaces:</a:t>
            </a:r>
          </a:p>
          <a:p>
            <a:pPr>
              <a:buFont typeface="Wingdings" panose="05000000000000000000" pitchFamily="2" charset="2"/>
              <a:buChar char="ü"/>
            </a:pPr>
            <a:r>
              <a:rPr lang="en-US" dirty="0" err="1"/>
              <a:t>Midpalmar</a:t>
            </a:r>
            <a:endParaRPr lang="en-US" dirty="0"/>
          </a:p>
          <a:p>
            <a:pPr>
              <a:buFont typeface="Wingdings" panose="05000000000000000000" pitchFamily="2" charset="2"/>
              <a:buChar char="ü"/>
            </a:pPr>
            <a:r>
              <a:rPr lang="en-US" dirty="0"/>
              <a:t>Thenar</a:t>
            </a:r>
          </a:p>
          <a:p>
            <a:pPr>
              <a:buFont typeface="Wingdings" panose="05000000000000000000" pitchFamily="2" charset="2"/>
              <a:buChar char="ü"/>
            </a:pPr>
            <a:r>
              <a:rPr lang="en-US" dirty="0"/>
              <a:t>Hypothenar</a:t>
            </a:r>
          </a:p>
          <a:p>
            <a:pPr>
              <a:buFont typeface="Wingdings" panose="05000000000000000000" pitchFamily="2" charset="2"/>
              <a:buChar char="ü"/>
            </a:pPr>
            <a:r>
              <a:rPr lang="en-US" dirty="0"/>
              <a:t>Forearm space of </a:t>
            </a:r>
            <a:r>
              <a:rPr lang="en-US" dirty="0" err="1"/>
              <a:t>Parona</a:t>
            </a:r>
            <a:endParaRPr lang="en-US" dirty="0"/>
          </a:p>
          <a:p>
            <a:pPr>
              <a:buFont typeface="Wingdings" panose="05000000000000000000" pitchFamily="2" charset="2"/>
              <a:buChar char="ü"/>
            </a:pPr>
            <a:endParaRPr lang="en-US" dirty="0"/>
          </a:p>
          <a:p>
            <a:pPr>
              <a:buFont typeface="Wingdings" panose="05000000000000000000" pitchFamily="2" charset="2"/>
              <a:buChar char="q"/>
            </a:pPr>
            <a:r>
              <a:rPr lang="en-US" dirty="0"/>
              <a:t> Digital spaces:</a:t>
            </a:r>
          </a:p>
          <a:p>
            <a:pPr>
              <a:buFont typeface="Wingdings" panose="05000000000000000000" pitchFamily="2" charset="2"/>
              <a:buChar char="ü"/>
            </a:pPr>
            <a:r>
              <a:rPr lang="en-US" dirty="0"/>
              <a:t>Pulp space of the fingers</a:t>
            </a:r>
          </a:p>
          <a:p>
            <a:pPr>
              <a:buFont typeface="Wingdings" panose="05000000000000000000" pitchFamily="2" charset="2"/>
              <a:buChar char="ü"/>
            </a:pPr>
            <a:r>
              <a:rPr lang="en-US" dirty="0"/>
              <a:t>Interdigital or web spaces</a:t>
            </a:r>
          </a:p>
          <a:p>
            <a:pPr>
              <a:buFont typeface="Wingdings" panose="05000000000000000000" pitchFamily="2" charset="2"/>
              <a:buChar char="ü"/>
            </a:pPr>
            <a:endParaRPr lang="en-US" dirty="0"/>
          </a:p>
          <a:p>
            <a:pPr marL="0" indent="0">
              <a:buNone/>
            </a:pPr>
            <a:endParaRPr lang="en-US" dirty="0"/>
          </a:p>
        </p:txBody>
      </p:sp>
      <p:sp>
        <p:nvSpPr>
          <p:cNvPr id="5" name="Date Placeholder 4">
            <a:extLst>
              <a:ext uri="{FF2B5EF4-FFF2-40B4-BE49-F238E27FC236}">
                <a16:creationId xmlns:a16="http://schemas.microsoft.com/office/drawing/2014/main" id="{8E29AA8F-0233-C540-A5B5-735F98C88D4B}"/>
              </a:ext>
            </a:extLst>
          </p:cNvPr>
          <p:cNvSpPr>
            <a:spLocks noGrp="1"/>
          </p:cNvSpPr>
          <p:nvPr>
            <p:ph type="dt" sz="half" idx="10"/>
          </p:nvPr>
        </p:nvSpPr>
        <p:spPr/>
        <p:txBody>
          <a:bodyPr/>
          <a:lstStyle/>
          <a:p>
            <a:fld id="{9F3D4ACB-5BBA-4C90-A15F-8493B611BC59}" type="datetime8">
              <a:rPr lang="en-NG" smtClean="0"/>
              <a:t>18/10/2026 08:13</a:t>
            </a:fld>
            <a:endParaRPr lang="en-NG"/>
          </a:p>
        </p:txBody>
      </p:sp>
      <p:sp>
        <p:nvSpPr>
          <p:cNvPr id="6" name="Slide Number Placeholder 5">
            <a:extLst>
              <a:ext uri="{FF2B5EF4-FFF2-40B4-BE49-F238E27FC236}">
                <a16:creationId xmlns:a16="http://schemas.microsoft.com/office/drawing/2014/main" id="{62E38BC3-6736-90DC-3CAE-29C64F0C8190}"/>
              </a:ext>
            </a:extLst>
          </p:cNvPr>
          <p:cNvSpPr>
            <a:spLocks noGrp="1"/>
          </p:cNvSpPr>
          <p:nvPr>
            <p:ph type="sldNum" sz="quarter" idx="12"/>
          </p:nvPr>
        </p:nvSpPr>
        <p:spPr/>
        <p:txBody>
          <a:bodyPr/>
          <a:lstStyle/>
          <a:p>
            <a:fld id="{AF15468F-FAE6-4D8E-9204-DF6230E3F4CD}" type="slidenum">
              <a:rPr lang="en-NG" smtClean="0"/>
              <a:t>33</a:t>
            </a:fld>
            <a:endParaRPr lang="en-NG"/>
          </a:p>
        </p:txBody>
      </p:sp>
    </p:spTree>
    <p:extLst>
      <p:ext uri="{BB962C8B-B14F-4D97-AF65-F5344CB8AC3E}">
        <p14:creationId xmlns:p14="http://schemas.microsoft.com/office/powerpoint/2010/main" val="1227115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ECEFB-19DB-827A-64A7-87FF538A7225}"/>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Hand compartments and spaces</a:t>
            </a:r>
            <a:endParaRPr lang="en-NG" dirty="0"/>
          </a:p>
        </p:txBody>
      </p:sp>
      <p:sp>
        <p:nvSpPr>
          <p:cNvPr id="3" name="Content Placeholder 2">
            <a:extLst>
              <a:ext uri="{FF2B5EF4-FFF2-40B4-BE49-F238E27FC236}">
                <a16:creationId xmlns:a16="http://schemas.microsoft.com/office/drawing/2014/main" id="{8953B479-37CB-2708-B22F-3D779A4194ED}"/>
              </a:ext>
            </a:extLst>
          </p:cNvPr>
          <p:cNvSpPr>
            <a:spLocks noGrp="1"/>
          </p:cNvSpPr>
          <p:nvPr>
            <p:ph sz="half" idx="1"/>
          </p:nvPr>
        </p:nvSpPr>
        <p:spPr/>
        <p:txBody>
          <a:bodyPr/>
          <a:lstStyle/>
          <a:p>
            <a:pPr>
              <a:buFont typeface="Wingdings" panose="05000000000000000000" pitchFamily="2" charset="2"/>
              <a:buChar char="q"/>
            </a:pPr>
            <a:r>
              <a:rPr lang="en-US" dirty="0"/>
              <a:t>Dorsal spaces:</a:t>
            </a:r>
          </a:p>
          <a:p>
            <a:pPr>
              <a:buFont typeface="Wingdings" panose="05000000000000000000" pitchFamily="2" charset="2"/>
              <a:buChar char="ü"/>
            </a:pPr>
            <a:r>
              <a:rPr lang="en-NG" dirty="0"/>
              <a:t>Dorsal Subcutaneous Space</a:t>
            </a:r>
            <a:endParaRPr lang="en-US" dirty="0"/>
          </a:p>
          <a:p>
            <a:pPr>
              <a:buFont typeface="Wingdings" panose="05000000000000000000" pitchFamily="2" charset="2"/>
              <a:buChar char="ü"/>
            </a:pPr>
            <a:r>
              <a:rPr lang="en-NG" dirty="0"/>
              <a:t>Dorsal Sub</a:t>
            </a:r>
            <a:r>
              <a:rPr lang="en-US" dirty="0"/>
              <a:t>aponeurotic</a:t>
            </a:r>
            <a:r>
              <a:rPr lang="en-NG" dirty="0"/>
              <a:t> Space</a:t>
            </a:r>
            <a:endParaRPr lang="en-US" dirty="0"/>
          </a:p>
          <a:p>
            <a:pPr>
              <a:buFont typeface="Wingdings" panose="05000000000000000000" pitchFamily="2" charset="2"/>
              <a:buChar char="ü"/>
            </a:pPr>
            <a:endParaRPr lang="en-NG" dirty="0"/>
          </a:p>
        </p:txBody>
      </p:sp>
      <p:pic>
        <p:nvPicPr>
          <p:cNvPr id="5" name="Content Placeholder 4" descr="The eleven compartments of the hand [12]. | Download Scientific Diagram">
            <a:extLst>
              <a:ext uri="{FF2B5EF4-FFF2-40B4-BE49-F238E27FC236}">
                <a16:creationId xmlns:a16="http://schemas.microsoft.com/office/drawing/2014/main" id="{6A551BAC-4908-C403-5F6C-7CEC4F8E531F}"/>
              </a:ext>
            </a:extLst>
          </p:cNvPr>
          <p:cNvPicPr>
            <a:picLocks noGrp="1" noChangeAspect="1"/>
          </p:cNvPicPr>
          <p:nvPr>
            <p:ph sz="half" idx="2"/>
          </p:nvPr>
        </p:nvPicPr>
        <p:blipFill>
          <a:blip r:embed="rId2"/>
          <a:stretch>
            <a:fillRect/>
          </a:stretch>
        </p:blipFill>
        <p:spPr>
          <a:xfrm>
            <a:off x="6481762" y="2015331"/>
            <a:ext cx="4562475" cy="3971925"/>
          </a:xfrm>
          <a:prstGeom prst="rect">
            <a:avLst/>
          </a:prstGeom>
        </p:spPr>
      </p:pic>
      <p:pic>
        <p:nvPicPr>
          <p:cNvPr id="6" name="Picture 5" descr="Anatomical illustration of the spaces within the hand. The radial and... | Download Scientific Diagram">
            <a:extLst>
              <a:ext uri="{FF2B5EF4-FFF2-40B4-BE49-F238E27FC236}">
                <a16:creationId xmlns:a16="http://schemas.microsoft.com/office/drawing/2014/main" id="{B4D89D21-0E0C-51C5-0B67-F9EE2A0DD5B6}"/>
              </a:ext>
            </a:extLst>
          </p:cNvPr>
          <p:cNvPicPr>
            <a:picLocks noChangeAspect="1"/>
          </p:cNvPicPr>
          <p:nvPr/>
        </p:nvPicPr>
        <p:blipFill>
          <a:blip r:embed="rId3"/>
          <a:stretch>
            <a:fillRect/>
          </a:stretch>
        </p:blipFill>
        <p:spPr>
          <a:xfrm>
            <a:off x="1783830" y="3653849"/>
            <a:ext cx="2728209" cy="2200275"/>
          </a:xfrm>
          <a:prstGeom prst="rect">
            <a:avLst/>
          </a:prstGeom>
        </p:spPr>
      </p:pic>
      <p:sp>
        <p:nvSpPr>
          <p:cNvPr id="7" name="Date Placeholder 6">
            <a:extLst>
              <a:ext uri="{FF2B5EF4-FFF2-40B4-BE49-F238E27FC236}">
                <a16:creationId xmlns:a16="http://schemas.microsoft.com/office/drawing/2014/main" id="{CB247440-EB08-D5F9-0B81-DF756EA9AC3C}"/>
              </a:ext>
            </a:extLst>
          </p:cNvPr>
          <p:cNvSpPr>
            <a:spLocks noGrp="1"/>
          </p:cNvSpPr>
          <p:nvPr>
            <p:ph type="dt" sz="half" idx="10"/>
          </p:nvPr>
        </p:nvSpPr>
        <p:spPr/>
        <p:txBody>
          <a:bodyPr/>
          <a:lstStyle/>
          <a:p>
            <a:fld id="{1329AF07-C5DC-444F-83BD-9501A3687ADA}" type="datetime8">
              <a:rPr lang="en-NG" smtClean="0"/>
              <a:t>18/10/2026 08:13</a:t>
            </a:fld>
            <a:endParaRPr lang="en-NG"/>
          </a:p>
        </p:txBody>
      </p:sp>
      <p:sp>
        <p:nvSpPr>
          <p:cNvPr id="8" name="Slide Number Placeholder 7">
            <a:extLst>
              <a:ext uri="{FF2B5EF4-FFF2-40B4-BE49-F238E27FC236}">
                <a16:creationId xmlns:a16="http://schemas.microsoft.com/office/drawing/2014/main" id="{D24BD69E-012F-C07A-9FD3-F801E3D949F0}"/>
              </a:ext>
            </a:extLst>
          </p:cNvPr>
          <p:cNvSpPr>
            <a:spLocks noGrp="1"/>
          </p:cNvSpPr>
          <p:nvPr>
            <p:ph type="sldNum" sz="quarter" idx="12"/>
          </p:nvPr>
        </p:nvSpPr>
        <p:spPr/>
        <p:txBody>
          <a:bodyPr/>
          <a:lstStyle/>
          <a:p>
            <a:fld id="{AF15468F-FAE6-4D8E-9204-DF6230E3F4CD}" type="slidenum">
              <a:rPr lang="en-NG" smtClean="0"/>
              <a:t>34</a:t>
            </a:fld>
            <a:endParaRPr lang="en-NG"/>
          </a:p>
        </p:txBody>
      </p:sp>
    </p:spTree>
    <p:extLst>
      <p:ext uri="{BB962C8B-B14F-4D97-AF65-F5344CB8AC3E}">
        <p14:creationId xmlns:p14="http://schemas.microsoft.com/office/powerpoint/2010/main" val="2180426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645</TotalTime>
  <Words>2343</Words>
  <Application>Microsoft Office PowerPoint</Application>
  <PresentationFormat>Widescreen</PresentationFormat>
  <Paragraphs>330</Paragraphs>
  <Slides>34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vt:lpstr>
      <vt:lpstr>Aptos Display</vt:lpstr>
      <vt:lpstr>Arial</vt:lpstr>
      <vt:lpstr>Calibri</vt:lpstr>
      <vt:lpstr>Calibri Light</vt:lpstr>
      <vt:lpstr>Google Sans</vt:lpstr>
      <vt:lpstr>Wingdings</vt:lpstr>
      <vt:lpstr>Office Theme</vt:lpstr>
      <vt:lpstr>Anatomy of the Upper Limbs</vt:lpstr>
      <vt:lpstr>Table of contents</vt:lpstr>
      <vt:lpstr>Introduction</vt:lpstr>
      <vt:lpstr>Introduction – Innervation of the upper limbs</vt:lpstr>
      <vt:lpstr>Osteology - clavicle</vt:lpstr>
      <vt:lpstr>Ossification of the clavicle</vt:lpstr>
      <vt:lpstr>Osteology -Humerus</vt:lpstr>
      <vt:lpstr>Osteology - The carpal bones</vt:lpstr>
      <vt:lpstr>The shoulder region</vt:lpstr>
      <vt:lpstr>Shoulder region- muscles</vt:lpstr>
      <vt:lpstr>The Shoulder region – Shoulder joint</vt:lpstr>
      <vt:lpstr>The Shoulder region – Shoulder joint</vt:lpstr>
      <vt:lpstr>Shoulder joint - movements</vt:lpstr>
      <vt:lpstr>Shoulder joint</vt:lpstr>
      <vt:lpstr>Shoulder joint – clinical importance</vt:lpstr>
      <vt:lpstr>The pectoral region</vt:lpstr>
      <vt:lpstr>The pectoral region</vt:lpstr>
      <vt:lpstr>The pectoral region</vt:lpstr>
      <vt:lpstr>The pectoral region - clinicals</vt:lpstr>
      <vt:lpstr>The Axilla</vt:lpstr>
      <vt:lpstr>The Arm</vt:lpstr>
      <vt:lpstr>The Arm – cubital fossa</vt:lpstr>
      <vt:lpstr>The Forearm</vt:lpstr>
      <vt:lpstr>Forearm- Anterior compartment</vt:lpstr>
      <vt:lpstr>Forearm- Anterior compartment</vt:lpstr>
      <vt:lpstr>Forearm- Posterior compartment</vt:lpstr>
      <vt:lpstr>Forearm- clinicals</vt:lpstr>
      <vt:lpstr>  Forearm – Blood supply </vt:lpstr>
      <vt:lpstr>Blood supply to the Upper limbs</vt:lpstr>
      <vt:lpstr>The hand</vt:lpstr>
      <vt:lpstr>Hand compartments and spaces</vt:lpstr>
      <vt:lpstr>Hand compartments and spaces</vt:lpstr>
      <vt:lpstr>Hand compartments and spaces</vt:lpstr>
      <vt:lpstr>Hand compartments and spaces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71</cp:revision>
  <dcterms:created xsi:type="dcterms:W3CDTF">2026-10-16T15:51:15Z</dcterms:created>
  <dcterms:modified xsi:type="dcterms:W3CDTF">2026-10-18T07:14:15Z</dcterms:modified>
</cp:coreProperties>
</file>