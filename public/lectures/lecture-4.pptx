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8"/>
  </p:notesMasterIdLst>
  <p:sldIdLst>
    <p:sldId id="319" r:id="rId2"/>
    <p:sldId id="256" r:id="rId3"/>
    <p:sldId id="257" r:id="rId4"/>
    <p:sldId id="329" r:id="rId5"/>
    <p:sldId id="258" r:id="rId6"/>
    <p:sldId id="259" r:id="rId7"/>
    <p:sldId id="261" r:id="rId8"/>
    <p:sldId id="323" r:id="rId9"/>
    <p:sldId id="262" r:id="rId10"/>
    <p:sldId id="263" r:id="rId11"/>
    <p:sldId id="264" r:id="rId12"/>
    <p:sldId id="265" r:id="rId13"/>
    <p:sldId id="324" r:id="rId14"/>
    <p:sldId id="266" r:id="rId15"/>
    <p:sldId id="320" r:id="rId16"/>
    <p:sldId id="267" r:id="rId17"/>
    <p:sldId id="268" r:id="rId18"/>
    <p:sldId id="269" r:id="rId19"/>
    <p:sldId id="270" r:id="rId20"/>
    <p:sldId id="271" r:id="rId21"/>
    <p:sldId id="275" r:id="rId22"/>
    <p:sldId id="327" r:id="rId23"/>
    <p:sldId id="328" r:id="rId24"/>
    <p:sldId id="277" r:id="rId25"/>
    <p:sldId id="278" r:id="rId26"/>
    <p:sldId id="279" r:id="rId27"/>
    <p:sldId id="281" r:id="rId28"/>
    <p:sldId id="330" r:id="rId29"/>
    <p:sldId id="282" r:id="rId30"/>
    <p:sldId id="283" r:id="rId31"/>
    <p:sldId id="284" r:id="rId32"/>
    <p:sldId id="285" r:id="rId33"/>
    <p:sldId id="286" r:id="rId34"/>
    <p:sldId id="321" r:id="rId35"/>
    <p:sldId id="292" r:id="rId36"/>
    <p:sldId id="325" r:id="rId37"/>
    <p:sldId id="326" r:id="rId38"/>
    <p:sldId id="299" r:id="rId39"/>
    <p:sldId id="303" r:id="rId40"/>
    <p:sldId id="304" r:id="rId41"/>
    <p:sldId id="305" r:id="rId42"/>
    <p:sldId id="313" r:id="rId43"/>
    <p:sldId id="314" r:id="rId44"/>
    <p:sldId id="317" r:id="rId45"/>
    <p:sldId id="322" r:id="rId46"/>
    <p:sldId id="331"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AB2AFF-1C0B-45C0-91C5-6BC97D477330}" type="datetimeFigureOut">
              <a:rPr lang="en-US" smtClean="0"/>
              <a:t>10/21/2026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EFC8463-693C-4AC3-B16F-DD211D0F4155}" type="slidenum">
              <a:rPr lang="en-US" smtClean="0"/>
              <a:t>‹#›</a:t>
            </a:fld>
            <a:endParaRPr lang="en-US"/>
          </a:p>
        </p:txBody>
      </p:sp>
    </p:spTree>
    <p:extLst>
      <p:ext uri="{BB962C8B-B14F-4D97-AF65-F5344CB8AC3E}">
        <p14:creationId xmlns:p14="http://schemas.microsoft.com/office/powerpoint/2010/main" val="2345838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9F5AC19-71E6-477B-8EAD-4EB70840E73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F5AC19-71E6-477B-8EAD-4EB70840E73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C0B2E-5239-4394-83F4-3CA767B901FC}" type="slidenum">
              <a:rPr lang="en-US" smtClean="0"/>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9F5AC19-71E6-477B-8EAD-4EB70840E73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69F5AC19-71E6-477B-8EAD-4EB70840E738}"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C0B2E-5239-4394-83F4-3CA767B901FC}" type="slidenum">
              <a:rPr lang="en-US" smtClean="0"/>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9F5AC19-71E6-477B-8EAD-4EB70840E738}"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9F5AC19-71E6-477B-8EAD-4EB70840E738}"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69F5AC19-71E6-477B-8EAD-4EB70840E738}"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69F5AC19-71E6-477B-8EAD-4EB70840E738}"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C0B2E-5239-4394-83F4-3CA767B901FC}" type="slidenum">
              <a:rPr lang="en-US" smtClean="0"/>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9F5AC19-71E6-477B-8EAD-4EB70840E738}"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C0B2E-5239-4394-83F4-3CA767B901FC}" type="slidenum">
              <a:rPr lang="en-US" smtClean="0"/>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F5AC19-71E6-477B-8EAD-4EB70840E73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69F5AC19-71E6-477B-8EAD-4EB70840E73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C0B2E-5239-4394-83F4-3CA767B901FC}" type="slidenum">
              <a:rPr lang="en-US" smtClean="0"/>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69F5AC19-71E6-477B-8EAD-4EB70840E738}" type="datetimeFigureOut">
              <a:rPr lang="en-US" smtClean="0"/>
              <a:t>10/21/2026</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9CBC0B2E-5239-4394-83F4-3CA767B901FC}" type="slidenum">
              <a:rPr lang="en-US" smtClean="0"/>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HELLO\Desktop\MXT LECTURES\IMG-20261018-WA000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2" y="-27384"/>
            <a:ext cx="9144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332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69172"/>
            <a:ext cx="7772400" cy="1780108"/>
          </a:xfrm>
        </p:spPr>
        <p:txBody>
          <a:bodyPr>
            <a:normAutofit fontScale="90000"/>
          </a:bodyPr>
          <a:lstStyle/>
          <a:p>
            <a:r>
              <a:rPr lang="en-US" dirty="0" smtClean="0">
                <a:latin typeface="Book Antiqua" panose="02040602050305030304" pitchFamily="18" charset="0"/>
              </a:rPr>
              <a:t/>
            </a:r>
            <a:br>
              <a:rPr lang="en-US" dirty="0" smtClean="0">
                <a:latin typeface="Book Antiqua" panose="02040602050305030304" pitchFamily="18" charset="0"/>
              </a:rPr>
            </a:br>
            <a:r>
              <a:rPr lang="en-US" b="1" dirty="0">
                <a:latin typeface="Book Antiqua" panose="02040602050305030304" pitchFamily="18" charset="0"/>
              </a:rPr>
              <a:t/>
            </a:r>
            <a:br>
              <a:rPr lang="en-US" b="1" dirty="0">
                <a:latin typeface="Book Antiqua" panose="02040602050305030304" pitchFamily="18" charset="0"/>
              </a:rPr>
            </a:br>
            <a:r>
              <a:rPr lang="en-US" sz="3600" b="1" dirty="0" smtClean="0">
                <a:latin typeface="Book Antiqua" panose="02040602050305030304" pitchFamily="18" charset="0"/>
              </a:rPr>
              <a:t>LECTURES ON INTRODUCTION TO DAYLIGHT AND DIGITAL IMAGE PROCESSING </a:t>
            </a:r>
            <a:r>
              <a:rPr lang="en-US" dirty="0" smtClean="0">
                <a:latin typeface="Book Antiqua" panose="02040602050305030304" pitchFamily="18" charset="0"/>
              </a:rPr>
              <a:t/>
            </a:r>
            <a:br>
              <a:rPr lang="en-US" dirty="0" smtClean="0">
                <a:latin typeface="Book Antiqua" panose="02040602050305030304" pitchFamily="18" charset="0"/>
              </a:rPr>
            </a:br>
            <a:r>
              <a:rPr lang="en-US" dirty="0">
                <a:latin typeface="Book Antiqua" panose="02040602050305030304" pitchFamily="18" charset="0"/>
              </a:rPr>
              <a:t/>
            </a:r>
            <a:br>
              <a:rPr lang="en-US" dirty="0">
                <a:latin typeface="Book Antiqua" panose="02040602050305030304" pitchFamily="18" charset="0"/>
              </a:rPr>
            </a:br>
            <a:r>
              <a:rPr lang="en-US" sz="4000" b="1" dirty="0" smtClean="0">
                <a:latin typeface="Book Antiqua" panose="02040602050305030304" pitchFamily="18" charset="0"/>
              </a:rPr>
              <a:t>(MXT 303)</a:t>
            </a:r>
            <a:br>
              <a:rPr lang="en-US" sz="4000" b="1" dirty="0" smtClean="0">
                <a:latin typeface="Book Antiqua" panose="02040602050305030304" pitchFamily="18" charset="0"/>
              </a:rPr>
            </a:br>
            <a:r>
              <a:rPr lang="en-US" sz="4000" b="1" dirty="0" smtClean="0">
                <a:latin typeface="Book Antiqua" panose="02040602050305030304" pitchFamily="18" charset="0"/>
              </a:rPr>
              <a:t/>
            </a:r>
            <a:br>
              <a:rPr lang="en-US" sz="4000" b="1" dirty="0" smtClean="0">
                <a:latin typeface="Book Antiqua" panose="02040602050305030304" pitchFamily="18" charset="0"/>
              </a:rPr>
            </a:br>
            <a:r>
              <a:rPr lang="en-US" sz="4000" b="1" dirty="0" smtClean="0">
                <a:latin typeface="Book Antiqua" panose="02040602050305030304" pitchFamily="18" charset="0"/>
              </a:rPr>
              <a:t>BY </a:t>
            </a:r>
            <a:br>
              <a:rPr lang="en-US" sz="4000" b="1" dirty="0" smtClean="0">
                <a:latin typeface="Book Antiqua" panose="02040602050305030304" pitchFamily="18" charset="0"/>
              </a:rPr>
            </a:br>
            <a:r>
              <a:rPr lang="en-US" b="1" dirty="0">
                <a:latin typeface="Book Antiqua" panose="02040602050305030304" pitchFamily="18" charset="0"/>
              </a:rPr>
              <a:t/>
            </a:r>
            <a:br>
              <a:rPr lang="en-US" b="1" dirty="0">
                <a:latin typeface="Book Antiqua" panose="02040602050305030304" pitchFamily="18" charset="0"/>
              </a:rPr>
            </a:br>
            <a:r>
              <a:rPr lang="en-US" b="1" dirty="0" smtClean="0">
                <a:latin typeface="Book Antiqua" panose="02040602050305030304" pitchFamily="18" charset="0"/>
              </a:rPr>
              <a:t>DIR. GBARABE, </a:t>
            </a:r>
            <a:r>
              <a:rPr lang="en-US" b="1" dirty="0">
                <a:latin typeface="Book Antiqua" panose="02040602050305030304" pitchFamily="18" charset="0"/>
              </a:rPr>
              <a:t>KENT</a:t>
            </a:r>
            <a:r>
              <a:rPr lang="en-US" b="1" dirty="0" smtClean="0">
                <a:latin typeface="Book Antiqua" panose="02040602050305030304" pitchFamily="18" charset="0"/>
              </a:rPr>
              <a:t/>
            </a:r>
            <a:br>
              <a:rPr lang="en-US" b="1" dirty="0" smtClean="0">
                <a:latin typeface="Book Antiqua" panose="02040602050305030304" pitchFamily="18" charset="0"/>
              </a:rPr>
            </a:br>
            <a:endParaRPr lang="en-US" b="1" dirty="0">
              <a:latin typeface="Book Antiqua" panose="02040602050305030304" pitchFamily="18" charset="0"/>
            </a:endParaRPr>
          </a:p>
        </p:txBody>
      </p:sp>
    </p:spTree>
    <p:extLst>
      <p:ext uri="{BB962C8B-B14F-4D97-AF65-F5344CB8AC3E}">
        <p14:creationId xmlns:p14="http://schemas.microsoft.com/office/powerpoint/2010/main" val="3894764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412776"/>
            <a:ext cx="7408333" cy="5184576"/>
          </a:xfrm>
        </p:spPr>
        <p:txBody>
          <a:bodyPr>
            <a:normAutofit fontScale="92500"/>
          </a:bodyPr>
          <a:lstStyle/>
          <a:p>
            <a:r>
              <a:rPr lang="en-US" dirty="0" smtClean="0"/>
              <a:t>INTRODUCTION/THE </a:t>
            </a:r>
            <a:r>
              <a:rPr lang="en-US" dirty="0"/>
              <a:t>CONCEPT OF DAYLIGHT FILM </a:t>
            </a:r>
            <a:r>
              <a:rPr lang="en-US" dirty="0" smtClean="0"/>
              <a:t>PROCESSING</a:t>
            </a:r>
          </a:p>
          <a:p>
            <a:r>
              <a:rPr lang="en-US" dirty="0" smtClean="0"/>
              <a:t>MODE OF OPERATION OF DAYLIGHT FILM PROCESSOR</a:t>
            </a:r>
          </a:p>
          <a:p>
            <a:r>
              <a:rPr lang="en-US" dirty="0" smtClean="0"/>
              <a:t>COMPONENT OF A DAYLIGHT FILM PROCESSOR</a:t>
            </a:r>
          </a:p>
          <a:p>
            <a:r>
              <a:rPr lang="en-US" dirty="0" smtClean="0"/>
              <a:t>ADVANTAGE AND DISADVANTAGES OF DAYLIGHT PROCESSING</a:t>
            </a:r>
          </a:p>
          <a:p>
            <a:r>
              <a:rPr lang="en-US" dirty="0" smtClean="0"/>
              <a:t>DAYLIGHT FILM PROCESSOR VERSUS DARKROOM PROCESSING</a:t>
            </a:r>
          </a:p>
          <a:p>
            <a:r>
              <a:rPr lang="en-US" dirty="0" smtClean="0"/>
              <a:t>PRECAUTION IN FILM PROCESSING </a:t>
            </a:r>
            <a:endParaRPr lang="en-US" dirty="0"/>
          </a:p>
          <a:p>
            <a:r>
              <a:rPr lang="en-US" dirty="0"/>
              <a:t>BASIC PRINCIPLES OF DIGITAL </a:t>
            </a:r>
            <a:r>
              <a:rPr lang="en-US" dirty="0" smtClean="0"/>
              <a:t>IMAGING</a:t>
            </a:r>
          </a:p>
          <a:p>
            <a:r>
              <a:rPr lang="en-US" dirty="0" smtClean="0"/>
              <a:t>TYPES OF DIGITAL X RAY RECEPTOR</a:t>
            </a:r>
            <a:endParaRPr lang="en-US" dirty="0"/>
          </a:p>
          <a:p>
            <a:r>
              <a:rPr lang="en-US" dirty="0" smtClean="0"/>
              <a:t>MAIN STAGES IN </a:t>
            </a:r>
            <a:r>
              <a:rPr lang="en-US" dirty="0"/>
              <a:t>DIGITAL IMAGE </a:t>
            </a:r>
            <a:r>
              <a:rPr lang="en-US" dirty="0" smtClean="0"/>
              <a:t>PROCESSING</a:t>
            </a:r>
          </a:p>
          <a:p>
            <a:r>
              <a:rPr lang="en-US" dirty="0" smtClean="0"/>
              <a:t>THE COMPUTED RADIOGRAPHY IMAGING RECEPTOR (CR)</a:t>
            </a:r>
          </a:p>
          <a:p>
            <a:endParaRPr lang="en-US" dirty="0"/>
          </a:p>
        </p:txBody>
      </p:sp>
      <p:sp>
        <p:nvSpPr>
          <p:cNvPr id="2" name="Title 1"/>
          <p:cNvSpPr>
            <a:spLocks noGrp="1"/>
          </p:cNvSpPr>
          <p:nvPr>
            <p:ph type="title"/>
          </p:nvPr>
        </p:nvSpPr>
        <p:spPr>
          <a:xfrm>
            <a:off x="457200" y="338328"/>
            <a:ext cx="8229600" cy="1074448"/>
          </a:xfrm>
        </p:spPr>
        <p:txBody>
          <a:bodyPr>
            <a:normAutofit fontScale="90000"/>
          </a:bodyPr>
          <a:lstStyle/>
          <a:p>
            <a:r>
              <a:rPr lang="en-US" dirty="0" smtClean="0"/>
              <a:t>COURSE OUTLINE</a:t>
            </a:r>
            <a:br>
              <a:rPr lang="en-US" dirty="0" smtClean="0"/>
            </a:br>
            <a:endParaRPr lang="en-US" dirty="0"/>
          </a:p>
        </p:txBody>
      </p:sp>
    </p:spTree>
    <p:extLst>
      <p:ext uri="{BB962C8B-B14F-4D97-AF65-F5344CB8AC3E}">
        <p14:creationId xmlns:p14="http://schemas.microsoft.com/office/powerpoint/2010/main" val="1699690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412776"/>
            <a:ext cx="7408333" cy="5256584"/>
          </a:xfrm>
        </p:spPr>
        <p:txBody>
          <a:bodyPr>
            <a:normAutofit fontScale="92500" lnSpcReduction="10000"/>
          </a:bodyPr>
          <a:lstStyle/>
          <a:p>
            <a:r>
              <a:rPr lang="en-US" dirty="0"/>
              <a:t>STAGES OF </a:t>
            </a:r>
            <a:r>
              <a:rPr lang="en-US" dirty="0" smtClean="0"/>
              <a:t>CR DETECTOR </a:t>
            </a:r>
            <a:r>
              <a:rPr lang="en-US" dirty="0"/>
              <a:t>IMAGE PROCESSING</a:t>
            </a:r>
          </a:p>
          <a:p>
            <a:r>
              <a:rPr lang="en-US" dirty="0" smtClean="0"/>
              <a:t>SCIENTIFIC </a:t>
            </a:r>
            <a:r>
              <a:rPr lang="en-US" dirty="0"/>
              <a:t>PRINCIPLES OF CR </a:t>
            </a:r>
            <a:r>
              <a:rPr lang="en-US" dirty="0" smtClean="0"/>
              <a:t>DETECTOR</a:t>
            </a:r>
          </a:p>
          <a:p>
            <a:r>
              <a:rPr lang="en-US" dirty="0" smtClean="0"/>
              <a:t>COMPONENTS OF CR DETECTOR</a:t>
            </a:r>
          </a:p>
          <a:p>
            <a:r>
              <a:rPr lang="en-US" dirty="0" smtClean="0"/>
              <a:t>ADVANTAGES OF CR IMAGING DETECTOR</a:t>
            </a:r>
          </a:p>
          <a:p>
            <a:r>
              <a:rPr lang="en-US" dirty="0" smtClean="0"/>
              <a:t>DISADVANTAGES OF CR IMAGING DETECTOR</a:t>
            </a:r>
          </a:p>
          <a:p>
            <a:r>
              <a:rPr lang="en-US" dirty="0" smtClean="0"/>
              <a:t>SUMMARY OF CR IMAGING  OPERATION</a:t>
            </a:r>
            <a:endParaRPr lang="en-US" dirty="0"/>
          </a:p>
          <a:p>
            <a:r>
              <a:rPr lang="en-US" dirty="0"/>
              <a:t>THE DIGITAL IMAGING (DR ) RECEPTOR</a:t>
            </a:r>
          </a:p>
          <a:p>
            <a:r>
              <a:rPr lang="en-US" dirty="0"/>
              <a:t>TYPES OF </a:t>
            </a:r>
            <a:r>
              <a:rPr lang="en-US" dirty="0" smtClean="0"/>
              <a:t>( DR )DIGITAL </a:t>
            </a:r>
            <a:r>
              <a:rPr lang="en-US" dirty="0"/>
              <a:t>IMAGE </a:t>
            </a:r>
            <a:r>
              <a:rPr lang="en-US" dirty="0" smtClean="0"/>
              <a:t>PROCESSING</a:t>
            </a:r>
          </a:p>
          <a:p>
            <a:r>
              <a:rPr lang="en-US" dirty="0" smtClean="0"/>
              <a:t>COMPONENTS/CROSS SECTION OF DR PLATE</a:t>
            </a:r>
            <a:endParaRPr lang="en-US" dirty="0"/>
          </a:p>
          <a:p>
            <a:r>
              <a:rPr lang="en-US" dirty="0" smtClean="0"/>
              <a:t>SUMMARY OF DR </a:t>
            </a:r>
            <a:r>
              <a:rPr lang="en-US" dirty="0"/>
              <a:t>IMAGING PROCESSING OPERATIONS</a:t>
            </a:r>
          </a:p>
          <a:p>
            <a:r>
              <a:rPr lang="en-US" dirty="0" smtClean="0"/>
              <a:t>ADVANTAGES AND DISADVANTAGES </a:t>
            </a:r>
            <a:r>
              <a:rPr lang="en-US" dirty="0"/>
              <a:t>OF </a:t>
            </a:r>
            <a:r>
              <a:rPr lang="en-US" dirty="0" smtClean="0"/>
              <a:t>DR  </a:t>
            </a:r>
            <a:r>
              <a:rPr lang="en-US" dirty="0"/>
              <a:t>IMAGING PROCESSING</a:t>
            </a:r>
          </a:p>
          <a:p>
            <a:r>
              <a:rPr lang="en-US" dirty="0"/>
              <a:t>DIFFERENCES BETWEEN CONVENTIONAL AND DIGITAL IMAGING </a:t>
            </a:r>
            <a:r>
              <a:rPr lang="en-US" dirty="0" smtClean="0"/>
              <a:t>PROCESSING</a:t>
            </a:r>
          </a:p>
          <a:p>
            <a:endParaRPr lang="en-US" dirty="0"/>
          </a:p>
          <a:p>
            <a:endParaRPr lang="en-US" dirty="0"/>
          </a:p>
        </p:txBody>
      </p:sp>
      <p:sp>
        <p:nvSpPr>
          <p:cNvPr id="3" name="Title 2"/>
          <p:cNvSpPr>
            <a:spLocks noGrp="1"/>
          </p:cNvSpPr>
          <p:nvPr>
            <p:ph type="title"/>
          </p:nvPr>
        </p:nvSpPr>
        <p:spPr>
          <a:xfrm>
            <a:off x="457200" y="338328"/>
            <a:ext cx="8229600" cy="930432"/>
          </a:xfrm>
        </p:spPr>
        <p:txBody>
          <a:bodyPr>
            <a:normAutofit/>
          </a:bodyPr>
          <a:lstStyle/>
          <a:p>
            <a:r>
              <a:rPr lang="en-US" sz="3600" dirty="0" smtClean="0"/>
              <a:t>COURSE OUTLINE CONTD</a:t>
            </a:r>
            <a:endParaRPr lang="en-US" sz="3600" dirty="0"/>
          </a:p>
        </p:txBody>
      </p:sp>
    </p:spTree>
    <p:extLst>
      <p:ext uri="{BB962C8B-B14F-4D97-AF65-F5344CB8AC3E}">
        <p14:creationId xmlns:p14="http://schemas.microsoft.com/office/powerpoint/2010/main" val="3172270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700808"/>
            <a:ext cx="7408333" cy="4425355"/>
          </a:xfrm>
        </p:spPr>
        <p:txBody>
          <a:bodyPr>
            <a:normAutofit/>
          </a:bodyPr>
          <a:lstStyle/>
          <a:p>
            <a:r>
              <a:rPr lang="en-US" dirty="0" smtClean="0"/>
              <a:t>A </a:t>
            </a:r>
            <a:r>
              <a:rPr lang="en-US" dirty="0"/>
              <a:t>daylight film processor is a radiographic film processing system that allows radiographers to handle and process X-ray films in normal room light without using a darkroom.</a:t>
            </a:r>
          </a:p>
          <a:p>
            <a:r>
              <a:rPr lang="en-US" dirty="0"/>
              <a:t>It uses a special light-tight system to protect the unexposed film from unwanted light while the film is being loaded, processed, and removed.</a:t>
            </a:r>
          </a:p>
          <a:p>
            <a:endParaRPr lang="en-US" dirty="0"/>
          </a:p>
        </p:txBody>
      </p:sp>
      <p:sp>
        <p:nvSpPr>
          <p:cNvPr id="2" name="Title 1"/>
          <p:cNvSpPr>
            <a:spLocks noGrp="1"/>
          </p:cNvSpPr>
          <p:nvPr>
            <p:ph type="title"/>
          </p:nvPr>
        </p:nvSpPr>
        <p:spPr>
          <a:xfrm>
            <a:off x="457200" y="629816"/>
            <a:ext cx="8229600" cy="1143000"/>
          </a:xfrm>
        </p:spPr>
        <p:txBody>
          <a:bodyPr>
            <a:normAutofit fontScale="90000"/>
          </a:bodyPr>
          <a:lstStyle/>
          <a:p>
            <a:r>
              <a:rPr lang="en-US" b="1" dirty="0" smtClean="0"/>
              <a:t>CONCEPT OF DAYLIGHT FILM PROCESSING </a:t>
            </a:r>
            <a:r>
              <a:rPr lang="en-US" dirty="0"/>
              <a:t/>
            </a:r>
            <a:br>
              <a:rPr lang="en-US" dirty="0"/>
            </a:br>
            <a:endParaRPr lang="en-US" dirty="0"/>
          </a:p>
        </p:txBody>
      </p:sp>
    </p:spTree>
    <p:extLst>
      <p:ext uri="{BB962C8B-B14F-4D97-AF65-F5344CB8AC3E}">
        <p14:creationId xmlns:p14="http://schemas.microsoft.com/office/powerpoint/2010/main" val="26205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340768"/>
            <a:ext cx="7408333" cy="5400600"/>
          </a:xfrm>
        </p:spPr>
        <p:txBody>
          <a:bodyPr>
            <a:normAutofit lnSpcReduction="10000"/>
          </a:bodyPr>
          <a:lstStyle/>
          <a:p>
            <a:r>
              <a:rPr lang="en-US" dirty="0" smtClean="0"/>
              <a:t>The </a:t>
            </a:r>
            <a:r>
              <a:rPr lang="en-US" dirty="0"/>
              <a:t>process generally follows these steps:</a:t>
            </a:r>
          </a:p>
          <a:p>
            <a:r>
              <a:rPr lang="en-US" dirty="0"/>
              <a:t>1. Film loading</a:t>
            </a:r>
          </a:p>
          <a:p>
            <a:pPr marL="0" indent="0">
              <a:buNone/>
            </a:pPr>
            <a:r>
              <a:rPr lang="en-US" dirty="0"/>
              <a:t>The exposed X-ray cassette is placed into the daylight loading compartment</a:t>
            </a:r>
            <a:r>
              <a:rPr lang="en-US" dirty="0" smtClean="0"/>
              <a:t>.</a:t>
            </a:r>
            <a:endParaRPr lang="en-US" dirty="0"/>
          </a:p>
          <a:p>
            <a:r>
              <a:rPr lang="en-US" dirty="0" smtClean="0"/>
              <a:t> </a:t>
            </a:r>
            <a:r>
              <a:rPr lang="en-US" dirty="0"/>
              <a:t>Film extraction</a:t>
            </a:r>
          </a:p>
          <a:p>
            <a:pPr marL="0" indent="0">
              <a:buNone/>
            </a:pPr>
            <a:r>
              <a:rPr lang="en-US" dirty="0"/>
              <a:t>The system opens the cassette inside a light-protected compartment and removes the exposed film</a:t>
            </a:r>
            <a:r>
              <a:rPr lang="en-US" dirty="0" smtClean="0"/>
              <a:t>.</a:t>
            </a:r>
          </a:p>
          <a:p>
            <a:r>
              <a:rPr lang="en-US" dirty="0" smtClean="0"/>
              <a:t> </a:t>
            </a:r>
            <a:r>
              <a:rPr lang="en-US" dirty="0"/>
              <a:t>Film processing</a:t>
            </a:r>
          </a:p>
          <a:p>
            <a:pPr marL="0" indent="0">
              <a:buNone/>
            </a:pPr>
            <a:r>
              <a:rPr lang="en-US" dirty="0"/>
              <a:t>The film passes through the processing stages: developing, fixing, washing, and drying. Some systems integrate these stages into an automatic processor</a:t>
            </a:r>
            <a:r>
              <a:rPr lang="en-US" dirty="0" smtClean="0"/>
              <a:t>.</a:t>
            </a:r>
            <a:endParaRPr lang="en-US" dirty="0"/>
          </a:p>
          <a:p>
            <a:r>
              <a:rPr lang="en-US" dirty="0" smtClean="0"/>
              <a:t> </a:t>
            </a:r>
            <a:r>
              <a:rPr lang="en-US" dirty="0"/>
              <a:t>Film collection</a:t>
            </a:r>
          </a:p>
          <a:p>
            <a:pPr marL="0" indent="0">
              <a:buNone/>
            </a:pPr>
            <a:r>
              <a:rPr lang="en-US" dirty="0"/>
              <a:t>The processed, dry radiograph is delivered for viewing and interpretation.</a:t>
            </a:r>
          </a:p>
          <a:p>
            <a:endParaRPr lang="en-US" dirty="0"/>
          </a:p>
          <a:p>
            <a:endParaRPr lang="en-US" dirty="0"/>
          </a:p>
        </p:txBody>
      </p:sp>
      <p:sp>
        <p:nvSpPr>
          <p:cNvPr id="2" name="Title 1"/>
          <p:cNvSpPr>
            <a:spLocks noGrp="1"/>
          </p:cNvSpPr>
          <p:nvPr>
            <p:ph type="title"/>
          </p:nvPr>
        </p:nvSpPr>
        <p:spPr/>
        <p:txBody>
          <a:bodyPr/>
          <a:lstStyle/>
          <a:p>
            <a:r>
              <a:rPr lang="en-US" dirty="0" smtClean="0"/>
              <a:t>MODE OF OPERATION </a:t>
            </a:r>
            <a:endParaRPr lang="en-US" dirty="0"/>
          </a:p>
        </p:txBody>
      </p:sp>
    </p:spTree>
    <p:extLst>
      <p:ext uri="{BB962C8B-B14F-4D97-AF65-F5344CB8AC3E}">
        <p14:creationId xmlns:p14="http://schemas.microsoft.com/office/powerpoint/2010/main" val="352111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556792"/>
            <a:ext cx="7408333" cy="4569371"/>
          </a:xfrm>
        </p:spPr>
        <p:txBody>
          <a:bodyPr>
            <a:normAutofit fontScale="92500" lnSpcReduction="20000"/>
          </a:bodyPr>
          <a:lstStyle/>
          <a:p>
            <a:r>
              <a:rPr lang="en-US" dirty="0" smtClean="0"/>
              <a:t>The </a:t>
            </a:r>
            <a:r>
              <a:rPr lang="en-US" dirty="0"/>
              <a:t>main components may include:</a:t>
            </a:r>
          </a:p>
          <a:p>
            <a:pPr lvl="0"/>
            <a:r>
              <a:rPr lang="en-US" dirty="0"/>
              <a:t>Film loading compartment — receives the exposed cassette.</a:t>
            </a:r>
          </a:p>
          <a:p>
            <a:pPr lvl="0"/>
            <a:r>
              <a:rPr lang="en-US" dirty="0"/>
              <a:t>Cassette opening mechanism — opens the cassette safely within the protected chamber.</a:t>
            </a:r>
          </a:p>
          <a:p>
            <a:pPr lvl="0"/>
            <a:r>
              <a:rPr lang="en-US" dirty="0"/>
              <a:t>Film extraction mechanism — removes the film from the cassette.</a:t>
            </a:r>
          </a:p>
          <a:p>
            <a:pPr lvl="0"/>
            <a:r>
              <a:rPr lang="en-US" dirty="0"/>
              <a:t>Light-tight chamber — prevents unwanted light from reaching the film.</a:t>
            </a:r>
          </a:p>
          <a:p>
            <a:pPr lvl="0"/>
            <a:r>
              <a:rPr lang="en-US" dirty="0"/>
              <a:t>Film transport system — moves the film through the processor.</a:t>
            </a:r>
          </a:p>
          <a:p>
            <a:pPr lvl="0"/>
            <a:r>
              <a:rPr lang="en-US" dirty="0"/>
              <a:t>Processing unit — carries out developing, fixing, washing, and drying.</a:t>
            </a:r>
          </a:p>
          <a:p>
            <a:pPr lvl="0"/>
            <a:r>
              <a:rPr lang="en-US" dirty="0"/>
              <a:t>Film collection tray — receives the finished radiograph.</a:t>
            </a:r>
          </a:p>
          <a:p>
            <a:endParaRPr lang="en-US" dirty="0"/>
          </a:p>
        </p:txBody>
      </p:sp>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Components </a:t>
            </a:r>
            <a:r>
              <a:rPr lang="en-US" b="1" dirty="0"/>
              <a:t>of a daylight film processor</a:t>
            </a:r>
            <a:r>
              <a:rPr lang="en-US" dirty="0"/>
              <a:t/>
            </a:r>
            <a:br>
              <a:rPr lang="en-US" dirty="0"/>
            </a:br>
            <a:endParaRPr lang="en-US" dirty="0"/>
          </a:p>
        </p:txBody>
      </p:sp>
    </p:spTree>
    <p:extLst>
      <p:ext uri="{BB962C8B-B14F-4D97-AF65-F5344CB8AC3E}">
        <p14:creationId xmlns:p14="http://schemas.microsoft.com/office/powerpoint/2010/main" val="3739746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38328"/>
            <a:ext cx="8229600" cy="642400"/>
          </a:xfrm>
        </p:spPr>
        <p:txBody>
          <a:bodyPr>
            <a:normAutofit fontScale="90000"/>
          </a:bodyPr>
          <a:lstStyle/>
          <a:p>
            <a:r>
              <a:rPr lang="en-US" dirty="0" smtClean="0"/>
              <a:t>A DAYLIGHT FILM PROCESSOR</a:t>
            </a:r>
            <a:endParaRPr lang="en-US" dirty="0"/>
          </a:p>
        </p:txBody>
      </p:sp>
      <p:pic>
        <p:nvPicPr>
          <p:cNvPr id="4" name="Content Placeholder 3" descr="Dental Film Processing | PPT"/>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908720"/>
            <a:ext cx="9144000" cy="5949280"/>
          </a:xfrm>
          <a:prstGeom prst="rect">
            <a:avLst/>
          </a:prstGeom>
          <a:noFill/>
          <a:ln>
            <a:noFill/>
          </a:ln>
        </p:spPr>
      </p:pic>
    </p:spTree>
    <p:extLst>
      <p:ext uri="{BB962C8B-B14F-4D97-AF65-F5344CB8AC3E}">
        <p14:creationId xmlns:p14="http://schemas.microsoft.com/office/powerpoint/2010/main" val="1366696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340768"/>
            <a:ext cx="7408333" cy="5184576"/>
          </a:xfrm>
        </p:spPr>
        <p:txBody>
          <a:bodyPr>
            <a:normAutofit fontScale="92500" lnSpcReduction="20000"/>
          </a:bodyPr>
          <a:lstStyle/>
          <a:p>
            <a:r>
              <a:rPr lang="en-US" b="1" dirty="0"/>
              <a:t>Advantages</a:t>
            </a:r>
            <a:endParaRPr lang="en-US" dirty="0"/>
          </a:p>
          <a:p>
            <a:pPr lvl="0"/>
            <a:r>
              <a:rPr lang="en-US" dirty="0"/>
              <a:t>Eliminates the need for a conventional darkroom for routine film handling.</a:t>
            </a:r>
          </a:p>
          <a:p>
            <a:pPr lvl="0"/>
            <a:r>
              <a:rPr lang="en-US" dirty="0"/>
              <a:t>Reduces the risk of accidental film fogging.</a:t>
            </a:r>
          </a:p>
          <a:p>
            <a:pPr lvl="0"/>
            <a:r>
              <a:rPr lang="en-US" dirty="0"/>
              <a:t>Speeds up the film-handling workflow.</a:t>
            </a:r>
          </a:p>
          <a:p>
            <a:pPr lvl="0"/>
            <a:r>
              <a:rPr lang="en-US" dirty="0"/>
              <a:t>Improves convenience and cleanliness.</a:t>
            </a:r>
          </a:p>
          <a:p>
            <a:pPr lvl="0"/>
            <a:r>
              <a:rPr lang="en-US" dirty="0"/>
              <a:t>Allows films to be loaded and unloaded in normal room lighting.</a:t>
            </a:r>
          </a:p>
          <a:p>
            <a:r>
              <a:rPr lang="en-US" b="1" dirty="0"/>
              <a:t>Disadvantages</a:t>
            </a:r>
            <a:endParaRPr lang="en-US" dirty="0"/>
          </a:p>
          <a:p>
            <a:pPr lvl="0"/>
            <a:r>
              <a:rPr lang="en-US" dirty="0"/>
              <a:t>Equipment can be expensive to purchase and maintain.</a:t>
            </a:r>
          </a:p>
          <a:p>
            <a:pPr lvl="0"/>
            <a:r>
              <a:rPr lang="en-US" dirty="0"/>
              <a:t>Mechanical faults may interrupt film processing.</a:t>
            </a:r>
          </a:p>
          <a:p>
            <a:pPr lvl="0"/>
            <a:r>
              <a:rPr lang="en-US" dirty="0"/>
              <a:t>Processing chemicals require regular maintenance and replacement.</a:t>
            </a:r>
          </a:p>
          <a:p>
            <a:pPr lvl="0"/>
            <a:r>
              <a:rPr lang="en-US" dirty="0"/>
              <a:t>It is mainly used with conventional screen-film radiography, not as the normal processing method for digital radiography.</a:t>
            </a:r>
          </a:p>
          <a:p>
            <a:endParaRPr lang="en-US" dirty="0"/>
          </a:p>
        </p:txBody>
      </p:sp>
      <p:sp>
        <p:nvSpPr>
          <p:cNvPr id="2" name="Title 1"/>
          <p:cNvSpPr>
            <a:spLocks noGrp="1"/>
          </p:cNvSpPr>
          <p:nvPr>
            <p:ph type="title"/>
          </p:nvPr>
        </p:nvSpPr>
        <p:spPr>
          <a:xfrm>
            <a:off x="457200" y="338328"/>
            <a:ext cx="8229600" cy="1002440"/>
          </a:xfrm>
        </p:spPr>
        <p:txBody>
          <a:bodyPr>
            <a:noAutofit/>
          </a:bodyPr>
          <a:lstStyle/>
          <a:p>
            <a:r>
              <a:rPr lang="en-US" sz="3600" dirty="0" smtClean="0"/>
              <a:t>ADVANTAGES AND DISADVANTAGES OF DAYLIGHT PROCESSING</a:t>
            </a:r>
            <a:endParaRPr lang="en-US" sz="3600" dirty="0"/>
          </a:p>
        </p:txBody>
      </p:sp>
    </p:spTree>
    <p:extLst>
      <p:ext uri="{BB962C8B-B14F-4D97-AF65-F5344CB8AC3E}">
        <p14:creationId xmlns:p14="http://schemas.microsoft.com/office/powerpoint/2010/main" val="3166458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2668017558"/>
              </p:ext>
            </p:extLst>
          </p:nvPr>
        </p:nvGraphicFramePr>
        <p:xfrm>
          <a:off x="323528" y="1628799"/>
          <a:ext cx="8424936" cy="4896546"/>
        </p:xfrm>
        <a:graphic>
          <a:graphicData uri="http://schemas.openxmlformats.org/drawingml/2006/table">
            <a:tbl>
              <a:tblPr firstRow="1" firstCol="1" bandRow="1">
                <a:tableStyleId>{5C22544A-7EE6-4342-B048-85BDC9FD1C3A}</a:tableStyleId>
              </a:tblPr>
              <a:tblGrid>
                <a:gridCol w="2808312"/>
                <a:gridCol w="2808312"/>
                <a:gridCol w="2808312"/>
              </a:tblGrid>
              <a:tr h="616851">
                <a:tc>
                  <a:txBody>
                    <a:bodyPr/>
                    <a:lstStyle/>
                    <a:p>
                      <a:pPr algn="ctr">
                        <a:lnSpc>
                          <a:spcPct val="115000"/>
                        </a:lnSpc>
                        <a:spcAft>
                          <a:spcPts val="1000"/>
                        </a:spcAft>
                      </a:pPr>
                      <a:r>
                        <a:rPr lang="en-US" sz="1200">
                          <a:effectLst/>
                        </a:rPr>
                        <a:t>Feature</a:t>
                      </a:r>
                      <a:endParaRPr lang="en-US" sz="110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200">
                          <a:effectLst/>
                        </a:rPr>
                        <a:t>Daylight processor</a:t>
                      </a:r>
                      <a:endParaRPr lang="en-US" sz="110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200">
                          <a:effectLst/>
                        </a:rPr>
                        <a:t>Darkroom processing</a:t>
                      </a:r>
                      <a:endParaRPr lang="en-US" sz="1100">
                        <a:effectLst/>
                        <a:latin typeface="Calibri"/>
                        <a:ea typeface="Calibri"/>
                        <a:cs typeface="Times New Roman"/>
                      </a:endParaRPr>
                    </a:p>
                  </a:txBody>
                  <a:tcPr marL="9525" marR="9525" marT="9525" marB="9525" anchor="ctr"/>
                </a:tc>
              </a:tr>
              <a:tr h="1214571">
                <a:tc>
                  <a:txBody>
                    <a:bodyPr/>
                    <a:lstStyle/>
                    <a:p>
                      <a:pPr>
                        <a:lnSpc>
                          <a:spcPct val="115000"/>
                        </a:lnSpc>
                        <a:spcAft>
                          <a:spcPts val="1000"/>
                        </a:spcAft>
                      </a:pPr>
                      <a:r>
                        <a:rPr lang="en-US" sz="1200">
                          <a:effectLst/>
                        </a:rPr>
                        <a:t>Room required</a:t>
                      </a:r>
                      <a:endParaRPr lang="en-US"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n-US" sz="1200">
                          <a:effectLst/>
                        </a:rPr>
                        <a:t>Normal room lighting</a:t>
                      </a:r>
                      <a:endParaRPr lang="en-US"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n-US" sz="1200">
                          <a:effectLst/>
                        </a:rPr>
                        <a:t>Darkroom or appropriate safelight conditions</a:t>
                      </a:r>
                      <a:endParaRPr lang="en-US" sz="1100">
                        <a:effectLst/>
                        <a:latin typeface="Calibri"/>
                        <a:ea typeface="Calibri"/>
                        <a:cs typeface="Times New Roman"/>
                      </a:endParaRPr>
                    </a:p>
                  </a:txBody>
                  <a:tcPr marL="9525" marR="9525" marT="9525" marB="9525" anchor="ctr"/>
                </a:tc>
              </a:tr>
              <a:tr h="1214571">
                <a:tc>
                  <a:txBody>
                    <a:bodyPr/>
                    <a:lstStyle/>
                    <a:p>
                      <a:pPr>
                        <a:lnSpc>
                          <a:spcPct val="115000"/>
                        </a:lnSpc>
                        <a:spcAft>
                          <a:spcPts val="1000"/>
                        </a:spcAft>
                      </a:pPr>
                      <a:r>
                        <a:rPr lang="en-US" sz="1200">
                          <a:effectLst/>
                        </a:rPr>
                        <a:t>Film handling</a:t>
                      </a:r>
                      <a:endParaRPr lang="en-US"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n-US" sz="1200">
                          <a:effectLst/>
                        </a:rPr>
                        <a:t>Enclosed, light-protected system</a:t>
                      </a:r>
                      <a:endParaRPr lang="en-US"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n-US" sz="1200">
                          <a:effectLst/>
                        </a:rPr>
                        <a:t>Manual handling in darkness or under a suitable safelight</a:t>
                      </a:r>
                      <a:endParaRPr lang="en-US" sz="1100">
                        <a:effectLst/>
                        <a:latin typeface="Calibri"/>
                        <a:ea typeface="Calibri"/>
                        <a:cs typeface="Times New Roman"/>
                      </a:endParaRPr>
                    </a:p>
                  </a:txBody>
                  <a:tcPr marL="9525" marR="9525" marT="9525" marB="9525" anchor="ctr"/>
                </a:tc>
              </a:tr>
              <a:tr h="616851">
                <a:tc>
                  <a:txBody>
                    <a:bodyPr/>
                    <a:lstStyle/>
                    <a:p>
                      <a:pPr>
                        <a:lnSpc>
                          <a:spcPct val="115000"/>
                        </a:lnSpc>
                        <a:spcAft>
                          <a:spcPts val="1000"/>
                        </a:spcAft>
                      </a:pPr>
                      <a:r>
                        <a:rPr lang="en-US" sz="1200">
                          <a:effectLst/>
                        </a:rPr>
                        <a:t>Workflow</a:t>
                      </a:r>
                      <a:endParaRPr lang="en-US"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n-US" sz="1200">
                          <a:effectLst/>
                        </a:rPr>
                        <a:t>Usually faster and more convenient</a:t>
                      </a:r>
                      <a:endParaRPr lang="en-US"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n-US" sz="1200">
                          <a:effectLst/>
                        </a:rPr>
                        <a:t>Often more labour-intensive</a:t>
                      </a:r>
                      <a:endParaRPr lang="en-US" sz="1100">
                        <a:effectLst/>
                        <a:latin typeface="Calibri"/>
                        <a:ea typeface="Calibri"/>
                        <a:cs typeface="Times New Roman"/>
                      </a:endParaRPr>
                    </a:p>
                  </a:txBody>
                  <a:tcPr marL="9525" marR="9525" marT="9525" marB="9525" anchor="ctr"/>
                </a:tc>
              </a:tr>
              <a:tr h="616851">
                <a:tc>
                  <a:txBody>
                    <a:bodyPr/>
                    <a:lstStyle/>
                    <a:p>
                      <a:pPr>
                        <a:lnSpc>
                          <a:spcPct val="115000"/>
                        </a:lnSpc>
                        <a:spcAft>
                          <a:spcPts val="1000"/>
                        </a:spcAft>
                      </a:pPr>
                      <a:r>
                        <a:rPr lang="en-US" sz="1200">
                          <a:effectLst/>
                        </a:rPr>
                        <a:t>Film protection</a:t>
                      </a:r>
                      <a:endParaRPr lang="en-US"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n-US" sz="1200">
                          <a:effectLst/>
                        </a:rPr>
                        <a:t>Light-tight loading system</a:t>
                      </a:r>
                      <a:endParaRPr lang="en-US"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n-US" sz="1200">
                          <a:effectLst/>
                        </a:rPr>
                        <a:t>Controlled lighting environment</a:t>
                      </a:r>
                      <a:endParaRPr lang="en-US" sz="1100">
                        <a:effectLst/>
                        <a:latin typeface="Calibri"/>
                        <a:ea typeface="Calibri"/>
                        <a:cs typeface="Times New Roman"/>
                      </a:endParaRPr>
                    </a:p>
                  </a:txBody>
                  <a:tcPr marL="9525" marR="9525" marT="9525" marB="9525" anchor="ctr"/>
                </a:tc>
              </a:tr>
              <a:tr h="616851">
                <a:tc>
                  <a:txBody>
                    <a:bodyPr/>
                    <a:lstStyle/>
                    <a:p>
                      <a:pPr>
                        <a:lnSpc>
                          <a:spcPct val="115000"/>
                        </a:lnSpc>
                        <a:spcAft>
                          <a:spcPts val="1000"/>
                        </a:spcAft>
                      </a:pPr>
                      <a:r>
                        <a:rPr lang="en-US" sz="1200">
                          <a:effectLst/>
                        </a:rPr>
                        <a:t>Common use</a:t>
                      </a:r>
                      <a:endParaRPr lang="en-US"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n-US" sz="1200">
                          <a:effectLst/>
                        </a:rPr>
                        <a:t>Conventional film-based radiography</a:t>
                      </a:r>
                      <a:endParaRPr lang="en-US"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n-US" sz="1200" dirty="0">
                          <a:effectLst/>
                        </a:rPr>
                        <a:t>Conventional film-based radiography</a:t>
                      </a:r>
                      <a:endParaRPr lang="en-US" sz="1100" dirty="0">
                        <a:effectLst/>
                        <a:latin typeface="Calibri"/>
                        <a:ea typeface="Calibri"/>
                        <a:cs typeface="Times New Roman"/>
                      </a:endParaRPr>
                    </a:p>
                  </a:txBody>
                  <a:tcPr marL="9525" marR="9525" marT="9525" marB="9525" anchor="ctr"/>
                </a:tc>
              </a:tr>
            </a:tbl>
          </a:graphicData>
        </a:graphic>
      </p:graphicFrame>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Daylight </a:t>
            </a:r>
            <a:r>
              <a:rPr lang="en-US" b="1" dirty="0"/>
              <a:t>film processor versus darkroom processing</a:t>
            </a:r>
            <a:r>
              <a:rPr lang="en-US" dirty="0"/>
              <a:t/>
            </a:r>
            <a:br>
              <a:rPr lang="en-US" dirty="0"/>
            </a:br>
            <a:endParaRPr lang="en-US" dirty="0"/>
          </a:p>
        </p:txBody>
      </p:sp>
    </p:spTree>
    <p:extLst>
      <p:ext uri="{BB962C8B-B14F-4D97-AF65-F5344CB8AC3E}">
        <p14:creationId xmlns:p14="http://schemas.microsoft.com/office/powerpoint/2010/main" val="4136271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484784"/>
            <a:ext cx="7408333" cy="4641379"/>
          </a:xfrm>
        </p:spPr>
        <p:txBody>
          <a:bodyPr>
            <a:normAutofit/>
          </a:bodyPr>
          <a:lstStyle/>
          <a:p>
            <a:r>
              <a:rPr lang="en-US" dirty="0" smtClean="0"/>
              <a:t> </a:t>
            </a:r>
            <a:r>
              <a:rPr lang="en-US" dirty="0"/>
              <a:t>A daylight film processor does not mean that X-ray film can be exposed directly to ordinary light. The film remains protected inside a light-tight compartment until it has been processed.</a:t>
            </a:r>
          </a:p>
          <a:p>
            <a:endParaRPr lang="en-US" dirty="0" smtClean="0"/>
          </a:p>
          <a:p>
            <a:r>
              <a:rPr lang="en-US" dirty="0" smtClean="0"/>
              <a:t>Also</a:t>
            </a:r>
            <a:r>
              <a:rPr lang="en-US" dirty="0"/>
              <a:t>, a daylight loader and an automatic film processor are not necessarily the same device: the daylight loader protects and transfers the film, while the processor performs the chemical processing.</a:t>
            </a:r>
          </a:p>
          <a:p>
            <a:endParaRPr lang="en-US" dirty="0"/>
          </a:p>
          <a:p>
            <a:endParaRPr lang="en-US" dirty="0"/>
          </a:p>
        </p:txBody>
      </p:sp>
      <p:sp>
        <p:nvSpPr>
          <p:cNvPr id="2" name="Title 1"/>
          <p:cNvSpPr>
            <a:spLocks noGrp="1"/>
          </p:cNvSpPr>
          <p:nvPr>
            <p:ph type="title"/>
          </p:nvPr>
        </p:nvSpPr>
        <p:spPr/>
        <p:txBody>
          <a:bodyPr/>
          <a:lstStyle/>
          <a:p>
            <a:r>
              <a:rPr lang="en-US" dirty="0" smtClean="0"/>
              <a:t>PRECAUTIONS</a:t>
            </a:r>
            <a:endParaRPr lang="en-US" dirty="0"/>
          </a:p>
        </p:txBody>
      </p:sp>
    </p:spTree>
    <p:extLst>
      <p:ext uri="{BB962C8B-B14F-4D97-AF65-F5344CB8AC3E}">
        <p14:creationId xmlns:p14="http://schemas.microsoft.com/office/powerpoint/2010/main" val="3705741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700808"/>
            <a:ext cx="7408333" cy="4425355"/>
          </a:xfrm>
        </p:spPr>
        <p:txBody>
          <a:bodyPr>
            <a:normAutofit/>
          </a:bodyPr>
          <a:lstStyle/>
          <a:p>
            <a:r>
              <a:rPr lang="en-US" dirty="0" smtClean="0"/>
              <a:t>The </a:t>
            </a:r>
            <a:r>
              <a:rPr lang="en-US" dirty="0"/>
              <a:t>concept of digital X-ray processing is the acquisition of X-ray information by a digital detector, conversion of the information into numerical data, computer processing of the data to form an image, and subsequent display, storage and transmission of that image for diagnostic purposes.</a:t>
            </a:r>
          </a:p>
          <a:p>
            <a:endParaRPr lang="en-US" dirty="0" smtClean="0"/>
          </a:p>
          <a:p>
            <a:r>
              <a:rPr lang="en-US" dirty="0" smtClean="0"/>
              <a:t>Unlike </a:t>
            </a:r>
            <a:r>
              <a:rPr lang="en-US" dirty="0"/>
              <a:t>conventional film-screen radiography, which uses photographic film and chemical processing, digital radiography uses electronic detectors and computer technology to produce images.</a:t>
            </a:r>
          </a:p>
          <a:p>
            <a:endParaRPr lang="en-US" dirty="0"/>
          </a:p>
        </p:txBody>
      </p:sp>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BASIC </a:t>
            </a:r>
            <a:r>
              <a:rPr lang="en-US" dirty="0"/>
              <a:t>PRINCIPLES OF DIGITAL IMAGING</a:t>
            </a:r>
            <a:br>
              <a:rPr lang="en-US" dirty="0"/>
            </a:br>
            <a:endParaRPr lang="en-US" dirty="0"/>
          </a:p>
        </p:txBody>
      </p:sp>
    </p:spTree>
    <p:extLst>
      <p:ext uri="{BB962C8B-B14F-4D97-AF65-F5344CB8AC3E}">
        <p14:creationId xmlns:p14="http://schemas.microsoft.com/office/powerpoint/2010/main" val="1809357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628800"/>
            <a:ext cx="7408333" cy="4497363"/>
          </a:xfrm>
        </p:spPr>
        <p:txBody>
          <a:bodyPr/>
          <a:lstStyle/>
          <a:p>
            <a:pPr lvl="0"/>
            <a:endParaRPr lang="en-US" dirty="0" smtClean="0"/>
          </a:p>
          <a:p>
            <a:pPr lvl="0"/>
            <a:r>
              <a:rPr lang="en-US" dirty="0"/>
              <a:t>There are two main types of digital X-ray receptors:</a:t>
            </a:r>
            <a:br>
              <a:rPr lang="en-US" dirty="0"/>
            </a:br>
            <a:endParaRPr lang="en-US" dirty="0"/>
          </a:p>
          <a:p>
            <a:pPr lvl="0"/>
            <a:r>
              <a:rPr lang="en-US" dirty="0" smtClean="0"/>
              <a:t>Computed </a:t>
            </a:r>
            <a:r>
              <a:rPr lang="en-US" dirty="0"/>
              <a:t>Radiography (CR) — uses a photostimulable phosphor imaging plate.</a:t>
            </a:r>
          </a:p>
          <a:p>
            <a:pPr lvl="0"/>
            <a:endParaRPr lang="en-US" dirty="0"/>
          </a:p>
          <a:p>
            <a:pPr lvl="0"/>
            <a:r>
              <a:rPr lang="en-US" dirty="0"/>
              <a:t>Digital Radiography (DR) — uses a digital detector panel to convert X-rays into digital signals.</a:t>
            </a:r>
          </a:p>
          <a:p>
            <a:endParaRPr lang="en-US" dirty="0"/>
          </a:p>
          <a:p>
            <a:endParaRPr lang="en-US" dirty="0"/>
          </a:p>
        </p:txBody>
      </p:sp>
      <p:sp>
        <p:nvSpPr>
          <p:cNvPr id="3" name="Title 2"/>
          <p:cNvSpPr>
            <a:spLocks noGrp="1"/>
          </p:cNvSpPr>
          <p:nvPr>
            <p:ph type="title"/>
          </p:nvPr>
        </p:nvSpPr>
        <p:spPr>
          <a:xfrm>
            <a:off x="457200" y="0"/>
            <a:ext cx="8229600" cy="1412776"/>
          </a:xfrm>
        </p:spPr>
        <p:txBody>
          <a:bodyPr>
            <a:noAutofit/>
          </a:bodyPr>
          <a:lstStyle/>
          <a:p>
            <a:r>
              <a:rPr lang="en-US" sz="3600" dirty="0" smtClean="0"/>
              <a:t>TYPES OF DIGITAL X RAY RECEPTORS</a:t>
            </a:r>
            <a:r>
              <a:rPr lang="en-US" sz="3600" dirty="0"/>
              <a:t/>
            </a:r>
            <a:br>
              <a:rPr lang="en-US" sz="3600" dirty="0"/>
            </a:br>
            <a:endParaRPr lang="en-US" sz="3600" dirty="0"/>
          </a:p>
        </p:txBody>
      </p:sp>
    </p:spTree>
    <p:extLst>
      <p:ext uri="{BB962C8B-B14F-4D97-AF65-F5344CB8AC3E}">
        <p14:creationId xmlns:p14="http://schemas.microsoft.com/office/powerpoint/2010/main" val="886248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9592" y="2132856"/>
            <a:ext cx="7408333" cy="5832648"/>
          </a:xfrm>
        </p:spPr>
        <p:txBody>
          <a:bodyPr>
            <a:normAutofit/>
          </a:bodyPr>
          <a:lstStyle/>
          <a:p>
            <a:r>
              <a:rPr lang="en-US" dirty="0" smtClean="0"/>
              <a:t> </a:t>
            </a:r>
            <a:r>
              <a:rPr lang="en-US" dirty="0"/>
              <a:t>Image acquisition: The detector captures the X-ray information after the beam passes through he patient.</a:t>
            </a:r>
          </a:p>
          <a:p>
            <a:pPr>
              <a:buFont typeface="Wingdings" panose="05000000000000000000" pitchFamily="2" charset="2"/>
              <a:buChar char="v"/>
            </a:pPr>
            <a:r>
              <a:rPr lang="en-US" dirty="0" smtClean="0"/>
              <a:t> </a:t>
            </a:r>
            <a:r>
              <a:rPr lang="en-US" dirty="0"/>
              <a:t>Signal conversion: The detected information is converted into an electrical signal and then into digital data. In indirect digital detectors, X-rays first produce light; in direct detectors, they produce electrical charge.</a:t>
            </a:r>
          </a:p>
          <a:p>
            <a:r>
              <a:rPr lang="en-US" dirty="0" smtClean="0"/>
              <a:t> </a:t>
            </a:r>
            <a:r>
              <a:rPr lang="en-US" dirty="0"/>
              <a:t>Analog-to-digital conversion: Where an analog signal is used, an analog-to-digital converter (ADC) converts it into numerical values</a:t>
            </a:r>
            <a:r>
              <a:rPr lang="en-US" dirty="0" smtClean="0"/>
              <a:t>.</a:t>
            </a:r>
            <a:endParaRPr lang="en-US" dirty="0"/>
          </a:p>
        </p:txBody>
      </p:sp>
      <p:sp>
        <p:nvSpPr>
          <p:cNvPr id="2" name="Title 1"/>
          <p:cNvSpPr>
            <a:spLocks noGrp="1"/>
          </p:cNvSpPr>
          <p:nvPr>
            <p:ph type="title"/>
          </p:nvPr>
        </p:nvSpPr>
        <p:spPr>
          <a:xfrm>
            <a:off x="539552" y="1268760"/>
            <a:ext cx="8229600" cy="864096"/>
          </a:xfrm>
        </p:spPr>
        <p:txBody>
          <a:bodyPr>
            <a:normAutofit fontScale="90000"/>
          </a:bodyPr>
          <a:lstStyle/>
          <a:p>
            <a:r>
              <a:rPr lang="en-US" b="1" dirty="0"/>
              <a:t>Main stages of digital X-ray </a:t>
            </a:r>
            <a:r>
              <a:rPr lang="en-US" sz="3600" b="1" dirty="0"/>
              <a:t>processing</a:t>
            </a:r>
            <a:r>
              <a:rPr lang="en-US" b="1" dirty="0"/>
              <a:t>	</a:t>
            </a:r>
            <a:r>
              <a:rPr lang="en-US" dirty="0"/>
              <a:t/>
            </a:r>
            <a:br>
              <a:rPr lang="en-US" dirty="0"/>
            </a:br>
            <a:endParaRPr lang="en-US" dirty="0"/>
          </a:p>
        </p:txBody>
      </p:sp>
    </p:spTree>
    <p:extLst>
      <p:ext uri="{BB962C8B-B14F-4D97-AF65-F5344CB8AC3E}">
        <p14:creationId xmlns:p14="http://schemas.microsoft.com/office/powerpoint/2010/main" val="3456820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124744"/>
            <a:ext cx="7408333" cy="5328592"/>
          </a:xfrm>
        </p:spPr>
        <p:txBody>
          <a:bodyPr>
            <a:normAutofit/>
          </a:bodyPr>
          <a:lstStyle/>
          <a:p>
            <a:pPr>
              <a:buFont typeface="Wingdings" panose="05000000000000000000" pitchFamily="2" charset="2"/>
              <a:buChar char="v"/>
            </a:pPr>
            <a:r>
              <a:rPr lang="en-US" dirty="0" smtClean="0"/>
              <a:t> </a:t>
            </a:r>
            <a:r>
              <a:rPr lang="en-US" dirty="0"/>
              <a:t>Image processing: The computer adjusts image characteristics, such as brightness, contrast, sharpness and noise, using appropriate processing algorithms.</a:t>
            </a:r>
          </a:p>
          <a:p>
            <a:r>
              <a:rPr lang="en-US" dirty="0" smtClean="0"/>
              <a:t> </a:t>
            </a:r>
            <a:r>
              <a:rPr lang="en-US" dirty="0"/>
              <a:t>Image display: The processed image is displayed on a diagnostic monitor.</a:t>
            </a:r>
          </a:p>
          <a:p>
            <a:r>
              <a:rPr lang="en-US" dirty="0" smtClean="0"/>
              <a:t> </a:t>
            </a:r>
            <a:r>
              <a:rPr lang="en-US" dirty="0"/>
              <a:t>Image storage and transmission: The image can be stored in a Picture Archiving and Communication System (PACS) and transmitted electronically to other departments.</a:t>
            </a:r>
          </a:p>
          <a:p>
            <a:endParaRPr lang="en-US" dirty="0"/>
          </a:p>
          <a:p>
            <a:endParaRPr lang="en-US" dirty="0"/>
          </a:p>
        </p:txBody>
      </p:sp>
      <p:sp>
        <p:nvSpPr>
          <p:cNvPr id="3" name="Title 2"/>
          <p:cNvSpPr>
            <a:spLocks noGrp="1"/>
          </p:cNvSpPr>
          <p:nvPr>
            <p:ph type="title"/>
          </p:nvPr>
        </p:nvSpPr>
        <p:spPr>
          <a:xfrm>
            <a:off x="457200" y="116632"/>
            <a:ext cx="8229600" cy="1224136"/>
          </a:xfrm>
        </p:spPr>
        <p:txBody>
          <a:bodyPr>
            <a:noAutofit/>
          </a:bodyPr>
          <a:lstStyle/>
          <a:p>
            <a:r>
              <a:rPr lang="en-US" sz="2800" b="1" dirty="0"/>
              <a:t>Main stages of digital X-ray </a:t>
            </a:r>
            <a:r>
              <a:rPr lang="en-US" sz="2800" b="1" dirty="0" smtClean="0"/>
              <a:t>processing </a:t>
            </a:r>
            <a:r>
              <a:rPr lang="en-US" sz="2800" b="1" dirty="0" err="1" smtClean="0"/>
              <a:t>Contd</a:t>
            </a:r>
            <a:r>
              <a:rPr lang="en-US" sz="2800" b="1" dirty="0"/>
              <a:t>	</a:t>
            </a:r>
            <a:r>
              <a:rPr lang="en-US" sz="2800" dirty="0"/>
              <a:t/>
            </a:r>
            <a:br>
              <a:rPr lang="en-US" sz="2800" dirty="0"/>
            </a:br>
            <a:endParaRPr lang="en-US" sz="2800" dirty="0"/>
          </a:p>
        </p:txBody>
      </p:sp>
    </p:spTree>
    <p:extLst>
      <p:ext uri="{BB962C8B-B14F-4D97-AF65-F5344CB8AC3E}">
        <p14:creationId xmlns:p14="http://schemas.microsoft.com/office/powerpoint/2010/main" val="1424439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igital Application- Computed Radiography Image Receptor Flashcards | Quizlet"/>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0" y="1484784"/>
            <a:ext cx="8892479" cy="5373216"/>
          </a:xfrm>
          <a:prstGeom prst="rect">
            <a:avLst/>
          </a:prstGeom>
          <a:noFill/>
          <a:ln>
            <a:noFill/>
          </a:ln>
        </p:spPr>
      </p:pic>
      <p:sp>
        <p:nvSpPr>
          <p:cNvPr id="2" name="Title 1"/>
          <p:cNvSpPr>
            <a:spLocks noGrp="1"/>
          </p:cNvSpPr>
          <p:nvPr>
            <p:ph type="title"/>
          </p:nvPr>
        </p:nvSpPr>
        <p:spPr>
          <a:xfrm>
            <a:off x="457200" y="0"/>
            <a:ext cx="8229600" cy="1412776"/>
          </a:xfrm>
        </p:spPr>
        <p:txBody>
          <a:bodyPr>
            <a:normAutofit/>
          </a:bodyPr>
          <a:lstStyle/>
          <a:p>
            <a:r>
              <a:rPr lang="en-US" sz="3600" b="1" dirty="0" smtClean="0"/>
              <a:t>Cross section of  </a:t>
            </a:r>
            <a:r>
              <a:rPr lang="en-US" sz="3600" b="1" dirty="0"/>
              <a:t>the CR imaging </a:t>
            </a:r>
            <a:r>
              <a:rPr lang="en-US" sz="3600" b="1" dirty="0" smtClean="0"/>
              <a:t>plate</a:t>
            </a:r>
            <a:r>
              <a:rPr lang="en-US" sz="3600" b="1" dirty="0"/>
              <a:t/>
            </a:r>
            <a:br>
              <a:rPr lang="en-US" sz="3600" b="1" dirty="0"/>
            </a:br>
            <a:endParaRPr lang="en-US" sz="3600" dirty="0"/>
          </a:p>
        </p:txBody>
      </p:sp>
    </p:spTree>
    <p:extLst>
      <p:ext uri="{BB962C8B-B14F-4D97-AF65-F5344CB8AC3E}">
        <p14:creationId xmlns:p14="http://schemas.microsoft.com/office/powerpoint/2010/main" val="3615678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Unit 2 Components of Digital Imaging Flashcards | Quizlet"/>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1259633" y="2060848"/>
            <a:ext cx="6984776" cy="4608512"/>
          </a:xfrm>
          <a:prstGeom prst="rect">
            <a:avLst/>
          </a:prstGeom>
          <a:noFill/>
          <a:ln>
            <a:noFill/>
          </a:ln>
        </p:spPr>
      </p:pic>
      <p:sp>
        <p:nvSpPr>
          <p:cNvPr id="2" name="Title 1"/>
          <p:cNvSpPr>
            <a:spLocks noGrp="1"/>
          </p:cNvSpPr>
          <p:nvPr>
            <p:ph type="title"/>
          </p:nvPr>
        </p:nvSpPr>
        <p:spPr>
          <a:xfrm>
            <a:off x="539552" y="332656"/>
            <a:ext cx="8229600" cy="1944216"/>
          </a:xfrm>
        </p:spPr>
        <p:txBody>
          <a:bodyPr>
            <a:normAutofit fontScale="90000"/>
          </a:bodyPr>
          <a:lstStyle/>
          <a:p>
            <a:r>
              <a:rPr lang="en-US" dirty="0" smtClean="0"/>
              <a:t> </a:t>
            </a:r>
            <a:r>
              <a:rPr lang="en-US" sz="2200" dirty="0"/>
              <a:t>X-ray exposure</a:t>
            </a:r>
            <a:br>
              <a:rPr lang="en-US" sz="2200" dirty="0"/>
            </a:br>
            <a:r>
              <a:rPr lang="en-US" sz="2200" dirty="0"/>
              <a:t>The imaging plate is placed inside a cassette and positioned behind the patient. When X-rays pass through the patient, the transmitted X-rays strike the phosphor layer of the plate.</a:t>
            </a:r>
            <a:br>
              <a:rPr lang="en-US" sz="2200" dirty="0"/>
            </a:br>
            <a:endParaRPr lang="en-US" sz="2200" dirty="0"/>
          </a:p>
        </p:txBody>
      </p:sp>
    </p:spTree>
    <p:extLst>
      <p:ext uri="{BB962C8B-B14F-4D97-AF65-F5344CB8AC3E}">
        <p14:creationId xmlns:p14="http://schemas.microsoft.com/office/powerpoint/2010/main" val="2459153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igital Application- Computed Radiography Image Receptor Flashcards | Quizlet"/>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107504" y="1916832"/>
            <a:ext cx="9036496" cy="4941168"/>
          </a:xfrm>
          <a:prstGeom prst="rect">
            <a:avLst/>
          </a:prstGeom>
          <a:noFill/>
          <a:ln>
            <a:noFill/>
          </a:ln>
        </p:spPr>
      </p:pic>
      <p:sp>
        <p:nvSpPr>
          <p:cNvPr id="2" name="Title 1"/>
          <p:cNvSpPr>
            <a:spLocks noGrp="1"/>
          </p:cNvSpPr>
          <p:nvPr>
            <p:ph type="title"/>
          </p:nvPr>
        </p:nvSpPr>
        <p:spPr>
          <a:xfrm>
            <a:off x="179512" y="338328"/>
            <a:ext cx="8712968" cy="1938544"/>
          </a:xfrm>
        </p:spPr>
        <p:txBody>
          <a:bodyPr>
            <a:normAutofit fontScale="90000"/>
          </a:bodyPr>
          <a:lstStyle/>
          <a:p>
            <a:r>
              <a:rPr lang="en-US" dirty="0" smtClean="0"/>
              <a:t> </a:t>
            </a:r>
            <a:r>
              <a:rPr lang="en-US" sz="3600" dirty="0"/>
              <a:t>Formation of a latent image</a:t>
            </a:r>
            <a:r>
              <a:rPr lang="en-US" dirty="0"/>
              <a:t/>
            </a:r>
            <a:br>
              <a:rPr lang="en-US" dirty="0"/>
            </a:br>
            <a:r>
              <a:rPr lang="en-US" sz="2000" dirty="0"/>
              <a:t>The phosphor absorbs X-ray energy, causing electrons to become trapped in energy levels within the phosphor crystals. The pattern of trapped electrons forms a latent image, which is an invisible stored image.</a:t>
            </a:r>
            <a:br>
              <a:rPr lang="en-US" sz="2000" dirty="0"/>
            </a:br>
            <a:endParaRPr lang="en-US" sz="2000" dirty="0"/>
          </a:p>
        </p:txBody>
      </p:sp>
    </p:spTree>
    <p:extLst>
      <p:ext uri="{BB962C8B-B14F-4D97-AF65-F5344CB8AC3E}">
        <p14:creationId xmlns:p14="http://schemas.microsoft.com/office/powerpoint/2010/main" val="2709848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smtClean="0"/>
          </a:p>
          <a:p>
            <a:endParaRPr lang="en-US" dirty="0"/>
          </a:p>
        </p:txBody>
      </p:sp>
      <p:sp>
        <p:nvSpPr>
          <p:cNvPr id="2" name="Title 1"/>
          <p:cNvSpPr>
            <a:spLocks noGrp="1"/>
          </p:cNvSpPr>
          <p:nvPr>
            <p:ph type="title"/>
          </p:nvPr>
        </p:nvSpPr>
        <p:spPr>
          <a:xfrm>
            <a:off x="457200" y="338328"/>
            <a:ext cx="8229600" cy="1722520"/>
          </a:xfrm>
        </p:spPr>
        <p:txBody>
          <a:bodyPr>
            <a:normAutofit fontScale="90000"/>
          </a:bodyPr>
          <a:lstStyle/>
          <a:p>
            <a:r>
              <a:rPr lang="en-US" dirty="0" smtClean="0"/>
              <a:t> </a:t>
            </a:r>
            <a:r>
              <a:rPr lang="en-US" sz="2200" dirty="0"/>
              <a:t>Laser scanning</a:t>
            </a:r>
            <a:br>
              <a:rPr lang="en-US" sz="2200" dirty="0"/>
            </a:br>
            <a:r>
              <a:rPr lang="en-US" sz="2200" dirty="0"/>
              <a:t>The exposed plate is inserted into a CR reader. A laser beam scans the plate and stimulates the trapped electrons, causing them to release energy as visible light.</a:t>
            </a:r>
            <a:br>
              <a:rPr lang="en-US" sz="2200" dirty="0"/>
            </a:br>
            <a:endParaRPr lang="en-US" sz="2200" dirty="0"/>
          </a:p>
        </p:txBody>
      </p:sp>
      <p:pic>
        <p:nvPicPr>
          <p:cNvPr id="4" name="Picture 3" descr="Computed Radiography (CR packet) Flashcards | Quizlet"/>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636912"/>
            <a:ext cx="4762500" cy="3400425"/>
          </a:xfrm>
          <a:prstGeom prst="rect">
            <a:avLst/>
          </a:prstGeom>
          <a:noFill/>
          <a:ln>
            <a:noFill/>
          </a:ln>
        </p:spPr>
      </p:pic>
    </p:spTree>
    <p:extLst>
      <p:ext uri="{BB962C8B-B14F-4D97-AF65-F5344CB8AC3E}">
        <p14:creationId xmlns:p14="http://schemas.microsoft.com/office/powerpoint/2010/main" val="2674878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2132856"/>
            <a:ext cx="7408333" cy="3993307"/>
          </a:xfrm>
        </p:spPr>
        <p:txBody>
          <a:bodyPr/>
          <a:lstStyle/>
          <a:p>
            <a:r>
              <a:rPr lang="en-US" dirty="0" smtClean="0"/>
              <a:t>Light </a:t>
            </a:r>
            <a:r>
              <a:rPr lang="en-US" dirty="0"/>
              <a:t>detection</a:t>
            </a:r>
          </a:p>
          <a:p>
            <a:pPr marL="0" indent="0">
              <a:buNone/>
            </a:pPr>
            <a:r>
              <a:rPr lang="en-US" dirty="0"/>
              <a:t>A light-collection system directs the emitted light to a photomultiplier tube or another suitable detector, which converts the light into an electrical signal.</a:t>
            </a:r>
          </a:p>
          <a:p>
            <a:r>
              <a:rPr lang="en-US" dirty="0" smtClean="0"/>
              <a:t> </a:t>
            </a:r>
            <a:r>
              <a:rPr lang="en-US" dirty="0"/>
              <a:t>Erasure and reuse</a:t>
            </a:r>
          </a:p>
          <a:p>
            <a:pPr marL="0" indent="0">
              <a:buNone/>
            </a:pPr>
            <a:r>
              <a:rPr lang="en-US" dirty="0"/>
              <a:t>The plate is exposed to intense light to release residual trapped energy. It is then ready for another X-ray examination.</a:t>
            </a:r>
          </a:p>
          <a:p>
            <a:endParaRPr lang="en-US" dirty="0"/>
          </a:p>
          <a:p>
            <a:endParaRPr lang="en-US" dirty="0"/>
          </a:p>
        </p:txBody>
      </p:sp>
      <p:sp>
        <p:nvSpPr>
          <p:cNvPr id="2" name="Title 1"/>
          <p:cNvSpPr>
            <a:spLocks noGrp="1"/>
          </p:cNvSpPr>
          <p:nvPr>
            <p:ph type="title"/>
          </p:nvPr>
        </p:nvSpPr>
        <p:spPr/>
        <p:txBody>
          <a:bodyPr/>
          <a:lstStyle/>
          <a:p>
            <a:endParaRPr lang="en-US" dirty="0"/>
          </a:p>
        </p:txBody>
      </p:sp>
    </p:spTree>
    <p:extLst>
      <p:ext uri="{BB962C8B-B14F-4D97-AF65-F5344CB8AC3E}">
        <p14:creationId xmlns:p14="http://schemas.microsoft.com/office/powerpoint/2010/main" val="1297300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772816"/>
            <a:ext cx="7408333" cy="4353347"/>
          </a:xfrm>
        </p:spPr>
        <p:txBody>
          <a:bodyPr/>
          <a:lstStyle/>
          <a:p>
            <a:r>
              <a:rPr lang="en-US" dirty="0" smtClean="0"/>
              <a:t>The </a:t>
            </a:r>
            <a:r>
              <a:rPr lang="en-US" dirty="0"/>
              <a:t>operation of a CR imaging plate is based on photostimulable luminescence (PSL).</a:t>
            </a:r>
          </a:p>
          <a:p>
            <a:endParaRPr lang="en-US" dirty="0" smtClean="0"/>
          </a:p>
          <a:p>
            <a:r>
              <a:rPr lang="en-US" dirty="0" smtClean="0"/>
              <a:t>This </a:t>
            </a:r>
            <a:r>
              <a:rPr lang="en-US" dirty="0"/>
              <a:t>means that the plate stores energy from X-ray exposure and releases some of that energy as light when stimulated by a </a:t>
            </a:r>
            <a:r>
              <a:rPr lang="en-US" dirty="0" smtClean="0"/>
              <a:t>laser beam.</a:t>
            </a:r>
            <a:endParaRPr lang="en-US" dirty="0"/>
          </a:p>
          <a:p>
            <a:endParaRPr lang="en-US" dirty="0"/>
          </a:p>
        </p:txBody>
      </p:sp>
      <p:sp>
        <p:nvSpPr>
          <p:cNvPr id="2" name="Title 1"/>
          <p:cNvSpPr>
            <a:spLocks noGrp="1"/>
          </p:cNvSpPr>
          <p:nvPr>
            <p:ph type="title"/>
          </p:nvPr>
        </p:nvSpPr>
        <p:spPr/>
        <p:txBody>
          <a:bodyPr>
            <a:normAutofit fontScale="90000"/>
          </a:bodyPr>
          <a:lstStyle/>
          <a:p>
            <a:r>
              <a:rPr lang="en-US" b="1" dirty="0"/>
              <a:t>The scientific principle behind CR</a:t>
            </a:r>
            <a:br>
              <a:rPr lang="en-US" b="1" dirty="0"/>
            </a:br>
            <a:endParaRPr lang="en-US" dirty="0"/>
          </a:p>
        </p:txBody>
      </p:sp>
    </p:spTree>
    <p:extLst>
      <p:ext uri="{BB962C8B-B14F-4D97-AF65-F5344CB8AC3E}">
        <p14:creationId xmlns:p14="http://schemas.microsoft.com/office/powerpoint/2010/main" val="3128690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908720"/>
            <a:ext cx="7408333" cy="5217443"/>
          </a:xfrm>
        </p:spPr>
        <p:txBody>
          <a:bodyPr>
            <a:normAutofit fontScale="92500" lnSpcReduction="10000"/>
          </a:bodyPr>
          <a:lstStyle/>
          <a:p>
            <a:r>
              <a:rPr lang="en-US" dirty="0"/>
              <a:t>A CR receptor uses an imaging plate rather than the electronic flat-panel detector described above.</a:t>
            </a:r>
          </a:p>
          <a:p>
            <a:r>
              <a:rPr lang="en-US" dirty="0"/>
              <a:t>Its main components are:</a:t>
            </a:r>
          </a:p>
          <a:p>
            <a:pPr lvl="0"/>
            <a:r>
              <a:rPr lang="en-US" dirty="0"/>
              <a:t>Protective layer — protects the imaging plate surface.</a:t>
            </a:r>
          </a:p>
          <a:p>
            <a:pPr lvl="0"/>
            <a:r>
              <a:rPr lang="en-US" dirty="0"/>
              <a:t>Photostimulable phosphor layer — stores energy from the X-ray exposure as a latent image.</a:t>
            </a:r>
          </a:p>
          <a:p>
            <a:pPr lvl="0"/>
            <a:r>
              <a:rPr lang="en-US" dirty="0"/>
              <a:t>Support layer — provides mechanical strength.</a:t>
            </a:r>
          </a:p>
          <a:p>
            <a:pPr lvl="0"/>
            <a:r>
              <a:rPr lang="en-US" dirty="0"/>
              <a:t>Light-reflecting or absorbing layer — helps control light collection and image quality, depending on the plate design.</a:t>
            </a:r>
          </a:p>
          <a:p>
            <a:pPr lvl="0"/>
            <a:r>
              <a:rPr lang="en-US" dirty="0"/>
              <a:t>Backing layer — supports and protects the plate.</a:t>
            </a:r>
          </a:p>
          <a:p>
            <a:r>
              <a:rPr lang="en-US" dirty="0"/>
              <a:t>The CR imaging plate is placed in a reader, where a laser releases stored energy as light. This light is detected and converted into a digital image.</a:t>
            </a:r>
          </a:p>
          <a:p>
            <a:endParaRPr lang="en-US" dirty="0"/>
          </a:p>
          <a:p>
            <a:endParaRPr lang="en-US" dirty="0"/>
          </a:p>
        </p:txBody>
      </p:sp>
      <p:sp>
        <p:nvSpPr>
          <p:cNvPr id="3" name="Title 2"/>
          <p:cNvSpPr>
            <a:spLocks noGrp="1"/>
          </p:cNvSpPr>
          <p:nvPr>
            <p:ph type="title"/>
          </p:nvPr>
        </p:nvSpPr>
        <p:spPr>
          <a:xfrm>
            <a:off x="457200" y="0"/>
            <a:ext cx="8229600" cy="1196752"/>
          </a:xfrm>
        </p:spPr>
        <p:txBody>
          <a:bodyPr>
            <a:normAutofit fontScale="90000"/>
          </a:bodyPr>
          <a:lstStyle/>
          <a:p>
            <a:r>
              <a:rPr lang="en-US" sz="2800" b="1" dirty="0"/>
              <a:t>Components of a Computed Radiography (CR) receptor</a:t>
            </a:r>
            <a:br>
              <a:rPr lang="en-US" sz="2800" b="1" dirty="0"/>
            </a:br>
            <a:endParaRPr lang="en-US" sz="2800" dirty="0"/>
          </a:p>
        </p:txBody>
      </p:sp>
    </p:spTree>
    <p:extLst>
      <p:ext uri="{BB962C8B-B14F-4D97-AF65-F5344CB8AC3E}">
        <p14:creationId xmlns:p14="http://schemas.microsoft.com/office/powerpoint/2010/main" val="3940791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1520" y="1124744"/>
            <a:ext cx="8712967" cy="5616624"/>
          </a:xfrm>
        </p:spPr>
        <p:txBody>
          <a:bodyPr>
            <a:normAutofit fontScale="92500" lnSpcReduction="10000"/>
          </a:bodyPr>
          <a:lstStyle/>
          <a:p>
            <a:pPr marL="0" indent="0" fontAlgn="ctr">
              <a:buNone/>
            </a:pPr>
            <a:endParaRPr lang="en-US" dirty="0"/>
          </a:p>
          <a:p>
            <a:pPr fontAlgn="ctr"/>
            <a:r>
              <a:rPr lang="en-US" b="1" dirty="0"/>
              <a:t>Scintillator or conversion layer</a:t>
            </a:r>
            <a:endParaRPr lang="en-US" dirty="0"/>
          </a:p>
          <a:p>
            <a:pPr fontAlgn="ctr"/>
            <a:r>
              <a:rPr lang="en-US" dirty="0"/>
              <a:t>Converts X-rays into light or electrical charge</a:t>
            </a:r>
          </a:p>
          <a:p>
            <a:pPr fontAlgn="ctr"/>
            <a:r>
              <a:rPr lang="en-US" b="1" dirty="0"/>
              <a:t>Photodiode array</a:t>
            </a:r>
            <a:endParaRPr lang="en-US" dirty="0"/>
          </a:p>
          <a:p>
            <a:pPr fontAlgn="ctr"/>
            <a:r>
              <a:rPr lang="en-US" dirty="0"/>
              <a:t>Converts light into electrical charge in indirect DR</a:t>
            </a:r>
          </a:p>
          <a:p>
            <a:pPr fontAlgn="ctr"/>
            <a:r>
              <a:rPr lang="en-US" b="1" dirty="0"/>
              <a:t>TFT array</a:t>
            </a:r>
            <a:endParaRPr lang="en-US" dirty="0"/>
          </a:p>
          <a:p>
            <a:pPr fontAlgn="ctr"/>
            <a:r>
              <a:rPr lang="en-US" dirty="0"/>
              <a:t>Controls pixel readout</a:t>
            </a:r>
          </a:p>
          <a:p>
            <a:pPr fontAlgn="ctr"/>
            <a:r>
              <a:rPr lang="en-US" b="1" dirty="0"/>
              <a:t>Readout electronics</a:t>
            </a:r>
            <a:endParaRPr lang="en-US" dirty="0"/>
          </a:p>
          <a:p>
            <a:pPr fontAlgn="ctr"/>
            <a:r>
              <a:rPr lang="en-US" dirty="0"/>
              <a:t>Collects detector signals</a:t>
            </a:r>
          </a:p>
          <a:p>
            <a:pPr fontAlgn="ctr"/>
            <a:r>
              <a:rPr lang="en-US" b="1" dirty="0"/>
              <a:t>ADC</a:t>
            </a:r>
            <a:endParaRPr lang="en-US" dirty="0"/>
          </a:p>
          <a:p>
            <a:pPr fontAlgn="ctr"/>
            <a:r>
              <a:rPr lang="en-US" dirty="0"/>
              <a:t>Converts analog signals into digital data</a:t>
            </a:r>
          </a:p>
          <a:p>
            <a:pPr fontAlgn="ctr"/>
            <a:r>
              <a:rPr lang="en-US" b="1" dirty="0"/>
              <a:t>Protective housing</a:t>
            </a:r>
            <a:endParaRPr lang="en-US" dirty="0"/>
          </a:p>
          <a:p>
            <a:pPr fontAlgn="ctr"/>
            <a:r>
              <a:rPr lang="en-US" dirty="0"/>
              <a:t>Protects the detector</a:t>
            </a:r>
          </a:p>
          <a:p>
            <a:pPr fontAlgn="ctr"/>
            <a:r>
              <a:rPr lang="en-US" b="1" dirty="0"/>
              <a:t>Computer/image processor</a:t>
            </a:r>
            <a:endParaRPr lang="en-US" dirty="0"/>
          </a:p>
          <a:p>
            <a:pPr fontAlgn="ctr"/>
            <a:r>
              <a:rPr lang="en-US" dirty="0"/>
              <a:t>Processes and displays the digital image</a:t>
            </a:r>
          </a:p>
          <a:p>
            <a:endParaRPr lang="en-US" dirty="0"/>
          </a:p>
        </p:txBody>
      </p:sp>
      <p:sp>
        <p:nvSpPr>
          <p:cNvPr id="3" name="Title 2"/>
          <p:cNvSpPr>
            <a:spLocks noGrp="1"/>
          </p:cNvSpPr>
          <p:nvPr>
            <p:ph type="title"/>
          </p:nvPr>
        </p:nvSpPr>
        <p:spPr>
          <a:xfrm>
            <a:off x="457200" y="476672"/>
            <a:ext cx="8229600" cy="792088"/>
          </a:xfrm>
        </p:spPr>
        <p:txBody>
          <a:bodyPr>
            <a:normAutofit/>
          </a:bodyPr>
          <a:lstStyle/>
          <a:p>
            <a:r>
              <a:rPr lang="en-US" sz="2800" dirty="0"/>
              <a:t>COMPONENTS AND </a:t>
            </a:r>
            <a:r>
              <a:rPr lang="en-US" sz="2800" dirty="0" smtClean="0"/>
              <a:t>FUNCTIONS OF CR DETECTOR </a:t>
            </a:r>
            <a:endParaRPr lang="en-US" sz="2800" dirty="0"/>
          </a:p>
        </p:txBody>
      </p:sp>
    </p:spTree>
    <p:extLst>
      <p:ext uri="{BB962C8B-B14F-4D97-AF65-F5344CB8AC3E}">
        <p14:creationId xmlns:p14="http://schemas.microsoft.com/office/powerpoint/2010/main" val="1514072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It is reusable.</a:t>
            </a:r>
          </a:p>
          <a:p>
            <a:pPr lvl="0"/>
            <a:r>
              <a:rPr lang="en-US" dirty="0"/>
              <a:t>It allows digital image processing.</a:t>
            </a:r>
          </a:p>
          <a:p>
            <a:pPr lvl="0"/>
            <a:r>
              <a:rPr lang="en-US" dirty="0"/>
              <a:t>It has a wide exposure latitude compared with conventional film.</a:t>
            </a:r>
          </a:p>
          <a:p>
            <a:pPr lvl="0"/>
            <a:r>
              <a:rPr lang="en-US" dirty="0"/>
              <a:t>It can be used with many existing X-ray units.</a:t>
            </a:r>
          </a:p>
          <a:p>
            <a:pPr lvl="0"/>
            <a:r>
              <a:rPr lang="en-US" dirty="0"/>
              <a:t>It supports digital image storage and transmission.</a:t>
            </a:r>
          </a:p>
          <a:p>
            <a:endParaRPr lang="en-US" dirty="0"/>
          </a:p>
        </p:txBody>
      </p:sp>
      <p:sp>
        <p:nvSpPr>
          <p:cNvPr id="2" name="Title 1"/>
          <p:cNvSpPr>
            <a:spLocks noGrp="1"/>
          </p:cNvSpPr>
          <p:nvPr>
            <p:ph type="title"/>
          </p:nvPr>
        </p:nvSpPr>
        <p:spPr/>
        <p:txBody>
          <a:bodyPr>
            <a:normAutofit fontScale="90000"/>
          </a:bodyPr>
          <a:lstStyle/>
          <a:p>
            <a:r>
              <a:rPr lang="en-US" b="1" dirty="0"/>
              <a:t> Advantages of a CR imaging plate</a:t>
            </a:r>
            <a:br>
              <a:rPr lang="en-US" b="1" dirty="0"/>
            </a:br>
            <a:endParaRPr lang="en-US" dirty="0"/>
          </a:p>
        </p:txBody>
      </p:sp>
    </p:spTree>
    <p:extLst>
      <p:ext uri="{BB962C8B-B14F-4D97-AF65-F5344CB8AC3E}">
        <p14:creationId xmlns:p14="http://schemas.microsoft.com/office/powerpoint/2010/main" val="3197238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US" dirty="0"/>
              <a:t>Image acquisition is slower than with most DR systems.</a:t>
            </a:r>
          </a:p>
          <a:p>
            <a:pPr lvl="0"/>
            <a:r>
              <a:rPr lang="en-US" dirty="0"/>
              <a:t>Plates can be scratched, damaged or contaminated.</a:t>
            </a:r>
          </a:p>
          <a:p>
            <a:pPr lvl="0"/>
            <a:r>
              <a:rPr lang="en-US" dirty="0"/>
              <a:t>Dust and dirt may produce image artefacts.</a:t>
            </a:r>
          </a:p>
          <a:p>
            <a:pPr lvl="0"/>
            <a:r>
              <a:rPr lang="en-US" dirty="0"/>
              <a:t>Plates require regular erasure, cleaning and maintenance.</a:t>
            </a:r>
          </a:p>
          <a:p>
            <a:pPr lvl="0"/>
            <a:r>
              <a:rPr lang="en-US" dirty="0"/>
              <a:t>Improper exposure can still result in poor image quality or unnecessary radiation exposure.</a:t>
            </a:r>
          </a:p>
          <a:p>
            <a:endParaRPr lang="en-US" dirty="0"/>
          </a:p>
        </p:txBody>
      </p:sp>
      <p:sp>
        <p:nvSpPr>
          <p:cNvPr id="2" name="Title 1"/>
          <p:cNvSpPr>
            <a:spLocks noGrp="1"/>
          </p:cNvSpPr>
          <p:nvPr>
            <p:ph type="title"/>
          </p:nvPr>
        </p:nvSpPr>
        <p:spPr/>
        <p:txBody>
          <a:bodyPr>
            <a:normAutofit fontScale="90000"/>
          </a:bodyPr>
          <a:lstStyle/>
          <a:p>
            <a:r>
              <a:rPr lang="en-US" b="1" dirty="0"/>
              <a:t> Disadvantages of a CR imaging plate</a:t>
            </a:r>
            <a:br>
              <a:rPr lang="en-US" b="1" dirty="0"/>
            </a:br>
            <a:endParaRPr lang="en-US" dirty="0"/>
          </a:p>
        </p:txBody>
      </p:sp>
    </p:spTree>
    <p:extLst>
      <p:ext uri="{BB962C8B-B14F-4D97-AF65-F5344CB8AC3E}">
        <p14:creationId xmlns:p14="http://schemas.microsoft.com/office/powerpoint/2010/main" val="839770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Patient's </a:t>
            </a:r>
            <a:r>
              <a:rPr lang="en-US" dirty="0"/>
              <a:t>body attenuates the X-rays</a:t>
            </a:r>
          </a:p>
          <a:p>
            <a:r>
              <a:rPr lang="en-US" dirty="0"/>
              <a:t>Digital imaging receptor detects transmitted X-rays</a:t>
            </a:r>
          </a:p>
          <a:p>
            <a:r>
              <a:rPr lang="en-US" dirty="0"/>
              <a:t>Signals are converted into digital data</a:t>
            </a:r>
          </a:p>
          <a:p>
            <a:r>
              <a:rPr lang="en-US" dirty="0"/>
              <a:t>Image processing and display on the monitor</a:t>
            </a:r>
          </a:p>
          <a:p>
            <a:endParaRPr lang="en-US" dirty="0"/>
          </a:p>
        </p:txBody>
      </p:sp>
      <p:sp>
        <p:nvSpPr>
          <p:cNvPr id="2" name="Title 1"/>
          <p:cNvSpPr>
            <a:spLocks noGrp="1"/>
          </p:cNvSpPr>
          <p:nvPr>
            <p:ph type="title"/>
          </p:nvPr>
        </p:nvSpPr>
        <p:spPr/>
        <p:txBody>
          <a:bodyPr>
            <a:normAutofit fontScale="90000"/>
          </a:bodyPr>
          <a:lstStyle/>
          <a:p>
            <a:r>
              <a:rPr lang="en-US" smtClean="0"/>
              <a:t>During an X-ray </a:t>
            </a:r>
            <a:r>
              <a:rPr lang="en-US" dirty="0"/>
              <a:t>exposure</a:t>
            </a:r>
            <a:br>
              <a:rPr lang="en-US" dirty="0"/>
            </a:br>
            <a:endParaRPr lang="en-US" dirty="0"/>
          </a:p>
        </p:txBody>
      </p:sp>
    </p:spTree>
    <p:extLst>
      <p:ext uri="{BB962C8B-B14F-4D97-AF65-F5344CB8AC3E}">
        <p14:creationId xmlns:p14="http://schemas.microsoft.com/office/powerpoint/2010/main" val="163003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2420888"/>
            <a:ext cx="7408333" cy="3705275"/>
          </a:xfrm>
        </p:spPr>
        <p:txBody>
          <a:bodyPr/>
          <a:lstStyle/>
          <a:p>
            <a:pPr lvl="0"/>
            <a:r>
              <a:rPr lang="en-US" dirty="0" smtClean="0"/>
              <a:t>Computed </a:t>
            </a:r>
            <a:r>
              <a:rPr lang="en-US" dirty="0"/>
              <a:t>Radiography (CR) — uses a photostimulable phosphor imaging plate.</a:t>
            </a:r>
          </a:p>
          <a:p>
            <a:pPr lvl="0"/>
            <a:endParaRPr lang="en-US" dirty="0" smtClean="0"/>
          </a:p>
          <a:p>
            <a:pPr lvl="0"/>
            <a:r>
              <a:rPr lang="en-US" dirty="0" smtClean="0"/>
              <a:t>Digital </a:t>
            </a:r>
            <a:r>
              <a:rPr lang="en-US" dirty="0"/>
              <a:t>Radiography (DR) — uses a digital detector panel to convert X-rays into digital signals.</a:t>
            </a:r>
          </a:p>
          <a:p>
            <a:endParaRPr lang="en-US" dirty="0"/>
          </a:p>
        </p:txBody>
      </p:sp>
      <p:sp>
        <p:nvSpPr>
          <p:cNvPr id="2" name="Title 1"/>
          <p:cNvSpPr>
            <a:spLocks noGrp="1"/>
          </p:cNvSpPr>
          <p:nvPr>
            <p:ph type="title"/>
          </p:nvPr>
        </p:nvSpPr>
        <p:spPr/>
        <p:txBody>
          <a:bodyPr>
            <a:normAutofit/>
          </a:bodyPr>
          <a:lstStyle/>
          <a:p>
            <a:r>
              <a:rPr lang="en-US" dirty="0" smtClean="0"/>
              <a:t>THE FLAT PANEL (DR) RECEPTOR</a:t>
            </a:r>
            <a:endParaRPr lang="en-US" dirty="0"/>
          </a:p>
        </p:txBody>
      </p:sp>
    </p:spTree>
    <p:extLst>
      <p:ext uri="{BB962C8B-B14F-4D97-AF65-F5344CB8AC3E}">
        <p14:creationId xmlns:p14="http://schemas.microsoft.com/office/powerpoint/2010/main" val="2797956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908720"/>
            <a:ext cx="9143999" cy="5949280"/>
          </a:xfrm>
        </p:spPr>
        <p:txBody>
          <a:bodyPr/>
          <a:lstStyle/>
          <a:p>
            <a:r>
              <a:rPr lang="en-US" dirty="0"/>
              <a:t>Indirect-conversion DR: Uses a scintillator to convert X-rays into visible light, a photodiode array to convert light into electrical signals, and a TFT array to read out the signals.</a:t>
            </a:r>
          </a:p>
          <a:p>
            <a:r>
              <a:rPr lang="en-US" dirty="0"/>
              <a:t>Direct-conversion DR: Uses a direct-conversion material, such as amorphous selenium (a-Se), to convert X-rays directly into electrical charges. It does not require a scintillator or photodiode layer.</a:t>
            </a:r>
          </a:p>
          <a:p>
            <a:r>
              <a:rPr lang="en-US" dirty="0"/>
              <a:t>Important distinction: Computed radiography (CR) typically uses a photostimulable phosphor imaging plate, which stores a latent image that is later read by a laser scanner. The scintillator–photodiode–TFT arrangement describes an indirect-conversion flat-panel DR detector, rather than a typical CR imaging plate.</a:t>
            </a:r>
          </a:p>
          <a:p>
            <a:endParaRPr lang="en-US" dirty="0"/>
          </a:p>
          <a:p>
            <a:endParaRPr lang="en-US" dirty="0"/>
          </a:p>
        </p:txBody>
      </p:sp>
      <p:sp>
        <p:nvSpPr>
          <p:cNvPr id="3" name="Title 2"/>
          <p:cNvSpPr>
            <a:spLocks noGrp="1"/>
          </p:cNvSpPr>
          <p:nvPr>
            <p:ph type="title"/>
          </p:nvPr>
        </p:nvSpPr>
        <p:spPr>
          <a:xfrm>
            <a:off x="457200" y="338328"/>
            <a:ext cx="8229600" cy="642400"/>
          </a:xfrm>
        </p:spPr>
        <p:txBody>
          <a:bodyPr>
            <a:normAutofit fontScale="90000"/>
          </a:bodyPr>
          <a:lstStyle/>
          <a:p>
            <a:r>
              <a:rPr lang="en-US" dirty="0"/>
              <a:t>TYPES OF DR IMAGE FORMATION</a:t>
            </a:r>
          </a:p>
        </p:txBody>
      </p:sp>
    </p:spTree>
    <p:extLst>
      <p:ext uri="{BB962C8B-B14F-4D97-AF65-F5344CB8AC3E}">
        <p14:creationId xmlns:p14="http://schemas.microsoft.com/office/powerpoint/2010/main" val="1168708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X-Ray (Radiography) — Radiography 101"/>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0" y="1268760"/>
            <a:ext cx="9144000" cy="5589240"/>
          </a:xfrm>
          <a:prstGeom prst="rect">
            <a:avLst/>
          </a:prstGeom>
          <a:noFill/>
          <a:ln>
            <a:noFill/>
          </a:ln>
        </p:spPr>
      </p:pic>
      <p:sp>
        <p:nvSpPr>
          <p:cNvPr id="2" name="Title 1"/>
          <p:cNvSpPr>
            <a:spLocks noGrp="1"/>
          </p:cNvSpPr>
          <p:nvPr>
            <p:ph type="title"/>
          </p:nvPr>
        </p:nvSpPr>
        <p:spPr>
          <a:xfrm>
            <a:off x="457200" y="0"/>
            <a:ext cx="8229600" cy="1556792"/>
          </a:xfrm>
        </p:spPr>
        <p:txBody>
          <a:bodyPr>
            <a:normAutofit/>
          </a:bodyPr>
          <a:lstStyle/>
          <a:p>
            <a:r>
              <a:rPr lang="en-US" sz="2400" b="1" dirty="0"/>
              <a:t>Main </a:t>
            </a:r>
            <a:r>
              <a:rPr lang="en-US" sz="2400" b="1" dirty="0" smtClean="0"/>
              <a:t>components/Cross section  </a:t>
            </a:r>
            <a:r>
              <a:rPr lang="en-US" sz="2400" b="1" dirty="0"/>
              <a:t>of a Digital Radiography (DR) </a:t>
            </a:r>
            <a:r>
              <a:rPr lang="en-US" sz="2400" b="1" dirty="0" smtClean="0"/>
              <a:t>detector</a:t>
            </a:r>
            <a:r>
              <a:rPr lang="en-US" sz="2400" b="1" dirty="0"/>
              <a:t/>
            </a:r>
            <a:br>
              <a:rPr lang="en-US" sz="2400" b="1" dirty="0"/>
            </a:br>
            <a:endParaRPr lang="en-US" sz="2400" dirty="0"/>
          </a:p>
        </p:txBody>
      </p:sp>
    </p:spTree>
    <p:extLst>
      <p:ext uri="{BB962C8B-B14F-4D97-AF65-F5344CB8AC3E}">
        <p14:creationId xmlns:p14="http://schemas.microsoft.com/office/powerpoint/2010/main" val="2425367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PPT - George David Associate Professor of Radiology Medical College of Georgia PowerPoint Presentation - ID:23719"/>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0" y="1628800"/>
            <a:ext cx="9144000" cy="5229200"/>
          </a:xfrm>
          <a:prstGeom prst="rect">
            <a:avLst/>
          </a:prstGeom>
          <a:noFill/>
          <a:ln>
            <a:noFill/>
          </a:ln>
        </p:spPr>
      </p:pic>
      <p:sp>
        <p:nvSpPr>
          <p:cNvPr id="2" name="Title 1"/>
          <p:cNvSpPr>
            <a:spLocks noGrp="1"/>
          </p:cNvSpPr>
          <p:nvPr>
            <p:ph type="title"/>
          </p:nvPr>
        </p:nvSpPr>
        <p:spPr>
          <a:xfrm>
            <a:off x="457200" y="188640"/>
            <a:ext cx="8229600" cy="1728192"/>
          </a:xfrm>
        </p:spPr>
        <p:txBody>
          <a:bodyPr>
            <a:normAutofit/>
          </a:bodyPr>
          <a:lstStyle/>
          <a:p>
            <a:r>
              <a:rPr lang="en-US" sz="2000" dirty="0" smtClean="0"/>
              <a:t> </a:t>
            </a:r>
            <a:r>
              <a:rPr lang="en-US" sz="2000" dirty="0"/>
              <a:t>X-ray exposure</a:t>
            </a:r>
            <a:br>
              <a:rPr lang="en-US" sz="2000" dirty="0"/>
            </a:br>
            <a:r>
              <a:rPr lang="en-US" sz="2000" dirty="0"/>
              <a:t>The X-ray tube produces X-rays that pass through the patient. Different tissues absorb different amounts of radiation, and the remaining X-rays reach the DR detector.</a:t>
            </a:r>
            <a:br>
              <a:rPr lang="en-US" sz="2000" dirty="0"/>
            </a:br>
            <a:endParaRPr lang="en-US" sz="2000" dirty="0"/>
          </a:p>
        </p:txBody>
      </p:sp>
    </p:spTree>
    <p:extLst>
      <p:ext uri="{BB962C8B-B14F-4D97-AF65-F5344CB8AC3E}">
        <p14:creationId xmlns:p14="http://schemas.microsoft.com/office/powerpoint/2010/main" val="2354647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700808"/>
            <a:ext cx="7408333" cy="4425355"/>
          </a:xfrm>
        </p:spPr>
        <p:txBody>
          <a:bodyPr/>
          <a:lstStyle/>
          <a:p>
            <a:endParaRPr lang="en-US" dirty="0"/>
          </a:p>
        </p:txBody>
      </p:sp>
      <p:sp>
        <p:nvSpPr>
          <p:cNvPr id="2" name="Title 1"/>
          <p:cNvSpPr>
            <a:spLocks noGrp="1"/>
          </p:cNvSpPr>
          <p:nvPr>
            <p:ph type="title"/>
          </p:nvPr>
        </p:nvSpPr>
        <p:spPr/>
        <p:txBody>
          <a:bodyPr>
            <a:normAutofit fontScale="90000"/>
          </a:bodyPr>
          <a:lstStyle/>
          <a:p>
            <a:r>
              <a:rPr lang="en-US" sz="2400" dirty="0" smtClean="0"/>
              <a:t> </a:t>
            </a:r>
            <a:r>
              <a:rPr lang="en-US" sz="2400" dirty="0"/>
              <a:t>Conversion of X-rays</a:t>
            </a:r>
            <a:br>
              <a:rPr lang="en-US" sz="2400" dirty="0"/>
            </a:br>
            <a:r>
              <a:rPr lang="en-US" sz="2400" dirty="0"/>
              <a:t>In an indirect-conversion detector, a scintillator—commonly cesium iodide (</a:t>
            </a:r>
            <a:r>
              <a:rPr lang="en-US" sz="2400" dirty="0" err="1"/>
              <a:t>CsI</a:t>
            </a:r>
            <a:r>
              <a:rPr lang="en-US" sz="2400" dirty="0"/>
              <a:t>) or gadolinium oxysulfide (GOS)—converts X-rays into </a:t>
            </a:r>
            <a:r>
              <a:rPr lang="en-US" sz="2400" dirty="0" smtClean="0"/>
              <a:t>visible light</a:t>
            </a:r>
            <a:r>
              <a:rPr lang="en-US" sz="2000" dirty="0" smtClean="0"/>
              <a:t>.</a:t>
            </a:r>
            <a:endParaRPr lang="en-US" sz="2000" dirty="0"/>
          </a:p>
        </p:txBody>
      </p:sp>
      <p:pic>
        <p:nvPicPr>
          <p:cNvPr id="4" name="Picture 3" descr="Worksheet 30-1: Law of Bergonie and Tribondeau Flashcards | Quizlet"/>
          <p:cNvPicPr/>
          <p:nvPr/>
        </p:nvPicPr>
        <p:blipFill>
          <a:blip r:embed="rId2">
            <a:extLst>
              <a:ext uri="{28A0092B-C50C-407E-A947-70E740481C1C}">
                <a14:useLocalDpi xmlns:a14="http://schemas.microsoft.com/office/drawing/2010/main" val="0"/>
              </a:ext>
            </a:extLst>
          </a:blip>
          <a:srcRect/>
          <a:stretch>
            <a:fillRect/>
          </a:stretch>
        </p:blipFill>
        <p:spPr bwMode="auto">
          <a:xfrm>
            <a:off x="-108520" y="1772816"/>
            <a:ext cx="9252520" cy="5085184"/>
          </a:xfrm>
          <a:prstGeom prst="rect">
            <a:avLst/>
          </a:prstGeom>
          <a:noFill/>
          <a:ln>
            <a:noFill/>
          </a:ln>
        </p:spPr>
      </p:pic>
    </p:spTree>
    <p:extLst>
      <p:ext uri="{BB962C8B-B14F-4D97-AF65-F5344CB8AC3E}">
        <p14:creationId xmlns:p14="http://schemas.microsoft.com/office/powerpoint/2010/main" val="6490346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24744"/>
            <a:ext cx="9143999" cy="6093296"/>
          </a:xfrm>
        </p:spPr>
        <p:txBody>
          <a:bodyPr>
            <a:normAutofit/>
          </a:bodyPr>
          <a:lstStyle/>
          <a:p>
            <a:r>
              <a:rPr lang="en-US" sz="3200" dirty="0" smtClean="0"/>
              <a:t>. </a:t>
            </a:r>
            <a:r>
              <a:rPr lang="en-US" sz="3200" dirty="0"/>
              <a:t>Conversion layer</a:t>
            </a:r>
          </a:p>
          <a:p>
            <a:pPr marL="0" indent="0">
              <a:buNone/>
            </a:pPr>
            <a:r>
              <a:rPr lang="en-US" sz="3200" dirty="0"/>
              <a:t>Converts incoming X-ray energy into a form that can be detected electronically.</a:t>
            </a:r>
          </a:p>
          <a:p>
            <a:pPr lvl="0"/>
            <a:r>
              <a:rPr lang="en-US" sz="3200" dirty="0"/>
              <a:t>Indirect conversion: a scintillator, such as cesium iodide (</a:t>
            </a:r>
            <a:r>
              <a:rPr lang="en-US" sz="3200" dirty="0" err="1"/>
              <a:t>CsI</a:t>
            </a:r>
            <a:r>
              <a:rPr lang="en-US" sz="3200" dirty="0"/>
              <a:t>) or gadolinium oxysulfide (GOS), converts X-rays into light.</a:t>
            </a:r>
          </a:p>
          <a:p>
            <a:pPr lvl="0"/>
            <a:r>
              <a:rPr lang="en-US" sz="3200" dirty="0"/>
              <a:t>Direct conversion: amorphous selenium (a-Se) converts X-rays directly into electrical charge.</a:t>
            </a:r>
          </a:p>
          <a:p>
            <a:endParaRPr lang="en-US" sz="3200" dirty="0"/>
          </a:p>
        </p:txBody>
      </p:sp>
      <p:sp>
        <p:nvSpPr>
          <p:cNvPr id="2" name="Title 1"/>
          <p:cNvSpPr>
            <a:spLocks noGrp="1"/>
          </p:cNvSpPr>
          <p:nvPr>
            <p:ph type="title"/>
          </p:nvPr>
        </p:nvSpPr>
        <p:spPr>
          <a:xfrm>
            <a:off x="457200" y="338328"/>
            <a:ext cx="8229600" cy="570392"/>
          </a:xfrm>
        </p:spPr>
        <p:txBody>
          <a:bodyPr>
            <a:normAutofit fontScale="90000"/>
          </a:bodyPr>
          <a:lstStyle/>
          <a:p>
            <a:endParaRPr lang="en-US" dirty="0"/>
          </a:p>
        </p:txBody>
      </p:sp>
    </p:spTree>
    <p:extLst>
      <p:ext uri="{BB962C8B-B14F-4D97-AF65-F5344CB8AC3E}">
        <p14:creationId xmlns:p14="http://schemas.microsoft.com/office/powerpoint/2010/main" val="1697739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dvances in Digital Radiography: Physical Principles and System Overview | RadioGraphics"/>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0" y="1844824"/>
            <a:ext cx="9144000" cy="5112568"/>
          </a:xfrm>
          <a:prstGeom prst="rect">
            <a:avLst/>
          </a:prstGeom>
          <a:noFill/>
          <a:ln>
            <a:noFill/>
          </a:ln>
        </p:spPr>
      </p:pic>
      <p:sp>
        <p:nvSpPr>
          <p:cNvPr id="2" name="Title 1"/>
          <p:cNvSpPr>
            <a:spLocks noGrp="1"/>
          </p:cNvSpPr>
          <p:nvPr>
            <p:ph type="title"/>
          </p:nvPr>
        </p:nvSpPr>
        <p:spPr>
          <a:xfrm>
            <a:off x="251520" y="188640"/>
            <a:ext cx="8712968" cy="2304256"/>
          </a:xfrm>
        </p:spPr>
        <p:txBody>
          <a:bodyPr>
            <a:normAutofit/>
          </a:bodyPr>
          <a:lstStyle/>
          <a:p>
            <a:r>
              <a:rPr lang="en-US" sz="2000" dirty="0"/>
              <a:t>Electrical charge formation</a:t>
            </a:r>
            <a:br>
              <a:rPr lang="en-US" sz="2000" dirty="0"/>
            </a:br>
            <a:r>
              <a:rPr lang="en-US" sz="2000" dirty="0"/>
              <a:t>In indirect detectors, photodiodes convert the light into electrical charge. In direct detectors, X-rays generate electrical charge directly in the photoconductor. The amount of charge varies with the local X-ray exposure.</a:t>
            </a:r>
            <a:br>
              <a:rPr lang="en-US" sz="2000" dirty="0"/>
            </a:br>
            <a:endParaRPr lang="en-US" sz="2000" dirty="0"/>
          </a:p>
        </p:txBody>
      </p:sp>
    </p:spTree>
    <p:extLst>
      <p:ext uri="{BB962C8B-B14F-4D97-AF65-F5344CB8AC3E}">
        <p14:creationId xmlns:p14="http://schemas.microsoft.com/office/powerpoint/2010/main" val="30678931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268760"/>
            <a:ext cx="9143999" cy="5589240"/>
          </a:xfrm>
        </p:spPr>
        <p:txBody>
          <a:bodyPr>
            <a:normAutofit fontScale="92500" lnSpcReduction="10000"/>
          </a:bodyPr>
          <a:lstStyle/>
          <a:p>
            <a:pPr marL="457200" indent="-457200">
              <a:buFont typeface="Wingdings" panose="05000000000000000000" pitchFamily="2" charset="2"/>
              <a:buChar char="§"/>
            </a:pPr>
            <a:r>
              <a:rPr lang="en-US" sz="3200" dirty="0"/>
              <a:t> </a:t>
            </a:r>
            <a:r>
              <a:rPr lang="en-US" dirty="0"/>
              <a:t>Thin-film transistor (TFT) array</a:t>
            </a:r>
          </a:p>
          <a:p>
            <a:pPr marL="0" indent="0">
              <a:buNone/>
            </a:pPr>
            <a:r>
              <a:rPr lang="en-US" dirty="0"/>
              <a:t>Acts as an electronic switching system. It allows the stored electrical charge from individual pixels to be read out</a:t>
            </a:r>
          </a:p>
          <a:p>
            <a:pPr marL="457200" indent="-457200">
              <a:buFont typeface="Wingdings" panose="05000000000000000000" pitchFamily="2" charset="2"/>
              <a:buChar char="§"/>
            </a:pPr>
            <a:r>
              <a:rPr lang="en-US" dirty="0"/>
              <a:t>  Readout electronics</a:t>
            </a:r>
          </a:p>
          <a:p>
            <a:pPr marL="0" indent="0">
              <a:buNone/>
            </a:pPr>
            <a:r>
              <a:rPr lang="en-US" dirty="0"/>
              <a:t>Collect and measure the electrical signals from the detector pixels and send them for conversion into digital data.</a:t>
            </a:r>
          </a:p>
          <a:p>
            <a:pPr marL="457200" indent="-457200">
              <a:buFont typeface="Wingdings" panose="05000000000000000000" pitchFamily="2" charset="2"/>
              <a:buChar char="§"/>
            </a:pPr>
            <a:r>
              <a:rPr lang="en-US" dirty="0"/>
              <a:t>  Readout electronics</a:t>
            </a:r>
          </a:p>
          <a:p>
            <a:pPr marL="0" indent="0" algn="ctr">
              <a:buNone/>
            </a:pPr>
            <a:r>
              <a:rPr lang="en-US" dirty="0"/>
              <a:t>Collect and measure the electrical signals from the detector pixels and send them for conversion into digital data.</a:t>
            </a:r>
          </a:p>
          <a:p>
            <a:pPr marL="342900" indent="-342900">
              <a:buFont typeface="Wingdings" panose="05000000000000000000" pitchFamily="2" charset="2"/>
              <a:buChar char="§"/>
            </a:pPr>
            <a:r>
              <a:rPr lang="en-US" dirty="0"/>
              <a:t>  Analog-to-digital converter (ADC)</a:t>
            </a:r>
          </a:p>
          <a:p>
            <a:pPr marL="0" indent="0">
              <a:buNone/>
            </a:pPr>
            <a:r>
              <a:rPr lang="en-US" dirty="0"/>
              <a:t>Converts the measured analog electrical signals into digital numerical values that a computer can process</a:t>
            </a:r>
            <a:r>
              <a:rPr lang="en-US" dirty="0" smtClean="0"/>
              <a:t>.</a:t>
            </a:r>
          </a:p>
          <a:p>
            <a:pPr>
              <a:buFont typeface="Wingdings" panose="05000000000000000000" pitchFamily="2" charset="2"/>
              <a:buChar char="§"/>
            </a:pPr>
            <a:r>
              <a:rPr lang="en-US" dirty="0" smtClean="0"/>
              <a:t>  Protective </a:t>
            </a:r>
            <a:r>
              <a:rPr lang="en-US" dirty="0"/>
              <a:t>housing and support layers</a:t>
            </a:r>
          </a:p>
          <a:p>
            <a:pPr marL="0" indent="0">
              <a:buNone/>
            </a:pPr>
            <a:r>
              <a:rPr lang="en-US" dirty="0"/>
              <a:t>Protect the sensitive detector components from physical damage and help support the detector assembly.</a:t>
            </a:r>
          </a:p>
          <a:p>
            <a:endParaRPr lang="en-US" dirty="0"/>
          </a:p>
          <a:p>
            <a:pPr marL="0" indent="0">
              <a:buNone/>
            </a:pPr>
            <a:endParaRPr lang="en-US" dirty="0"/>
          </a:p>
          <a:p>
            <a:endParaRPr lang="en-US" dirty="0"/>
          </a:p>
          <a:p>
            <a:pPr algn="ctr"/>
            <a:endParaRPr lang="en-US" dirty="0"/>
          </a:p>
          <a:p>
            <a:endParaRPr lang="en-US" dirty="0"/>
          </a:p>
        </p:txBody>
      </p:sp>
      <p:sp>
        <p:nvSpPr>
          <p:cNvPr id="3" name="Title 2"/>
          <p:cNvSpPr>
            <a:spLocks noGrp="1"/>
          </p:cNvSpPr>
          <p:nvPr>
            <p:ph type="title"/>
          </p:nvPr>
        </p:nvSpPr>
        <p:spPr>
          <a:xfrm>
            <a:off x="457200" y="338328"/>
            <a:ext cx="8229600" cy="858424"/>
          </a:xfrm>
        </p:spPr>
        <p:txBody>
          <a:bodyPr>
            <a:normAutofit fontScale="90000"/>
          </a:bodyPr>
          <a:lstStyle/>
          <a:p>
            <a:r>
              <a:rPr lang="en-US" sz="3600" dirty="0" smtClean="0"/>
              <a:t>FUNCTIONS OF DR DETECTOR PLATE SEGMENTS</a:t>
            </a:r>
            <a:endParaRPr lang="en-US" sz="3600" dirty="0"/>
          </a:p>
        </p:txBody>
      </p:sp>
    </p:spTree>
    <p:extLst>
      <p:ext uri="{BB962C8B-B14F-4D97-AF65-F5344CB8AC3E}">
        <p14:creationId xmlns:p14="http://schemas.microsoft.com/office/powerpoint/2010/main" val="7071414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ospital Grade Wireless Digital DR Panel for Digital X-Ray 10x12 &amp; 14x17, Cassette Sized true Flatpanel"/>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755576" y="1268760"/>
            <a:ext cx="7632847" cy="5589240"/>
          </a:xfrm>
          <a:prstGeom prst="rect">
            <a:avLst/>
          </a:prstGeom>
          <a:noFill/>
          <a:ln>
            <a:noFill/>
          </a:ln>
        </p:spPr>
      </p:pic>
      <p:sp>
        <p:nvSpPr>
          <p:cNvPr id="2" name="Title 1"/>
          <p:cNvSpPr>
            <a:spLocks noGrp="1"/>
          </p:cNvSpPr>
          <p:nvPr>
            <p:ph type="title"/>
          </p:nvPr>
        </p:nvSpPr>
        <p:spPr/>
        <p:txBody>
          <a:bodyPr/>
          <a:lstStyle/>
          <a:p>
            <a:r>
              <a:rPr lang="en-US" dirty="0" smtClean="0"/>
              <a:t>A FLAT  PANEL DETECTOR</a:t>
            </a:r>
            <a:endParaRPr lang="en-US" dirty="0"/>
          </a:p>
        </p:txBody>
      </p:sp>
    </p:spTree>
    <p:extLst>
      <p:ext uri="{BB962C8B-B14F-4D97-AF65-F5344CB8AC3E}">
        <p14:creationId xmlns:p14="http://schemas.microsoft.com/office/powerpoint/2010/main" val="39804868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836712"/>
            <a:ext cx="7408333" cy="7056784"/>
          </a:xfrm>
        </p:spPr>
        <p:txBody>
          <a:bodyPr>
            <a:noAutofit/>
          </a:bodyPr>
          <a:lstStyle/>
          <a:p>
            <a:r>
              <a:rPr lang="en-US" dirty="0" smtClean="0"/>
              <a:t>1</a:t>
            </a:r>
            <a:r>
              <a:rPr lang="en-US" dirty="0"/>
              <a:t>. Conversion layer</a:t>
            </a:r>
          </a:p>
          <a:p>
            <a:r>
              <a:rPr lang="en-US" dirty="0"/>
              <a:t>Converts incoming X-ray energy into a form that can be detected electronically.</a:t>
            </a:r>
          </a:p>
          <a:p>
            <a:pPr lvl="0"/>
            <a:r>
              <a:rPr lang="en-US" dirty="0"/>
              <a:t>Indirect conversion: a scintillator, such as cesium iodide (</a:t>
            </a:r>
            <a:r>
              <a:rPr lang="en-US" dirty="0" err="1"/>
              <a:t>CsI</a:t>
            </a:r>
            <a:r>
              <a:rPr lang="en-US" dirty="0"/>
              <a:t>) or gadolinium oxysulfide (GOS), converts X-rays into light.</a:t>
            </a:r>
          </a:p>
          <a:p>
            <a:r>
              <a:rPr lang="en-US" dirty="0"/>
              <a:t>Direct conversion: amorphous selenium (a-Se) converts X-rays directly into electrical charge</a:t>
            </a:r>
          </a:p>
          <a:p>
            <a:r>
              <a:rPr lang="en-US" dirty="0"/>
              <a:t>2. Photodiode array</a:t>
            </a:r>
          </a:p>
          <a:p>
            <a:r>
              <a:rPr lang="en-US" dirty="0"/>
              <a:t>In indirect-conversion detectors, photodiodes convert light from the scintillator into electrical charge. They are usually made from amorphous silicon</a:t>
            </a:r>
            <a:r>
              <a:rPr lang="en-US" dirty="0" smtClean="0"/>
              <a:t>.</a:t>
            </a:r>
            <a:endParaRPr lang="en-US" dirty="0"/>
          </a:p>
        </p:txBody>
      </p:sp>
      <p:sp>
        <p:nvSpPr>
          <p:cNvPr id="3" name="Title 2"/>
          <p:cNvSpPr>
            <a:spLocks noGrp="1"/>
          </p:cNvSpPr>
          <p:nvPr>
            <p:ph type="title"/>
          </p:nvPr>
        </p:nvSpPr>
        <p:spPr>
          <a:xfrm>
            <a:off x="457200" y="338328"/>
            <a:ext cx="8229600" cy="786416"/>
          </a:xfrm>
        </p:spPr>
        <p:txBody>
          <a:bodyPr>
            <a:noAutofit/>
          </a:bodyPr>
          <a:lstStyle/>
          <a:p>
            <a:r>
              <a:rPr lang="en-US" sz="2400" b="1" dirty="0"/>
              <a:t>SUMMARY  OF THE COMPONENTS AND THEIR FUNCTIONS</a:t>
            </a:r>
            <a:r>
              <a:rPr lang="en-US" sz="2400" dirty="0"/>
              <a:t/>
            </a:r>
            <a:br>
              <a:rPr lang="en-US" sz="2400" dirty="0"/>
            </a:br>
            <a:endParaRPr lang="en-US" sz="2400" dirty="0"/>
          </a:p>
        </p:txBody>
      </p:sp>
    </p:spTree>
    <p:extLst>
      <p:ext uri="{BB962C8B-B14F-4D97-AF65-F5344CB8AC3E}">
        <p14:creationId xmlns:p14="http://schemas.microsoft.com/office/powerpoint/2010/main" val="22950207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484784"/>
            <a:ext cx="7408333" cy="4641379"/>
          </a:xfrm>
        </p:spPr>
        <p:txBody>
          <a:bodyPr>
            <a:normAutofit fontScale="92500" lnSpcReduction="20000"/>
          </a:bodyPr>
          <a:lstStyle/>
          <a:p>
            <a:r>
              <a:rPr lang="en-US" dirty="0"/>
              <a:t>3. Thin-film transistor (TFT) array</a:t>
            </a:r>
          </a:p>
          <a:p>
            <a:r>
              <a:rPr lang="en-US" dirty="0"/>
              <a:t>Acts as an electronic switching system. It allows the stored electrical charge from individual pixels to be read out.</a:t>
            </a:r>
          </a:p>
          <a:p>
            <a:r>
              <a:rPr lang="en-US" dirty="0"/>
              <a:t>4. Readout electronics</a:t>
            </a:r>
          </a:p>
          <a:p>
            <a:r>
              <a:rPr lang="en-US" dirty="0"/>
              <a:t>Collect and measure the electrical signals from the detector pixels and send them for conversion into digital data.</a:t>
            </a:r>
          </a:p>
          <a:p>
            <a:r>
              <a:rPr lang="en-US" dirty="0"/>
              <a:t>5. Analog-to-digital converter (ADC)</a:t>
            </a:r>
          </a:p>
          <a:p>
            <a:r>
              <a:rPr lang="en-US" dirty="0"/>
              <a:t>Converts the measured analog electrical signals into digital numerical values that a computer can process.</a:t>
            </a:r>
          </a:p>
          <a:p>
            <a:r>
              <a:rPr lang="en-US" dirty="0"/>
              <a:t>6. Protective housing and support layers</a:t>
            </a:r>
          </a:p>
          <a:p>
            <a:r>
              <a:rPr lang="en-US" dirty="0"/>
              <a:t>Protect the sensitive detector components from physical damage and help support the detector assembly.</a:t>
            </a:r>
          </a:p>
          <a:p>
            <a:r>
              <a:rPr lang="en-US" dirty="0"/>
              <a:t> </a:t>
            </a:r>
          </a:p>
          <a:p>
            <a:endParaRPr lang="en-US" dirty="0"/>
          </a:p>
        </p:txBody>
      </p:sp>
      <p:sp>
        <p:nvSpPr>
          <p:cNvPr id="3" name="Title 2"/>
          <p:cNvSpPr>
            <a:spLocks noGrp="1"/>
          </p:cNvSpPr>
          <p:nvPr>
            <p:ph type="title"/>
          </p:nvPr>
        </p:nvSpPr>
        <p:spPr>
          <a:xfrm>
            <a:off x="457200" y="338328"/>
            <a:ext cx="8229600" cy="1002440"/>
          </a:xfrm>
        </p:spPr>
        <p:txBody>
          <a:bodyPr>
            <a:normAutofit/>
          </a:bodyPr>
          <a:lstStyle/>
          <a:p>
            <a:r>
              <a:rPr lang="en-US" sz="2400" b="1" dirty="0"/>
              <a:t>SUMMARY  OF THE COMPONENTS AND THEIR </a:t>
            </a:r>
            <a:r>
              <a:rPr lang="en-US" sz="2400" b="1" dirty="0" smtClean="0"/>
              <a:t>FUNCTIONS CONTD</a:t>
            </a:r>
            <a:endParaRPr lang="en-US" sz="2400" dirty="0"/>
          </a:p>
        </p:txBody>
      </p:sp>
    </p:spTree>
    <p:extLst>
      <p:ext uri="{BB962C8B-B14F-4D97-AF65-F5344CB8AC3E}">
        <p14:creationId xmlns:p14="http://schemas.microsoft.com/office/powerpoint/2010/main" val="2374508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Work Permit &amp; Visa Chest X-Ray Malta | LifeScan Naxxa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67544" y="3284984"/>
            <a:ext cx="8424936" cy="3573016"/>
          </a:xfrm>
          <a:prstGeom prst="rect">
            <a:avLst/>
          </a:prstGeom>
          <a:noFill/>
          <a:ln>
            <a:noFill/>
          </a:ln>
        </p:spPr>
      </p:pic>
      <p:sp>
        <p:nvSpPr>
          <p:cNvPr id="2" name="Title 1"/>
          <p:cNvSpPr>
            <a:spLocks noGrp="1"/>
          </p:cNvSpPr>
          <p:nvPr>
            <p:ph type="title"/>
          </p:nvPr>
        </p:nvSpPr>
        <p:spPr>
          <a:xfrm>
            <a:off x="457200" y="116632"/>
            <a:ext cx="8229600" cy="3096344"/>
          </a:xfrm>
        </p:spPr>
        <p:txBody>
          <a:bodyPr>
            <a:normAutofit/>
          </a:bodyPr>
          <a:lstStyle/>
          <a:p>
            <a:pPr algn="l"/>
            <a:r>
              <a:rPr lang="en-US" sz="2000" dirty="0" smtClean="0"/>
              <a:t>Signal readout</a:t>
            </a:r>
            <a:br>
              <a:rPr lang="en-US" sz="2000" dirty="0" smtClean="0"/>
            </a:br>
            <a:r>
              <a:rPr lang="en-US" sz="2000" dirty="0" smtClean="0"/>
              <a:t>The thin-film transistor (TFT) array </a:t>
            </a:r>
            <a:r>
              <a:rPr lang="en-US" sz="2000" dirty="0"/>
              <a:t>reads the electrical charge stored at each pixel. The detector </a:t>
            </a:r>
            <a:r>
              <a:rPr lang="en-US" sz="2000" dirty="0" smtClean="0"/>
              <a:t>electronics </a:t>
            </a:r>
            <a:r>
              <a:rPr lang="en-US" sz="2000" dirty="0"/>
              <a:t>convert these signals into digital </a:t>
            </a:r>
            <a:r>
              <a:rPr lang="en-US" sz="2000" dirty="0" smtClean="0"/>
              <a:t>values</a:t>
            </a:r>
            <a:br>
              <a:rPr lang="en-US" sz="2000" dirty="0" smtClean="0"/>
            </a:br>
            <a:r>
              <a:rPr lang="en-US" sz="2000" dirty="0" smtClean="0"/>
              <a:t>Digital </a:t>
            </a:r>
            <a:r>
              <a:rPr lang="en-US" sz="2000" dirty="0"/>
              <a:t>image formation</a:t>
            </a:r>
            <a:br>
              <a:rPr lang="en-US" sz="2000" dirty="0"/>
            </a:br>
            <a:r>
              <a:rPr lang="en-US" sz="2000" dirty="0"/>
              <a:t>The computer processes the digital values to produce a radiographic image. The image can be viewed, adjusted, stored in PACS and transmitted electronically.</a:t>
            </a:r>
            <a:br>
              <a:rPr lang="en-US" sz="2000" dirty="0"/>
            </a:br>
            <a:endParaRPr lang="en-US" sz="2000" dirty="0"/>
          </a:p>
        </p:txBody>
      </p:sp>
    </p:spTree>
    <p:extLst>
      <p:ext uri="{BB962C8B-B14F-4D97-AF65-F5344CB8AC3E}">
        <p14:creationId xmlns:p14="http://schemas.microsoft.com/office/powerpoint/2010/main" val="3135148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94151867"/>
              </p:ext>
            </p:extLst>
          </p:nvPr>
        </p:nvGraphicFramePr>
        <p:xfrm>
          <a:off x="395536" y="1700808"/>
          <a:ext cx="8496945" cy="5040559"/>
        </p:xfrm>
        <a:graphic>
          <a:graphicData uri="http://schemas.openxmlformats.org/drawingml/2006/table">
            <a:tbl>
              <a:tblPr firstRow="1" firstCol="1" bandRow="1">
                <a:tableStyleId>{5C22544A-7EE6-4342-B048-85BDC9FD1C3A}</a:tableStyleId>
              </a:tblPr>
              <a:tblGrid>
                <a:gridCol w="2832315"/>
                <a:gridCol w="2832315"/>
                <a:gridCol w="2832315"/>
              </a:tblGrid>
              <a:tr h="637233">
                <a:tc>
                  <a:txBody>
                    <a:bodyPr/>
                    <a:lstStyle/>
                    <a:p>
                      <a:pPr algn="ctr">
                        <a:lnSpc>
                          <a:spcPct val="115000"/>
                        </a:lnSpc>
                      </a:pPr>
                      <a:r>
                        <a:rPr lang="en-US" sz="1100">
                          <a:effectLst/>
                        </a:rPr>
                        <a:t>Feature</a:t>
                      </a:r>
                      <a:endParaRPr lang="en-US" sz="1100">
                        <a:effectLst/>
                        <a:latin typeface="Calibri"/>
                        <a:ea typeface="Times New Roman"/>
                        <a:cs typeface="Times New Roman"/>
                      </a:endParaRPr>
                    </a:p>
                  </a:txBody>
                  <a:tcPr marL="9525" marR="9525" marT="9525" marB="9525" anchor="ctr"/>
                </a:tc>
                <a:tc>
                  <a:txBody>
                    <a:bodyPr/>
                    <a:lstStyle/>
                    <a:p>
                      <a:pPr algn="ctr">
                        <a:lnSpc>
                          <a:spcPct val="115000"/>
                        </a:lnSpc>
                      </a:pPr>
                      <a:r>
                        <a:rPr lang="en-US" sz="1100">
                          <a:effectLst/>
                        </a:rPr>
                        <a:t>CR</a:t>
                      </a:r>
                      <a:endParaRPr lang="en-US" sz="1100">
                        <a:effectLst/>
                        <a:latin typeface="Calibri"/>
                        <a:ea typeface="Times New Roman"/>
                        <a:cs typeface="Times New Roman"/>
                      </a:endParaRPr>
                    </a:p>
                  </a:txBody>
                  <a:tcPr marL="9525" marR="9525" marT="9525" marB="9525" anchor="ctr"/>
                </a:tc>
                <a:tc>
                  <a:txBody>
                    <a:bodyPr/>
                    <a:lstStyle/>
                    <a:p>
                      <a:pPr algn="ctr">
                        <a:lnSpc>
                          <a:spcPct val="115000"/>
                        </a:lnSpc>
                      </a:pPr>
                      <a:r>
                        <a:rPr lang="en-US" sz="1100">
                          <a:effectLst/>
                        </a:rPr>
                        <a:t>DR</a:t>
                      </a:r>
                      <a:endParaRPr lang="en-US" sz="1100">
                        <a:effectLst/>
                        <a:latin typeface="Calibri"/>
                        <a:ea typeface="Times New Roman"/>
                        <a:cs typeface="Times New Roman"/>
                      </a:endParaRPr>
                    </a:p>
                  </a:txBody>
                  <a:tcPr marL="9525" marR="9525" marT="9525" marB="9525" anchor="ctr"/>
                </a:tc>
              </a:tr>
              <a:tr h="1217161">
                <a:tc>
                  <a:txBody>
                    <a:bodyPr/>
                    <a:lstStyle/>
                    <a:p>
                      <a:pPr>
                        <a:lnSpc>
                          <a:spcPct val="115000"/>
                        </a:lnSpc>
                      </a:pPr>
                      <a:r>
                        <a:rPr lang="en-US" sz="1100">
                          <a:effectLst/>
                        </a:rPr>
                        <a:t>Image receptor</a:t>
                      </a:r>
                      <a:endParaRPr lang="en-US" sz="1100">
                        <a:effectLst/>
                        <a:latin typeface="Calibri"/>
                        <a:ea typeface="Times New Roman"/>
                        <a:cs typeface="Times New Roman"/>
                      </a:endParaRPr>
                    </a:p>
                  </a:txBody>
                  <a:tcPr marL="9525" marR="9525" marT="9525" marB="9525" anchor="ctr"/>
                </a:tc>
                <a:tc>
                  <a:txBody>
                    <a:bodyPr/>
                    <a:lstStyle/>
                    <a:p>
                      <a:pPr>
                        <a:lnSpc>
                          <a:spcPct val="115000"/>
                        </a:lnSpc>
                      </a:pPr>
                      <a:r>
                        <a:rPr lang="en-US" sz="1100" dirty="0">
                          <a:effectLst/>
                        </a:rPr>
                        <a:t>Photostimulable phosphor plate</a:t>
                      </a:r>
                      <a:endParaRPr lang="en-US" sz="1100" dirty="0">
                        <a:effectLst/>
                        <a:latin typeface="Calibri"/>
                        <a:ea typeface="Times New Roman"/>
                        <a:cs typeface="Times New Roman"/>
                      </a:endParaRPr>
                    </a:p>
                  </a:txBody>
                  <a:tcPr marL="9525" marR="9525" marT="9525" marB="9525" anchor="ctr"/>
                </a:tc>
                <a:tc>
                  <a:txBody>
                    <a:bodyPr/>
                    <a:lstStyle/>
                    <a:p>
                      <a:pPr>
                        <a:lnSpc>
                          <a:spcPct val="115000"/>
                        </a:lnSpc>
                      </a:pPr>
                      <a:r>
                        <a:rPr lang="en-US" sz="1100">
                          <a:effectLst/>
                        </a:rPr>
                        <a:t>Digital flat-panel detector or another electronic detector</a:t>
                      </a:r>
                      <a:endParaRPr lang="en-US" sz="1100">
                        <a:effectLst/>
                        <a:latin typeface="Calibri"/>
                        <a:ea typeface="Times New Roman"/>
                        <a:cs typeface="Times New Roman"/>
                      </a:endParaRPr>
                    </a:p>
                  </a:txBody>
                  <a:tcPr marL="9525" marR="9525" marT="9525" marB="9525" anchor="ctr"/>
                </a:tc>
              </a:tr>
              <a:tr h="637233">
                <a:tc>
                  <a:txBody>
                    <a:bodyPr/>
                    <a:lstStyle/>
                    <a:p>
                      <a:pPr>
                        <a:lnSpc>
                          <a:spcPct val="115000"/>
                        </a:lnSpc>
                      </a:pPr>
                      <a:r>
                        <a:rPr lang="en-US" sz="1100">
                          <a:effectLst/>
                        </a:rPr>
                        <a:t>Image storage</a:t>
                      </a:r>
                      <a:endParaRPr lang="en-US" sz="1100">
                        <a:effectLst/>
                        <a:latin typeface="Calibri"/>
                        <a:ea typeface="Times New Roman"/>
                        <a:cs typeface="Times New Roman"/>
                      </a:endParaRPr>
                    </a:p>
                  </a:txBody>
                  <a:tcPr marL="9525" marR="9525" marT="9525" marB="9525" anchor="ctr"/>
                </a:tc>
                <a:tc>
                  <a:txBody>
                    <a:bodyPr/>
                    <a:lstStyle/>
                    <a:p>
                      <a:pPr>
                        <a:lnSpc>
                          <a:spcPct val="115000"/>
                        </a:lnSpc>
                      </a:pPr>
                      <a:r>
                        <a:rPr lang="en-US" sz="1100">
                          <a:effectLst/>
                        </a:rPr>
                        <a:t>Energy stored in a latent image</a:t>
                      </a:r>
                      <a:endParaRPr lang="en-US" sz="1100">
                        <a:effectLst/>
                        <a:latin typeface="Calibri"/>
                        <a:ea typeface="Times New Roman"/>
                        <a:cs typeface="Times New Roman"/>
                      </a:endParaRPr>
                    </a:p>
                  </a:txBody>
                  <a:tcPr marL="9525" marR="9525" marT="9525" marB="9525" anchor="ctr"/>
                </a:tc>
                <a:tc>
                  <a:txBody>
                    <a:bodyPr/>
                    <a:lstStyle/>
                    <a:p>
                      <a:pPr>
                        <a:lnSpc>
                          <a:spcPct val="115000"/>
                        </a:lnSpc>
                      </a:pPr>
                      <a:r>
                        <a:rPr lang="en-US" sz="1100">
                          <a:effectLst/>
                        </a:rPr>
                        <a:t>Electrical charge or electronic signal</a:t>
                      </a:r>
                      <a:endParaRPr lang="en-US" sz="1100">
                        <a:effectLst/>
                        <a:latin typeface="Calibri"/>
                        <a:ea typeface="Times New Roman"/>
                        <a:cs typeface="Times New Roman"/>
                      </a:endParaRPr>
                    </a:p>
                  </a:txBody>
                  <a:tcPr marL="9525" marR="9525" marT="9525" marB="9525" anchor="ctr"/>
                </a:tc>
              </a:tr>
              <a:tr h="637233">
                <a:tc>
                  <a:txBody>
                    <a:bodyPr/>
                    <a:lstStyle/>
                    <a:p>
                      <a:pPr>
                        <a:lnSpc>
                          <a:spcPct val="115000"/>
                        </a:lnSpc>
                      </a:pPr>
                      <a:r>
                        <a:rPr lang="en-US" sz="1100">
                          <a:effectLst/>
                        </a:rPr>
                        <a:t>Image reading</a:t>
                      </a:r>
                      <a:endParaRPr lang="en-US" sz="1100">
                        <a:effectLst/>
                        <a:latin typeface="Calibri"/>
                        <a:ea typeface="Times New Roman"/>
                        <a:cs typeface="Times New Roman"/>
                      </a:endParaRPr>
                    </a:p>
                  </a:txBody>
                  <a:tcPr marL="9525" marR="9525" marT="9525" marB="9525" anchor="ctr"/>
                </a:tc>
                <a:tc>
                  <a:txBody>
                    <a:bodyPr/>
                    <a:lstStyle/>
                    <a:p>
                      <a:pPr>
                        <a:lnSpc>
                          <a:spcPct val="115000"/>
                        </a:lnSpc>
                      </a:pPr>
                      <a:r>
                        <a:rPr lang="en-US" sz="1100">
                          <a:effectLst/>
                        </a:rPr>
                        <a:t>Laser scans the plate</a:t>
                      </a:r>
                      <a:endParaRPr lang="en-US" sz="1100">
                        <a:effectLst/>
                        <a:latin typeface="Calibri"/>
                        <a:ea typeface="Times New Roman"/>
                        <a:cs typeface="Times New Roman"/>
                      </a:endParaRPr>
                    </a:p>
                  </a:txBody>
                  <a:tcPr marL="9525" marR="9525" marT="9525" marB="9525" anchor="ctr"/>
                </a:tc>
                <a:tc>
                  <a:txBody>
                    <a:bodyPr/>
                    <a:lstStyle/>
                    <a:p>
                      <a:pPr>
                        <a:lnSpc>
                          <a:spcPct val="115000"/>
                        </a:lnSpc>
                      </a:pPr>
                      <a:r>
                        <a:rPr lang="en-US" sz="1100">
                          <a:effectLst/>
                        </a:rPr>
                        <a:t>Detector electronics read the pixels</a:t>
                      </a:r>
                      <a:endParaRPr lang="en-US" sz="1100">
                        <a:effectLst/>
                        <a:latin typeface="Calibri"/>
                        <a:ea typeface="Times New Roman"/>
                        <a:cs typeface="Times New Roman"/>
                      </a:endParaRPr>
                    </a:p>
                  </a:txBody>
                  <a:tcPr marL="9525" marR="9525" marT="9525" marB="9525" anchor="ctr"/>
                </a:tc>
              </a:tr>
              <a:tr h="637233">
                <a:tc>
                  <a:txBody>
                    <a:bodyPr/>
                    <a:lstStyle/>
                    <a:p>
                      <a:pPr>
                        <a:lnSpc>
                          <a:spcPct val="115000"/>
                        </a:lnSpc>
                      </a:pPr>
                      <a:r>
                        <a:rPr lang="en-US" sz="1100">
                          <a:effectLst/>
                        </a:rPr>
                        <a:t>Separate reader</a:t>
                      </a:r>
                      <a:endParaRPr lang="en-US" sz="1100">
                        <a:effectLst/>
                        <a:latin typeface="Calibri"/>
                        <a:ea typeface="Times New Roman"/>
                        <a:cs typeface="Times New Roman"/>
                      </a:endParaRPr>
                    </a:p>
                  </a:txBody>
                  <a:tcPr marL="9525" marR="9525" marT="9525" marB="9525" anchor="ctr"/>
                </a:tc>
                <a:tc>
                  <a:txBody>
                    <a:bodyPr/>
                    <a:lstStyle/>
                    <a:p>
                      <a:pPr>
                        <a:lnSpc>
                          <a:spcPct val="115000"/>
                        </a:lnSpc>
                      </a:pPr>
                      <a:r>
                        <a:rPr lang="en-US" sz="1100">
                          <a:effectLst/>
                        </a:rPr>
                        <a:t>Required</a:t>
                      </a:r>
                      <a:endParaRPr lang="en-US" sz="1100">
                        <a:effectLst/>
                        <a:latin typeface="Calibri"/>
                        <a:ea typeface="Times New Roman"/>
                        <a:cs typeface="Times New Roman"/>
                      </a:endParaRPr>
                    </a:p>
                  </a:txBody>
                  <a:tcPr marL="9525" marR="9525" marT="9525" marB="9525" anchor="ctr"/>
                </a:tc>
                <a:tc>
                  <a:txBody>
                    <a:bodyPr/>
                    <a:lstStyle/>
                    <a:p>
                      <a:pPr>
                        <a:lnSpc>
                          <a:spcPct val="115000"/>
                        </a:lnSpc>
                      </a:pPr>
                      <a:r>
                        <a:rPr lang="en-US" sz="1100">
                          <a:effectLst/>
                        </a:rPr>
                        <a:t>Usually not required</a:t>
                      </a:r>
                      <a:endParaRPr lang="en-US" sz="1100">
                        <a:effectLst/>
                        <a:latin typeface="Calibri"/>
                        <a:ea typeface="Times New Roman"/>
                        <a:cs typeface="Times New Roman"/>
                      </a:endParaRPr>
                    </a:p>
                  </a:txBody>
                  <a:tcPr marL="9525" marR="9525" marT="9525" marB="9525" anchor="ctr"/>
                </a:tc>
              </a:tr>
              <a:tr h="637233">
                <a:tc>
                  <a:txBody>
                    <a:bodyPr/>
                    <a:lstStyle/>
                    <a:p>
                      <a:pPr>
                        <a:lnSpc>
                          <a:spcPct val="115000"/>
                        </a:lnSpc>
                      </a:pPr>
                      <a:r>
                        <a:rPr lang="en-US" sz="1100">
                          <a:effectLst/>
                        </a:rPr>
                        <a:t>Image availability</a:t>
                      </a:r>
                      <a:endParaRPr lang="en-US" sz="1100">
                        <a:effectLst/>
                        <a:latin typeface="Calibri"/>
                        <a:ea typeface="Times New Roman"/>
                        <a:cs typeface="Times New Roman"/>
                      </a:endParaRPr>
                    </a:p>
                  </a:txBody>
                  <a:tcPr marL="9525" marR="9525" marT="9525" marB="9525" anchor="ctr"/>
                </a:tc>
                <a:tc>
                  <a:txBody>
                    <a:bodyPr/>
                    <a:lstStyle/>
                    <a:p>
                      <a:pPr>
                        <a:lnSpc>
                          <a:spcPct val="115000"/>
                        </a:lnSpc>
                      </a:pPr>
                      <a:r>
                        <a:rPr lang="en-US" sz="1100">
                          <a:effectLst/>
                        </a:rPr>
                        <a:t>Slower</a:t>
                      </a:r>
                      <a:endParaRPr lang="en-US" sz="1100">
                        <a:effectLst/>
                        <a:latin typeface="Calibri"/>
                        <a:ea typeface="Times New Roman"/>
                        <a:cs typeface="Times New Roman"/>
                      </a:endParaRPr>
                    </a:p>
                  </a:txBody>
                  <a:tcPr marL="9525" marR="9525" marT="9525" marB="9525" anchor="ctr"/>
                </a:tc>
                <a:tc>
                  <a:txBody>
                    <a:bodyPr/>
                    <a:lstStyle/>
                    <a:p>
                      <a:pPr>
                        <a:lnSpc>
                          <a:spcPct val="115000"/>
                        </a:lnSpc>
                      </a:pPr>
                      <a:r>
                        <a:rPr lang="en-US" sz="1100">
                          <a:effectLst/>
                        </a:rPr>
                        <a:t>Usually faster</a:t>
                      </a:r>
                      <a:endParaRPr lang="en-US" sz="1100">
                        <a:effectLst/>
                        <a:latin typeface="Calibri"/>
                        <a:ea typeface="Times New Roman"/>
                        <a:cs typeface="Times New Roman"/>
                      </a:endParaRPr>
                    </a:p>
                  </a:txBody>
                  <a:tcPr marL="9525" marR="9525" marT="9525" marB="9525" anchor="ctr"/>
                </a:tc>
              </a:tr>
              <a:tr h="637233">
                <a:tc>
                  <a:txBody>
                    <a:bodyPr/>
                    <a:lstStyle/>
                    <a:p>
                      <a:pPr>
                        <a:lnSpc>
                          <a:spcPct val="115000"/>
                        </a:lnSpc>
                      </a:pPr>
                      <a:r>
                        <a:rPr lang="en-US" sz="1100">
                          <a:effectLst/>
                        </a:rPr>
                        <a:t>Reuse</a:t>
                      </a:r>
                      <a:endParaRPr lang="en-US" sz="1100">
                        <a:effectLst/>
                        <a:latin typeface="Calibri"/>
                        <a:ea typeface="Times New Roman"/>
                        <a:cs typeface="Times New Roman"/>
                      </a:endParaRPr>
                    </a:p>
                  </a:txBody>
                  <a:tcPr marL="9525" marR="9525" marT="9525" marB="9525" anchor="ctr"/>
                </a:tc>
                <a:tc>
                  <a:txBody>
                    <a:bodyPr/>
                    <a:lstStyle/>
                    <a:p>
                      <a:pPr>
                        <a:lnSpc>
                          <a:spcPct val="115000"/>
                        </a:lnSpc>
                      </a:pPr>
                      <a:r>
                        <a:rPr lang="en-US" sz="1100">
                          <a:effectLst/>
                        </a:rPr>
                        <a:t>Plate is erased and reused</a:t>
                      </a:r>
                      <a:endParaRPr lang="en-US" sz="1100">
                        <a:effectLst/>
                        <a:latin typeface="Calibri"/>
                        <a:ea typeface="Times New Roman"/>
                        <a:cs typeface="Times New Roman"/>
                      </a:endParaRPr>
                    </a:p>
                  </a:txBody>
                  <a:tcPr marL="9525" marR="9525" marT="9525" marB="9525" anchor="ctr"/>
                </a:tc>
                <a:tc>
                  <a:txBody>
                    <a:bodyPr/>
                    <a:lstStyle/>
                    <a:p>
                      <a:pPr>
                        <a:lnSpc>
                          <a:spcPct val="115000"/>
                        </a:lnSpc>
                      </a:pPr>
                      <a:r>
                        <a:rPr lang="en-US" sz="1100" dirty="0">
                          <a:effectLst/>
                        </a:rPr>
                        <a:t>Detector is reset and reused electronically</a:t>
                      </a:r>
                      <a:endParaRPr lang="en-US" sz="1100" dirty="0">
                        <a:effectLst/>
                        <a:latin typeface="Calibri"/>
                        <a:ea typeface="Times New Roman"/>
                        <a:cs typeface="Times New Roman"/>
                      </a:endParaRPr>
                    </a:p>
                  </a:txBody>
                  <a:tcPr marL="9525" marR="9525" marT="9525" marB="9525" anchor="ctr"/>
                </a:tc>
              </a:tr>
            </a:tbl>
          </a:graphicData>
        </a:graphic>
      </p:graphicFrame>
      <p:sp>
        <p:nvSpPr>
          <p:cNvPr id="2" name="Title 1"/>
          <p:cNvSpPr>
            <a:spLocks noGrp="1"/>
          </p:cNvSpPr>
          <p:nvPr>
            <p:ph type="title"/>
          </p:nvPr>
        </p:nvSpPr>
        <p:spPr>
          <a:xfrm>
            <a:off x="539552" y="188640"/>
            <a:ext cx="8229600" cy="1252728"/>
          </a:xfrm>
        </p:spPr>
        <p:txBody>
          <a:bodyPr>
            <a:normAutofit fontScale="90000"/>
          </a:bodyPr>
          <a:lstStyle/>
          <a:p>
            <a:r>
              <a:rPr lang="en-US" sz="3600" b="1" dirty="0" smtClean="0"/>
              <a:t>Difference </a:t>
            </a:r>
            <a:r>
              <a:rPr lang="en-US" sz="3600" b="1" dirty="0"/>
              <a:t>between CR and DR imaging plates</a:t>
            </a:r>
            <a:br>
              <a:rPr lang="en-US" sz="3600" b="1" dirty="0"/>
            </a:br>
            <a:endParaRPr lang="en-US" sz="3600" dirty="0"/>
          </a:p>
        </p:txBody>
      </p:sp>
    </p:spTree>
    <p:extLst>
      <p:ext uri="{BB962C8B-B14F-4D97-AF65-F5344CB8AC3E}">
        <p14:creationId xmlns:p14="http://schemas.microsoft.com/office/powerpoint/2010/main" val="3903471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844824"/>
            <a:ext cx="7408333" cy="4752528"/>
          </a:xfrm>
        </p:spPr>
        <p:txBody>
          <a:bodyPr>
            <a:normAutofit/>
          </a:bodyPr>
          <a:lstStyle/>
          <a:p>
            <a:pPr lvl="0"/>
            <a:r>
              <a:rPr lang="en-US" dirty="0" smtClean="0"/>
              <a:t>Produces </a:t>
            </a:r>
            <a:r>
              <a:rPr lang="en-US" dirty="0"/>
              <a:t>images rapidly.</a:t>
            </a:r>
          </a:p>
          <a:p>
            <a:pPr lvl="0"/>
            <a:r>
              <a:rPr lang="en-US" dirty="0"/>
              <a:t>Allows immediate image review.</a:t>
            </a:r>
          </a:p>
          <a:p>
            <a:pPr lvl="0"/>
            <a:r>
              <a:rPr lang="en-US" dirty="0"/>
              <a:t>Supports digital image enhancement and manipulation.</a:t>
            </a:r>
          </a:p>
          <a:p>
            <a:pPr lvl="0"/>
            <a:r>
              <a:rPr lang="en-US" dirty="0"/>
              <a:t>Facilitates electronic storage and transmission.</a:t>
            </a:r>
          </a:p>
          <a:p>
            <a:pPr lvl="0"/>
            <a:r>
              <a:rPr lang="en-US" dirty="0"/>
              <a:t>Eliminates routine cassette transport to a separate CR reader.</a:t>
            </a:r>
          </a:p>
          <a:p>
            <a:pPr lvl="0"/>
            <a:r>
              <a:rPr lang="en-US" dirty="0"/>
              <a:t>Can improve workflow and, with appropriate technique, help optimize patient radiation dose.</a:t>
            </a:r>
          </a:p>
          <a:p>
            <a:endParaRPr lang="en-US" dirty="0"/>
          </a:p>
        </p:txBody>
      </p:sp>
      <p:sp>
        <p:nvSpPr>
          <p:cNvPr id="2" name="Title 1"/>
          <p:cNvSpPr>
            <a:spLocks noGrp="1"/>
          </p:cNvSpPr>
          <p:nvPr>
            <p:ph type="title"/>
          </p:nvPr>
        </p:nvSpPr>
        <p:spPr/>
        <p:txBody>
          <a:bodyPr>
            <a:normAutofit fontScale="90000"/>
          </a:bodyPr>
          <a:lstStyle/>
          <a:p>
            <a:r>
              <a:rPr lang="en-US" b="1" dirty="0" smtClean="0"/>
              <a:t> </a:t>
            </a:r>
            <a:r>
              <a:rPr lang="en-US" b="1" dirty="0"/>
              <a:t>Advantages of DR</a:t>
            </a:r>
            <a:br>
              <a:rPr lang="en-US" b="1" dirty="0"/>
            </a:br>
            <a:endParaRPr lang="en-US" dirty="0"/>
          </a:p>
        </p:txBody>
      </p:sp>
    </p:spTree>
    <p:extLst>
      <p:ext uri="{BB962C8B-B14F-4D97-AF65-F5344CB8AC3E}">
        <p14:creationId xmlns:p14="http://schemas.microsoft.com/office/powerpoint/2010/main" val="7658448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US" dirty="0"/>
              <a:t>Higher initial equipment cost.</a:t>
            </a:r>
          </a:p>
          <a:p>
            <a:pPr lvl="0"/>
            <a:r>
              <a:rPr lang="en-US" dirty="0"/>
              <a:t>Detectors can be expensive to repair or replace.</a:t>
            </a:r>
          </a:p>
          <a:p>
            <a:pPr lvl="0"/>
            <a:r>
              <a:rPr lang="en-US" dirty="0"/>
              <a:t>Electronic faults can interrupt imaging.</a:t>
            </a:r>
          </a:p>
          <a:p>
            <a:pPr lvl="0"/>
            <a:r>
              <a:rPr lang="en-US" dirty="0"/>
              <a:t>Image quality can be affected by detector artefacts and calibration problems.</a:t>
            </a:r>
          </a:p>
          <a:p>
            <a:pPr lvl="0"/>
            <a:r>
              <a:rPr lang="en-US" dirty="0"/>
              <a:t>Easy image processing may conceal overexposure, so radiation exposure must still be monitored carefully.</a:t>
            </a:r>
          </a:p>
          <a:p>
            <a:endParaRPr lang="en-US" dirty="0"/>
          </a:p>
        </p:txBody>
      </p:sp>
      <p:sp>
        <p:nvSpPr>
          <p:cNvPr id="2" name="Title 1"/>
          <p:cNvSpPr>
            <a:spLocks noGrp="1"/>
          </p:cNvSpPr>
          <p:nvPr>
            <p:ph type="title"/>
          </p:nvPr>
        </p:nvSpPr>
        <p:spPr/>
        <p:txBody>
          <a:bodyPr>
            <a:normAutofit fontScale="90000"/>
          </a:bodyPr>
          <a:lstStyle/>
          <a:p>
            <a:r>
              <a:rPr lang="en-US" b="1" dirty="0" smtClean="0"/>
              <a:t> </a:t>
            </a:r>
            <a:r>
              <a:rPr lang="en-US" b="1" dirty="0"/>
              <a:t>Disadvantages of DR</a:t>
            </a:r>
            <a:br>
              <a:rPr lang="en-US" b="1" dirty="0"/>
            </a:br>
            <a:endParaRPr lang="en-US" dirty="0"/>
          </a:p>
        </p:txBody>
      </p:sp>
    </p:spTree>
    <p:extLst>
      <p:ext uri="{BB962C8B-B14F-4D97-AF65-F5344CB8AC3E}">
        <p14:creationId xmlns:p14="http://schemas.microsoft.com/office/powerpoint/2010/main" val="38524124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196752"/>
            <a:ext cx="7408333" cy="5472608"/>
          </a:xfrm>
        </p:spPr>
        <p:txBody>
          <a:bodyPr>
            <a:normAutofit lnSpcReduction="10000"/>
          </a:bodyPr>
          <a:lstStyle/>
          <a:p>
            <a:pPr lvl="0"/>
            <a:r>
              <a:rPr lang="en-US" dirty="0" smtClean="0"/>
              <a:t>Windowing </a:t>
            </a:r>
            <a:r>
              <a:rPr lang="en-US" dirty="0"/>
              <a:t>and leveling: Adjusts the displayed contrast and brightness.</a:t>
            </a:r>
          </a:p>
          <a:p>
            <a:pPr lvl="0"/>
            <a:r>
              <a:rPr lang="en-US" dirty="0"/>
              <a:t>Noise reduction: Reduces unwanted variations in the image.</a:t>
            </a:r>
          </a:p>
          <a:p>
            <a:pPr lvl="0"/>
            <a:r>
              <a:rPr lang="en-US" dirty="0"/>
              <a:t>Edge enhancement: Improves the visibility of boundaries between structures.</a:t>
            </a:r>
          </a:p>
          <a:p>
            <a:pPr lvl="0"/>
            <a:r>
              <a:rPr lang="en-US" dirty="0"/>
              <a:t>Image inversion: Reverses displayed grayscale values when useful.</a:t>
            </a:r>
          </a:p>
          <a:p>
            <a:pPr lvl="0"/>
            <a:r>
              <a:rPr lang="en-US" dirty="0"/>
              <a:t>Image cropping and rotation: Changes the displayed image area or orientation without changing the original exposure.</a:t>
            </a:r>
          </a:p>
          <a:p>
            <a:r>
              <a:rPr lang="en-US" dirty="0"/>
              <a:t>These operations can improve image presentation, but they cannot reliably recover anatomical information that was never captured.</a:t>
            </a:r>
          </a:p>
          <a:p>
            <a:endParaRPr lang="en-US" dirty="0"/>
          </a:p>
        </p:txBody>
      </p:sp>
      <p:sp>
        <p:nvSpPr>
          <p:cNvPr id="2" name="Title 1"/>
          <p:cNvSpPr>
            <a:spLocks noGrp="1"/>
          </p:cNvSpPr>
          <p:nvPr>
            <p:ph type="title"/>
          </p:nvPr>
        </p:nvSpPr>
        <p:spPr>
          <a:xfrm>
            <a:off x="457200" y="338328"/>
            <a:ext cx="8229600" cy="930432"/>
          </a:xfrm>
        </p:spPr>
        <p:txBody>
          <a:bodyPr>
            <a:normAutofit fontScale="90000"/>
          </a:bodyPr>
          <a:lstStyle/>
          <a:p>
            <a:r>
              <a:rPr lang="en-US" sz="3200" b="1" dirty="0"/>
              <a:t>Important image </a:t>
            </a:r>
            <a:r>
              <a:rPr lang="en-US" sz="3200" b="1" dirty="0" smtClean="0"/>
              <a:t>Post processing </a:t>
            </a:r>
            <a:r>
              <a:rPr lang="en-US" sz="3200" b="1" dirty="0"/>
              <a:t>operations</a:t>
            </a:r>
            <a:br>
              <a:rPr lang="en-US" sz="3200" b="1" dirty="0"/>
            </a:br>
            <a:endParaRPr lang="en-US" sz="3200" dirty="0"/>
          </a:p>
        </p:txBody>
      </p:sp>
    </p:spTree>
    <p:extLst>
      <p:ext uri="{BB962C8B-B14F-4D97-AF65-F5344CB8AC3E}">
        <p14:creationId xmlns:p14="http://schemas.microsoft.com/office/powerpoint/2010/main" val="20734038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700808"/>
            <a:ext cx="9143999" cy="5157192"/>
          </a:xfrm>
        </p:spPr>
        <p:txBody>
          <a:bodyPr>
            <a:normAutofit/>
          </a:bodyPr>
          <a:lstStyle/>
          <a:p>
            <a:pPr lvl="0"/>
            <a:r>
              <a:rPr lang="en-US" dirty="0" smtClean="0"/>
              <a:t>Images </a:t>
            </a:r>
            <a:r>
              <a:rPr lang="en-US" dirty="0"/>
              <a:t>are available quickly.</a:t>
            </a:r>
          </a:p>
          <a:p>
            <a:pPr lvl="0"/>
            <a:r>
              <a:rPr lang="en-US" dirty="0"/>
              <a:t>Image brightness and contrast can be adjusted after exposure.</a:t>
            </a:r>
          </a:p>
          <a:p>
            <a:pPr lvl="0"/>
            <a:r>
              <a:rPr lang="en-US" dirty="0"/>
              <a:t>Images can be stored and retrieved electronically.</a:t>
            </a:r>
          </a:p>
          <a:p>
            <a:pPr lvl="0"/>
            <a:r>
              <a:rPr lang="en-US" dirty="0"/>
              <a:t>Images can be transmitted easily between healthcare facilities.</a:t>
            </a:r>
          </a:p>
          <a:p>
            <a:pPr lvl="0"/>
            <a:r>
              <a:rPr lang="en-US" dirty="0"/>
              <a:t>There is no need for conventional photographic film or chemical processing.</a:t>
            </a:r>
          </a:p>
          <a:p>
            <a:pPr lvl="0"/>
            <a:r>
              <a:rPr lang="en-US" dirty="0"/>
              <a:t>Digital workflows can improve efficiency and reduce repeat examinations when properly managed.</a:t>
            </a:r>
          </a:p>
          <a:p>
            <a:r>
              <a:rPr lang="en-US" dirty="0"/>
              <a:t>Important: Digital processing does not automatically reduce radiation dose. Appropriate exposure factors, detector performance and radiation protection practices remain essential.</a:t>
            </a:r>
          </a:p>
          <a:p>
            <a:endParaRPr lang="en-US" dirty="0"/>
          </a:p>
        </p:txBody>
      </p:sp>
      <p:sp>
        <p:nvSpPr>
          <p:cNvPr id="2" name="Title 1"/>
          <p:cNvSpPr>
            <a:spLocks noGrp="1"/>
          </p:cNvSpPr>
          <p:nvPr>
            <p:ph type="title"/>
          </p:nvPr>
        </p:nvSpPr>
        <p:spPr>
          <a:xfrm>
            <a:off x="457200" y="188640"/>
            <a:ext cx="8229600" cy="1368152"/>
          </a:xfrm>
        </p:spPr>
        <p:txBody>
          <a:bodyPr>
            <a:normAutofit/>
          </a:bodyPr>
          <a:lstStyle/>
          <a:p>
            <a:r>
              <a:rPr lang="en-US" sz="3600" b="1" dirty="0"/>
              <a:t>Advantages of digital X-ray processing</a:t>
            </a:r>
            <a:br>
              <a:rPr lang="en-US" sz="3600" b="1" dirty="0"/>
            </a:br>
            <a:endParaRPr lang="en-US" sz="3600" dirty="0"/>
          </a:p>
        </p:txBody>
      </p:sp>
    </p:spTree>
    <p:extLst>
      <p:ext uri="{BB962C8B-B14F-4D97-AF65-F5344CB8AC3E}">
        <p14:creationId xmlns:p14="http://schemas.microsoft.com/office/powerpoint/2010/main" val="25605628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08720"/>
            <a:ext cx="9143999" cy="6624736"/>
          </a:xfrm>
        </p:spPr>
        <p:txBody>
          <a:bodyPr>
            <a:noAutofit/>
          </a:bodyPr>
          <a:lstStyle/>
          <a:p>
            <a:r>
              <a:rPr lang="en-US" dirty="0" smtClean="0"/>
              <a:t>1</a:t>
            </a:r>
            <a:r>
              <a:rPr lang="en-US" dirty="0"/>
              <a:t>. High initial cost: Digital X-ray equipment, computers, software, and detectors are expensive to purchase and install.</a:t>
            </a:r>
          </a:p>
          <a:p>
            <a:r>
              <a:rPr lang="en-US" dirty="0"/>
              <a:t>2. High maintenance cost: The equipment requires regular servicing, repairs, and software updates.</a:t>
            </a:r>
          </a:p>
          <a:p>
            <a:r>
              <a:rPr lang="en-US" dirty="0"/>
              <a:t>3. Dependence on electricity: Digital radiography systems require a reliable power supply to operate.</a:t>
            </a:r>
          </a:p>
          <a:p>
            <a:r>
              <a:rPr lang="en-US" dirty="0"/>
              <a:t>4. Risk of radiation overexposure: Image processing can make overexposed images appear acceptable, potentially encouraging unnecessary repeat exposures or gradual increases in patient dose (dose creep).</a:t>
            </a:r>
          </a:p>
          <a:p>
            <a:r>
              <a:rPr lang="en-US" dirty="0"/>
              <a:t>5. Technical failures: Detector malfunction, computer breakdown, or software errors can interrupt imaging services.</a:t>
            </a:r>
          </a:p>
          <a:p>
            <a:r>
              <a:rPr lang="en-US" dirty="0"/>
              <a:t>6. Need for trained personnel: Radiographers require appropriate training to operate the equipment and process images correctly</a:t>
            </a:r>
            <a:r>
              <a:rPr lang="en-US" dirty="0" smtClean="0"/>
              <a:t>.</a:t>
            </a:r>
            <a:endParaRPr lang="en-US" dirty="0"/>
          </a:p>
        </p:txBody>
      </p:sp>
      <p:sp>
        <p:nvSpPr>
          <p:cNvPr id="2" name="Title 1"/>
          <p:cNvSpPr>
            <a:spLocks noGrp="1"/>
          </p:cNvSpPr>
          <p:nvPr>
            <p:ph type="title"/>
          </p:nvPr>
        </p:nvSpPr>
        <p:spPr>
          <a:xfrm>
            <a:off x="457200" y="338328"/>
            <a:ext cx="8229600" cy="786416"/>
          </a:xfrm>
        </p:spPr>
        <p:txBody>
          <a:bodyPr>
            <a:normAutofit fontScale="90000"/>
          </a:bodyPr>
          <a:lstStyle/>
          <a:p>
            <a:r>
              <a:rPr lang="en-US" b="1" dirty="0"/>
              <a:t>Main disadvantages</a:t>
            </a:r>
            <a:br>
              <a:rPr lang="en-US" b="1" dirty="0"/>
            </a:br>
            <a:endParaRPr lang="en-US" dirty="0"/>
          </a:p>
        </p:txBody>
      </p:sp>
    </p:spTree>
    <p:extLst>
      <p:ext uri="{BB962C8B-B14F-4D97-AF65-F5344CB8AC3E}">
        <p14:creationId xmlns:p14="http://schemas.microsoft.com/office/powerpoint/2010/main" val="34294535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196752"/>
            <a:ext cx="9143999" cy="5661248"/>
          </a:xfrm>
        </p:spPr>
        <p:txBody>
          <a:bodyPr>
            <a:normAutofit/>
          </a:bodyPr>
          <a:lstStyle/>
          <a:p>
            <a:r>
              <a:rPr lang="en-US" dirty="0"/>
              <a:t>7. Image-processing errors: Excessive enhancement, incorrect windowing, or inappropriate manipulation may hide important details or create misleading appearances.</a:t>
            </a:r>
          </a:p>
          <a:p>
            <a:r>
              <a:rPr lang="en-US" dirty="0"/>
              <a:t>8. Data storage requirements: Digital images require substantial storage capacity and reliable backup systems.</a:t>
            </a:r>
          </a:p>
          <a:p>
            <a:r>
              <a:rPr lang="en-US" dirty="0"/>
              <a:t>9. Cybersecurity and privacy risks: Patient images and records may be lost, accessed without authorization, or affected by cyberattacks.</a:t>
            </a:r>
          </a:p>
          <a:p>
            <a:r>
              <a:rPr lang="en-US" dirty="0"/>
              <a:t>10. Network problems: Slow networks or system failures can delay image transfer and reporting.</a:t>
            </a:r>
          </a:p>
          <a:p>
            <a:r>
              <a:rPr lang="en-US" dirty="0"/>
              <a:t>11. Equipment obsolescence: Rapid technological changes may make older systems outdated and expensive to upgrade.</a:t>
            </a:r>
          </a:p>
          <a:p>
            <a:r>
              <a:rPr lang="en-US" dirty="0"/>
              <a:t>12. Loss of image data: Accidental deletion, hardware failure, or inadequate backup can result in permanent loss of patient images.</a:t>
            </a:r>
          </a:p>
          <a:p>
            <a:endParaRPr lang="en-US" dirty="0"/>
          </a:p>
          <a:p>
            <a:endParaRPr lang="en-US" dirty="0"/>
          </a:p>
        </p:txBody>
      </p:sp>
      <p:sp>
        <p:nvSpPr>
          <p:cNvPr id="3" name="Title 2"/>
          <p:cNvSpPr>
            <a:spLocks noGrp="1"/>
          </p:cNvSpPr>
          <p:nvPr>
            <p:ph type="title"/>
          </p:nvPr>
        </p:nvSpPr>
        <p:spPr>
          <a:xfrm>
            <a:off x="457200" y="338328"/>
            <a:ext cx="8229600" cy="858424"/>
          </a:xfrm>
        </p:spPr>
        <p:txBody>
          <a:bodyPr>
            <a:normAutofit fontScale="90000"/>
          </a:bodyPr>
          <a:lstStyle/>
          <a:p>
            <a:r>
              <a:rPr lang="en-US" sz="4000" b="1" dirty="0"/>
              <a:t>Main </a:t>
            </a:r>
            <a:r>
              <a:rPr lang="en-US" sz="4000" b="1" dirty="0" smtClean="0"/>
              <a:t>disadvantages </a:t>
            </a:r>
            <a:r>
              <a:rPr lang="en-US" sz="4000" b="1" dirty="0" err="1" smtClean="0"/>
              <a:t>contd</a:t>
            </a:r>
            <a:r>
              <a:rPr lang="en-US" sz="4000" b="1" dirty="0"/>
              <a:t/>
            </a:r>
            <a:br>
              <a:rPr lang="en-US" sz="4000" b="1" dirty="0"/>
            </a:br>
            <a:endParaRPr lang="en-US" sz="4000" dirty="0"/>
          </a:p>
        </p:txBody>
      </p:sp>
    </p:spTree>
    <p:extLst>
      <p:ext uri="{BB962C8B-B14F-4D97-AF65-F5344CB8AC3E}">
        <p14:creationId xmlns:p14="http://schemas.microsoft.com/office/powerpoint/2010/main" val="1951511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700808"/>
            <a:ext cx="7408333" cy="4425355"/>
          </a:xfrm>
        </p:spPr>
        <p:txBody>
          <a:bodyPr/>
          <a:lstStyle/>
          <a:p>
            <a:r>
              <a:rPr lang="en-US" dirty="0"/>
              <a:t>ANY QUESTION FROM THE </a:t>
            </a:r>
            <a:r>
              <a:rPr lang="en-US" dirty="0" smtClean="0"/>
              <a:t>LECTURE  ?</a:t>
            </a:r>
          </a:p>
          <a:p>
            <a:r>
              <a:rPr lang="en-US" dirty="0" smtClean="0"/>
              <a:t>ANY AREA  YOU DON’T UNDERSTAND  ?</a:t>
            </a:r>
          </a:p>
          <a:p>
            <a:r>
              <a:rPr lang="en-US" dirty="0" smtClean="0"/>
              <a:t>ANY AREA YOU NEED MORE EXPLANATION  ?</a:t>
            </a:r>
          </a:p>
          <a:p>
            <a:r>
              <a:rPr lang="en-US" dirty="0" smtClean="0"/>
              <a:t>CAN YOU ANSWER ALL THE QUESTIONS ON THE TOPIC   ?</a:t>
            </a:r>
          </a:p>
          <a:p>
            <a:r>
              <a:rPr lang="en-US" dirty="0" smtClean="0"/>
              <a:t>I WISH YOU WELL  !</a:t>
            </a:r>
            <a:endParaRPr lang="en-US" dirty="0"/>
          </a:p>
        </p:txBody>
      </p:sp>
      <p:sp>
        <p:nvSpPr>
          <p:cNvPr id="3" name="Title 2"/>
          <p:cNvSpPr>
            <a:spLocks noGrp="1"/>
          </p:cNvSpPr>
          <p:nvPr>
            <p:ph type="title"/>
          </p:nvPr>
        </p:nvSpPr>
        <p:spPr/>
        <p:txBody>
          <a:bodyPr>
            <a:normAutofit/>
          </a:bodyPr>
          <a:lstStyle/>
          <a:p>
            <a:r>
              <a:rPr lang="en-US" sz="3200" dirty="0" smtClean="0"/>
              <a:t>YOU ARE FREE  TO ASK ANY QUESTION FROM </a:t>
            </a:r>
            <a:r>
              <a:rPr lang="en-US" sz="3200" smtClean="0"/>
              <a:t>THE LECTURE  NOW  !   </a:t>
            </a:r>
            <a:endParaRPr lang="en-US" sz="3200" dirty="0"/>
          </a:p>
        </p:txBody>
      </p:sp>
    </p:spTree>
    <p:extLst>
      <p:ext uri="{BB962C8B-B14F-4D97-AF65-F5344CB8AC3E}">
        <p14:creationId xmlns:p14="http://schemas.microsoft.com/office/powerpoint/2010/main" val="38313045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519</TotalTime>
  <Words>2458</Words>
  <Application>Microsoft Office PowerPoint</Application>
  <PresentationFormat>On-screen Show (4:3)</PresentationFormat>
  <Paragraphs>274</Paragraphs>
  <Slides>46</Slides>
  <Notes>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Waveform</vt:lpstr>
      <vt:lpstr>PowerPoint Presentation</vt:lpstr>
      <vt:lpstr>  LECTURES ON INTRODUCTION TO DAYLIGHT AND DIGITAL IMAGE PROCESSING   (MXT 303)  BY   DIR. GBARABE, KENT </vt:lpstr>
      <vt:lpstr>COURSE OUTLINE </vt:lpstr>
      <vt:lpstr>COURSE OUTLINE CONTD</vt:lpstr>
      <vt:lpstr>CONCEPT OF DAYLIGHT FILM PROCESSING  </vt:lpstr>
      <vt:lpstr>MODE OF OPERATION </vt:lpstr>
      <vt:lpstr> Components of a daylight film processor </vt:lpstr>
      <vt:lpstr>A DAYLIGHT FILM PROCESSOR</vt:lpstr>
      <vt:lpstr>ADVANTAGES AND DISADVANTAGES OF DAYLIGHT PROCESSING</vt:lpstr>
      <vt:lpstr> Daylight film processor versus darkroom processing </vt:lpstr>
      <vt:lpstr>PRECAUTIONS</vt:lpstr>
      <vt:lpstr> BASIC PRINCIPLES OF DIGITAL IMAGING </vt:lpstr>
      <vt:lpstr>TYPES OF DIGITAL X RAY RECEPTORS </vt:lpstr>
      <vt:lpstr>Main stages of digital X-ray processing  </vt:lpstr>
      <vt:lpstr>Main stages of digital X-ray processing Contd  </vt:lpstr>
      <vt:lpstr>Cross section of  the CR imaging plate </vt:lpstr>
      <vt:lpstr> X-ray exposure The imaging plate is placed inside a cassette and positioned behind the patient. When X-rays pass through the patient, the transmitted X-rays strike the phosphor layer of the plate. </vt:lpstr>
      <vt:lpstr> Formation of a latent image The phosphor absorbs X-ray energy, causing electrons to become trapped in energy levels within the phosphor crystals. The pattern of trapped electrons forms a latent image, which is an invisible stored image. </vt:lpstr>
      <vt:lpstr> Laser scanning The exposed plate is inserted into a CR reader. A laser beam scans the plate and stimulates the trapped electrons, causing them to release energy as visible light. </vt:lpstr>
      <vt:lpstr>PowerPoint Presentation</vt:lpstr>
      <vt:lpstr>The scientific principle behind CR </vt:lpstr>
      <vt:lpstr>Components of a Computed Radiography (CR) receptor </vt:lpstr>
      <vt:lpstr>COMPONENTS AND FUNCTIONS OF CR DETECTOR </vt:lpstr>
      <vt:lpstr> Advantages of a CR imaging plate </vt:lpstr>
      <vt:lpstr> Disadvantages of a CR imaging plate </vt:lpstr>
      <vt:lpstr>During an X-ray exposure </vt:lpstr>
      <vt:lpstr>THE FLAT PANEL (DR) RECEPTOR</vt:lpstr>
      <vt:lpstr>TYPES OF DR IMAGE FORMATION</vt:lpstr>
      <vt:lpstr>Main components/Cross section  of a Digital Radiography (DR) detector </vt:lpstr>
      <vt:lpstr> X-ray exposure The X-ray tube produces X-rays that pass through the patient. Different tissues absorb different amounts of radiation, and the remaining X-rays reach the DR detector. </vt:lpstr>
      <vt:lpstr> Conversion of X-rays In an indirect-conversion detector, a scintillator—commonly cesium iodide (CsI) or gadolinium oxysulfide (GOS)—converts X-rays into visible light.</vt:lpstr>
      <vt:lpstr>PowerPoint Presentation</vt:lpstr>
      <vt:lpstr>Electrical charge formation In indirect detectors, photodiodes convert the light into electrical charge. In direct detectors, X-rays generate electrical charge directly in the photoconductor. The amount of charge varies with the local X-ray exposure. </vt:lpstr>
      <vt:lpstr>FUNCTIONS OF DR DETECTOR PLATE SEGMENTS</vt:lpstr>
      <vt:lpstr>A FLAT  PANEL DETECTOR</vt:lpstr>
      <vt:lpstr>SUMMARY  OF THE COMPONENTS AND THEIR FUNCTIONS </vt:lpstr>
      <vt:lpstr>SUMMARY  OF THE COMPONENTS AND THEIR FUNCTIONS CONTD</vt:lpstr>
      <vt:lpstr>Signal readout The thin-film transistor (TFT) array reads the electrical charge stored at each pixel. The detector electronics convert these signals into digital values Digital image formation The computer processes the digital values to produce a radiographic image. The image can be viewed, adjusted, stored in PACS and transmitted electronically. </vt:lpstr>
      <vt:lpstr>Difference between CR and DR imaging plates </vt:lpstr>
      <vt:lpstr> Advantages of DR </vt:lpstr>
      <vt:lpstr> Disadvantages of DR </vt:lpstr>
      <vt:lpstr>Important image Post processing operations </vt:lpstr>
      <vt:lpstr>Advantages of digital X-ray processing </vt:lpstr>
      <vt:lpstr>Main disadvantages </vt:lpstr>
      <vt:lpstr>Main disadvantages contd </vt:lpstr>
      <vt:lpstr>YOU ARE FREE  TO ASK ANY QUESTION FROM THE LECTURE  NOW  !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LECTURES ON INTRODUCTION TO DAYLIGHT / OTHER DIGITAL IMAGE PROCESSING (MXT 303) </dc:title>
  <dc:creator>HELLO</dc:creator>
  <cp:lastModifiedBy>HELLO</cp:lastModifiedBy>
  <cp:revision>105</cp:revision>
  <dcterms:created xsi:type="dcterms:W3CDTF">2026-10-19T08:14:17Z</dcterms:created>
  <dcterms:modified xsi:type="dcterms:W3CDTF">2026-10-21T15:42:15Z</dcterms:modified>
</cp:coreProperties>
</file>