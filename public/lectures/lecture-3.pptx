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notesMasterIdLst>
    <p:notesMasterId r:id="rId51"/>
  </p:notesMasterIdLst>
  <p:sldIdLst>
    <p:sldId id="256" r:id="rId2"/>
    <p:sldId id="257" r:id="rId3"/>
    <p:sldId id="304" r:id="rId4"/>
    <p:sldId id="306" r:id="rId5"/>
    <p:sldId id="258" r:id="rId6"/>
    <p:sldId id="259" r:id="rId7"/>
    <p:sldId id="260" r:id="rId8"/>
    <p:sldId id="261" r:id="rId9"/>
    <p:sldId id="264" r:id="rId10"/>
    <p:sldId id="265" r:id="rId11"/>
    <p:sldId id="266" r:id="rId12"/>
    <p:sldId id="268" r:id="rId13"/>
    <p:sldId id="270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9" r:id="rId43"/>
    <p:sldId id="298" r:id="rId44"/>
    <p:sldId id="305" r:id="rId45"/>
    <p:sldId id="300" r:id="rId46"/>
    <p:sldId id="302" r:id="rId47"/>
    <p:sldId id="303" r:id="rId48"/>
    <p:sldId id="262" r:id="rId49"/>
    <p:sldId id="307" r:id="rId5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8DBFE4-16AD-43E4-8387-426968FF465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8A0AB6-75B2-4B48-8591-4C598E1AD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004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8A0AB6-75B2-4B48-8591-4C598E1AD3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871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69F5AC19-71E6-477B-8EAD-4EB70840E73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9CBC0B2E-5239-4394-83F4-3CA767B901FC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69F5AC19-71E6-477B-8EAD-4EB70840E73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9CBC0B2E-5239-4394-83F4-3CA767B901F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69F5AC19-71E6-477B-8EAD-4EB70840E73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9CBC0B2E-5239-4394-83F4-3CA767B901FC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5AC19-71E6-477B-8EAD-4EB70840E73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0B2E-5239-4394-83F4-3CA767B901F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5AC19-71E6-477B-8EAD-4EB70840E73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0B2E-5239-4394-83F4-3CA767B901F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69F5AC19-71E6-477B-8EAD-4EB70840E73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9CBC0B2E-5239-4394-83F4-3CA767B901F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5AC19-71E6-477B-8EAD-4EB70840E73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0B2E-5239-4394-83F4-3CA767B901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69F5AC19-71E6-477B-8EAD-4EB70840E73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9CBC0B2E-5239-4394-83F4-3CA767B901FC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69F5AC19-71E6-477B-8EAD-4EB70840E73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9CBC0B2E-5239-4394-83F4-3CA767B901FC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5AC19-71E6-477B-8EAD-4EB70840E73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0B2E-5239-4394-83F4-3CA767B901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5AC19-71E6-477B-8EAD-4EB70840E73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0B2E-5239-4394-83F4-3CA767B901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69F5AC19-71E6-477B-8EAD-4EB70840E73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9CBC0B2E-5239-4394-83F4-3CA767B901F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HELLO\Desktop\MXT LECTURES\IMG-20261018-WA000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" y="-27384"/>
            <a:ext cx="9144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816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672" y="4581128"/>
            <a:ext cx="6984776" cy="136815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latin typeface="Book Antiqua" panose="02040602050305030304" pitchFamily="18" charset="0"/>
              </a:rPr>
              <a:t/>
            </a:r>
            <a:br>
              <a:rPr lang="en-US" dirty="0" smtClean="0">
                <a:latin typeface="Book Antiqua" panose="02040602050305030304" pitchFamily="18" charset="0"/>
              </a:rPr>
            </a:br>
            <a:r>
              <a:rPr lang="en-US" b="1" dirty="0">
                <a:latin typeface="Book Antiqua" panose="02040602050305030304" pitchFamily="18" charset="0"/>
              </a:rPr>
              <a:t/>
            </a:r>
            <a:br>
              <a:rPr lang="en-US" b="1" dirty="0">
                <a:latin typeface="Book Antiqua" panose="02040602050305030304" pitchFamily="18" charset="0"/>
              </a:rPr>
            </a:br>
            <a:r>
              <a:rPr lang="en-US" sz="5300" dirty="0" smtClean="0">
                <a:latin typeface="Book Antiqua" panose="02040602050305030304" pitchFamily="18" charset="0"/>
              </a:rPr>
              <a:t>BASIC COMPUTER APPRECIATION IN MEDICAL IMAGING </a:t>
            </a:r>
            <a:r>
              <a:rPr lang="en-US" dirty="0">
                <a:latin typeface="Book Antiqua" panose="02040602050305030304" pitchFamily="18" charset="0"/>
              </a:rPr>
              <a:t/>
            </a:r>
            <a:br>
              <a:rPr lang="en-US" dirty="0">
                <a:latin typeface="Book Antiqua" panose="02040602050305030304" pitchFamily="18" charset="0"/>
              </a:rPr>
            </a:br>
            <a:r>
              <a:rPr lang="en-US" sz="4000" b="1" dirty="0" smtClean="0">
                <a:latin typeface="Book Antiqua" panose="02040602050305030304" pitchFamily="18" charset="0"/>
              </a:rPr>
              <a:t>(MXT 304)</a:t>
            </a:r>
            <a:br>
              <a:rPr lang="en-US" sz="4000" b="1" dirty="0" smtClean="0">
                <a:latin typeface="Book Antiqua" panose="02040602050305030304" pitchFamily="18" charset="0"/>
              </a:rPr>
            </a:br>
            <a:r>
              <a:rPr lang="en-US" sz="4000" b="1" dirty="0" smtClean="0">
                <a:latin typeface="Book Antiqua" panose="02040602050305030304" pitchFamily="18" charset="0"/>
              </a:rPr>
              <a:t/>
            </a:r>
            <a:br>
              <a:rPr lang="en-US" sz="4000" b="1" dirty="0" smtClean="0">
                <a:latin typeface="Book Antiqua" panose="02040602050305030304" pitchFamily="18" charset="0"/>
              </a:rPr>
            </a:br>
            <a:r>
              <a:rPr lang="en-US" sz="4000" b="1" dirty="0" smtClean="0">
                <a:latin typeface="Book Antiqua" panose="02040602050305030304" pitchFamily="18" charset="0"/>
              </a:rPr>
              <a:t>BY </a:t>
            </a:r>
            <a:br>
              <a:rPr lang="en-US" sz="4000" b="1" dirty="0" smtClean="0">
                <a:latin typeface="Book Antiqua" panose="02040602050305030304" pitchFamily="18" charset="0"/>
              </a:rPr>
            </a:br>
            <a:r>
              <a:rPr lang="en-US" b="1" dirty="0">
                <a:latin typeface="Book Antiqua" panose="02040602050305030304" pitchFamily="18" charset="0"/>
              </a:rPr>
              <a:t/>
            </a:r>
            <a:br>
              <a:rPr lang="en-US" b="1" dirty="0">
                <a:latin typeface="Book Antiqua" panose="02040602050305030304" pitchFamily="18" charset="0"/>
              </a:rPr>
            </a:br>
            <a:r>
              <a:rPr lang="en-US" b="1" dirty="0" smtClean="0">
                <a:latin typeface="Book Antiqua" panose="02040602050305030304" pitchFamily="18" charset="0"/>
              </a:rPr>
              <a:t>DIR. GBARABE, </a:t>
            </a:r>
            <a:r>
              <a:rPr lang="en-US" b="1" dirty="0">
                <a:latin typeface="Book Antiqua" panose="02040602050305030304" pitchFamily="18" charset="0"/>
              </a:rPr>
              <a:t>KENT</a:t>
            </a:r>
            <a:r>
              <a:rPr lang="en-US" b="1" dirty="0" smtClean="0">
                <a:latin typeface="Book Antiqua" panose="02040602050305030304" pitchFamily="18" charset="0"/>
              </a:rPr>
              <a:t/>
            </a:r>
            <a:br>
              <a:rPr lang="en-US" b="1" dirty="0" smtClean="0">
                <a:latin typeface="Book Antiqua" panose="02040602050305030304" pitchFamily="18" charset="0"/>
              </a:rPr>
            </a:br>
            <a:endParaRPr lang="en-US" b="1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373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         COURSE </a:t>
            </a:r>
            <a:r>
              <a:rPr lang="en-US" dirty="0"/>
              <a:t>OUTLINE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52736"/>
            <a:ext cx="7467600" cy="5400600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sz="2000" dirty="0"/>
              <a:t>INTRODUCTION TO </a:t>
            </a:r>
            <a:r>
              <a:rPr lang="en-US" sz="2000" dirty="0" smtClean="0"/>
              <a:t>COMPUTER</a:t>
            </a:r>
          </a:p>
          <a:p>
            <a:pPr>
              <a:lnSpc>
                <a:spcPct val="170000"/>
              </a:lnSpc>
            </a:pPr>
            <a:r>
              <a:rPr lang="en-US" sz="2000" dirty="0" smtClean="0"/>
              <a:t>APPLICATION OF COMPUTER IN RADIOGRAPHY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2000" dirty="0" smtClean="0"/>
              <a:t>COMPUTER HARDWARE AND COMPONENTS</a:t>
            </a:r>
          </a:p>
          <a:p>
            <a:pPr>
              <a:lnSpc>
                <a:spcPct val="170000"/>
              </a:lnSpc>
            </a:pPr>
            <a:r>
              <a:rPr lang="en-US" sz="2000" dirty="0" smtClean="0"/>
              <a:t>TYPES OF COMPUTER IN RADIOGRAPHY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2000" dirty="0"/>
              <a:t>COMPUTER </a:t>
            </a:r>
            <a:r>
              <a:rPr lang="en-US" sz="2000" dirty="0" smtClean="0"/>
              <a:t>SOFTWARE USED IN RADIOGRAPHY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2000" dirty="0"/>
              <a:t>DATA AND INFORMATION </a:t>
            </a:r>
            <a:r>
              <a:rPr lang="en-US" sz="2000" dirty="0" smtClean="0"/>
              <a:t> IN RADIOGRAPHY</a:t>
            </a:r>
          </a:p>
          <a:p>
            <a:pPr>
              <a:lnSpc>
                <a:spcPct val="170000"/>
              </a:lnSpc>
            </a:pPr>
            <a:r>
              <a:rPr lang="en-US" sz="2000" dirty="0" smtClean="0"/>
              <a:t>WORD PROCESSING IN RADIOGRAPHY</a:t>
            </a:r>
          </a:p>
          <a:p>
            <a:pPr>
              <a:lnSpc>
                <a:spcPct val="170000"/>
              </a:lnSpc>
            </a:pPr>
            <a:r>
              <a:rPr lang="en-US" sz="2000" dirty="0"/>
              <a:t>FILE MANAGEMENT </a:t>
            </a:r>
          </a:p>
          <a:p>
            <a:pPr>
              <a:lnSpc>
                <a:spcPct val="170000"/>
              </a:lnSpc>
            </a:pPr>
            <a:r>
              <a:rPr lang="en-US" sz="2000" dirty="0"/>
              <a:t>INTERNET AND DIGITAL COMMUNICATION</a:t>
            </a:r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90965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94122"/>
          </a:xfrm>
        </p:spPr>
        <p:txBody>
          <a:bodyPr/>
          <a:lstStyle/>
          <a:p>
            <a:pPr algn="ctr"/>
            <a:r>
              <a:rPr lang="en-US" dirty="0" smtClean="0"/>
              <a:t>COURSE OUTLINE CONTD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96752"/>
            <a:ext cx="7467600" cy="5544616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70000"/>
              </a:lnSpc>
            </a:pPr>
            <a:r>
              <a:rPr lang="en-US" sz="8000" dirty="0"/>
              <a:t>FILE MANAGEMENT </a:t>
            </a:r>
          </a:p>
          <a:p>
            <a:pPr>
              <a:lnSpc>
                <a:spcPct val="170000"/>
              </a:lnSpc>
            </a:pPr>
            <a:r>
              <a:rPr lang="en-US" sz="8000" dirty="0"/>
              <a:t>INTERNET AND DIGITAL COMMUNICATION</a:t>
            </a:r>
          </a:p>
          <a:p>
            <a:pPr>
              <a:lnSpc>
                <a:spcPct val="170000"/>
              </a:lnSpc>
            </a:pPr>
            <a:r>
              <a:rPr lang="en-US" sz="8000" dirty="0"/>
              <a:t>COMPUTER NETWORK</a:t>
            </a:r>
          </a:p>
          <a:p>
            <a:pPr>
              <a:lnSpc>
                <a:spcPct val="170000"/>
              </a:lnSpc>
            </a:pPr>
            <a:r>
              <a:rPr lang="en-US" sz="8000" dirty="0"/>
              <a:t>COMPUTER SECURITY AND ETHICS</a:t>
            </a:r>
          </a:p>
          <a:p>
            <a:pPr>
              <a:lnSpc>
                <a:spcPct val="170000"/>
              </a:lnSpc>
            </a:pPr>
            <a:r>
              <a:rPr lang="en-US" sz="8000" dirty="0"/>
              <a:t>APPLICATION OF COMPUTERS</a:t>
            </a:r>
          </a:p>
          <a:p>
            <a:pPr>
              <a:lnSpc>
                <a:spcPct val="170000"/>
              </a:lnSpc>
            </a:pPr>
            <a:r>
              <a:rPr lang="en-US" sz="8000" dirty="0"/>
              <a:t>EMMERGING COMPUTER TECHNOLOGIES</a:t>
            </a:r>
          </a:p>
          <a:p>
            <a:pPr>
              <a:lnSpc>
                <a:spcPct val="170000"/>
              </a:lnSpc>
            </a:pPr>
            <a:r>
              <a:rPr lang="en-US" sz="8000" dirty="0"/>
              <a:t>PRACTICAL COMPUTER APPLICATIONS  IN OPERATIONS, FILE MANAGEMENT, WORD PROCESSING, SPREAD SHEETS, PRESENTATIONS, INTERNET RESEARCH AND DIGITAL COMMUNICATIONS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38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224136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INTRODUCTION TO COMPUTER IN MEDICAL IMAGING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23600"/>
            <a:ext cx="7467600" cy="487375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/>
              <a:t>A </a:t>
            </a:r>
            <a:r>
              <a:rPr lang="en-US" dirty="0"/>
              <a:t>computer in radiography is an electronic device or system used to process, store, retrieve, display, and transmit radiographic images and patient information in a medical imaging department</a:t>
            </a:r>
            <a:r>
              <a:rPr lang="en-US" dirty="0" smtClean="0"/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Computers play an important role in modern radiography, especially in digital X-ray, computed tomography (CT), magnetic resonance imaging (MRI), fluoroscopy, and other medical imaging techniques.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172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 descr="Siemens Healthcare – Multix Select DR - Siemens Healthineers Latinoamérica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576" y="14858"/>
            <a:ext cx="9156576" cy="68431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93461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Applications of Computers in Radiography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b="1" dirty="0" smtClean="0">
                <a:latin typeface="Book Antiqua" panose="02040602050305030304" pitchFamily="18" charset="0"/>
              </a:rPr>
              <a:t>IMAGE ACQUISITION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Book Antiqua" panose="02040602050305030304" pitchFamily="18" charset="0"/>
              </a:rPr>
              <a:t>Computers </a:t>
            </a:r>
            <a:r>
              <a:rPr lang="en-US" dirty="0">
                <a:latin typeface="Book Antiqua" panose="02040602050305030304" pitchFamily="18" charset="0"/>
              </a:rPr>
              <a:t>receive digital image data from X-ray detectors and other imaging equipment.</a:t>
            </a:r>
          </a:p>
          <a:p>
            <a:pPr marL="0" indent="0" algn="just">
              <a:buNone/>
            </a:pPr>
            <a:r>
              <a:rPr lang="en-US" b="1" dirty="0" smtClean="0">
                <a:latin typeface="Book Antiqua" panose="02040602050305030304" pitchFamily="18" charset="0"/>
              </a:rPr>
              <a:t>IMAGE PROCESSING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Book Antiqua" panose="02040602050305030304" pitchFamily="18" charset="0"/>
              </a:rPr>
              <a:t>They </a:t>
            </a:r>
            <a:r>
              <a:rPr lang="en-US" dirty="0">
                <a:latin typeface="Book Antiqua" panose="02040602050305030304" pitchFamily="18" charset="0"/>
              </a:rPr>
              <a:t>help adjust image brightness, contrast, sharpness, and magnification to improve image </a:t>
            </a:r>
            <a:r>
              <a:rPr lang="en-US" dirty="0" smtClean="0">
                <a:latin typeface="Book Antiqua" panose="02040602050305030304" pitchFamily="18" charset="0"/>
              </a:rPr>
              <a:t>presentation</a:t>
            </a:r>
          </a:p>
          <a:p>
            <a:pPr marL="0" indent="0" algn="just">
              <a:buNone/>
            </a:pPr>
            <a:r>
              <a:rPr lang="en-US" b="1" dirty="0" smtClean="0">
                <a:latin typeface="Book Antiqua" panose="02040602050305030304" pitchFamily="18" charset="0"/>
              </a:rPr>
              <a:t> IMAGE STORAGE AND RETRIEVAL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Book Antiqua" panose="02040602050305030304" pitchFamily="18" charset="0"/>
              </a:rPr>
              <a:t>Computers </a:t>
            </a:r>
            <a:r>
              <a:rPr lang="en-US" dirty="0">
                <a:latin typeface="Book Antiqua" panose="02040602050305030304" pitchFamily="18" charset="0"/>
              </a:rPr>
              <a:t>store images in systems such as PACS (Picture Archiving and Communication System) and allow them to be retrieved when needed</a:t>
            </a:r>
            <a:r>
              <a:rPr lang="en-US" dirty="0" smtClean="0">
                <a:latin typeface="Book Antiqua" panose="0204060205030503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dirty="0" smtClean="0">
                <a:latin typeface="Book Antiqua" panose="02040602050305030304" pitchFamily="18" charset="0"/>
              </a:rPr>
              <a:t> </a:t>
            </a:r>
            <a:r>
              <a:rPr lang="en-US" b="1" dirty="0" smtClean="0">
                <a:latin typeface="Book Antiqua" panose="02040602050305030304" pitchFamily="18" charset="0"/>
              </a:rPr>
              <a:t>PATIENT AND EXAMINATION MANAGEMENT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Book Antiqua" panose="02040602050305030304" pitchFamily="18" charset="0"/>
              </a:rPr>
              <a:t>Computers </a:t>
            </a:r>
            <a:r>
              <a:rPr lang="en-US" dirty="0">
                <a:latin typeface="Book Antiqua" panose="02040602050305030304" pitchFamily="18" charset="0"/>
              </a:rPr>
              <a:t>manage patient records, examination requests, appointments, and radiology </a:t>
            </a:r>
            <a:r>
              <a:rPr lang="en-US" dirty="0" smtClean="0">
                <a:latin typeface="Book Antiqua" panose="02040602050305030304" pitchFamily="18" charset="0"/>
              </a:rPr>
              <a:t>reports.</a:t>
            </a:r>
          </a:p>
          <a:p>
            <a:pPr marL="0" indent="0" algn="just">
              <a:buNone/>
            </a:pPr>
            <a:r>
              <a:rPr lang="en-US" b="1" dirty="0" smtClean="0">
                <a:latin typeface="Book Antiqua" panose="02040602050305030304" pitchFamily="18" charset="0"/>
              </a:rPr>
              <a:t>IMAGE DIAGNOSIS AND INTERPRETATION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Book Antiqua" panose="02040602050305030304" pitchFamily="18" charset="0"/>
              </a:rPr>
              <a:t>They </a:t>
            </a:r>
            <a:r>
              <a:rPr lang="en-US" dirty="0">
                <a:latin typeface="Book Antiqua" panose="02040602050305030304" pitchFamily="18" charset="0"/>
              </a:rPr>
              <a:t>enable radiologists to examine images, perform measurements, and use specialized software to support diagnosis.</a:t>
            </a:r>
          </a:p>
          <a:p>
            <a:pPr algn="just"/>
            <a:endParaRPr lang="en-US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726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404664"/>
            <a:ext cx="82296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/>
            </a:r>
            <a:br>
              <a:rPr lang="en-US" dirty="0"/>
            </a:br>
            <a:r>
              <a:rPr lang="en-US" b="1" dirty="0">
                <a:latin typeface="Book Antiqua" panose="02040602050305030304" pitchFamily="18" charset="0"/>
              </a:rPr>
              <a:t>Basic Components of a </a:t>
            </a:r>
            <a:r>
              <a:rPr lang="en-US" b="1" dirty="0" smtClean="0">
                <a:latin typeface="Book Antiqua" panose="02040602050305030304" pitchFamily="18" charset="0"/>
              </a:rPr>
              <a:t>Computer Hardware </a:t>
            </a:r>
            <a:r>
              <a:rPr lang="en-US" b="1" dirty="0">
                <a:latin typeface="Book Antiqua" panose="02040602050305030304" pitchFamily="18" charset="0"/>
              </a:rPr>
              <a:t>Used in Radiography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196752"/>
            <a:ext cx="8496944" cy="5400600"/>
          </a:xfrm>
        </p:spPr>
        <p:txBody>
          <a:bodyPr>
            <a:normAutofit lnSpcReduction="10000"/>
          </a:bodyPr>
          <a:lstStyle/>
          <a:p>
            <a:pPr lvl="0" algn="just">
              <a:buFont typeface="Wingdings" panose="05000000000000000000" pitchFamily="2" charset="2"/>
              <a:buChar char="Ø"/>
            </a:pPr>
            <a:r>
              <a:rPr lang="en-US" b="1" dirty="0" smtClean="0">
                <a:latin typeface="Book Antiqua" panose="02040602050305030304" pitchFamily="18" charset="0"/>
              </a:rPr>
              <a:t>Input </a:t>
            </a:r>
            <a:r>
              <a:rPr lang="en-US" b="1" dirty="0">
                <a:latin typeface="Book Antiqua" panose="02040602050305030304" pitchFamily="18" charset="0"/>
              </a:rPr>
              <a:t>devices</a:t>
            </a:r>
            <a:r>
              <a:rPr lang="en-US" dirty="0">
                <a:latin typeface="Book Antiqua" panose="02040602050305030304" pitchFamily="18" charset="0"/>
              </a:rPr>
              <a:t>: Keyboard, mouse, barcode scanner, and digital imaging detectors.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Book Antiqua" panose="02040602050305030304" pitchFamily="18" charset="0"/>
              </a:rPr>
              <a:t>Central Processing Unit (CPU): </a:t>
            </a:r>
            <a:r>
              <a:rPr lang="en-US" dirty="0">
                <a:latin typeface="Book Antiqua" panose="02040602050305030304" pitchFamily="18" charset="0"/>
              </a:rPr>
              <a:t>Processes data and controls computer operations.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Book Antiqua" panose="02040602050305030304" pitchFamily="18" charset="0"/>
              </a:rPr>
              <a:t>Memory (RAM): </a:t>
            </a:r>
            <a:r>
              <a:rPr lang="en-US" dirty="0">
                <a:latin typeface="Book Antiqua" panose="02040602050305030304" pitchFamily="18" charset="0"/>
              </a:rPr>
              <a:t>Temporarily holds data and programs being used.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Book Antiqua" panose="02040602050305030304" pitchFamily="18" charset="0"/>
              </a:rPr>
              <a:t>Storage devices: </a:t>
            </a:r>
            <a:r>
              <a:rPr lang="en-US" dirty="0">
                <a:latin typeface="Book Antiqua" panose="02040602050305030304" pitchFamily="18" charset="0"/>
              </a:rPr>
              <a:t>Hard disk drives (HDDs) and solid-state drives (SSDs) store images and information.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Book Antiqua" panose="02040602050305030304" pitchFamily="18" charset="0"/>
              </a:rPr>
              <a:t>Output devices: </a:t>
            </a:r>
            <a:r>
              <a:rPr lang="en-US" dirty="0">
                <a:latin typeface="Book Antiqua" panose="02040602050305030304" pitchFamily="18" charset="0"/>
              </a:rPr>
              <a:t>Monitors display radiographic images, while printers produce hard copies when required.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Book Antiqua" panose="02040602050305030304" pitchFamily="18" charset="0"/>
              </a:rPr>
              <a:t>Software: </a:t>
            </a:r>
            <a:r>
              <a:rPr lang="en-US" dirty="0">
                <a:latin typeface="Book Antiqua" panose="02040602050305030304" pitchFamily="18" charset="0"/>
              </a:rPr>
              <a:t>Programs used for image acquisition, processing, reporting, and storage.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Book Antiqua" panose="02040602050305030304" pitchFamily="18" charset="0"/>
              </a:rPr>
              <a:t>Network devices</a:t>
            </a:r>
            <a:r>
              <a:rPr lang="en-US" dirty="0">
                <a:latin typeface="Book Antiqua" panose="02040602050305030304" pitchFamily="18" charset="0"/>
              </a:rPr>
              <a:t>: Enable the transfer of images and patient information between computers and hospital systems.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585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>
                <a:latin typeface="Book Antiqua" panose="02040602050305030304" pitchFamily="18" charset="0"/>
              </a:rPr>
              <a:t>TYPES OF COMPUTER SYSTEMS USED IN RADIOGRAPHY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1600200"/>
            <a:ext cx="8424936" cy="5069160"/>
          </a:xfrm>
        </p:spPr>
        <p:txBody>
          <a:bodyPr>
            <a:normAutofit fontScale="92500"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US" b="1" dirty="0">
                <a:latin typeface="Book Antiqua" panose="02040602050305030304" pitchFamily="18" charset="0"/>
              </a:rPr>
              <a:t>Computed Radiography (CR) systems: </a:t>
            </a:r>
            <a:r>
              <a:rPr lang="en-US" dirty="0">
                <a:latin typeface="Book Antiqua" panose="02040602050305030304" pitchFamily="18" charset="0"/>
              </a:rPr>
              <a:t>Use imaging plates that are read by a reader to produce digital images.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b="1" dirty="0">
                <a:latin typeface="Book Antiqua" panose="02040602050305030304" pitchFamily="18" charset="0"/>
              </a:rPr>
              <a:t>Digital Radiography (DR) systems: </a:t>
            </a:r>
            <a:r>
              <a:rPr lang="en-US" dirty="0">
                <a:latin typeface="Book Antiqua" panose="02040602050305030304" pitchFamily="18" charset="0"/>
              </a:rPr>
              <a:t>Use digital detectors to capture X-ray images directly.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b="1" dirty="0">
                <a:latin typeface="Book Antiqua" panose="02040602050305030304" pitchFamily="18" charset="0"/>
              </a:rPr>
              <a:t>CT computer systems: </a:t>
            </a:r>
            <a:r>
              <a:rPr lang="en-US" dirty="0">
                <a:latin typeface="Book Antiqua" panose="02040602050305030304" pitchFamily="18" charset="0"/>
              </a:rPr>
              <a:t>Process data collected from multiple X-ray projections to reconstruct cross-sectional images.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b="1" dirty="0">
                <a:latin typeface="Book Antiqua" panose="02040602050305030304" pitchFamily="18" charset="0"/>
              </a:rPr>
              <a:t>MRI computer systems: </a:t>
            </a:r>
            <a:r>
              <a:rPr lang="en-US" dirty="0">
                <a:latin typeface="Book Antiqua" panose="02040602050305030304" pitchFamily="18" charset="0"/>
              </a:rPr>
              <a:t>Process signals from the body to produce detailed images.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b="1" dirty="0">
                <a:latin typeface="Book Antiqua" panose="02040602050305030304" pitchFamily="18" charset="0"/>
              </a:rPr>
              <a:t>PACS: </a:t>
            </a:r>
            <a:r>
              <a:rPr lang="en-US" dirty="0">
                <a:latin typeface="Book Antiqua" panose="02040602050305030304" pitchFamily="18" charset="0"/>
              </a:rPr>
              <a:t>Stores, retrieves, distributes, and displays medical images.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b="1" dirty="0">
                <a:latin typeface="Book Antiqua" panose="02040602050305030304" pitchFamily="18" charset="0"/>
              </a:rPr>
              <a:t>RIS (Radiology Information System): </a:t>
            </a:r>
            <a:r>
              <a:rPr lang="en-US" dirty="0">
                <a:latin typeface="Book Antiqua" panose="02040602050305030304" pitchFamily="18" charset="0"/>
              </a:rPr>
              <a:t>Manages radiology workflow, examinations, patient information, and reporting.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75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>
                <a:latin typeface="Book Antiqua" panose="02040602050305030304" pitchFamily="18" charset="0"/>
              </a:rPr>
              <a:t>ADVANTAGES OF COMPUTERS IN RADIOGRAPHY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Fast image processing and display.</a:t>
            </a:r>
          </a:p>
          <a:p>
            <a:pPr lvl="0"/>
            <a:r>
              <a:rPr lang="en-US" dirty="0"/>
              <a:t>Improved workflow and efficiency.</a:t>
            </a:r>
          </a:p>
          <a:p>
            <a:pPr lvl="0"/>
            <a:r>
              <a:rPr lang="en-US" dirty="0"/>
              <a:t>Easy storage and retrieval of images.</a:t>
            </a:r>
          </a:p>
          <a:p>
            <a:pPr lvl="0"/>
            <a:r>
              <a:rPr lang="en-US" dirty="0"/>
              <a:t>Easy sharing of images between departments and hospitals.</a:t>
            </a:r>
          </a:p>
          <a:p>
            <a:pPr lvl="0"/>
            <a:r>
              <a:rPr lang="en-US" dirty="0"/>
              <a:t>Image enhancement and measurement capabilities.</a:t>
            </a:r>
          </a:p>
          <a:p>
            <a:pPr lvl="0"/>
            <a:r>
              <a:rPr lang="en-US" dirty="0"/>
              <a:t>Reduced need for physical film storage.</a:t>
            </a:r>
          </a:p>
          <a:p>
            <a:pPr lvl="0"/>
            <a:r>
              <a:rPr lang="en-US" dirty="0"/>
              <a:t>Support for accurate diagnosis and comparison of previous examinations.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821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 smtClean="0"/>
              <a:t>DISADVANTAGES OF COMPUTERS IN RADIOGRAPHY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412776"/>
            <a:ext cx="8568952" cy="5328592"/>
          </a:xfrm>
        </p:spPr>
        <p:txBody>
          <a:bodyPr>
            <a:normAutofit lnSpcReduction="10000"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US" sz="2800" dirty="0"/>
              <a:t>High cost of purchasing and maintaining equipment.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800" dirty="0"/>
              <a:t>Risk of data loss or corruption.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800" dirty="0"/>
              <a:t>Cybersecurity and patient privacy concerns.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800" dirty="0"/>
              <a:t>Dependence on electricity and network connectivity.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800" dirty="0"/>
              <a:t>Need for trained personnel.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800" dirty="0"/>
              <a:t>Computer or software failure may interrupt examinations.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800" dirty="0"/>
              <a:t>Excessive image processing can create misleading appearances or obscure important findings.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957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0864"/>
            <a:ext cx="8229600" cy="101994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COMPUTER SOFTWARE USED IN RADIOGRAPHY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ook Antiqua" panose="02040602050305030304" pitchFamily="18" charset="0"/>
              </a:rPr>
              <a:t>Computer software used in radiography refers to the programs and applications installed on computers to acquire, process, display, store, transmit, and interpret medical images obtained from X-ray, CT, MRI, ultrasound, and other imaging equipment.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998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TYPES OF SOFTWARE USED IN RADIOGRAPHY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504" y="1124744"/>
            <a:ext cx="8686800" cy="5544616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Book Antiqua" panose="02040602050305030304" pitchFamily="18" charset="0"/>
              </a:rPr>
              <a:t>Image acquisition software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Book Antiqua" panose="02040602050305030304" pitchFamily="18" charset="0"/>
              </a:rPr>
              <a:t>Controls image capture and receives image data from the imaging detector.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Book Antiqua" panose="02040602050305030304" pitchFamily="18" charset="0"/>
              </a:rPr>
              <a:t>Example: Digital Radiography (DR) acquisition software.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Book Antiqua" panose="02040602050305030304" pitchFamily="18" charset="0"/>
              </a:rPr>
              <a:t>Image processing software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Book Antiqua" panose="02040602050305030304" pitchFamily="18" charset="0"/>
              </a:rPr>
              <a:t>Improves image presentation by adjusting brightness, contrast, sharpness, magnification, and other display parameters.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Book Antiqua" panose="02040602050305030304" pitchFamily="18" charset="0"/>
              </a:rPr>
              <a:t>Example: Carestream Image Suite.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Book Antiqua" panose="02040602050305030304" pitchFamily="18" charset="0"/>
              </a:rPr>
              <a:t>PACS software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Book Antiqua" panose="02040602050305030304" pitchFamily="18" charset="0"/>
              </a:rPr>
              <a:t>PACS means Picture Archiving and Communication System. It stores, retrieves, displays, and distributes medical images.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Book Antiqua" panose="02040602050305030304" pitchFamily="18" charset="0"/>
              </a:rPr>
              <a:t>Examples: </a:t>
            </a:r>
            <a:r>
              <a:rPr lang="en-US" dirty="0" err="1">
                <a:latin typeface="Book Antiqua" panose="02040602050305030304" pitchFamily="18" charset="0"/>
              </a:rPr>
              <a:t>Sectra</a:t>
            </a:r>
            <a:r>
              <a:rPr lang="en-US" dirty="0">
                <a:latin typeface="Book Antiqua" panose="02040602050305030304" pitchFamily="18" charset="0"/>
              </a:rPr>
              <a:t> PACS and Agfa Enterprise Imaging</a:t>
            </a:r>
            <a:r>
              <a:rPr lang="en-US" dirty="0" smtClean="0">
                <a:latin typeface="Book Antiqua" panose="0204060205030503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Book Antiqua" panose="0204060205030503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709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620688"/>
            <a:ext cx="8229600" cy="5856312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Book Antiqua" panose="02040602050305030304" pitchFamily="18" charset="0"/>
              </a:rPr>
              <a:t>Radiology Information System (RIS) software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Book Antiqua" panose="02040602050305030304" pitchFamily="18" charset="0"/>
              </a:rPr>
              <a:t>Manages patient registration, examination requests, appointments, worklists, and radiology reports.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Book Antiqua" panose="02040602050305030304" pitchFamily="18" charset="0"/>
              </a:rPr>
              <a:t>Example: Radiology workflow management software.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Book Antiqua" panose="02040602050305030304" pitchFamily="18" charset="0"/>
              </a:rPr>
              <a:t>Image reconstruction and visualization software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Book Antiqua" panose="02040602050305030304" pitchFamily="18" charset="0"/>
              </a:rPr>
              <a:t>Reconstructs and displays images from CT and MRI data, including cross-sectional and three-dimensional images.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Book Antiqua" panose="02040602050305030304" pitchFamily="18" charset="0"/>
              </a:rPr>
              <a:t>Examples: Siemens </a:t>
            </a:r>
            <a:r>
              <a:rPr lang="en-US" sz="2000" dirty="0" err="1">
                <a:latin typeface="Book Antiqua" panose="02040602050305030304" pitchFamily="18" charset="0"/>
              </a:rPr>
              <a:t>syngo.via</a:t>
            </a:r>
            <a:r>
              <a:rPr lang="en-US" sz="2000" dirty="0">
                <a:latin typeface="Book Antiqua" panose="02040602050305030304" pitchFamily="18" charset="0"/>
              </a:rPr>
              <a:t> and GE HealthCare AW.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Book Antiqua" panose="02040602050305030304" pitchFamily="18" charset="0"/>
              </a:rPr>
              <a:t>DICOM viewer software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Book Antiqua" panose="02040602050305030304" pitchFamily="18" charset="0"/>
              </a:rPr>
              <a:t>Opens, displays, and allows measurements on medical images saved in DICOM format.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Book Antiqua" panose="02040602050305030304" pitchFamily="18" charset="0"/>
              </a:rPr>
              <a:t>Examples: </a:t>
            </a:r>
            <a:r>
              <a:rPr lang="en-US" sz="2000" dirty="0" err="1">
                <a:latin typeface="Book Antiqua" panose="02040602050305030304" pitchFamily="18" charset="0"/>
              </a:rPr>
              <a:t>RadiAnt</a:t>
            </a:r>
            <a:r>
              <a:rPr lang="en-US" sz="2000" dirty="0">
                <a:latin typeface="Book Antiqua" panose="02040602050305030304" pitchFamily="18" charset="0"/>
              </a:rPr>
              <a:t> DICOM Viewer and </a:t>
            </a:r>
            <a:r>
              <a:rPr lang="en-US" sz="2000" dirty="0" err="1">
                <a:latin typeface="Book Antiqua" panose="02040602050305030304" pitchFamily="18" charset="0"/>
              </a:rPr>
              <a:t>Weasis</a:t>
            </a:r>
            <a:r>
              <a:rPr lang="en-US" sz="2000" dirty="0">
                <a:latin typeface="Book Antiqua" panose="0204060205030503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Book Antiqua" panose="02040602050305030304" pitchFamily="18" charset="0"/>
              </a:rPr>
              <a:t>Artificial intelligence (AI) software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Book Antiqua" panose="02040602050305030304" pitchFamily="18" charset="0"/>
              </a:rPr>
              <a:t>Assists with detecting or highlighting possible abnormalities, prioritizing examinations, and supporting image analysis</a:t>
            </a:r>
          </a:p>
        </p:txBody>
      </p:sp>
    </p:spTree>
    <p:extLst>
      <p:ext uri="{BB962C8B-B14F-4D97-AF65-F5344CB8AC3E}">
        <p14:creationId xmlns:p14="http://schemas.microsoft.com/office/powerpoint/2010/main" val="1552410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640960" cy="100811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/>
              <a:t>GENERAL-PURPOSE COMPUTER SOFTWARE USED IN RADIOGRAPHY</a:t>
            </a:r>
            <a:endParaRPr lang="en-US" sz="28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211755965"/>
              </p:ext>
            </p:extLst>
          </p:nvPr>
        </p:nvGraphicFramePr>
        <p:xfrm>
          <a:off x="323528" y="1196752"/>
          <a:ext cx="8352927" cy="54726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84309"/>
                <a:gridCol w="2784309"/>
                <a:gridCol w="2784309"/>
              </a:tblGrid>
              <a:tr h="5560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Software type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Examples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Uses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5560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Software type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Examples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Uses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6525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Operating systems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Windows, Linux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Runs the computer and applications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6525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Word processing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Microsoft Word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Writing reports and documents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6525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Spreadsheet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Microsoft Excel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Recording data and preparing statistics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6525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Database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Microsoft Access, SQL-based systems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Organizing patient and departmental data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0979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Communication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Email and hospital messaging systems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Sharing information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6525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Presentation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Microsoft PowerPoint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Teaching and presenting radiographic cases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0413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Importance of software in radiography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Improves the quality and presentation of digital images.</a:t>
            </a:r>
          </a:p>
          <a:p>
            <a:pPr lvl="0"/>
            <a:r>
              <a:rPr lang="en-US" dirty="0"/>
              <a:t>Makes image storage and retrieval easier.</a:t>
            </a:r>
          </a:p>
          <a:p>
            <a:pPr lvl="0"/>
            <a:r>
              <a:rPr lang="en-US" dirty="0"/>
              <a:t>Reduces delays in radiology workflow.</a:t>
            </a:r>
          </a:p>
          <a:p>
            <a:pPr lvl="0"/>
            <a:r>
              <a:rPr lang="en-US" dirty="0"/>
              <a:t>Supports image measurements and diagnostic interpretation.</a:t>
            </a:r>
          </a:p>
          <a:p>
            <a:pPr lvl="0"/>
            <a:r>
              <a:rPr lang="en-US" dirty="0"/>
              <a:t>Enables electronic transfer of images between hospitals.</a:t>
            </a:r>
          </a:p>
          <a:p>
            <a:pPr lvl="0"/>
            <a:r>
              <a:rPr lang="en-US" dirty="0"/>
              <a:t>Helps manage patient records and examination reports.</a:t>
            </a:r>
          </a:p>
          <a:p>
            <a:pPr lvl="0"/>
            <a:r>
              <a:rPr lang="en-US" dirty="0"/>
              <a:t>Supports research, teaching, and quality assurance.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315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Difference between PACS, RIS, and DICOM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871994544"/>
              </p:ext>
            </p:extLst>
          </p:nvPr>
        </p:nvGraphicFramePr>
        <p:xfrm>
          <a:off x="395536" y="1916832"/>
          <a:ext cx="8424936" cy="46085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08312"/>
                <a:gridCol w="2808312"/>
                <a:gridCol w="2808312"/>
              </a:tblGrid>
              <a:tr h="6656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Term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Meaning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Main function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3142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PACS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Picture Archiving and Communication System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Stores and distributes medical images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3142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RIS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Radiology Information System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Manages radiology workflow and patient information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3142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DICOM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Digital Imaging and Communications in Medicine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Standard for formatting and exchanging medical images and related information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7511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Data and Information in Radiography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are raw facts, figures, observations, or measurements collected during a radiographic examination before they have been processed or interpreted into meaningful information.</a:t>
            </a:r>
          </a:p>
          <a:p>
            <a:r>
              <a:rPr lang="en-US" dirty="0"/>
              <a:t>Examples of data in radiography include:</a:t>
            </a:r>
          </a:p>
          <a:p>
            <a:pPr lvl="0"/>
            <a:r>
              <a:rPr lang="en-US" dirty="0"/>
              <a:t>Patient's age and identification number.</a:t>
            </a:r>
          </a:p>
          <a:p>
            <a:pPr lvl="0"/>
            <a:r>
              <a:rPr lang="en-US" dirty="0"/>
              <a:t>Patient's weight and height.</a:t>
            </a:r>
          </a:p>
          <a:p>
            <a:pPr lvl="0"/>
            <a:r>
              <a:rPr lang="en-US" dirty="0"/>
              <a:t>Exposure factors such as </a:t>
            </a:r>
            <a:r>
              <a:rPr lang="en-US" dirty="0" err="1"/>
              <a:t>kVp</a:t>
            </a:r>
            <a:r>
              <a:rPr lang="en-US" dirty="0"/>
              <a:t>, mA, and exposure time.</a:t>
            </a:r>
          </a:p>
          <a:p>
            <a:pPr lvl="0"/>
            <a:r>
              <a:rPr lang="en-US" dirty="0"/>
              <a:t>X-ray detector readings.</a:t>
            </a:r>
          </a:p>
          <a:p>
            <a:pPr lvl="0"/>
            <a:r>
              <a:rPr lang="en-US" dirty="0"/>
              <a:t>Raw digital image values.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496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Definition of Information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Information is data that have been processed, organized, or interpreted to give meaningful results that can be used for decision-making.</a:t>
            </a:r>
          </a:p>
          <a:p>
            <a:pPr marL="0" indent="0">
              <a:buNone/>
            </a:pPr>
            <a:r>
              <a:rPr lang="en-US" dirty="0"/>
              <a:t>Examples of information in radiography include:</a:t>
            </a:r>
          </a:p>
          <a:p>
            <a:pPr lvl="0"/>
            <a:r>
              <a:rPr lang="en-US" dirty="0"/>
              <a:t>A patient's completed radiographic report.</a:t>
            </a:r>
          </a:p>
          <a:p>
            <a:pPr lvl="0"/>
            <a:r>
              <a:rPr lang="en-US" dirty="0"/>
              <a:t>A calculated exposure time based on selected parameters.</a:t>
            </a:r>
          </a:p>
          <a:p>
            <a:pPr lvl="0"/>
            <a:r>
              <a:rPr lang="en-US" dirty="0"/>
              <a:t>A processed chest X-ray image displayed on a monitor.</a:t>
            </a:r>
          </a:p>
          <a:p>
            <a:pPr lvl="0"/>
            <a:r>
              <a:rPr lang="en-US" dirty="0"/>
              <a:t>A report describing a fracture identified on an X-ray.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110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Differences Between Data and Information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217044190"/>
              </p:ext>
            </p:extLst>
          </p:nvPr>
        </p:nvGraphicFramePr>
        <p:xfrm>
          <a:off x="251520" y="1772816"/>
          <a:ext cx="8640960" cy="46805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320480"/>
                <a:gridCol w="4320480"/>
              </a:tblGrid>
              <a:tr h="6711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Data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Information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6711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Raw facts and figures.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Processed and meaningful data.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6711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May not be meaningful on its own.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Has meaning and can support decisions.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6711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Used as input for processing.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Produced after processing or interpretation.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6711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Example: kVp = 70.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Example: 70 kVp was selected for a particular examination.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3250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Example: Patient age = 45 years.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Example: Patient demographic details recorded for an examination.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1886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Types of Data in Radiography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Patient data: Name, age, sex, identification number, and medical history.</a:t>
            </a:r>
          </a:p>
          <a:p>
            <a:r>
              <a:rPr lang="en-US" dirty="0" smtClean="0"/>
              <a:t> </a:t>
            </a:r>
            <a:r>
              <a:rPr lang="en-US" dirty="0"/>
              <a:t>Examination data: Type of examination, anatomical region, projection, and date of examination.</a:t>
            </a:r>
          </a:p>
          <a:p>
            <a:r>
              <a:rPr lang="en-US" dirty="0" smtClean="0"/>
              <a:t> </a:t>
            </a:r>
            <a:r>
              <a:rPr lang="en-US" dirty="0"/>
              <a:t>Technical data: </a:t>
            </a:r>
            <a:r>
              <a:rPr lang="en-US" dirty="0" err="1"/>
              <a:t>kVp</a:t>
            </a:r>
            <a:r>
              <a:rPr lang="en-US" dirty="0"/>
              <a:t>, mA, exposure time, </a:t>
            </a:r>
            <a:r>
              <a:rPr lang="en-US" dirty="0" err="1"/>
              <a:t>mAs</a:t>
            </a:r>
            <a:r>
              <a:rPr lang="en-US" dirty="0"/>
              <a:t>, source-to-image distance (SID), and focal spot size.</a:t>
            </a:r>
          </a:p>
          <a:p>
            <a:r>
              <a:rPr lang="en-US" dirty="0" smtClean="0"/>
              <a:t> </a:t>
            </a:r>
            <a:r>
              <a:rPr lang="en-US" dirty="0"/>
              <a:t>Image data: Pixel values, image dimensions, brightness values, and contrast information.</a:t>
            </a:r>
          </a:p>
          <a:p>
            <a:r>
              <a:rPr lang="en-US" dirty="0" smtClean="0"/>
              <a:t> </a:t>
            </a:r>
            <a:r>
              <a:rPr lang="en-US" dirty="0"/>
              <a:t>Diagnostic data: Findings documented by the radiologist, such as fractures, lung opacities, or joint abnormalities.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571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524000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How Data Becomes Information in Radiography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Data collection</a:t>
            </a:r>
          </a:p>
          <a:p>
            <a:r>
              <a:rPr lang="en-US" dirty="0"/>
              <a:t>Patient details, exposure factors and detector signals</a:t>
            </a:r>
          </a:p>
          <a:p>
            <a:r>
              <a:rPr lang="en-US" dirty="0"/>
              <a:t>Data processing</a:t>
            </a:r>
          </a:p>
          <a:p>
            <a:r>
              <a:rPr lang="en-US" dirty="0"/>
              <a:t>Computer processing, image reconstruction and enhancement</a:t>
            </a:r>
          </a:p>
          <a:p>
            <a:r>
              <a:rPr lang="en-US" dirty="0"/>
              <a:t>Information output</a:t>
            </a:r>
          </a:p>
          <a:p>
            <a:r>
              <a:rPr lang="en-US" dirty="0"/>
              <a:t>Displayed radiographic image and organized examination details</a:t>
            </a:r>
          </a:p>
          <a:p>
            <a:r>
              <a:rPr lang="en-US" dirty="0"/>
              <a:t>Interpretation and decision-making</a:t>
            </a:r>
          </a:p>
          <a:p>
            <a:r>
              <a:rPr lang="en-US" dirty="0"/>
              <a:t>Radiologist interprets the image and prepares a report</a:t>
            </a:r>
          </a:p>
          <a:p>
            <a:r>
              <a:rPr lang="en-US" dirty="0"/>
              <a:t>For example, a digital detector collects numerical signals during an X-ray exposure. The imaging computer processes these signals to form an image. The radiologist then interprets the image and produces a diagnostic report.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984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Importance of Data and Information in Radiography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dirty="0"/>
              <a:t>Patient identification</a:t>
            </a:r>
            <a:r>
              <a:rPr lang="en-US" dirty="0" smtClean="0"/>
              <a:t>:- </a:t>
            </a:r>
            <a:r>
              <a:rPr lang="en-US" dirty="0"/>
              <a:t>Helps ensure that the correct patient receives the correct examination.</a:t>
            </a:r>
          </a:p>
          <a:p>
            <a:pPr lvl="0"/>
            <a:r>
              <a:rPr lang="en-US" dirty="0"/>
              <a:t>Image production</a:t>
            </a:r>
            <a:r>
              <a:rPr lang="en-US" dirty="0" smtClean="0"/>
              <a:t>:- </a:t>
            </a:r>
            <a:r>
              <a:rPr lang="en-US" dirty="0"/>
              <a:t>Technical data help control image acquisition.</a:t>
            </a:r>
          </a:p>
          <a:p>
            <a:pPr lvl="0"/>
            <a:r>
              <a:rPr lang="en-US" dirty="0"/>
              <a:t>Image quality assessment</a:t>
            </a:r>
            <a:r>
              <a:rPr lang="en-US" dirty="0" smtClean="0"/>
              <a:t>:- </a:t>
            </a:r>
            <a:r>
              <a:rPr lang="en-US" dirty="0"/>
              <a:t>Information helps radiographers evaluate image quality.</a:t>
            </a:r>
          </a:p>
          <a:p>
            <a:pPr lvl="0"/>
            <a:r>
              <a:rPr lang="en-US" dirty="0"/>
              <a:t>Diagnosis</a:t>
            </a:r>
            <a:r>
              <a:rPr lang="en-US" dirty="0" smtClean="0"/>
              <a:t>:- </a:t>
            </a:r>
            <a:r>
              <a:rPr lang="en-US" dirty="0"/>
              <a:t>Radiographic images and reports support disease detection and diagnosis.</a:t>
            </a:r>
          </a:p>
          <a:p>
            <a:pPr lvl="0"/>
            <a:r>
              <a:rPr lang="en-US" dirty="0"/>
              <a:t>Record keeping</a:t>
            </a:r>
            <a:r>
              <a:rPr lang="en-US" dirty="0" smtClean="0"/>
              <a:t>:- </a:t>
            </a:r>
            <a:r>
              <a:rPr lang="en-US" dirty="0"/>
              <a:t>Patient and examination information can be stored for future reference.</a:t>
            </a:r>
          </a:p>
          <a:p>
            <a:pPr lvl="0"/>
            <a:r>
              <a:rPr lang="en-US" dirty="0"/>
              <a:t>Communication</a:t>
            </a:r>
            <a:r>
              <a:rPr lang="en-US" dirty="0" smtClean="0"/>
              <a:t>:- </a:t>
            </a:r>
            <a:r>
              <a:rPr lang="en-US" dirty="0"/>
              <a:t>Enables sharing of examination results among healthcare professionals.</a:t>
            </a:r>
          </a:p>
          <a:p>
            <a:pPr lvl="0"/>
            <a:r>
              <a:rPr lang="en-US" dirty="0"/>
              <a:t>Research and statistics</a:t>
            </a:r>
            <a:r>
              <a:rPr lang="en-US" dirty="0" smtClean="0"/>
              <a:t>:- </a:t>
            </a:r>
            <a:r>
              <a:rPr lang="en-US" dirty="0"/>
              <a:t>Data can be analyzed to assess departmental performance and improve services.</a:t>
            </a:r>
          </a:p>
          <a:p>
            <a:pPr lvl="0"/>
            <a:r>
              <a:rPr lang="en-US" dirty="0"/>
              <a:t>Quality assurance</a:t>
            </a:r>
            <a:r>
              <a:rPr lang="en-US" dirty="0" smtClean="0"/>
              <a:t>:- </a:t>
            </a:r>
            <a:r>
              <a:rPr lang="en-US" dirty="0"/>
              <a:t>Exposure and repeat-examination data help monitor imaging practices.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405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Characteristics of Good Information in Radiography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Accurate: </a:t>
            </a:r>
            <a:endParaRPr lang="en-US" dirty="0" smtClean="0"/>
          </a:p>
          <a:p>
            <a:pPr marL="0" lvl="0" indent="0">
              <a:buNone/>
            </a:pPr>
            <a:r>
              <a:rPr lang="en-US" dirty="0" smtClean="0"/>
              <a:t>   Correct </a:t>
            </a:r>
            <a:r>
              <a:rPr lang="en-US" dirty="0"/>
              <a:t>and free from errors.</a:t>
            </a:r>
          </a:p>
          <a:p>
            <a:pPr lvl="0"/>
            <a:r>
              <a:rPr lang="en-US" dirty="0"/>
              <a:t>Relevant: </a:t>
            </a:r>
            <a:endParaRPr lang="en-US" dirty="0" smtClean="0"/>
          </a:p>
          <a:p>
            <a:pPr marL="0" lvl="0" indent="0">
              <a:buNone/>
            </a:pPr>
            <a:r>
              <a:rPr lang="en-US" dirty="0"/>
              <a:t> </a:t>
            </a:r>
            <a:r>
              <a:rPr lang="en-US" dirty="0" smtClean="0"/>
              <a:t>   Related </a:t>
            </a:r>
            <a:r>
              <a:rPr lang="en-US" dirty="0"/>
              <a:t>to the examination or clinical question.</a:t>
            </a:r>
          </a:p>
          <a:p>
            <a:pPr lvl="0"/>
            <a:r>
              <a:rPr lang="en-US" dirty="0"/>
              <a:t>Complete: </a:t>
            </a:r>
            <a:endParaRPr lang="en-US" dirty="0" smtClean="0"/>
          </a:p>
          <a:p>
            <a:pPr marL="0" lvl="0" indent="0">
              <a:buNone/>
            </a:pPr>
            <a:r>
              <a:rPr lang="en-US" dirty="0"/>
              <a:t> </a:t>
            </a:r>
            <a:r>
              <a:rPr lang="en-US" dirty="0" smtClean="0"/>
              <a:t>  Contains </a:t>
            </a:r>
            <a:r>
              <a:rPr lang="en-US" dirty="0"/>
              <a:t>the necessary details.</a:t>
            </a:r>
          </a:p>
          <a:p>
            <a:pPr lvl="0"/>
            <a:r>
              <a:rPr lang="en-US" dirty="0"/>
              <a:t>Timely: </a:t>
            </a:r>
            <a:endParaRPr lang="en-US" dirty="0" smtClean="0"/>
          </a:p>
          <a:p>
            <a:pPr marL="0" lvl="0" indent="0">
              <a:buNone/>
            </a:pPr>
            <a:r>
              <a:rPr lang="en-US" dirty="0"/>
              <a:t> </a:t>
            </a:r>
            <a:r>
              <a:rPr lang="en-US" dirty="0" smtClean="0"/>
              <a:t>   Available </a:t>
            </a:r>
            <a:r>
              <a:rPr lang="en-US" dirty="0"/>
              <a:t>when needed.</a:t>
            </a:r>
          </a:p>
          <a:p>
            <a:pPr lvl="0"/>
            <a:r>
              <a:rPr lang="en-US" dirty="0"/>
              <a:t>Reliable</a:t>
            </a:r>
            <a:r>
              <a:rPr lang="en-US" dirty="0" smtClean="0"/>
              <a:t>:</a:t>
            </a:r>
          </a:p>
          <a:p>
            <a:pPr marL="0" lvl="0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/>
              <a:t>Obtained from trustworthy sources.</a:t>
            </a:r>
          </a:p>
          <a:p>
            <a:pPr lvl="0"/>
            <a:r>
              <a:rPr lang="en-US" dirty="0"/>
              <a:t>Confidential</a:t>
            </a:r>
            <a:r>
              <a:rPr lang="en-US" dirty="0" smtClean="0"/>
              <a:t>:</a:t>
            </a:r>
          </a:p>
          <a:p>
            <a:pPr marL="0" lvl="0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/>
              <a:t>Protected against unauthorized access.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291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Computer Word Processing in Radiography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Word processing is the use of computer software to create, edit, format, save, print, and share text documents.</a:t>
            </a:r>
          </a:p>
          <a:p>
            <a:pPr marL="0" indent="0">
              <a:buNone/>
            </a:pPr>
            <a:r>
              <a:rPr lang="en-US" dirty="0"/>
              <a:t>In radiography, word processing is used to prepare radiographic reports, patient records, referral letters, departmental memos, research papers, and other medical documents.</a:t>
            </a:r>
          </a:p>
          <a:p>
            <a:pPr marL="0" indent="0">
              <a:buNone/>
            </a:pPr>
            <a:r>
              <a:rPr lang="en-US" dirty="0"/>
              <a:t>Examples of word-processing software include Microsoft Word, Google Docs, and LibreOffice Writer.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538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Uses of Word Processing in Radiography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Preparation of radiographic reports</a:t>
            </a:r>
          </a:p>
          <a:p>
            <a:r>
              <a:rPr lang="en-US" dirty="0"/>
              <a:t>Used to type and format reports describing radiographic findings and examination results.</a:t>
            </a:r>
          </a:p>
          <a:p>
            <a:r>
              <a:rPr lang="en-US" dirty="0"/>
              <a:t>Patient documentation</a:t>
            </a:r>
          </a:p>
          <a:p>
            <a:r>
              <a:rPr lang="en-US" dirty="0"/>
              <a:t>Helps prepare patient information sheets, examination records, and referral documents, subject to hospital procedures and privacy requirements.</a:t>
            </a:r>
          </a:p>
          <a:p>
            <a:r>
              <a:rPr lang="en-US" dirty="0"/>
              <a:t>Preparation of official documents</a:t>
            </a:r>
          </a:p>
          <a:p>
            <a:r>
              <a:rPr lang="en-US" dirty="0"/>
              <a:t>Used for departmental letters, notices, memos, policies, and meeting minutes.</a:t>
            </a:r>
          </a:p>
          <a:p>
            <a:r>
              <a:rPr lang="en-US" dirty="0"/>
              <a:t>Research and academic work</a:t>
            </a:r>
          </a:p>
          <a:p>
            <a:r>
              <a:rPr lang="en-US" dirty="0"/>
              <a:t>Helps radiography students and professionals prepare assignments, dissertations, research articles, and case studies.</a:t>
            </a:r>
          </a:p>
          <a:p>
            <a:r>
              <a:rPr lang="en-US" dirty="0"/>
              <a:t>Preparation of tables and forms</a:t>
            </a:r>
          </a:p>
          <a:p>
            <a:r>
              <a:rPr lang="en-US" dirty="0"/>
              <a:t>Used to create examination checklists, quality assurance forms, equipment maintenance records, and patient instruction sheets.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78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3408"/>
            <a:ext cx="8229600" cy="1767408"/>
          </a:xfrm>
        </p:spPr>
        <p:txBody>
          <a:bodyPr>
            <a:normAutofit/>
          </a:bodyPr>
          <a:lstStyle/>
          <a:p>
            <a:r>
              <a:rPr lang="en-US" b="1" dirty="0"/>
              <a:t>Examples of Word-Processing Software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111839878"/>
              </p:ext>
            </p:extLst>
          </p:nvPr>
        </p:nvGraphicFramePr>
        <p:xfrm>
          <a:off x="-27434" y="980728"/>
          <a:ext cx="8775898" cy="5040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387949"/>
                <a:gridCol w="4387949"/>
              </a:tblGrid>
              <a:tr h="100811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100">
                          <a:effectLst/>
                        </a:rPr>
                        <a:t>Software</a:t>
                      </a:r>
                      <a:endParaRPr lang="en-US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100">
                          <a:effectLst/>
                        </a:rPr>
                        <a:t>Description</a:t>
                      </a:r>
                      <a:endParaRPr lang="en-US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0081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1100">
                          <a:effectLst/>
                        </a:rPr>
                        <a:t>Microsoft Word</a:t>
                      </a:r>
                      <a:endParaRPr lang="en-US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1100">
                          <a:effectLst/>
                        </a:rPr>
                        <a:t>Widely used to create and format documents.</a:t>
                      </a:r>
                      <a:endParaRPr lang="en-US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0081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1100">
                          <a:effectLst/>
                        </a:rPr>
                        <a:t>Google Docs</a:t>
                      </a:r>
                      <a:endParaRPr lang="en-US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1100">
                          <a:effectLst/>
                        </a:rPr>
                        <a:t>Online word processor that supports collaboration.</a:t>
                      </a:r>
                      <a:endParaRPr lang="en-US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0081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1100">
                          <a:effectLst/>
                        </a:rPr>
                        <a:t>LibreOffice Writer</a:t>
                      </a:r>
                      <a:endParaRPr lang="en-US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1100">
                          <a:effectLst/>
                        </a:rPr>
                        <a:t>Free, open-source word-processing software.</a:t>
                      </a:r>
                      <a:endParaRPr lang="en-US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0081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1100">
                          <a:effectLst/>
                        </a:rPr>
                        <a:t>WPS Writer</a:t>
                      </a:r>
                      <a:endParaRPr lang="en-US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1100" dirty="0">
                          <a:effectLst/>
                        </a:rPr>
                        <a:t>Software for creating and editing documents.</a:t>
                      </a:r>
                      <a:endParaRPr lang="en-US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3370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Basic Functions of Word Processing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Typing and text entry: Entering text using a keyboard.</a:t>
            </a:r>
          </a:p>
          <a:p>
            <a:pPr lvl="0"/>
            <a:r>
              <a:rPr lang="en-US" dirty="0"/>
              <a:t>Editing: Inserting, deleting, copying, moving, and correcting text.</a:t>
            </a:r>
          </a:p>
          <a:p>
            <a:pPr lvl="0"/>
            <a:r>
              <a:rPr lang="en-US" dirty="0"/>
              <a:t>Formatting: Changing font size, font style, alignment, margins, and line spacing.</a:t>
            </a:r>
          </a:p>
          <a:p>
            <a:pPr lvl="0"/>
            <a:r>
              <a:rPr lang="en-US" dirty="0"/>
              <a:t>Spell checking: Identifying spelling errors in medical documents.</a:t>
            </a:r>
          </a:p>
          <a:p>
            <a:pPr lvl="0"/>
            <a:r>
              <a:rPr lang="en-US" dirty="0"/>
              <a:t>Saving: Storing documents for future use.</a:t>
            </a:r>
          </a:p>
          <a:p>
            <a:pPr lvl="0"/>
            <a:r>
              <a:rPr lang="en-US" dirty="0"/>
              <a:t>Printing: Producing hard copies of reports and other documents.</a:t>
            </a:r>
          </a:p>
          <a:p>
            <a:pPr lvl="0"/>
            <a:r>
              <a:rPr lang="en-US" dirty="0"/>
              <a:t>Inserting tables and images: Adding structured data, diagrams, and illustrations.</a:t>
            </a:r>
          </a:p>
          <a:p>
            <a:pPr lvl="0"/>
            <a:r>
              <a:rPr lang="en-US" dirty="0"/>
              <a:t>Mail merge: Producing multiple personalized letters or documents from a template and a data source.</a:t>
            </a:r>
          </a:p>
          <a:p>
            <a:pPr lvl="0"/>
            <a:r>
              <a:rPr lang="en-US" dirty="0"/>
              <a:t>Exporting: Saving documents in formats such as PDF for easier distribution.</a:t>
            </a:r>
          </a:p>
          <a:p>
            <a:pPr lvl="0"/>
            <a:r>
              <a:rPr lang="en-US" dirty="0"/>
              <a:t>Collaboration: Allowing authorized users to review or edit documents.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162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Advantages of Word Processing in Radiography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US" dirty="0"/>
              <a:t>Makes document preparation faster.</a:t>
            </a:r>
          </a:p>
          <a:p>
            <a:pPr lvl="0"/>
            <a:r>
              <a:rPr lang="en-US" dirty="0"/>
              <a:t>Allows easy correction of errors.</a:t>
            </a:r>
          </a:p>
          <a:p>
            <a:pPr lvl="0"/>
            <a:r>
              <a:rPr lang="en-US" dirty="0"/>
              <a:t>Produces neat and professional documents.</a:t>
            </a:r>
          </a:p>
          <a:p>
            <a:pPr lvl="0"/>
            <a:r>
              <a:rPr lang="en-US" dirty="0"/>
              <a:t>Simplifies storage and retrieval of documents.</a:t>
            </a:r>
          </a:p>
          <a:p>
            <a:pPr lvl="0"/>
            <a:r>
              <a:rPr lang="en-US" dirty="0"/>
              <a:t>Allows documents to be edited and reused.</a:t>
            </a:r>
          </a:p>
          <a:p>
            <a:pPr lvl="0"/>
            <a:r>
              <a:rPr lang="en-US" dirty="0"/>
              <a:t>Makes sharing and printing easier.</a:t>
            </a:r>
          </a:p>
          <a:p>
            <a:pPr lvl="0"/>
            <a:r>
              <a:rPr lang="en-US" dirty="0"/>
              <a:t>Supports spell checking and standardized report templates.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924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Disadvantages of Word Processing in Radiography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Requires electricity and functioning computer equipment.</a:t>
            </a:r>
          </a:p>
          <a:p>
            <a:pPr lvl="0"/>
            <a:r>
              <a:rPr lang="en-US" dirty="0"/>
              <a:t>May result in data loss if documents are not saved or backed up</a:t>
            </a:r>
            <a:r>
              <a:rPr lang="en-US" dirty="0" smtClean="0"/>
              <a:t>.</a:t>
            </a:r>
            <a:endParaRPr lang="en-US" dirty="0"/>
          </a:p>
          <a:p>
            <a:pPr lvl="0"/>
            <a:r>
              <a:rPr lang="en-US" dirty="0" smtClean="0"/>
              <a:t>Can </a:t>
            </a:r>
            <a:r>
              <a:rPr lang="en-US" dirty="0"/>
              <a:t>expose confidential patient information if security is inadequate.</a:t>
            </a:r>
          </a:p>
          <a:p>
            <a:pPr lvl="0"/>
            <a:r>
              <a:rPr lang="en-US" dirty="0"/>
              <a:t>May introduce errors through incorrect typing or copying.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903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Difference Between Word Processing and Other Computer Applications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471292805"/>
              </p:ext>
            </p:extLst>
          </p:nvPr>
        </p:nvGraphicFramePr>
        <p:xfrm>
          <a:off x="539552" y="1556792"/>
          <a:ext cx="8435280" cy="51125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17640"/>
                <a:gridCol w="4217640"/>
              </a:tblGrid>
              <a:tr h="8520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100">
                          <a:effectLst/>
                        </a:rPr>
                        <a:t>Application</a:t>
                      </a:r>
                      <a:endParaRPr lang="en-US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100">
                          <a:effectLst/>
                        </a:rPr>
                        <a:t>Main purpose in radiography</a:t>
                      </a:r>
                      <a:endParaRPr lang="en-US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8520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1100">
                          <a:effectLst/>
                        </a:rPr>
                        <a:t>Word processing</a:t>
                      </a:r>
                      <a:endParaRPr lang="en-US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1100">
                          <a:effectLst/>
                        </a:rPr>
                        <a:t>Preparing reports and documents.</a:t>
                      </a:r>
                      <a:endParaRPr lang="en-US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8520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1100">
                          <a:effectLst/>
                        </a:rPr>
                        <a:t>Spreadsheets</a:t>
                      </a:r>
                      <a:endParaRPr lang="en-US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1100">
                          <a:effectLst/>
                        </a:rPr>
                        <a:t>Calculating data and preparing statistics.</a:t>
                      </a:r>
                      <a:endParaRPr lang="en-US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8520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1100">
                          <a:effectLst/>
                        </a:rPr>
                        <a:t>Databases</a:t>
                      </a:r>
                      <a:endParaRPr lang="en-US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1100">
                          <a:effectLst/>
                        </a:rPr>
                        <a:t>Organizing and retrieving patient and examination records.</a:t>
                      </a:r>
                      <a:endParaRPr lang="en-US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8520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1100">
                          <a:effectLst/>
                        </a:rPr>
                        <a:t>Image-processing software</a:t>
                      </a:r>
                      <a:endParaRPr lang="en-US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1100" dirty="0">
                          <a:effectLst/>
                        </a:rPr>
                        <a:t>Processing and displaying radiographic images.</a:t>
                      </a:r>
                      <a:endParaRPr lang="en-US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8520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1100" dirty="0">
                          <a:effectLst/>
                        </a:rPr>
                        <a:t>Presentation software</a:t>
                      </a:r>
                      <a:endParaRPr lang="en-US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1100" dirty="0">
                          <a:effectLst/>
                        </a:rPr>
                        <a:t>Teaching and presenting radiographic cases.</a:t>
                      </a:r>
                      <a:endParaRPr lang="en-US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878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File Management in Radiography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File management in radiography is the process of creating, naming, organizing, storing, retrieving, copying, transferring, and deleting computer files related to radiographic examinations and patient records.</a:t>
            </a:r>
          </a:p>
          <a:p>
            <a:r>
              <a:rPr lang="en-US" dirty="0"/>
              <a:t>It helps radiographers manage digital images, radiographic reports, patient information, and departmental documents efficiently.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283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Types of Files Used in Radiography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Image files: Digital X-ray, CT, and MRI images, commonly stored in DICOM format.</a:t>
            </a:r>
          </a:p>
          <a:p>
            <a:pPr lvl="0"/>
            <a:r>
              <a:rPr lang="en-US" dirty="0"/>
              <a:t>Report files: Radiographic reports saved in formats such as DOCX and PDF.</a:t>
            </a:r>
          </a:p>
          <a:p>
            <a:pPr lvl="0"/>
            <a:r>
              <a:rPr lang="en-US" dirty="0"/>
              <a:t>Patient record files: Documents containing relevant patient and examination information.</a:t>
            </a:r>
          </a:p>
          <a:p>
            <a:pPr lvl="0"/>
            <a:r>
              <a:rPr lang="en-US" dirty="0"/>
              <a:t>Database files: Files used to organize patient details and examination records.</a:t>
            </a:r>
          </a:p>
          <a:p>
            <a:r>
              <a:rPr lang="en-US" dirty="0"/>
              <a:t>Administrative files: Staff schedules, equipment maintenance records, and departmental documents</a:t>
            </a:r>
          </a:p>
        </p:txBody>
      </p:sp>
    </p:spTree>
    <p:extLst>
      <p:ext uri="{BB962C8B-B14F-4D97-AF65-F5344CB8AC3E}">
        <p14:creationId xmlns:p14="http://schemas.microsoft.com/office/powerpoint/2010/main" val="1196990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4888" y="44624"/>
            <a:ext cx="8229600" cy="1584176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Functions of File Management in </a:t>
            </a:r>
            <a:r>
              <a:rPr lang="en-US" b="1" dirty="0" smtClean="0"/>
              <a:t>Radiography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08720"/>
            <a:ext cx="8229600" cy="556828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File creation</a:t>
            </a:r>
          </a:p>
          <a:p>
            <a:pPr marL="0" indent="0">
              <a:buNone/>
            </a:pPr>
            <a:r>
              <a:rPr lang="en-US" dirty="0"/>
              <a:t>Creating new folders and files for radiographic images, </a:t>
            </a:r>
            <a:r>
              <a:rPr lang="en-US" dirty="0" smtClean="0"/>
              <a:t>reports and patients documentation.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File </a:t>
            </a:r>
            <a:r>
              <a:rPr lang="en-US" dirty="0"/>
              <a:t>organization</a:t>
            </a:r>
          </a:p>
          <a:p>
            <a:pPr marL="0" indent="0">
              <a:buNone/>
            </a:pPr>
            <a:r>
              <a:rPr lang="en-US" dirty="0"/>
              <a:t>Arranging files using appropriate folders, examination dates, patient identifiers, and examination types.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Reports</a:t>
            </a:r>
            <a:r>
              <a:rPr lang="en-US" dirty="0"/>
              <a:t>, and patient </a:t>
            </a:r>
            <a:r>
              <a:rPr lang="en-US" dirty="0" smtClean="0"/>
              <a:t>documentation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File retrieval</a:t>
            </a:r>
          </a:p>
          <a:p>
            <a:pPr marL="0" indent="0">
              <a:buNone/>
            </a:pPr>
            <a:r>
              <a:rPr lang="en-US" dirty="0"/>
              <a:t>Locating previously stored radiographic images and reports when required for comparison or review.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File backup</a:t>
            </a:r>
          </a:p>
          <a:p>
            <a:pPr marL="0" indent="0">
              <a:buNone/>
            </a:pPr>
            <a:r>
              <a:rPr lang="en-US" dirty="0"/>
              <a:t>Making secure backup copies of important files to reduce the risk of data loss.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File protection</a:t>
            </a:r>
          </a:p>
          <a:p>
            <a:pPr marL="0" indent="0">
              <a:buNone/>
            </a:pPr>
            <a:r>
              <a:rPr lang="en-US" dirty="0"/>
              <a:t>Protecting patient information through access controls, passwords, encryption, and appropriate security procedures.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411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Common File Management Operations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52736"/>
            <a:ext cx="8229600" cy="542426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Create: Make a new file or folder.</a:t>
            </a:r>
          </a:p>
          <a:p>
            <a:pPr lvl="0"/>
            <a:r>
              <a:rPr lang="en-US" dirty="0"/>
              <a:t>Save: Store a file for future use.</a:t>
            </a:r>
          </a:p>
          <a:p>
            <a:pPr lvl="0"/>
            <a:r>
              <a:rPr lang="en-US" dirty="0"/>
              <a:t>Rename: Change the name of a file.</a:t>
            </a:r>
          </a:p>
          <a:p>
            <a:pPr lvl="0"/>
            <a:r>
              <a:rPr lang="en-US" dirty="0"/>
              <a:t>Copy: Make a duplicate of a file.</a:t>
            </a:r>
          </a:p>
          <a:p>
            <a:pPr lvl="0"/>
            <a:r>
              <a:rPr lang="en-US" dirty="0"/>
              <a:t>Move: Transfer a file from one folder to another.</a:t>
            </a:r>
          </a:p>
          <a:p>
            <a:pPr lvl="0"/>
            <a:r>
              <a:rPr lang="en-US" dirty="0"/>
              <a:t>Search: Find a specific file.</a:t>
            </a:r>
          </a:p>
          <a:p>
            <a:pPr lvl="0"/>
            <a:r>
              <a:rPr lang="en-US" dirty="0"/>
              <a:t>Delete: Remove a file according to authorized retention procedures.</a:t>
            </a:r>
          </a:p>
          <a:p>
            <a:pPr lvl="0"/>
            <a:r>
              <a:rPr lang="en-US" dirty="0"/>
              <a:t>Backup: Create an additional copy for recovery if the original is lost or damaged.</a:t>
            </a:r>
          </a:p>
          <a:p>
            <a:pPr lvl="0"/>
            <a:r>
              <a:rPr lang="en-US" dirty="0"/>
              <a:t>Retrieve: Access a stored file when needed.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369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Importance of File Management in Radiography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Makes radiographic images and reports easy to locate.</a:t>
            </a:r>
          </a:p>
          <a:p>
            <a:pPr lvl="0"/>
            <a:r>
              <a:rPr lang="en-US" dirty="0"/>
              <a:t>Reduces the risk of losing important patient information.</a:t>
            </a:r>
          </a:p>
          <a:p>
            <a:pPr lvl="0"/>
            <a:r>
              <a:rPr lang="en-US" dirty="0"/>
              <a:t>Supports comparison of current and previous examinations.</a:t>
            </a:r>
          </a:p>
          <a:p>
            <a:pPr lvl="0"/>
            <a:r>
              <a:rPr lang="en-US" dirty="0"/>
              <a:t>Improves the efficiency of radiology departments.</a:t>
            </a:r>
          </a:p>
          <a:p>
            <a:pPr lvl="0"/>
            <a:r>
              <a:rPr lang="en-US" dirty="0"/>
              <a:t>Helps prevent unnecessary repeat examinations when previous images are available and suitable.</a:t>
            </a:r>
          </a:p>
          <a:p>
            <a:pPr lvl="0"/>
            <a:r>
              <a:rPr lang="en-US" dirty="0"/>
              <a:t>Supports continuity of patient care.</a:t>
            </a:r>
          </a:p>
          <a:p>
            <a:pPr lvl="0"/>
            <a:r>
              <a:rPr lang="en-US" dirty="0"/>
              <a:t>Protects confidential patient information.</a:t>
            </a:r>
          </a:p>
          <a:p>
            <a:pPr lvl="0"/>
            <a:r>
              <a:rPr lang="en-US" dirty="0"/>
              <a:t>Promotes proper record keeping and quality assurance.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273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00811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Internet and Digital Communication in Radiography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80728"/>
            <a:ext cx="8686800" cy="549627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internet is a worldwide network of interconnected computers and devices that communicate and exchange information electronically.</a:t>
            </a:r>
          </a:p>
          <a:p>
            <a:r>
              <a:rPr lang="en-US" dirty="0"/>
              <a:t>In radiography, the internet allows radiographers, radiologists, and other healthcare professionals to access medical information, share radiographic images, communicate with colleagues, and participate in online learning.</a:t>
            </a:r>
          </a:p>
          <a:p>
            <a:r>
              <a:rPr lang="en-US" dirty="0"/>
              <a:t>Digital communication is the electronic exchange of information, images, and messages between computers and other digital devices.</a:t>
            </a:r>
          </a:p>
          <a:p>
            <a:r>
              <a:rPr lang="en-US" dirty="0"/>
              <a:t>In radiography, digital communication is used to transfer radiographic images, patient examination details, and diagnostic reports between healthcare professionals and medical facilities.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834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Methods of Digital Communication in Radiography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dirty="0"/>
              <a:t>Email: Sending official messages, reports, and documents through electronic mail, where appropriate and secure.</a:t>
            </a:r>
          </a:p>
          <a:p>
            <a:pPr lvl="0"/>
            <a:r>
              <a:rPr lang="en-US" dirty="0"/>
              <a:t>Video conferencing: Conducting virtual meetings, consultations, and educational sessions.</a:t>
            </a:r>
          </a:p>
          <a:p>
            <a:pPr lvl="0"/>
            <a:r>
              <a:rPr lang="en-US" dirty="0"/>
              <a:t>Instant messaging: Exchanging brief messages through approved, secure communication platforms.</a:t>
            </a:r>
          </a:p>
          <a:p>
            <a:pPr lvl="0"/>
            <a:r>
              <a:rPr lang="en-US" dirty="0"/>
              <a:t>Hospital computer networks: Transferring images and patient information between departments.</a:t>
            </a:r>
          </a:p>
          <a:p>
            <a:pPr lvl="0"/>
            <a:r>
              <a:rPr lang="en-US" dirty="0"/>
              <a:t>PACS: Sharing, storing, and retrieving radiographic images.</a:t>
            </a:r>
          </a:p>
          <a:p>
            <a:pPr lvl="0"/>
            <a:r>
              <a:rPr lang="en-US" dirty="0"/>
              <a:t>RIS: Managing examination requests, patient details, and reporting workflows.</a:t>
            </a:r>
          </a:p>
          <a:p>
            <a:pPr lvl="0"/>
            <a:r>
              <a:rPr lang="en-US" dirty="0"/>
              <a:t>DICOM communication: Exchanging medical images and associated information using the Digital Imaging and Communications in Medicine standard.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353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93610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Advantages of the Internet and Digital Communication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836712"/>
            <a:ext cx="8229600" cy="564028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Fast transmission of radiographic images and reports.</a:t>
            </a:r>
          </a:p>
          <a:p>
            <a:pPr lvl="0"/>
            <a:r>
              <a:rPr lang="en-US" dirty="0"/>
              <a:t>Improved communication between radiographers and radiologists.</a:t>
            </a:r>
          </a:p>
          <a:p>
            <a:pPr lvl="0"/>
            <a:r>
              <a:rPr lang="en-US" dirty="0"/>
              <a:t>Access to specialist interpretation through teleradiology.</a:t>
            </a:r>
          </a:p>
          <a:p>
            <a:pPr lvl="0"/>
            <a:r>
              <a:rPr lang="en-US" dirty="0"/>
              <a:t>Reduced delays in diagnosis and treatment.</a:t>
            </a:r>
          </a:p>
          <a:p>
            <a:pPr lvl="0"/>
            <a:r>
              <a:rPr lang="en-US" dirty="0"/>
              <a:t>Easy access to research and educational materials.</a:t>
            </a:r>
          </a:p>
          <a:p>
            <a:pPr lvl="0"/>
            <a:r>
              <a:rPr lang="en-US" dirty="0"/>
              <a:t>Improved collaboration between hospitals.</a:t>
            </a:r>
          </a:p>
          <a:p>
            <a:pPr lvl="0"/>
            <a:r>
              <a:rPr lang="en-US" dirty="0"/>
              <a:t>Reduced dependence on transporting physical films.</a:t>
            </a:r>
          </a:p>
          <a:p>
            <a:pPr lvl="0"/>
            <a:r>
              <a:rPr lang="en-US" dirty="0"/>
              <a:t>Supports comparison of current and previous examinations.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368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Disadvantages of the Internet and Digital Communication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Risk of unauthorized access to confidential patient information.</a:t>
            </a:r>
          </a:p>
          <a:p>
            <a:pPr lvl="0"/>
            <a:r>
              <a:rPr lang="en-US" dirty="0"/>
              <a:t>Cyberattacks, malware, and data breaches.</a:t>
            </a:r>
          </a:p>
          <a:p>
            <a:pPr lvl="0"/>
            <a:r>
              <a:rPr lang="en-US" dirty="0"/>
              <a:t>Poor internet connectivity can delay image transmission.</a:t>
            </a:r>
          </a:p>
          <a:p>
            <a:pPr lvl="0"/>
            <a:r>
              <a:rPr lang="en-US" dirty="0"/>
              <a:t>High costs of network infrastructure and maintenance.</a:t>
            </a:r>
          </a:p>
          <a:p>
            <a:pPr lvl="0"/>
            <a:r>
              <a:rPr lang="en-US" dirty="0"/>
              <a:t>Technical failures may interrupt communication.</a:t>
            </a:r>
          </a:p>
          <a:p>
            <a:pPr lvl="0"/>
            <a:r>
              <a:rPr lang="en-US" dirty="0"/>
              <a:t>Incorrectly transmitted patient information may cause errors.</a:t>
            </a:r>
          </a:p>
          <a:p>
            <a:pPr lvl="0"/>
            <a:r>
              <a:rPr lang="en-US" dirty="0"/>
              <a:t>Dependence on electricity and functioning digital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55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Security Measures in Digital Communication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Use strong passwords and multifactor authentication where available.</a:t>
            </a:r>
          </a:p>
          <a:p>
            <a:pPr lvl="0"/>
            <a:r>
              <a:rPr lang="en-US" dirty="0"/>
              <a:t>Use encrypted connections and approved hospital systems.</a:t>
            </a:r>
          </a:p>
          <a:p>
            <a:pPr lvl="0"/>
            <a:r>
              <a:rPr lang="en-US" dirty="0"/>
              <a:t>Restrict access to authorized personnel.</a:t>
            </a:r>
          </a:p>
          <a:p>
            <a:pPr lvl="0"/>
            <a:r>
              <a:rPr lang="en-US" dirty="0"/>
              <a:t>Verify patient identifiers before transmitting images.</a:t>
            </a:r>
          </a:p>
          <a:p>
            <a:pPr lvl="0"/>
            <a:r>
              <a:rPr lang="en-US" dirty="0"/>
              <a:t>Avoid sending identifiable patient images through unapproved platforms.</a:t>
            </a:r>
          </a:p>
          <a:p>
            <a:pPr lvl="0"/>
            <a:r>
              <a:rPr lang="en-US" dirty="0"/>
              <a:t>Maintain secure backups and follow hospital data-protection policies.</a:t>
            </a:r>
          </a:p>
          <a:p>
            <a:pPr lvl="0"/>
            <a:r>
              <a:rPr lang="en-US" dirty="0"/>
              <a:t>Follow applicable patient confidentiality and data-protection requirements.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526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Difference Between the Internet and Digital Communication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287394513"/>
              </p:ext>
            </p:extLst>
          </p:nvPr>
        </p:nvGraphicFramePr>
        <p:xfrm>
          <a:off x="395536" y="1772816"/>
          <a:ext cx="8424936" cy="50851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12468"/>
                <a:gridCol w="4212468"/>
              </a:tblGrid>
              <a:tr h="6418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Internet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Digital communication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64180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A global network connecting computers and devices.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The electronic exchange of information.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2671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Provides connectivity and access to online resources.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Uses digital technologies to transmit messages, images, and data.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2671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Example: Accessing an online radiology journal.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Example: Sending an X-ray image to a radiologist electronically.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2671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Can be used for browsing, research, and communication.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Can occur over the internet or a private hospital network.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4777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Practical Applications of Computers in Internet Research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340768"/>
            <a:ext cx="7467600" cy="4680520"/>
          </a:xfrm>
        </p:spPr>
        <p:txBody>
          <a:bodyPr>
            <a:noAutofit/>
          </a:bodyPr>
          <a:lstStyle/>
          <a:p>
            <a:r>
              <a:rPr lang="en-US" sz="2800" dirty="0"/>
              <a:t>Searching for information</a:t>
            </a:r>
          </a:p>
          <a:p>
            <a:r>
              <a:rPr lang="en-US" sz="2800" dirty="0"/>
              <a:t>Computers allow users to search the internet for information about X-ray production, CT, MRI, image processing, and radiation protection.</a:t>
            </a:r>
          </a:p>
          <a:p>
            <a:r>
              <a:rPr lang="en-US" sz="2800" dirty="0"/>
              <a:t>Accessing scientific journals</a:t>
            </a:r>
          </a:p>
          <a:p>
            <a:r>
              <a:rPr lang="en-US" sz="2800" dirty="0"/>
              <a:t>Students and professionals can find published studies, clinical research, and evidence-based information.</a:t>
            </a:r>
          </a:p>
          <a:p>
            <a:r>
              <a:rPr lang="en-US" sz="2800" dirty="0"/>
              <a:t>Accessing electronic books and </a:t>
            </a:r>
            <a:r>
              <a:rPr lang="en-US" sz="2800" dirty="0" smtClean="0"/>
              <a:t>guidelines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88030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-171400"/>
            <a:ext cx="7467600" cy="1714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260648"/>
            <a:ext cx="7467600" cy="659735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Computers help users obtain textbooks, professional guidelines, lecture notes, and educational materials on medical imaging.</a:t>
            </a:r>
          </a:p>
          <a:p>
            <a:r>
              <a:rPr lang="en-US" dirty="0"/>
              <a:t>Writing research projects</a:t>
            </a:r>
          </a:p>
          <a:p>
            <a:r>
              <a:rPr lang="en-US" dirty="0"/>
              <a:t>Word-processing software helps prepare research proposals, assignments, dissertations, and scientific articles using information collected online.</a:t>
            </a:r>
          </a:p>
          <a:p>
            <a:r>
              <a:rPr lang="en-US" dirty="0"/>
              <a:t>. Managing references and citations</a:t>
            </a:r>
          </a:p>
          <a:p>
            <a:r>
              <a:rPr lang="en-US" dirty="0"/>
              <a:t>Reference-management software helps organize journal articles and format citations and bibliographies.</a:t>
            </a:r>
          </a:p>
          <a:p>
            <a:r>
              <a:rPr lang="en-US" dirty="0"/>
              <a:t>. Collecting and analyzing research data</a:t>
            </a:r>
          </a:p>
          <a:p>
            <a:r>
              <a:rPr lang="en-US" dirty="0"/>
              <a:t>Computers support data entry, statistical analysis, preparation of tables, and interpretation of research results.</a:t>
            </a:r>
          </a:p>
          <a:p>
            <a:r>
              <a:rPr lang="en-US" dirty="0"/>
              <a:t>Online learning and collaboration</a:t>
            </a:r>
          </a:p>
          <a:p>
            <a:r>
              <a:rPr lang="en-US" dirty="0"/>
              <a:t>Internet services support webinars, virtual conferences, online courses, and communication with research supervisors and colleagues.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096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Useful Internet Research Resources for Radiography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500166531"/>
              </p:ext>
            </p:extLst>
          </p:nvPr>
        </p:nvGraphicFramePr>
        <p:xfrm>
          <a:off x="323528" y="1772816"/>
          <a:ext cx="8712968" cy="49685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356484"/>
                <a:gridCol w="4356484"/>
              </a:tblGrid>
              <a:tr h="6210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Resource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Main use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6210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Google Scholar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Finding scholarly articles and citations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6210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PubMed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Searching biomedical and health research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6210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World Health Organization (WHO)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Accessing health guidance and publications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6210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International Atomic Energy Agency (IAEA)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Radiation protection and medical imaging resources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6210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Radiopaedia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Learning radiology through cases and educational articles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6210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Zotero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Organizing research references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6210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Microsoft Excel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Organizing and analyzing research data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8471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Advantages of Internet Research in Radiography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Provides quick access to current scientific information.</a:t>
            </a:r>
          </a:p>
          <a:p>
            <a:pPr lvl="0"/>
            <a:r>
              <a:rPr lang="en-US" dirty="0"/>
              <a:t>Enables access to research articles from different countries.</a:t>
            </a:r>
          </a:p>
          <a:p>
            <a:pPr lvl="0"/>
            <a:r>
              <a:rPr lang="en-US" dirty="0"/>
              <a:t>Supports evidence-based radiographic practice.</a:t>
            </a:r>
          </a:p>
          <a:p>
            <a:pPr lvl="0"/>
            <a:r>
              <a:rPr lang="en-US" dirty="0"/>
              <a:t>Saves time compared with searching only printed materials.</a:t>
            </a:r>
          </a:p>
          <a:p>
            <a:pPr lvl="0"/>
            <a:r>
              <a:rPr lang="en-US" dirty="0"/>
              <a:t>Supports student learning and professional development.</a:t>
            </a:r>
          </a:p>
          <a:p>
            <a:pPr lvl="0"/>
            <a:r>
              <a:rPr lang="en-US" dirty="0"/>
              <a:t>Facilitates collaboration between researchers.</a:t>
            </a:r>
          </a:p>
          <a:p>
            <a:pPr lvl="0"/>
            <a:r>
              <a:rPr lang="en-US" dirty="0"/>
              <a:t>Helps professionals learn about new imaging technologies and safety guidelines.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538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 </a:t>
            </a:r>
            <a:r>
              <a:rPr lang="en-US" b="1" dirty="0"/>
              <a:t>Challenges of Internet Research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US" dirty="0"/>
              <a:t>Some journal articles require payment.</a:t>
            </a:r>
          </a:p>
          <a:p>
            <a:pPr lvl="0"/>
            <a:r>
              <a:rPr lang="en-US" dirty="0"/>
              <a:t>False or misleading information may be published online.</a:t>
            </a:r>
          </a:p>
          <a:p>
            <a:pPr lvl="0"/>
            <a:r>
              <a:rPr lang="en-US" dirty="0"/>
              <a:t>Poor internet connectivity may interrupt research.</a:t>
            </a:r>
          </a:p>
          <a:p>
            <a:pPr lvl="0"/>
            <a:r>
              <a:rPr lang="en-US" dirty="0"/>
              <a:t>Large amounts of information can make relevant sources difficult to identify.</a:t>
            </a:r>
          </a:p>
          <a:p>
            <a:pPr lvl="0"/>
            <a:r>
              <a:rPr lang="en-US" dirty="0"/>
              <a:t>Some studies may be outdated or methodologically weak.</a:t>
            </a:r>
          </a:p>
          <a:p>
            <a:pPr lvl="0"/>
            <a:r>
              <a:rPr lang="en-US" dirty="0"/>
              <a:t>Plagiarism can occur when information is copied without proper acknowledgment.</a:t>
            </a:r>
          </a:p>
          <a:p>
            <a:pPr lvl="0"/>
            <a:r>
              <a:rPr lang="en-US" dirty="0"/>
              <a:t>Patient information may be exposed if confidential data are uploaded to unapproved websites or services.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973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EXAMPLE OF COMPUTER IN IMAGING</a:t>
            </a:r>
            <a:endParaRPr lang="en-US" dirty="0"/>
          </a:p>
        </p:txBody>
      </p:sp>
      <p:pic>
        <p:nvPicPr>
          <p:cNvPr id="4" name="Content Placeholder 3" descr="Какой врач дает направление на МРТ - можно ли сделать без направления"/>
          <p:cNvPicPr>
            <a:picLocks noGrp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23987" y="1955800"/>
            <a:ext cx="5534025" cy="4162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9623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TIME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mtClean="0"/>
              <a:t>ANY QUESTION FROM THE TOPIC  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11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363</TotalTime>
  <Words>3329</Words>
  <Application>Microsoft Office PowerPoint</Application>
  <PresentationFormat>On-screen Show (4:3)</PresentationFormat>
  <Paragraphs>405</Paragraphs>
  <Slides>49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0" baseType="lpstr">
      <vt:lpstr>Oriel</vt:lpstr>
      <vt:lpstr>PowerPoint Presentation</vt:lpstr>
      <vt:lpstr>  BASIC COMPUTER APPRECIATION IN MEDICAL IMAGING  (MXT 304)  BY   DIR. GBARABE, KENT </vt:lpstr>
      <vt:lpstr>          COURSE OUTLINE </vt:lpstr>
      <vt:lpstr>COURSE OUTLINE CONTD</vt:lpstr>
      <vt:lpstr>INTRODUCTION TO COMPUTER IN MEDICAL IMAGING</vt:lpstr>
      <vt:lpstr>PowerPoint Presentation</vt:lpstr>
      <vt:lpstr>Applications of Computers in Radiography</vt:lpstr>
      <vt:lpstr> Basic Components of a Computer Hardware Used in Radiography </vt:lpstr>
      <vt:lpstr>TYPES OF COMPUTER SYSTEMS USED IN RADIOGRAPHY</vt:lpstr>
      <vt:lpstr>ADVANTAGES OF COMPUTERS IN RADIOGRAPHY</vt:lpstr>
      <vt:lpstr>DISADVANTAGES OF COMPUTERS IN RADIOGRAPHY</vt:lpstr>
      <vt:lpstr>COMPUTER SOFTWARE USED IN RADIOGRAPHY </vt:lpstr>
      <vt:lpstr>TYPES OF SOFTWARE USED IN RADIOGRAPHY </vt:lpstr>
      <vt:lpstr>PowerPoint Presentation</vt:lpstr>
      <vt:lpstr>GENERAL-PURPOSE COMPUTER SOFTWARE USED IN RADIOGRAPHY</vt:lpstr>
      <vt:lpstr>Importance of software in radiography</vt:lpstr>
      <vt:lpstr>Difference between PACS, RIS, and DICOM</vt:lpstr>
      <vt:lpstr>Data and Information in Radiography </vt:lpstr>
      <vt:lpstr>Definition of Information</vt:lpstr>
      <vt:lpstr>Differences Between Data and Information</vt:lpstr>
      <vt:lpstr>Types of Data in Radiography</vt:lpstr>
      <vt:lpstr>How Data Becomes Information in Radiography </vt:lpstr>
      <vt:lpstr>Importance of Data and Information in Radiography</vt:lpstr>
      <vt:lpstr>Characteristics of Good Information in Radiography </vt:lpstr>
      <vt:lpstr>Computer Word Processing in Radiography </vt:lpstr>
      <vt:lpstr>Uses of Word Processing in Radiography</vt:lpstr>
      <vt:lpstr>Examples of Word-Processing Software </vt:lpstr>
      <vt:lpstr>Basic Functions of Word Processing </vt:lpstr>
      <vt:lpstr>Advantages of Word Processing in Radiography</vt:lpstr>
      <vt:lpstr>Disadvantages of Word Processing in Radiography</vt:lpstr>
      <vt:lpstr>Difference Between Word Processing and Other Computer Applications</vt:lpstr>
      <vt:lpstr>File Management in Radiography </vt:lpstr>
      <vt:lpstr>Types of Files Used in Radiography</vt:lpstr>
      <vt:lpstr>Functions of File Management in Radiography </vt:lpstr>
      <vt:lpstr>Common File Management Operations </vt:lpstr>
      <vt:lpstr>Importance of File Management in Radiography</vt:lpstr>
      <vt:lpstr>Internet and Digital Communication in Radiography </vt:lpstr>
      <vt:lpstr>Methods of Digital Communication in Radiography</vt:lpstr>
      <vt:lpstr>Advantages of the Internet and Digital Communication </vt:lpstr>
      <vt:lpstr>Disadvantages of the Internet and Digital Communication</vt:lpstr>
      <vt:lpstr>Security Measures in Digital Communication</vt:lpstr>
      <vt:lpstr>Difference Between the Internet and Digital Communication</vt:lpstr>
      <vt:lpstr>Practical Applications of Computers in Internet Research</vt:lpstr>
      <vt:lpstr>PowerPoint Presentation</vt:lpstr>
      <vt:lpstr>Useful Internet Research Resources for Radiography</vt:lpstr>
      <vt:lpstr>Advantages of Internet Research in Radiography</vt:lpstr>
      <vt:lpstr> Challenges of Internet Research</vt:lpstr>
      <vt:lpstr>EXAMPLE OF COMPUTER IN IMAGING</vt:lpstr>
      <vt:lpstr>QUESTION TIME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LECTURES ON INTRODUCTION TO DAYLIGHT / OTHER DIGITAL IMAGE PROCESSING (MXT 303)</dc:title>
  <dc:creator>HELLO</dc:creator>
  <cp:lastModifiedBy>HELLO</cp:lastModifiedBy>
  <cp:revision>86</cp:revision>
  <dcterms:created xsi:type="dcterms:W3CDTF">2026-10-19T08:14:17Z</dcterms:created>
  <dcterms:modified xsi:type="dcterms:W3CDTF">2026-10-21T15:44:59Z</dcterms:modified>
</cp:coreProperties>
</file>