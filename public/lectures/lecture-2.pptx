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80" r:id="rId1"/>
  </p:sldMasterIdLst>
  <p:sldIdLst>
    <p:sldId id="256" r:id="rId2"/>
    <p:sldId id="258" r:id="rId3"/>
    <p:sldId id="257" r:id="rId4"/>
    <p:sldId id="259" r:id="rId5"/>
    <p:sldId id="303" r:id="rId6"/>
    <p:sldId id="305" r:id="rId7"/>
    <p:sldId id="261" r:id="rId8"/>
    <p:sldId id="263" r:id="rId9"/>
    <p:sldId id="264" r:id="rId10"/>
    <p:sldId id="265" r:id="rId11"/>
    <p:sldId id="266" r:id="rId12"/>
    <p:sldId id="269" r:id="rId13"/>
    <p:sldId id="270" r:id="rId14"/>
    <p:sldId id="267" r:id="rId15"/>
    <p:sldId id="268" r:id="rId16"/>
    <p:sldId id="271" r:id="rId17"/>
    <p:sldId id="272" r:id="rId18"/>
    <p:sldId id="273" r:id="rId19"/>
    <p:sldId id="274" r:id="rId20"/>
    <p:sldId id="275" r:id="rId21"/>
    <p:sldId id="306" r:id="rId22"/>
    <p:sldId id="276" r:id="rId23"/>
    <p:sldId id="277" r:id="rId24"/>
    <p:sldId id="278" r:id="rId25"/>
    <p:sldId id="279" r:id="rId26"/>
    <p:sldId id="280" r:id="rId27"/>
    <p:sldId id="286" r:id="rId28"/>
    <p:sldId id="281" r:id="rId29"/>
    <p:sldId id="282" r:id="rId30"/>
    <p:sldId id="283" r:id="rId31"/>
    <p:sldId id="284" r:id="rId32"/>
    <p:sldId id="287" r:id="rId33"/>
    <p:sldId id="288" r:id="rId34"/>
    <p:sldId id="289" r:id="rId35"/>
    <p:sldId id="290" r:id="rId36"/>
    <p:sldId id="291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4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291" autoAdjust="0"/>
  </p:normalViewPr>
  <p:slideViewPr>
    <p:cSldViewPr snapToGrid="0">
      <p:cViewPr varScale="1">
        <p:scale>
          <a:sx n="72" d="100"/>
          <a:sy n="72" d="100"/>
        </p:scale>
        <p:origin x="6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731407"/>
            <a:ext cx="6480450" cy="3038878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F79075-DF30-526B-9548-3F9D7EF9F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315" y="5264528"/>
            <a:ext cx="6577526" cy="1001354"/>
          </a:xfrm>
        </p:spPr>
        <p:txBody>
          <a:bodyPr anchor="ctr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80" y="6426091"/>
            <a:ext cx="43575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32188" y="6426091"/>
            <a:ext cx="1431447" cy="365125"/>
          </a:xfrm>
        </p:spPr>
        <p:txBody>
          <a:bodyPr/>
          <a:lstStyle/>
          <a:p>
            <a:fld id="{0F66A734-D72A-476B-B2A3-CC8028A0DC7F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82685" y="6426091"/>
            <a:ext cx="603114" cy="365125"/>
          </a:xfrm>
        </p:spPr>
        <p:txBody>
          <a:bodyPr/>
          <a:lstStyle/>
          <a:p>
            <a:fld id="{86239C3A-6A01-4328-8AC2-A70DEA28B52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D3F2A15-2C96-2533-3F11-3EFA30B5671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20000" y="0"/>
            <a:ext cx="4571999" cy="6858000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22CE8C-DC47-AF8A-A37E-C04D364B8D63}"/>
              </a:ext>
            </a:extLst>
          </p:cNvPr>
          <p:cNvCxnSpPr>
            <a:cxnSpLocks/>
          </p:cNvCxnSpPr>
          <p:nvPr/>
        </p:nvCxnSpPr>
        <p:spPr>
          <a:xfrm>
            <a:off x="533400" y="6324773"/>
            <a:ext cx="648045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35A6ADE-4FF0-6E84-4D25-A3E7A481303D}"/>
              </a:ext>
            </a:extLst>
          </p:cNvPr>
          <p:cNvCxnSpPr>
            <a:cxnSpLocks/>
          </p:cNvCxnSpPr>
          <p:nvPr/>
        </p:nvCxnSpPr>
        <p:spPr>
          <a:xfrm>
            <a:off x="533400" y="5184424"/>
            <a:ext cx="6460509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B306735-74E7-C788-FB5F-7BC551ED5CDD}"/>
              </a:ext>
            </a:extLst>
          </p:cNvPr>
          <p:cNvCxnSpPr>
            <a:cxnSpLocks/>
          </p:cNvCxnSpPr>
          <p:nvPr/>
        </p:nvCxnSpPr>
        <p:spPr>
          <a:xfrm>
            <a:off x="533400" y="512722"/>
            <a:ext cx="6456409" cy="0"/>
          </a:xfrm>
          <a:prstGeom prst="line">
            <a:avLst/>
          </a:prstGeom>
          <a:ln w="476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50445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679" y="332308"/>
            <a:ext cx="11253667" cy="909921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36" y="1488931"/>
            <a:ext cx="11253668" cy="47007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6A734-D72A-476B-B2A3-CC8028A0DC7F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39C3A-6A01-4328-8AC2-A70DEA28B52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530352" y="1357303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03614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1F847F0-1D67-5F49-6571-5F248F11275B}"/>
              </a:ext>
            </a:extLst>
          </p:cNvPr>
          <p:cNvCxnSpPr>
            <a:cxnSpLocks/>
          </p:cNvCxnSpPr>
          <p:nvPr/>
        </p:nvCxnSpPr>
        <p:spPr>
          <a:xfrm>
            <a:off x="8173214" y="530425"/>
            <a:ext cx="3485386" cy="0"/>
          </a:xfrm>
          <a:prstGeom prst="line">
            <a:avLst/>
          </a:prstGeom>
          <a:ln w="412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280C4FA-D5DF-A52F-5EBC-E1A231F643A5}"/>
              </a:ext>
            </a:extLst>
          </p:cNvPr>
          <p:cNvCxnSpPr>
            <a:cxnSpLocks/>
          </p:cNvCxnSpPr>
          <p:nvPr/>
        </p:nvCxnSpPr>
        <p:spPr>
          <a:xfrm>
            <a:off x="8173214" y="5498461"/>
            <a:ext cx="3485386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3968" y="768351"/>
            <a:ext cx="3685656" cy="2843527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D3F2A15-2C96-2533-3F11-3EFA30B5671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605681" cy="6858000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F79075-DF30-526B-9548-3F9D7EF9F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73978" y="5681133"/>
            <a:ext cx="3655646" cy="664191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E2571521-DF5C-DF9C-1A62-5F1513FC61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8073978" y="6426091"/>
            <a:ext cx="229505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135B836-FBFB-89F8-B972-11036B55F5CF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298013" y="6426091"/>
            <a:ext cx="875825" cy="365125"/>
          </a:xfrm>
        </p:spPr>
        <p:txBody>
          <a:bodyPr/>
          <a:lstStyle/>
          <a:p>
            <a:fld id="{0F66A734-D72A-476B-B2A3-CC8028A0DC7F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0AD8387-A9F9-E9E2-1138-08C0AA49571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6239C3A-6A01-4328-8AC2-A70DEA28B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6196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2336" y="765750"/>
            <a:ext cx="9635668" cy="34551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8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428" y="5271844"/>
            <a:ext cx="9613065" cy="100135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6A734-D72A-476B-B2A3-CC8028A0DC7F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39C3A-6A01-4328-8AC2-A70DEA28B524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4CDCB79-1025-8102-1BC6-378AB173CBFF}"/>
              </a:ext>
            </a:extLst>
          </p:cNvPr>
          <p:cNvCxnSpPr>
            <a:cxnSpLocks/>
          </p:cNvCxnSpPr>
          <p:nvPr/>
        </p:nvCxnSpPr>
        <p:spPr>
          <a:xfrm>
            <a:off x="533400" y="5184424"/>
            <a:ext cx="11125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EF23CAD-F5FD-3FB3-B413-1F54592B07E7}"/>
              </a:ext>
            </a:extLst>
          </p:cNvPr>
          <p:cNvCxnSpPr>
            <a:cxnSpLocks/>
          </p:cNvCxnSpPr>
          <p:nvPr/>
        </p:nvCxnSpPr>
        <p:spPr>
          <a:xfrm>
            <a:off x="533400" y="6324600"/>
            <a:ext cx="11125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4642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997" y="3018408"/>
            <a:ext cx="8961120" cy="3247475"/>
          </a:xfrm>
        </p:spPr>
        <p:txBody>
          <a:bodyPr anchor="b">
            <a:normAutofit/>
          </a:bodyPr>
          <a:lstStyle>
            <a:lvl1pPr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F66A734-D72A-476B-B2A3-CC8028A0DC7F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6239C3A-6A01-4328-8AC2-A70DEA28B52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FD05DD5-DCB7-49C7-5E41-2DBD8B73D6D2}"/>
              </a:ext>
            </a:extLst>
          </p:cNvPr>
          <p:cNvCxnSpPr>
            <a:cxnSpLocks/>
          </p:cNvCxnSpPr>
          <p:nvPr/>
        </p:nvCxnSpPr>
        <p:spPr>
          <a:xfrm>
            <a:off x="530646" y="531958"/>
            <a:ext cx="11127954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9FDA663-314D-CA26-DF41-CB3FDC0733F0}"/>
              </a:ext>
            </a:extLst>
          </p:cNvPr>
          <p:cNvCxnSpPr>
            <a:cxnSpLocks/>
          </p:cNvCxnSpPr>
          <p:nvPr/>
        </p:nvCxnSpPr>
        <p:spPr>
          <a:xfrm>
            <a:off x="533400" y="6324600"/>
            <a:ext cx="111252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87213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2851"/>
            <a:ext cx="7525512" cy="1882595"/>
          </a:xfrm>
        </p:spPr>
        <p:txBody>
          <a:bodyPr anchor="t">
            <a:normAutofit/>
          </a:bodyPr>
          <a:lstStyle>
            <a:lvl1pPr>
              <a:defRPr sz="6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4856" y="2502245"/>
            <a:ext cx="7492991" cy="3669956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800100" indent="-342900">
              <a:buFont typeface="+mj-lt"/>
              <a:buAutoNum type="arabicPeriod"/>
              <a:defRPr lang="en-US" sz="1800" dirty="0"/>
            </a:lvl2pPr>
            <a:lvl3pPr marL="1257300" indent="-342900">
              <a:buFont typeface="+mj-lt"/>
              <a:buAutoNum type="arabicPeriod"/>
              <a:defRPr lang="en-US" sz="1600" dirty="0"/>
            </a:lvl3pPr>
            <a:lvl4pPr marL="1714500" indent="-342900">
              <a:buFont typeface="+mj-lt"/>
              <a:buAutoNum type="arabicPeriod"/>
              <a:defRPr lang="en-US" sz="1600" dirty="0"/>
            </a:lvl4pPr>
            <a:lvl5pPr marL="2171700" indent="-342900"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6A734-D72A-476B-B2A3-CC8028A0DC7F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39C3A-6A01-4328-8AC2-A70DEA28B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5619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Agenda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401519"/>
            <a:ext cx="6516938" cy="2091068"/>
          </a:xfrm>
        </p:spPr>
        <p:txBody>
          <a:bodyPr anchor="t">
            <a:normAutofit/>
          </a:bodyPr>
          <a:lstStyle>
            <a:lvl1pPr>
              <a:defRPr sz="6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6526" y="2897442"/>
            <a:ext cx="6482747" cy="3279838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800100" indent="-342900">
              <a:buFont typeface="+mj-lt"/>
              <a:buAutoNum type="arabicPeriod"/>
              <a:defRPr lang="en-US" sz="1800" dirty="0"/>
            </a:lvl2pPr>
            <a:lvl3pPr marL="1257300" indent="-342900">
              <a:buFont typeface="+mj-lt"/>
              <a:buAutoNum type="arabicPeriod"/>
              <a:defRPr lang="en-US" sz="1600" dirty="0"/>
            </a:lvl3pPr>
            <a:lvl4pPr marL="1714500" indent="-342900">
              <a:buFont typeface="+mj-lt"/>
              <a:buAutoNum type="arabicPeriod"/>
              <a:defRPr lang="en-US" sz="1600" dirty="0"/>
            </a:lvl4pPr>
            <a:lvl5pPr marL="2171700" indent="-342900"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336" y="6426091"/>
            <a:ext cx="430301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95850" y="6416667"/>
            <a:ext cx="1420310" cy="365125"/>
          </a:xfrm>
        </p:spPr>
        <p:txBody>
          <a:bodyPr/>
          <a:lstStyle/>
          <a:p>
            <a:fld id="{0F66A734-D72A-476B-B2A3-CC8028A0DC7F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16160" y="6416667"/>
            <a:ext cx="603114" cy="365125"/>
          </a:xfrm>
        </p:spPr>
        <p:txBody>
          <a:bodyPr/>
          <a:lstStyle/>
          <a:p>
            <a:fld id="{86239C3A-6A01-4328-8AC2-A70DEA28B52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FBFCD9F4-28CD-7877-8D0E-B6685E2A124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19999" y="0"/>
            <a:ext cx="4571999" cy="6857999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E6481B7-DF51-286F-B976-0777FDDAC524}"/>
              </a:ext>
            </a:extLst>
          </p:cNvPr>
          <p:cNvCxnSpPr>
            <a:cxnSpLocks/>
          </p:cNvCxnSpPr>
          <p:nvPr/>
        </p:nvCxnSpPr>
        <p:spPr>
          <a:xfrm>
            <a:off x="530352" y="2670800"/>
            <a:ext cx="6402856" cy="0"/>
          </a:xfrm>
          <a:prstGeom prst="line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92292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560" y="1399734"/>
            <a:ext cx="4136461" cy="291875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3780" y="1398419"/>
            <a:ext cx="625002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6A734-D72A-476B-B2A3-CC8028A0DC7F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39C3A-6A01-4328-8AC2-A70DEA28B524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4E4891-5C32-2FDE-C242-EDBA3B5D1AC4}"/>
              </a:ext>
            </a:extLst>
          </p:cNvPr>
          <p:cNvCxnSpPr>
            <a:cxnSpLocks/>
          </p:cNvCxnSpPr>
          <p:nvPr/>
        </p:nvCxnSpPr>
        <p:spPr>
          <a:xfrm>
            <a:off x="530352" y="6322906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19685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400" y="435785"/>
            <a:ext cx="4268573" cy="291875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1452" y="743106"/>
            <a:ext cx="6277070" cy="531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6A734-D72A-476B-B2A3-CC8028A0DC7F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39C3A-6A01-4328-8AC2-A70DEA28B52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9F873DB-8FEF-C24C-ECA0-EABFFF560476}"/>
              </a:ext>
            </a:extLst>
          </p:cNvPr>
          <p:cNvCxnSpPr>
            <a:cxnSpLocks/>
          </p:cNvCxnSpPr>
          <p:nvPr/>
        </p:nvCxnSpPr>
        <p:spPr>
          <a:xfrm>
            <a:off x="5486400" y="528489"/>
            <a:ext cx="6172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4E4891-5C32-2FDE-C242-EDBA3B5D1AC4}"/>
              </a:ext>
            </a:extLst>
          </p:cNvPr>
          <p:cNvCxnSpPr>
            <a:cxnSpLocks/>
          </p:cNvCxnSpPr>
          <p:nvPr/>
        </p:nvCxnSpPr>
        <p:spPr>
          <a:xfrm>
            <a:off x="530352" y="6324600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05004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3867" y="691867"/>
            <a:ext cx="5664732" cy="12126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4" name="Picture Placeholder 8">
            <a:extLst>
              <a:ext uri="{FF2B5EF4-FFF2-40B4-BE49-F238E27FC236}">
                <a16:creationId xmlns:a16="http://schemas.microsoft.com/office/drawing/2014/main" id="{38FD2E6A-E1F7-36FC-E50F-AD4CE76910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1" y="533400"/>
            <a:ext cx="4953000" cy="5811928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3865" y="2007652"/>
            <a:ext cx="5664732" cy="43153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6A734-D72A-476B-B2A3-CC8028A0DC7F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39C3A-6A01-4328-8AC2-A70DEA28B52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6058518" y="530352"/>
            <a:ext cx="5600082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41732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7971" y="691866"/>
            <a:ext cx="6680630" cy="12173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7BA63699-2EA2-4B8B-E296-BEF5937412F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3400"/>
            <a:ext cx="3886200" cy="5811924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7971" y="2010699"/>
            <a:ext cx="6680630" cy="43139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6A734-D72A-476B-B2A3-CC8028A0DC7F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39C3A-6A01-4328-8AC2-A70DEA28B52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4984096" y="533400"/>
            <a:ext cx="6680631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53511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559" y="691867"/>
            <a:ext cx="6664559" cy="12173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217" y="2010699"/>
            <a:ext cx="6661902" cy="43308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7BA63699-2EA2-4B8B-E296-BEF5937412F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20000" y="533400"/>
            <a:ext cx="4038600" cy="5791200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00" y="6426091"/>
            <a:ext cx="3553839" cy="365125"/>
          </a:xfrm>
        </p:spPr>
        <p:txBody>
          <a:bodyPr/>
          <a:lstStyle/>
          <a:p>
            <a:fld id="{0F66A734-D72A-476B-B2A3-CC8028A0DC7F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39C3A-6A01-4328-8AC2-A70DEA28B52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3F4131-F439-B360-2C50-DC4ED02C5AF2}"/>
              </a:ext>
            </a:extLst>
          </p:cNvPr>
          <p:cNvCxnSpPr>
            <a:cxnSpLocks/>
          </p:cNvCxnSpPr>
          <p:nvPr/>
        </p:nvCxnSpPr>
        <p:spPr>
          <a:xfrm>
            <a:off x="516418" y="530352"/>
            <a:ext cx="65677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39828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376" y="691868"/>
            <a:ext cx="4577602" cy="143921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376" y="2211185"/>
            <a:ext cx="4577602" cy="39549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7807F9F-79B5-ED92-41CC-A1D1A8D03E3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86400" y="533399"/>
            <a:ext cx="6172200" cy="5791201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6A734-D72A-476B-B2A3-CC8028A0DC7F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39C3A-6A01-4328-8AC2-A70DEA28B52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516418" y="530352"/>
            <a:ext cx="4436582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6124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8555" y="512011"/>
            <a:ext cx="6792069" cy="125992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9A161C3-930A-50CE-D3B8-C1429E6F242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3399"/>
            <a:ext cx="3886200" cy="5791201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857" y="6426091"/>
            <a:ext cx="413714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8555" y="2148840"/>
            <a:ext cx="6792069" cy="4162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6A734-D72A-476B-B2A3-CC8028A0DC7F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39C3A-6A01-4328-8AC2-A70DEA28B52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9C51D6-8120-DE83-0A77-B4C479640664}"/>
              </a:ext>
            </a:extLst>
          </p:cNvPr>
          <p:cNvCxnSpPr>
            <a:cxnSpLocks/>
          </p:cNvCxnSpPr>
          <p:nvPr/>
        </p:nvCxnSpPr>
        <p:spPr>
          <a:xfrm>
            <a:off x="4953000" y="1892587"/>
            <a:ext cx="67056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71451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1935" y="691867"/>
            <a:ext cx="3052570" cy="20116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6BC46AA6-BED0-04C6-38E0-12160144CC3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399" y="533400"/>
            <a:ext cx="7667626" cy="5788757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1935" y="2889848"/>
            <a:ext cx="3052570" cy="3434752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5C6323EE-3C7E-2716-8BD0-C89545F04FC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F01E841F-9F6D-0E74-84D5-4BA2AF78F5C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F66A734-D72A-476B-B2A3-CC8028A0DC7F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CE2DCFD-EFAB-71DF-776D-014822C0AB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6239C3A-6A01-4328-8AC2-A70DEA28B52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CFBB608-C785-A34D-1B6D-96361A676495}"/>
              </a:ext>
            </a:extLst>
          </p:cNvPr>
          <p:cNvCxnSpPr>
            <a:cxnSpLocks/>
          </p:cNvCxnSpPr>
          <p:nvPr/>
        </p:nvCxnSpPr>
        <p:spPr>
          <a:xfrm>
            <a:off x="8727541" y="533400"/>
            <a:ext cx="293106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28355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399" y="4829695"/>
            <a:ext cx="4289051" cy="14131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1FFBA57-7EFE-2CC4-EE45-5F1F633C1A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3400"/>
            <a:ext cx="11125200" cy="4013885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177800" dir="14400000" sx="98000" sy="98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857" y="6426091"/>
            <a:ext cx="428905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3779" y="4829695"/>
            <a:ext cx="6554822" cy="1529541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6A734-D72A-476B-B2A3-CC8028A0DC7F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39C3A-6A01-4328-8AC2-A70DEA28B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3684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755" y="691867"/>
            <a:ext cx="4067721" cy="155955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1FFBA57-7EFE-2CC4-EE45-5F1F633C1A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2521819"/>
            <a:ext cx="3886200" cy="3802781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190500" dir="144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0685" y="694944"/>
            <a:ext cx="6705600" cy="56296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857" y="6426091"/>
            <a:ext cx="398474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6A734-D72A-476B-B2A3-CC8028A0DC7F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39C3A-6A01-4328-8AC2-A70DEA28B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2220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295957"/>
            <a:ext cx="4000501" cy="18895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C4C6F3D6-B9C8-D66A-B29A-CE5D5FBDE5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1891"/>
            <a:ext cx="3886202" cy="3603594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190500" dir="144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1" y="694944"/>
            <a:ext cx="6705599" cy="55067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354F31B-6E0C-9ACF-A3B4-2BE5DD2D21D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1D4992A1-A620-24C8-73C6-0C53DD6F386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F66A734-D72A-476B-B2A3-CC8028A0DC7F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2384E85-ACDE-270D-7478-1B88F47F14A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6239C3A-6A01-4328-8AC2-A70DEA28B52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4953001" y="531891"/>
            <a:ext cx="6705599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4E4891-5C32-2FDE-C242-EDBA3B5D1AC4}"/>
              </a:ext>
            </a:extLst>
          </p:cNvPr>
          <p:cNvCxnSpPr>
            <a:cxnSpLocks/>
          </p:cNvCxnSpPr>
          <p:nvPr/>
        </p:nvCxnSpPr>
        <p:spPr>
          <a:xfrm>
            <a:off x="533399" y="6324600"/>
            <a:ext cx="11125201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32335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2889" y="5074607"/>
            <a:ext cx="11166223" cy="1068234"/>
          </a:xfrm>
        </p:spPr>
        <p:txBody>
          <a:bodyPr anchor="ctr">
            <a:normAutofit/>
          </a:bodyPr>
          <a:lstStyle>
            <a:lvl1pPr algn="ctr"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6419" y="495833"/>
            <a:ext cx="11159163" cy="4245996"/>
          </a:xfrm>
        </p:spPr>
        <p:txBody>
          <a:bodyPr anchor="ctr">
            <a:normAutofit/>
          </a:bodyPr>
          <a:lstStyle>
            <a:lvl1pPr marL="0" indent="0" algn="ctr">
              <a:lnSpc>
                <a:spcPct val="90000"/>
              </a:lnSpc>
              <a:buNone/>
              <a:defRPr sz="32000" cap="none" baseline="0">
                <a:solidFill>
                  <a:schemeClr val="accent1"/>
                </a:solidFill>
                <a:latin typeface="+mj-lt"/>
              </a:defRPr>
            </a:lvl1pPr>
            <a:lvl2pPr marL="228600" indent="0" algn="ctr">
              <a:lnSpc>
                <a:spcPct val="110000"/>
              </a:lnSpc>
              <a:buNone/>
              <a:defRPr sz="2400" cap="none" baseline="0">
                <a:solidFill>
                  <a:schemeClr val="tx1"/>
                </a:solidFill>
                <a:latin typeface="+mj-lt"/>
              </a:defRPr>
            </a:lvl2pPr>
            <a:lvl3pPr marL="457200" indent="0" algn="ctr">
              <a:lnSpc>
                <a:spcPct val="110000"/>
              </a:lnSpc>
              <a:buNone/>
              <a:defRPr sz="2000" cap="none" baseline="0">
                <a:solidFill>
                  <a:schemeClr val="tx1"/>
                </a:solidFill>
                <a:latin typeface="+mj-lt"/>
              </a:defRPr>
            </a:lvl3pPr>
            <a:lvl4pPr marL="685800" indent="0" algn="ctr">
              <a:lnSpc>
                <a:spcPct val="110000"/>
              </a:lnSpc>
              <a:buNone/>
              <a:defRPr sz="1800" cap="none" baseline="0">
                <a:solidFill>
                  <a:schemeClr val="tx1"/>
                </a:solidFill>
                <a:latin typeface="+mj-lt"/>
              </a:defRPr>
            </a:lvl4pPr>
            <a:lvl5pPr marL="914400" indent="0" algn="ctr">
              <a:lnSpc>
                <a:spcPct val="110000"/>
              </a:lnSpc>
              <a:buNone/>
              <a:defRPr sz="1600" cap="none" baseline="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FADD3D14-222C-BA8A-E4C0-8637820CBAB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FEF00E3-D3E5-F5AF-F035-66A1547A063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F66A734-D72A-476B-B2A3-CC8028A0DC7F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37222D35-3F63-3753-6F10-57879AFE3C5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6239C3A-6A01-4328-8AC2-A70DEA28B524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6998540-FFAB-625C-C2E6-DC04B074A2C4}"/>
              </a:ext>
            </a:extLst>
          </p:cNvPr>
          <p:cNvCxnSpPr>
            <a:cxnSpLocks/>
          </p:cNvCxnSpPr>
          <p:nvPr/>
        </p:nvCxnSpPr>
        <p:spPr>
          <a:xfrm>
            <a:off x="530352" y="4839664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FE9B0A1-4C47-68AF-0383-4819E2242D4E}"/>
              </a:ext>
            </a:extLst>
          </p:cNvPr>
          <p:cNvCxnSpPr>
            <a:cxnSpLocks/>
          </p:cNvCxnSpPr>
          <p:nvPr/>
        </p:nvCxnSpPr>
        <p:spPr>
          <a:xfrm>
            <a:off x="530352" y="6324600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90132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1480" y="722376"/>
            <a:ext cx="10762488" cy="545896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90000"/>
              </a:lnSpc>
              <a:buNone/>
              <a:defRPr lang="en-US" sz="7200" cap="all" baseline="0" dirty="0">
                <a:latin typeface="+mj-lt"/>
              </a:defRPr>
            </a:lvl1pPr>
            <a:lvl2pPr marL="457200" indent="0">
              <a:lnSpc>
                <a:spcPct val="90000"/>
              </a:lnSpc>
              <a:buNone/>
              <a:defRPr lang="en-US" sz="6600" cap="all" baseline="0" dirty="0">
                <a:latin typeface="+mj-lt"/>
              </a:defRPr>
            </a:lvl2pPr>
            <a:lvl3pPr marL="914400" indent="0">
              <a:lnSpc>
                <a:spcPct val="90000"/>
              </a:lnSpc>
              <a:buNone/>
              <a:defRPr lang="en-US" sz="6000" cap="all" baseline="0" dirty="0">
                <a:latin typeface="+mj-lt"/>
              </a:defRPr>
            </a:lvl3pPr>
            <a:lvl4pPr marL="1371600" indent="0">
              <a:lnSpc>
                <a:spcPct val="90000"/>
              </a:lnSpc>
              <a:buNone/>
              <a:defRPr lang="en-US" sz="6000" cap="all" baseline="0" dirty="0">
                <a:latin typeface="+mj-lt"/>
              </a:defRPr>
            </a:lvl4pPr>
            <a:lvl5pPr marL="1828800" indent="0">
              <a:lnSpc>
                <a:spcPct val="90000"/>
              </a:lnSpc>
              <a:buNone/>
              <a:defRPr lang="en-US" sz="6000" cap="all" baseline="0" dirty="0"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4B05AAB-D167-637A-451A-510AF3173A7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28B3CFC-5715-1685-A039-A3162E1A6D0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F66A734-D72A-476B-B2A3-CC8028A0DC7F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5256ABD-1750-68C8-B3DD-DDDA3342C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6239C3A-6A01-4328-8AC2-A70DEA28B524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7C0A4E9-267E-8FCC-AB27-70F0E33E2D79}"/>
              </a:ext>
            </a:extLst>
          </p:cNvPr>
          <p:cNvCxnSpPr>
            <a:cxnSpLocks/>
          </p:cNvCxnSpPr>
          <p:nvPr/>
        </p:nvCxnSpPr>
        <p:spPr>
          <a:xfrm>
            <a:off x="530352" y="533400"/>
            <a:ext cx="11128248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A1B5A9-A34C-A393-09C0-174C561F5FBF}"/>
              </a:ext>
            </a:extLst>
          </p:cNvPr>
          <p:cNvCxnSpPr>
            <a:cxnSpLocks/>
          </p:cNvCxnSpPr>
          <p:nvPr/>
        </p:nvCxnSpPr>
        <p:spPr>
          <a:xfrm>
            <a:off x="530352" y="6324600"/>
            <a:ext cx="11128248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71528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9764" y="5486400"/>
            <a:ext cx="9472473" cy="939691"/>
          </a:xfrm>
        </p:spPr>
        <p:txBody>
          <a:bodyPr anchor="ctr">
            <a:normAutofit/>
          </a:bodyPr>
          <a:lstStyle>
            <a:lvl1pPr marL="137160" indent="-137160" algn="ctr">
              <a:lnSpc>
                <a:spcPct val="100000"/>
              </a:lnSpc>
              <a:defRPr sz="1800" cap="all" baseline="0"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59761" y="667511"/>
            <a:ext cx="9413534" cy="4010998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4400" b="0" cap="none" spc="50" baseline="0">
                <a:solidFill>
                  <a:schemeClr val="accent1"/>
                </a:solidFill>
                <a:latin typeface="+mn-lt"/>
              </a:defRPr>
            </a:lvl1pPr>
            <a:lvl2pPr marL="228600" indent="0" algn="ctr">
              <a:lnSpc>
                <a:spcPct val="100000"/>
              </a:lnSpc>
              <a:buNone/>
              <a:defRPr sz="4000" b="0" cap="none" spc="50" baseline="0">
                <a:solidFill>
                  <a:schemeClr val="accent1"/>
                </a:solidFill>
                <a:latin typeface="+mn-lt"/>
              </a:defRPr>
            </a:lvl2pPr>
            <a:lvl3pPr marL="457200" indent="0" algn="ctr">
              <a:lnSpc>
                <a:spcPct val="100000"/>
              </a:lnSpc>
              <a:buNone/>
              <a:defRPr sz="3600" b="0" cap="none" spc="50" baseline="0">
                <a:solidFill>
                  <a:schemeClr val="accent1"/>
                </a:solidFill>
                <a:latin typeface="+mn-lt"/>
              </a:defRPr>
            </a:lvl3pPr>
            <a:lvl4pPr marL="685800" indent="0" algn="ctr">
              <a:lnSpc>
                <a:spcPct val="100000"/>
              </a:lnSpc>
              <a:buNone/>
              <a:defRPr sz="3200" b="0" cap="none" spc="50" baseline="0">
                <a:solidFill>
                  <a:schemeClr val="accent1"/>
                </a:solidFill>
                <a:latin typeface="+mn-lt"/>
              </a:defRPr>
            </a:lvl4pPr>
            <a:lvl5pPr marL="914400" indent="0" algn="ctr">
              <a:lnSpc>
                <a:spcPct val="100000"/>
              </a:lnSpc>
              <a:buNone/>
              <a:defRPr sz="2800" b="0" cap="none" spc="50" baseline="0">
                <a:solidFill>
                  <a:schemeClr val="accent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8922A5-1A25-C2CB-DB6C-A2CCA7E6E68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AB04756-BB80-4C64-D871-0ADC3A7778F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F66A734-D72A-476B-B2A3-CC8028A0DC7F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EF70E65-4C3D-A600-1367-6FBA2FDDE55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6239C3A-6A01-4328-8AC2-A70DEA28B524}" type="slidenum">
              <a:rPr lang="en-US" smtClean="0"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C95B307-0002-4F55-5801-73F564B37804}"/>
              </a:ext>
            </a:extLst>
          </p:cNvPr>
          <p:cNvCxnSpPr>
            <a:cxnSpLocks/>
          </p:cNvCxnSpPr>
          <p:nvPr/>
        </p:nvCxnSpPr>
        <p:spPr>
          <a:xfrm>
            <a:off x="1399690" y="5178692"/>
            <a:ext cx="9386681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63275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365760"/>
            <a:ext cx="11239498" cy="9144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B8DBCC-227D-BB0A-7CD5-02D66CF1874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19100" y="1714500"/>
            <a:ext cx="5305425" cy="43894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BB7E01-A7E6-1882-4E9B-8EABAF71F96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45936" y="1719072"/>
            <a:ext cx="5321808" cy="43905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6A734-D72A-476B-B2A3-CC8028A0DC7F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39C3A-6A01-4328-8AC2-A70DEA28B524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90608C5-C55C-14AC-C8E9-7F0530018CE5}"/>
              </a:ext>
            </a:extLst>
          </p:cNvPr>
          <p:cNvCxnSpPr>
            <a:cxnSpLocks/>
          </p:cNvCxnSpPr>
          <p:nvPr/>
        </p:nvCxnSpPr>
        <p:spPr>
          <a:xfrm>
            <a:off x="533400" y="1357303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77014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365760"/>
            <a:ext cx="11256264" cy="9144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9FF10-A82A-AAEB-4B8C-921F3BA20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048" y="1490472"/>
            <a:ext cx="5321808" cy="64290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EFD932-A581-1A49-7FAF-0FED2E2BC18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19100" y="2212975"/>
            <a:ext cx="5303838" cy="3892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627A15-4AB2-F230-22C7-0605AFD7D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1490472"/>
            <a:ext cx="5321808" cy="64290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54404BD-8F2F-278E-C00B-3F1B1DE8CF2C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45238" y="2212975"/>
            <a:ext cx="5321808" cy="3892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6A734-D72A-476B-B2A3-CC8028A0DC7F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39C3A-6A01-4328-8AC2-A70DEA28B524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90608C5-C55C-14AC-C8E9-7F0530018CE5}"/>
              </a:ext>
            </a:extLst>
          </p:cNvPr>
          <p:cNvCxnSpPr>
            <a:cxnSpLocks/>
          </p:cNvCxnSpPr>
          <p:nvPr/>
        </p:nvCxnSpPr>
        <p:spPr>
          <a:xfrm>
            <a:off x="530352" y="1357303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30702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3695F-5E74-A380-8592-35FB6FC77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C6149D-58D4-7497-818C-CF30244A2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8D2567-C532-BD45-FA85-03DBE3B3C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6A734-D72A-476B-B2A3-CC8028A0DC7F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C0E491-56EB-F527-8A63-FBEEE6196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39C3A-6A01-4328-8AC2-A70DEA28B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296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mpt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E9D82C-4607-0C9D-F241-D35DBEFEF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DCFCC5-7F8E-F549-57BA-7303E9F17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6A734-D72A-476B-B2A3-CC8028A0DC7F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7BEB6A-C028-DA7D-C516-2F1316F03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39C3A-6A01-4328-8AC2-A70DEA28B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6900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541942"/>
            <a:ext cx="11256264" cy="2225185"/>
          </a:xfrm>
        </p:spPr>
        <p:txBody>
          <a:bodyPr anchor="b">
            <a:normAutofit/>
          </a:bodyPr>
          <a:lstStyle>
            <a:lvl1pPr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099" y="3423301"/>
            <a:ext cx="11239499" cy="290129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457200" indent="0">
              <a:buNone/>
              <a:defRPr lang="en-US" dirty="0"/>
            </a:lvl2pPr>
            <a:lvl3pPr marL="914400" indent="0">
              <a:buNone/>
              <a:defRPr lang="en-US" dirty="0"/>
            </a:lvl3pPr>
            <a:lvl4pPr marL="1371600" indent="0">
              <a:buNone/>
              <a:defRPr lang="en-US" dirty="0"/>
            </a:lvl4pPr>
            <a:lvl5pPr marL="18288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6A734-D72A-476B-B2A3-CC8028A0DC7F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39C3A-6A01-4328-8AC2-A70DEA28B524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FD55B63-1406-DAD2-DBAB-BD87EA2FB540}"/>
              </a:ext>
            </a:extLst>
          </p:cNvPr>
          <p:cNvCxnSpPr>
            <a:cxnSpLocks/>
          </p:cNvCxnSpPr>
          <p:nvPr/>
        </p:nvCxnSpPr>
        <p:spPr>
          <a:xfrm>
            <a:off x="533400" y="2978854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34698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1836238"/>
            <a:ext cx="11256264" cy="2512732"/>
          </a:xfrm>
        </p:spPr>
        <p:txBody>
          <a:bodyPr anchor="b">
            <a:normAutofit/>
          </a:bodyPr>
          <a:lstStyle>
            <a:lvl1pPr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099" y="4834052"/>
            <a:ext cx="11239499" cy="1405479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2000" dirty="0"/>
            </a:lvl1pPr>
            <a:lvl2pPr marL="457200" indent="0">
              <a:buNone/>
              <a:defRPr lang="en-US" sz="1800" dirty="0"/>
            </a:lvl2pPr>
            <a:lvl3pPr marL="914400" indent="0">
              <a:buNone/>
              <a:defRPr lang="en-US" sz="1600" dirty="0"/>
            </a:lvl3pPr>
            <a:lvl4pPr marL="1371600" indent="0">
              <a:buNone/>
              <a:defRPr lang="en-US" sz="1400" dirty="0"/>
            </a:lvl4pPr>
            <a:lvl5pPr marL="18288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6A734-D72A-476B-B2A3-CC8028A0DC7F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39C3A-6A01-4328-8AC2-A70DEA28B52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5899B98-11E6-7DB0-F79E-50A541026355}"/>
              </a:ext>
            </a:extLst>
          </p:cNvPr>
          <p:cNvCxnSpPr>
            <a:cxnSpLocks/>
          </p:cNvCxnSpPr>
          <p:nvPr/>
        </p:nvCxnSpPr>
        <p:spPr>
          <a:xfrm>
            <a:off x="533400" y="4531625"/>
            <a:ext cx="11125198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86301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6174463"/>
            <a:ext cx="5891134" cy="65483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F14EE-EFB3-D2DC-CEAA-621D66627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3E0DC-DE5C-286F-36BD-6985F4A6C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6A734-D72A-476B-B2A3-CC8028A0DC7F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207AF81-9CDB-689F-CE00-62257104E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39C3A-6A01-4328-8AC2-A70DEA28B52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70B1373-40A5-190F-BE9F-8FC310F7B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2159632"/>
            <a:ext cx="9683496" cy="377647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634832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8916C8C-4316-E510-1962-E944B3382B43}"/>
              </a:ext>
            </a:extLst>
          </p:cNvPr>
          <p:cNvCxnSpPr>
            <a:cxnSpLocks/>
          </p:cNvCxnSpPr>
          <p:nvPr/>
        </p:nvCxnSpPr>
        <p:spPr>
          <a:xfrm>
            <a:off x="530352" y="533400"/>
            <a:ext cx="11125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78947-1D67-18A4-7E48-5B4B2F97F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83" y="691868"/>
            <a:ext cx="11243617" cy="90113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E08CA-9517-ABC1-E915-31EA6D7B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7640" y="1754753"/>
            <a:ext cx="11240960" cy="44113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3983D-E783-AAEC-26DB-4B3F6511C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4857" y="6426091"/>
            <a:ext cx="46887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54426-0A97-D20B-FD06-9648AED77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846205" y="6426091"/>
            <a:ext cx="33276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fld id="{0F66A734-D72A-476B-B2A3-CC8028A0DC7F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13386-8E2A-2962-4804-81558038B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6187" y="6426091"/>
            <a:ext cx="603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fld id="{86239C3A-6A01-4328-8AC2-A70DEA28B52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1E8D67-00CA-7CDE-66AF-4E6E2CA0045D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978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111833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81" r:id="rId1"/>
    <p:sldLayoutId id="2147484282" r:id="rId2"/>
    <p:sldLayoutId id="2147484283" r:id="rId3"/>
    <p:sldLayoutId id="2147484284" r:id="rId4"/>
    <p:sldLayoutId id="2147484285" r:id="rId5"/>
    <p:sldLayoutId id="2147484286" r:id="rId6"/>
    <p:sldLayoutId id="2147484287" r:id="rId7"/>
    <p:sldLayoutId id="2147484288" r:id="rId8"/>
    <p:sldLayoutId id="2147484289" r:id="rId9"/>
    <p:sldLayoutId id="2147484290" r:id="rId10"/>
    <p:sldLayoutId id="2147484291" r:id="rId11"/>
    <p:sldLayoutId id="2147484292" r:id="rId12"/>
    <p:sldLayoutId id="2147484293" r:id="rId13"/>
    <p:sldLayoutId id="2147484294" r:id="rId14"/>
    <p:sldLayoutId id="2147484295" r:id="rId15"/>
    <p:sldLayoutId id="2147484296" r:id="rId16"/>
    <p:sldLayoutId id="2147484297" r:id="rId17"/>
    <p:sldLayoutId id="2147484298" r:id="rId18"/>
    <p:sldLayoutId id="2147484299" r:id="rId19"/>
    <p:sldLayoutId id="2147484300" r:id="rId20"/>
    <p:sldLayoutId id="2147484301" r:id="rId21"/>
    <p:sldLayoutId id="2147484302" r:id="rId22"/>
    <p:sldLayoutId id="2147484303" r:id="rId23"/>
    <p:sldLayoutId id="2147484304" r:id="rId24"/>
    <p:sldLayoutId id="2147484305" r:id="rId25"/>
    <p:sldLayoutId id="2147484306" r:id="rId26"/>
    <p:sldLayoutId id="2147484307" r:id="rId27"/>
    <p:sldLayoutId id="2147484308" r:id="rId2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84">
          <p15:clr>
            <a:srgbClr val="F26B43"/>
          </p15:clr>
        </p15:guide>
        <p15:guide id="2" pos="4128">
          <p15:clr>
            <a:srgbClr val="F26B43"/>
          </p15:clr>
        </p15:guide>
        <p15:guide id="3" pos="3456">
          <p15:clr>
            <a:srgbClr val="F26B43"/>
          </p15:clr>
        </p15:guide>
        <p15:guide id="4" pos="2784">
          <p15:clr>
            <a:srgbClr val="F26B43"/>
          </p15:clr>
        </p15:guide>
        <p15:guide id="5" pos="336">
          <p15:clr>
            <a:srgbClr val="F26B43"/>
          </p15:clr>
        </p15:guide>
        <p15:guide id="6" pos="7344">
          <p15:clr>
            <a:srgbClr val="F26B43"/>
          </p15:clr>
        </p15:guide>
        <p15:guide id="7" orient="horz" pos="336">
          <p15:clr>
            <a:srgbClr val="F26B43"/>
          </p15:clr>
        </p15:guide>
        <p15:guide id="8" pos="264">
          <p15:clr>
            <a:srgbClr val="F26B43"/>
          </p15:clr>
        </p15:guide>
        <p15:guide id="9" pos="4800">
          <p15:clr>
            <a:srgbClr val="F26B43"/>
          </p15:clr>
        </p15:guide>
        <p15:guide id="10" pos="2112">
          <p15:clr>
            <a:srgbClr val="F26B43"/>
          </p15:clr>
        </p15:guide>
        <p15:guide id="11" pos="547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65CEEFB-A76F-4DB5-0C5E-EB183AAD4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126609"/>
            <a:ext cx="12192000" cy="6625883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E0000"/>
                </a:solidFill>
              </a:rPr>
              <a:t>MXT102 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EE0000"/>
                </a:solidFill>
              </a:rPr>
              <a:t>MEDICAL IMAGE PROCESSING</a:t>
            </a:r>
          </a:p>
          <a:p>
            <a:pPr marL="0" indent="0" algn="ctr">
              <a:buNone/>
            </a:pPr>
            <a:r>
              <a:rPr lang="en-US" sz="3200" b="1" dirty="0"/>
              <a:t>RRBN PREGISTRATION RETRAINING COURSE FOR XRAY TECHNICIAN  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EE0000"/>
                </a:solidFill>
              </a:rPr>
              <a:t>BY</a:t>
            </a:r>
          </a:p>
          <a:p>
            <a:pPr marL="0" indent="0" algn="ctr">
              <a:buNone/>
            </a:pPr>
            <a:r>
              <a:rPr lang="en-US" sz="3200" b="1" dirty="0"/>
              <a:t>EGOP BROWNSON EGOP</a:t>
            </a:r>
          </a:p>
          <a:p>
            <a:pPr marL="0" indent="0" algn="ctr">
              <a:buNone/>
            </a:pPr>
            <a:r>
              <a:rPr lang="en-US" sz="3200" b="1" dirty="0"/>
              <a:t>  20</a:t>
            </a:r>
            <a:r>
              <a:rPr lang="en-US" sz="3200" b="1" baseline="30000" dirty="0"/>
              <a:t>TH</a:t>
            </a:r>
            <a:r>
              <a:rPr lang="en-US" sz="3200" b="1" dirty="0"/>
              <a:t> 0CTOBER,2026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EE0000"/>
                </a:solidFill>
              </a:rPr>
              <a:t>@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EE0000"/>
                </a:solidFill>
              </a:rPr>
              <a:t>FACULTY OF BASIC MEDICAL SCIENCES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EE0000"/>
                </a:solidFill>
              </a:rPr>
              <a:t>COLLEGE OF MEDICAL SCIENCES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EE0000"/>
                </a:solidFill>
              </a:rPr>
              <a:t>RIVERS STATE UNIVERSITY, PORT-HARCOURT</a:t>
            </a:r>
          </a:p>
        </p:txBody>
      </p:sp>
    </p:spTree>
    <p:extLst>
      <p:ext uri="{BB962C8B-B14F-4D97-AF65-F5344CB8AC3E}">
        <p14:creationId xmlns:p14="http://schemas.microsoft.com/office/powerpoint/2010/main" val="1123454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1B2A8-E13C-8911-42BD-077EF3F80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679" y="1"/>
            <a:ext cx="11253667" cy="1097280"/>
          </a:xfrm>
        </p:spPr>
        <p:txBody>
          <a:bodyPr>
            <a:normAutofit/>
          </a:bodyPr>
          <a:lstStyle/>
          <a:p>
            <a:pPr algn="ctr"/>
            <a:r>
              <a:rPr lang="en-US" sz="5400" dirty="0">
                <a:solidFill>
                  <a:srgbClr val="EE0000"/>
                </a:solidFill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10025-2EAC-88C4-EA5B-640E87D24B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97281"/>
            <a:ext cx="12192000" cy="576071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dirty="0"/>
              <a:t>1.Xray film structure</a:t>
            </a:r>
          </a:p>
          <a:p>
            <a:pPr marL="0" indent="0">
              <a:buNone/>
            </a:pPr>
            <a:r>
              <a:rPr lang="en-US" sz="3200" dirty="0"/>
              <a:t>2.Types of </a:t>
            </a:r>
            <a:r>
              <a:rPr lang="en-US" sz="3200" dirty="0" err="1"/>
              <a:t>xray</a:t>
            </a:r>
            <a:r>
              <a:rPr lang="en-US" sz="3200" dirty="0"/>
              <a:t> film</a:t>
            </a:r>
          </a:p>
          <a:p>
            <a:pPr marL="0" indent="0">
              <a:buNone/>
            </a:pPr>
            <a:r>
              <a:rPr lang="en-US" sz="3200" dirty="0"/>
              <a:t>3.Film sizes</a:t>
            </a:r>
          </a:p>
          <a:p>
            <a:pPr marL="0" indent="0">
              <a:buNone/>
            </a:pPr>
            <a:r>
              <a:rPr lang="en-US" sz="3200" dirty="0"/>
              <a:t>4.Storage and handling</a:t>
            </a:r>
          </a:p>
          <a:p>
            <a:pPr marL="0" indent="0">
              <a:buNone/>
            </a:pPr>
            <a:r>
              <a:rPr lang="en-US" sz="3200" dirty="0"/>
              <a:t>5.Roll film</a:t>
            </a:r>
          </a:p>
          <a:p>
            <a:pPr marL="0" indent="0">
              <a:buNone/>
            </a:pPr>
            <a:r>
              <a:rPr lang="en-US" sz="3200" dirty="0"/>
              <a:t>6. Other photographic materials</a:t>
            </a:r>
          </a:p>
          <a:p>
            <a:pPr marL="0" indent="0">
              <a:buNone/>
            </a:pPr>
            <a:r>
              <a:rPr lang="en-US" sz="3200" dirty="0"/>
              <a:t>7.Spectral sensitivity of films</a:t>
            </a:r>
          </a:p>
          <a:p>
            <a:pPr marL="0" indent="0">
              <a:buNone/>
            </a:pPr>
            <a:r>
              <a:rPr lang="en-US" sz="3200" dirty="0"/>
              <a:t>8.Specialized photographic materials</a:t>
            </a:r>
          </a:p>
        </p:txBody>
      </p:sp>
    </p:spTree>
    <p:extLst>
      <p:ext uri="{BB962C8B-B14F-4D97-AF65-F5344CB8AC3E}">
        <p14:creationId xmlns:p14="http://schemas.microsoft.com/office/powerpoint/2010/main" val="2193666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5665D-F31C-8B1D-0232-307D7C06F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2542"/>
            <a:ext cx="12192000" cy="1026941"/>
          </a:xfrm>
        </p:spPr>
        <p:txBody>
          <a:bodyPr>
            <a:noAutofit/>
          </a:bodyPr>
          <a:lstStyle/>
          <a:p>
            <a:pPr algn="ctr"/>
            <a:br>
              <a:rPr lang="en-US" sz="2800" b="1" dirty="0"/>
            </a:br>
            <a:r>
              <a:rPr lang="en-US" b="1" dirty="0">
                <a:solidFill>
                  <a:srgbClr val="EE0000"/>
                </a:solidFill>
              </a:rPr>
              <a:t>Aim and learning outcomes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6FC1A-5E1E-9531-44DA-5D910702A8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609" y="914400"/>
            <a:ext cx="11943471" cy="5943600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253441"/>
                </a:solidFill>
                <a:latin typeface="Aptos"/>
              </a:defRPr>
            </a:pPr>
            <a:r>
              <a:rPr lang="en-US" sz="3600" dirty="0"/>
              <a:t>Explain the structure and image-forming principles of radiographic film.</a:t>
            </a:r>
          </a:p>
          <a:p>
            <a:pPr>
              <a:defRPr sz="2000">
                <a:solidFill>
                  <a:srgbClr val="253441"/>
                </a:solidFill>
                <a:latin typeface="Aptos"/>
              </a:defRPr>
            </a:pPr>
            <a:endParaRPr lang="en-US" sz="3600" dirty="0"/>
          </a:p>
          <a:p>
            <a:pPr>
              <a:defRPr sz="2000">
                <a:solidFill>
                  <a:srgbClr val="253441"/>
                </a:solidFill>
                <a:latin typeface="Aptos"/>
              </a:defRPr>
            </a:pPr>
            <a:r>
              <a:rPr lang="en-US" sz="3600" dirty="0"/>
              <a:t>Identify film types, sizes and </a:t>
            </a:r>
            <a:r>
              <a:rPr lang="en-US" sz="3600" dirty="0" err="1"/>
              <a:t>specialised</a:t>
            </a:r>
            <a:r>
              <a:rPr lang="en-US" sz="3600" dirty="0"/>
              <a:t> photographic materials.</a:t>
            </a:r>
          </a:p>
          <a:p>
            <a:pPr>
              <a:defRPr sz="2000">
                <a:solidFill>
                  <a:srgbClr val="253441"/>
                </a:solidFill>
                <a:latin typeface="Aptos"/>
              </a:defRPr>
            </a:pPr>
            <a:endParaRPr lang="en-US" sz="3600" dirty="0"/>
          </a:p>
          <a:p>
            <a:pPr>
              <a:defRPr sz="2000">
                <a:solidFill>
                  <a:srgbClr val="253441"/>
                </a:solidFill>
                <a:latin typeface="Aptos"/>
              </a:defRPr>
            </a:pPr>
            <a:r>
              <a:rPr lang="en-US" sz="3600" dirty="0"/>
              <a:t>Describe processing, spectral sensitivity, handling and storage.</a:t>
            </a:r>
          </a:p>
        </p:txBody>
      </p:sp>
    </p:spTree>
    <p:extLst>
      <p:ext uri="{BB962C8B-B14F-4D97-AF65-F5344CB8AC3E}">
        <p14:creationId xmlns:p14="http://schemas.microsoft.com/office/powerpoint/2010/main" val="2336223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67263-178E-A23B-8872-133CAF772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dirty="0">
                <a:solidFill>
                  <a:schemeClr val="accent6"/>
                </a:solidFill>
              </a:rPr>
              <a:t>XRAY FILM STRUTURE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9672D4-AB5F-7145-168E-6E9CB01AEE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sz="3600" b="1" dirty="0">
                <a:solidFill>
                  <a:schemeClr val="accent1"/>
                </a:solidFill>
              </a:rPr>
              <a:t>What is a radiographic film?</a:t>
            </a:r>
          </a:p>
          <a:p>
            <a:pPr>
              <a:spcAft>
                <a:spcPts val="900"/>
              </a:spcAft>
              <a:buSzPct val="100000"/>
            </a:pPr>
            <a:r>
              <a:rPr lang="en-US" sz="3600" dirty="0"/>
              <a:t>This is a special photographic film coated with a light sensitive emulsion containing silver halide crystals used to record and display </a:t>
            </a:r>
            <a:r>
              <a:rPr lang="en-US" sz="3600" dirty="0" err="1"/>
              <a:t>xray</a:t>
            </a:r>
            <a:r>
              <a:rPr lang="en-US" sz="3600" dirty="0"/>
              <a:t> image</a:t>
            </a:r>
          </a:p>
          <a:p>
            <a:pPr>
              <a:spcAft>
                <a:spcPts val="900"/>
              </a:spcAft>
              <a:buSzPct val="100000"/>
            </a:pPr>
            <a:r>
              <a:rPr lang="en-US" sz="3600" dirty="0"/>
              <a:t>A transparent base </a:t>
            </a:r>
          </a:p>
          <a:p>
            <a:pPr>
              <a:spcAft>
                <a:spcPts val="900"/>
              </a:spcAft>
              <a:buSzPct val="100000"/>
            </a:pPr>
            <a:r>
              <a:rPr lang="en-US" sz="3600" dirty="0"/>
              <a:t>Acts as detector, display and archive image in a single sheet</a:t>
            </a:r>
          </a:p>
          <a:p>
            <a:pPr>
              <a:spcAft>
                <a:spcPts val="900"/>
              </a:spcAft>
              <a:buSzPct val="100000"/>
            </a:pPr>
            <a:r>
              <a:rPr lang="en-US" sz="3600" dirty="0"/>
              <a:t>Still used in many departments even as digital systems replaces it</a:t>
            </a: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207588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E41C9-0D18-DA61-395B-8B083661E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accent6"/>
                </a:solidFill>
              </a:rPr>
              <a:t>Types of </a:t>
            </a:r>
            <a:r>
              <a:rPr lang="en-US" sz="4000" b="1" dirty="0" err="1">
                <a:solidFill>
                  <a:schemeClr val="accent6"/>
                </a:solidFill>
              </a:rPr>
              <a:t>xray</a:t>
            </a:r>
            <a:r>
              <a:rPr lang="en-US" sz="4000" b="1" dirty="0">
                <a:solidFill>
                  <a:schemeClr val="accent6"/>
                </a:solidFill>
              </a:rPr>
              <a:t> film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C0435-A14A-A7E4-FDB8-7D77B2C6A86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8474" y="1153551"/>
            <a:ext cx="5997526" cy="570444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EE0000"/>
                </a:solidFill>
              </a:rPr>
              <a:t>       Single sided emulsion film</a:t>
            </a:r>
          </a:p>
          <a:p>
            <a:pPr>
              <a:defRPr sz="2000">
                <a:solidFill>
                  <a:srgbClr val="253441"/>
                </a:solidFill>
                <a:latin typeface="Aptos"/>
              </a:defRPr>
            </a:pPr>
            <a:r>
              <a:rPr lang="en-US" sz="2800" dirty="0"/>
              <a:t>Single-emulsion film has emulsion on one side of the polyester base.</a:t>
            </a:r>
          </a:p>
          <a:p>
            <a:pPr>
              <a:defRPr sz="2000">
                <a:solidFill>
                  <a:srgbClr val="253441"/>
                </a:solidFill>
                <a:latin typeface="Aptos"/>
              </a:defRPr>
            </a:pPr>
            <a:r>
              <a:rPr lang="en-US" sz="2800" dirty="0"/>
              <a:t>Contain anti-curl or anti halation layer on the opposite side to keep the film flat</a:t>
            </a:r>
          </a:p>
          <a:p>
            <a:pPr>
              <a:defRPr sz="2000">
                <a:solidFill>
                  <a:srgbClr val="253441"/>
                </a:solidFill>
                <a:latin typeface="Aptos"/>
              </a:defRPr>
            </a:pPr>
            <a:r>
              <a:rPr lang="en-US" sz="2800" dirty="0"/>
              <a:t>Single-emulsion systems can be selected where fine detail is </a:t>
            </a:r>
            <a:r>
              <a:rPr lang="en-US" sz="2800" dirty="0" err="1"/>
              <a:t>prioritised</a:t>
            </a:r>
            <a:r>
              <a:rPr lang="en-US" sz="2800" dirty="0"/>
              <a:t>.</a:t>
            </a:r>
          </a:p>
          <a:p>
            <a:pPr>
              <a:defRPr sz="2000">
                <a:solidFill>
                  <a:srgbClr val="253441"/>
                </a:solidFill>
                <a:latin typeface="Aptos"/>
              </a:defRPr>
            </a:pPr>
            <a:r>
              <a:rPr lang="en-US" sz="2800" dirty="0"/>
              <a:t>Mostly used in mammography</a:t>
            </a:r>
          </a:p>
          <a:p>
            <a:endParaRPr lang="en-US" sz="28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9AE6A4-5307-AD8C-91FC-227FA3CA9C10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rgbClr val="EE0000"/>
                </a:solidFill>
              </a:rPr>
              <a:t>  Double sided emulsion film</a:t>
            </a:r>
          </a:p>
          <a:p>
            <a:r>
              <a:rPr lang="en-US" sz="3200" dirty="0"/>
              <a:t>Double-emulsion film has emulsion on both sides.</a:t>
            </a:r>
          </a:p>
          <a:p>
            <a:r>
              <a:rPr lang="en-US" sz="3200" dirty="0"/>
              <a:t>Double-emulsion film is common in screen-film radiography.</a:t>
            </a:r>
          </a:p>
          <a:p>
            <a:endParaRPr lang="en-US" sz="3200" dirty="0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1334970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A6A2ECC-E6C9-67C3-301A-C84E313450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42" y="506437"/>
            <a:ext cx="12079457" cy="6351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2946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1FE39-8AB7-7BDA-9189-A2850DCB7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679" y="112542"/>
            <a:ext cx="11253667" cy="661181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EE0000"/>
                </a:solidFill>
              </a:rPr>
              <a:t>Cross-section of a double-emulsion film</a:t>
            </a:r>
            <a:endParaRPr lang="en-US" dirty="0">
              <a:solidFill>
                <a:srgbClr val="EE0000"/>
              </a:solidFill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E5CB9A88-D453-C3A5-CA8D-A9BFB70D6C57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0" y="1350498"/>
            <a:ext cx="12192000" cy="55075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3200" dirty="0"/>
          </a:p>
          <a:p>
            <a:pPr marL="0" indent="0" algn="ctr">
              <a:buNone/>
            </a:pPr>
            <a:endParaRPr lang="en-US" sz="3200" dirty="0"/>
          </a:p>
          <a:p>
            <a:pPr marL="0" indent="0" algn="ctr">
              <a:buNone/>
            </a:pPr>
            <a:endParaRPr lang="en-US" sz="3200" dirty="0"/>
          </a:p>
          <a:p>
            <a:pPr marL="0" indent="0" algn="ctr">
              <a:buNone/>
            </a:pPr>
            <a:endParaRPr lang="en-US" sz="3200" dirty="0"/>
          </a:p>
          <a:p>
            <a:pPr marL="0" indent="0" algn="ctr">
              <a:buNone/>
            </a:pPr>
            <a:endParaRPr lang="en-US" sz="3200" dirty="0"/>
          </a:p>
          <a:p>
            <a:pPr marL="0" indent="0" algn="ctr">
              <a:buNone/>
            </a:pPr>
            <a:endParaRPr lang="en-US" sz="3200" dirty="0"/>
          </a:p>
          <a:p>
            <a:pPr marL="0" indent="0" algn="ctr">
              <a:buNone/>
            </a:pPr>
            <a:endParaRPr lang="en-US" sz="3200" dirty="0"/>
          </a:p>
          <a:p>
            <a:pPr marL="0" indent="0" algn="ctr">
              <a:buNone/>
            </a:pPr>
            <a:endParaRPr lang="en-US" sz="3200" dirty="0"/>
          </a:p>
          <a:p>
            <a:pPr marL="0" indent="0" algn="ctr">
              <a:buNone/>
            </a:pPr>
            <a:endParaRPr lang="en-US" sz="3200" dirty="0"/>
          </a:p>
          <a:p>
            <a:pPr marL="0" indent="0" algn="ctr">
              <a:buNone/>
            </a:pPr>
            <a:endParaRPr lang="en-US" sz="3200" dirty="0"/>
          </a:p>
          <a:p>
            <a:pPr marL="0" indent="0" algn="ctr">
              <a:buNone/>
            </a:pPr>
            <a:endParaRPr lang="en-US" sz="3200" dirty="0"/>
          </a:p>
          <a:p>
            <a:pPr marL="0" indent="0" algn="ctr">
              <a:buNone/>
            </a:pPr>
            <a:endParaRPr lang="en-US" sz="3200" dirty="0"/>
          </a:p>
          <a:p>
            <a:pPr marL="0" indent="0" algn="ctr">
              <a:buNone/>
            </a:pPr>
            <a:endParaRPr lang="en-US" sz="3200" dirty="0"/>
          </a:p>
          <a:p>
            <a:pPr marL="0" indent="0" algn="ctr">
              <a:buNone/>
            </a:pPr>
            <a:endParaRPr lang="en-US" sz="3200" dirty="0"/>
          </a:p>
          <a:p>
            <a:pPr marL="0" indent="0" algn="ctr">
              <a:buNone/>
            </a:pP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250737-24F4-5FA7-7AE7-90C251D214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6345" y="928468"/>
            <a:ext cx="9459310" cy="5929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3692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46A29-FBDF-3C3D-170D-2D9789986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679" y="119574"/>
            <a:ext cx="11253667" cy="123092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EE0000"/>
                </a:solidFill>
              </a:rPr>
              <a:t>Film structure at a glance</a:t>
            </a:r>
            <a:br>
              <a:rPr lang="en-US" dirty="0">
                <a:solidFill>
                  <a:srgbClr val="EE0000"/>
                </a:solidFill>
              </a:rPr>
            </a:br>
            <a:endParaRPr lang="en-US" dirty="0">
              <a:solidFill>
                <a:srgbClr val="EE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023ACF-ACB1-136D-2AA4-A6ABDA9BC7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745" y="1350498"/>
            <a:ext cx="11844997" cy="5387927"/>
          </a:xfrm>
        </p:spPr>
        <p:txBody>
          <a:bodyPr>
            <a:normAutofit/>
          </a:bodyPr>
          <a:lstStyle/>
          <a:p>
            <a:pPr>
              <a:defRPr sz="1700">
                <a:solidFill>
                  <a:srgbClr val="253441"/>
                </a:solidFill>
                <a:latin typeface="Aptos"/>
              </a:defRPr>
            </a:pPr>
            <a:r>
              <a:rPr lang="en-US" sz="4400" dirty="0"/>
              <a:t>Protective </a:t>
            </a:r>
            <a:r>
              <a:rPr lang="en-US" sz="4400" dirty="0" err="1"/>
              <a:t>supercoat</a:t>
            </a:r>
            <a:endParaRPr lang="en-US" sz="4400" dirty="0"/>
          </a:p>
          <a:p>
            <a:pPr>
              <a:defRPr sz="1700">
                <a:solidFill>
                  <a:srgbClr val="253441"/>
                </a:solidFill>
                <a:latin typeface="Aptos"/>
              </a:defRPr>
            </a:pPr>
            <a:r>
              <a:rPr lang="en-US" sz="4400" dirty="0"/>
              <a:t>Photosensitive emulsion layer</a:t>
            </a:r>
          </a:p>
          <a:p>
            <a:pPr>
              <a:defRPr sz="1700">
                <a:solidFill>
                  <a:srgbClr val="253441"/>
                </a:solidFill>
                <a:latin typeface="Aptos"/>
              </a:defRPr>
            </a:pPr>
            <a:r>
              <a:rPr lang="en-US" sz="4400" dirty="0"/>
              <a:t>Adhesive/subbing layer</a:t>
            </a:r>
          </a:p>
          <a:p>
            <a:pPr>
              <a:defRPr sz="1700">
                <a:solidFill>
                  <a:srgbClr val="253441"/>
                </a:solidFill>
                <a:latin typeface="Aptos"/>
              </a:defRPr>
            </a:pPr>
            <a:r>
              <a:rPr lang="en-US" sz="4400" dirty="0"/>
              <a:t>Transparent film base</a:t>
            </a:r>
          </a:p>
          <a:p>
            <a:pPr>
              <a:defRPr sz="1700">
                <a:solidFill>
                  <a:srgbClr val="253441"/>
                </a:solidFill>
                <a:latin typeface="Aptos"/>
              </a:defRPr>
            </a:pPr>
            <a:r>
              <a:rPr lang="en-US" sz="4400" dirty="0">
                <a:solidFill>
                  <a:srgbClr val="EE0000"/>
                </a:solidFill>
              </a:rPr>
              <a:t>N/B </a:t>
            </a:r>
            <a:r>
              <a:rPr lang="en-US" sz="4400" dirty="0"/>
              <a:t>Some films have emulsion on both sides.</a:t>
            </a:r>
          </a:p>
          <a:p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2862608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A533D-C1A2-5354-0D1A-B5C5DED87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948" y="0"/>
            <a:ext cx="11995051" cy="1350498"/>
          </a:xfrm>
        </p:spPr>
        <p:txBody>
          <a:bodyPr>
            <a:noAutofit/>
          </a:bodyPr>
          <a:lstStyle/>
          <a:p>
            <a:pPr algn="ctr"/>
            <a:br>
              <a:rPr lang="en-US" sz="3600" dirty="0">
                <a:solidFill>
                  <a:srgbClr val="C00000"/>
                </a:solidFill>
              </a:rPr>
            </a:br>
            <a:r>
              <a:rPr lang="en-US" sz="3600" dirty="0">
                <a:solidFill>
                  <a:srgbClr val="C00000"/>
                </a:solidFill>
              </a:rPr>
              <a:t>Film base</a:t>
            </a:r>
            <a:br>
              <a:rPr lang="en-US" sz="3600" dirty="0">
                <a:solidFill>
                  <a:srgbClr val="C00000"/>
                </a:solidFill>
              </a:rPr>
            </a:b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CA3EF-D540-F14B-FF88-4F45267782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50498"/>
            <a:ext cx="12192000" cy="5795889"/>
          </a:xfrm>
        </p:spPr>
        <p:txBody>
          <a:bodyPr>
            <a:noAutofit/>
          </a:bodyPr>
          <a:lstStyle/>
          <a:p>
            <a:pPr>
              <a:defRPr sz="2000">
                <a:solidFill>
                  <a:srgbClr val="253441"/>
                </a:solidFill>
                <a:latin typeface="Aptos"/>
              </a:defRPr>
            </a:pPr>
            <a:r>
              <a:rPr lang="en-US" sz="3200" dirty="0"/>
              <a:t>Supports the emulsion layer and gives strength.</a:t>
            </a:r>
          </a:p>
          <a:p>
            <a:pPr>
              <a:buSzPct val="100000"/>
              <a:defRPr sz="2000">
                <a:solidFill>
                  <a:srgbClr val="253441"/>
                </a:solidFill>
                <a:latin typeface="Aptos"/>
              </a:defRPr>
            </a:pPr>
            <a:r>
              <a:rPr lang="en-US" sz="3200" dirty="0"/>
              <a:t>Usually made of polyester (polyethylene terephthalate, about 0.18 mm thick) in modern radiographic film, before it was cellulose triacetate</a:t>
            </a:r>
          </a:p>
          <a:p>
            <a:pPr>
              <a:spcAft>
                <a:spcPts val="900"/>
              </a:spcAft>
              <a:buSzPct val="100000"/>
            </a:pPr>
            <a:r>
              <a:rPr lang="en-US" sz="3200" dirty="0"/>
              <a:t>Polyester is usually tinted blue to reduce eye strain when viewing</a:t>
            </a:r>
          </a:p>
          <a:p>
            <a:pPr>
              <a:spcAft>
                <a:spcPts val="900"/>
              </a:spcAft>
              <a:buSzPct val="100000"/>
            </a:pPr>
            <a:r>
              <a:rPr lang="en-US" sz="3200" dirty="0"/>
              <a:t>Gives the film its rigidity so it can be handled and illuminated on a </a:t>
            </a:r>
            <a:r>
              <a:rPr lang="en-US" sz="3200" dirty="0" err="1"/>
              <a:t>viewbox</a:t>
            </a:r>
            <a:endParaRPr lang="en-US" sz="3200" dirty="0"/>
          </a:p>
          <a:p>
            <a:pPr marL="0" indent="0">
              <a:buNone/>
            </a:pPr>
            <a:r>
              <a:rPr lang="en-US" sz="3200" dirty="0"/>
              <a:t>N/B </a:t>
            </a:r>
            <a:r>
              <a:rPr lang="en-US" sz="3200" i="1" dirty="0">
                <a:solidFill>
                  <a:schemeClr val="tx2"/>
                </a:solidFill>
              </a:rPr>
              <a:t>The base is only a support; it carries no image.</a:t>
            </a:r>
            <a:endParaRPr lang="en-US" sz="3200" dirty="0"/>
          </a:p>
          <a:p>
            <a:pPr marL="0" indent="0">
              <a:buNone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2507251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8AC86-84DA-A04C-6CC1-92A9AE367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679" y="0"/>
            <a:ext cx="11253667" cy="1181686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6"/>
                </a:solidFill>
              </a:rPr>
            </a:br>
            <a:br>
              <a:rPr lang="en-US" b="1" dirty="0">
                <a:solidFill>
                  <a:schemeClr val="accent6"/>
                </a:solidFill>
              </a:rPr>
            </a:br>
            <a:br>
              <a:rPr lang="en-US" b="1" dirty="0">
                <a:solidFill>
                  <a:schemeClr val="accent6"/>
                </a:solidFill>
              </a:rPr>
            </a:br>
            <a:br>
              <a:rPr lang="en-US" b="1" dirty="0">
                <a:solidFill>
                  <a:schemeClr val="accent6"/>
                </a:solidFill>
              </a:rPr>
            </a:br>
            <a:r>
              <a:rPr lang="en-US" b="1" dirty="0">
                <a:solidFill>
                  <a:schemeClr val="accent6"/>
                </a:solidFill>
              </a:rPr>
              <a:t>Emulsion and gelatin</a:t>
            </a:r>
            <a:br>
              <a:rPr lang="en-US" b="1" dirty="0">
                <a:solidFill>
                  <a:schemeClr val="accent6"/>
                </a:solidFill>
              </a:rPr>
            </a:br>
            <a:endParaRPr lang="en-US" b="1" dirty="0">
              <a:solidFill>
                <a:schemeClr val="accent6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1DCA7-DD4A-BA8C-D384-289EB4F96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12873"/>
            <a:ext cx="12192000" cy="5845125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253441"/>
                </a:solidFill>
                <a:latin typeface="Aptos"/>
              </a:defRPr>
            </a:pPr>
            <a:r>
              <a:rPr lang="en-US" sz="4000" dirty="0"/>
              <a:t>Emulsion contains silver-halide crystals dispersed in gelatin.</a:t>
            </a:r>
          </a:p>
          <a:p>
            <a:pPr>
              <a:defRPr sz="2000">
                <a:solidFill>
                  <a:srgbClr val="253441"/>
                </a:solidFill>
                <a:latin typeface="Aptos"/>
              </a:defRPr>
            </a:pPr>
            <a:r>
              <a:rPr lang="en-US" sz="4000" dirty="0"/>
              <a:t>Gelatin holds crystals evenly and permits processing chemicals to reach them.</a:t>
            </a:r>
          </a:p>
          <a:p>
            <a:pPr>
              <a:defRPr sz="2000">
                <a:solidFill>
                  <a:srgbClr val="253441"/>
                </a:solidFill>
                <a:latin typeface="Aptos"/>
              </a:defRPr>
            </a:pPr>
            <a:r>
              <a:rPr lang="en-US" sz="4000" dirty="0"/>
              <a:t>The emulsion is the image-forming layer.</a:t>
            </a:r>
          </a:p>
          <a:p>
            <a:pPr>
              <a:defRPr sz="2000">
                <a:solidFill>
                  <a:srgbClr val="253441"/>
                </a:solidFill>
                <a:latin typeface="Aptos"/>
              </a:defRPr>
            </a:pPr>
            <a:r>
              <a:rPr lang="en-US" sz="4000" dirty="0"/>
              <a:t>Scratches or chemical damage may affect processing process.</a:t>
            </a:r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7225643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EBB58-CE33-88A9-C831-9982F3C1E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679" y="98475"/>
            <a:ext cx="11253667" cy="1209820"/>
          </a:xfrm>
        </p:spPr>
        <p:txBody>
          <a:bodyPr>
            <a:noAutofit/>
          </a:bodyPr>
          <a:lstStyle/>
          <a:p>
            <a:pPr algn="ctr"/>
            <a:br>
              <a:rPr lang="en-US" sz="3600" dirty="0">
                <a:solidFill>
                  <a:schemeClr val="accent6"/>
                </a:solidFill>
              </a:rPr>
            </a:br>
            <a:br>
              <a:rPr lang="en-US" sz="3600" dirty="0">
                <a:solidFill>
                  <a:schemeClr val="accent6"/>
                </a:solidFill>
              </a:rPr>
            </a:br>
            <a:br>
              <a:rPr lang="en-US" sz="3600" dirty="0">
                <a:solidFill>
                  <a:schemeClr val="accent6"/>
                </a:solidFill>
              </a:rPr>
            </a:br>
            <a:br>
              <a:rPr lang="en-US" sz="3600" dirty="0">
                <a:solidFill>
                  <a:schemeClr val="accent6"/>
                </a:solidFill>
              </a:rPr>
            </a:br>
            <a:br>
              <a:rPr lang="en-US" sz="3600" dirty="0">
                <a:solidFill>
                  <a:schemeClr val="accent6"/>
                </a:solidFill>
              </a:rPr>
            </a:br>
            <a:br>
              <a:rPr lang="en-US" sz="3600" dirty="0">
                <a:solidFill>
                  <a:schemeClr val="accent6"/>
                </a:solidFill>
              </a:rPr>
            </a:br>
            <a:br>
              <a:rPr lang="en-US" sz="3600" dirty="0">
                <a:solidFill>
                  <a:schemeClr val="accent6"/>
                </a:solidFill>
              </a:rPr>
            </a:br>
            <a:r>
              <a:rPr lang="en-US" sz="3600" dirty="0">
                <a:solidFill>
                  <a:schemeClr val="accent6"/>
                </a:solidFill>
              </a:rPr>
              <a:t>Silver-halide crystals</a:t>
            </a:r>
            <a:br>
              <a:rPr lang="en-US" sz="3600" dirty="0">
                <a:solidFill>
                  <a:schemeClr val="accent6"/>
                </a:solidFill>
              </a:rPr>
            </a:br>
            <a:endParaRPr lang="en-US" sz="3600" dirty="0">
              <a:solidFill>
                <a:schemeClr val="accent6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D8DF0-21E8-14CE-3431-BE2ADA67FD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08295"/>
            <a:ext cx="12192000" cy="5451230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253441"/>
                </a:solidFill>
                <a:latin typeface="Aptos"/>
              </a:defRPr>
            </a:pPr>
            <a:r>
              <a:rPr lang="en-US" sz="3600" dirty="0"/>
              <a:t>They are light sensitive chemical compounds found in emulsion layer of the </a:t>
            </a:r>
            <a:r>
              <a:rPr lang="en-US" sz="3600" dirty="0" err="1"/>
              <a:t>xray</a:t>
            </a:r>
            <a:r>
              <a:rPr lang="en-US" sz="3600" dirty="0"/>
              <a:t> film</a:t>
            </a:r>
          </a:p>
          <a:p>
            <a:pPr>
              <a:defRPr sz="2000">
                <a:solidFill>
                  <a:srgbClr val="253441"/>
                </a:solidFill>
                <a:latin typeface="Aptos"/>
              </a:defRPr>
            </a:pPr>
            <a:r>
              <a:rPr lang="en-US" sz="3600" dirty="0"/>
              <a:t>They are responsible for forming the latent image when exposed to light from intensifying screen or radiation</a:t>
            </a:r>
          </a:p>
          <a:p>
            <a:pPr>
              <a:defRPr sz="2000">
                <a:solidFill>
                  <a:srgbClr val="253441"/>
                </a:solidFill>
                <a:latin typeface="Aptos"/>
              </a:defRPr>
            </a:pPr>
            <a:r>
              <a:rPr lang="en-US" sz="3600" dirty="0"/>
              <a:t>Usually contain silver bromide (</a:t>
            </a:r>
            <a:r>
              <a:rPr lang="en-US" sz="3600" dirty="0" err="1"/>
              <a:t>AgBr</a:t>
            </a:r>
            <a:r>
              <a:rPr lang="en-US" sz="3600" dirty="0"/>
              <a:t>), sometimes combined with smaller amount of other silver halides like silver chloride (</a:t>
            </a:r>
            <a:r>
              <a:rPr lang="en-US" sz="3600" dirty="0" err="1"/>
              <a:t>AgCL</a:t>
            </a:r>
            <a:r>
              <a:rPr lang="en-US" sz="3600" dirty="0"/>
              <a:t>) and silver iodide (</a:t>
            </a:r>
            <a:r>
              <a:rPr lang="en-US" sz="3600" dirty="0" err="1"/>
              <a:t>AgI</a:t>
            </a:r>
            <a:r>
              <a:rPr lang="en-US" sz="3600" dirty="0"/>
              <a:t>).</a:t>
            </a: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603927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32698-E350-87D1-45B0-62FD692DF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679" y="0"/>
            <a:ext cx="11253667" cy="1420837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Latent image: from invisible to visible</a:t>
            </a:r>
            <a:br>
              <a:rPr lang="en-US" dirty="0">
                <a:solidFill>
                  <a:schemeClr val="accent6"/>
                </a:solidFill>
              </a:rPr>
            </a:br>
            <a:r>
              <a:rPr lang="en-US" dirty="0">
                <a:solidFill>
                  <a:schemeClr val="accent6"/>
                </a:solidFill>
              </a:rPr>
              <a:t>(from invisible exposure to visible radiographic image)</a:t>
            </a:r>
            <a:br>
              <a:rPr lang="en-US" dirty="0">
                <a:solidFill>
                  <a:schemeClr val="accent6"/>
                </a:solidFill>
              </a:rPr>
            </a:b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8F783-DE6E-CD40-F24D-1E1EDB7EB8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294227"/>
            <a:ext cx="12192000" cy="556377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  <a:defRPr sz="2000">
                <a:solidFill>
                  <a:srgbClr val="253441"/>
                </a:solidFill>
                <a:latin typeface="Aptos"/>
              </a:defRPr>
            </a:pPr>
            <a:r>
              <a:rPr lang="en-US" sz="3600" dirty="0"/>
              <a:t>Summary of events that take place when emulsion is exposed to radiation </a:t>
            </a:r>
          </a:p>
          <a:p>
            <a:pPr>
              <a:defRPr sz="2000">
                <a:solidFill>
                  <a:srgbClr val="253441"/>
                </a:solidFill>
                <a:latin typeface="Aptos"/>
              </a:defRPr>
            </a:pPr>
            <a:r>
              <a:rPr lang="en-US" sz="3600" dirty="0"/>
              <a:t>Exposure strikes the silver halide crystals producing an invisible chemical changes (latent image).</a:t>
            </a:r>
          </a:p>
          <a:p>
            <a:pPr>
              <a:defRPr sz="2000">
                <a:solidFill>
                  <a:srgbClr val="253441"/>
                </a:solidFill>
                <a:latin typeface="Aptos"/>
              </a:defRPr>
            </a:pPr>
            <a:r>
              <a:rPr lang="en-US" sz="3600" dirty="0"/>
              <a:t>Developer reduces exposed crystals to black metallic silver forming radiographic image.</a:t>
            </a:r>
          </a:p>
          <a:p>
            <a:pPr>
              <a:defRPr sz="2000">
                <a:solidFill>
                  <a:srgbClr val="253441"/>
                </a:solidFill>
                <a:latin typeface="Aptos"/>
              </a:defRPr>
            </a:pPr>
            <a:r>
              <a:rPr lang="en-US" sz="3600" dirty="0"/>
              <a:t>Fixer removes most unexposed silver halide crystals, leaving a permanent image made primarily of metallic silver.</a:t>
            </a:r>
          </a:p>
          <a:p>
            <a:pPr>
              <a:defRPr sz="2000">
                <a:solidFill>
                  <a:srgbClr val="253441"/>
                </a:solidFill>
                <a:latin typeface="Aptos"/>
              </a:defRPr>
            </a:pPr>
            <a:r>
              <a:rPr lang="en-US" sz="3600" dirty="0"/>
              <a:t>Washing removes residual chemicals; drying prepares the film for viewing.</a:t>
            </a: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4745266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0252F-040F-23BF-BA69-F803DDF2A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The cassette and intensifying screens</a:t>
            </a:r>
            <a:br>
              <a:rPr lang="en-US" dirty="0">
                <a:solidFill>
                  <a:schemeClr val="accent6"/>
                </a:solidFill>
              </a:rPr>
            </a:b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E01264-6737-2A5C-CC0C-EAECF17698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>
                <a:solidFill>
                  <a:srgbClr val="253441"/>
                </a:solidFill>
                <a:latin typeface="Aptos"/>
              </a:defRPr>
            </a:pPr>
            <a:r>
              <a:rPr lang="en-US" sz="3600" dirty="0"/>
              <a:t>Cassette holds film and excludes ambient light.</a:t>
            </a:r>
          </a:p>
          <a:p>
            <a:pPr>
              <a:defRPr sz="2000">
                <a:solidFill>
                  <a:srgbClr val="253441"/>
                </a:solidFill>
                <a:latin typeface="Aptos"/>
              </a:defRPr>
            </a:pPr>
            <a:r>
              <a:rPr lang="en-US" sz="3600" dirty="0"/>
              <a:t>Intensifying screens convert X-ray energy into visible light.</a:t>
            </a:r>
          </a:p>
          <a:p>
            <a:pPr>
              <a:defRPr sz="2000">
                <a:solidFill>
                  <a:srgbClr val="253441"/>
                </a:solidFill>
                <a:latin typeface="Aptos"/>
              </a:defRPr>
            </a:pPr>
            <a:r>
              <a:rPr lang="en-US" sz="3600" dirty="0"/>
              <a:t>Good film-screen contact reduces blur.</a:t>
            </a:r>
          </a:p>
          <a:p>
            <a:pPr>
              <a:defRPr sz="2000">
                <a:solidFill>
                  <a:srgbClr val="253441"/>
                </a:solidFill>
                <a:latin typeface="Aptos"/>
              </a:defRPr>
            </a:pPr>
            <a:r>
              <a:rPr lang="en-US" sz="3600" dirty="0"/>
              <a:t>Intensifying screen cleanliness and cassette condition are part of quality assurance.</a:t>
            </a: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5615615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BB7E4-7D98-C920-2C57-58D374101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679" y="0"/>
            <a:ext cx="11253667" cy="1814732"/>
          </a:xfrm>
        </p:spPr>
        <p:txBody>
          <a:bodyPr>
            <a:normAutofit fontScale="90000"/>
          </a:bodyPr>
          <a:lstStyle/>
          <a:p>
            <a:pPr algn="ctr"/>
            <a:br>
              <a:rPr lang="en-US" b="1" dirty="0">
                <a:solidFill>
                  <a:schemeClr val="accent6"/>
                </a:solidFill>
              </a:rPr>
            </a:br>
            <a:br>
              <a:rPr lang="en-US" b="1" dirty="0">
                <a:solidFill>
                  <a:schemeClr val="accent6"/>
                </a:solidFill>
              </a:rPr>
            </a:br>
            <a:br>
              <a:rPr lang="en-US" b="1" dirty="0">
                <a:solidFill>
                  <a:schemeClr val="accent6"/>
                </a:solidFill>
              </a:rPr>
            </a:br>
            <a:br>
              <a:rPr lang="en-US" b="1" dirty="0">
                <a:solidFill>
                  <a:schemeClr val="accent6"/>
                </a:solidFill>
              </a:rPr>
            </a:br>
            <a:br>
              <a:rPr lang="en-US" b="1" dirty="0">
                <a:solidFill>
                  <a:schemeClr val="accent6"/>
                </a:solidFill>
              </a:rPr>
            </a:br>
            <a:br>
              <a:rPr lang="en-US" b="1" dirty="0">
                <a:solidFill>
                  <a:schemeClr val="accent6"/>
                </a:solidFill>
              </a:rPr>
            </a:br>
            <a:br>
              <a:rPr lang="en-US" b="1" dirty="0">
                <a:solidFill>
                  <a:schemeClr val="accent6"/>
                </a:solidFill>
              </a:rPr>
            </a:br>
            <a:br>
              <a:rPr lang="en-US" b="1" dirty="0">
                <a:solidFill>
                  <a:schemeClr val="accent6"/>
                </a:solidFill>
              </a:rPr>
            </a:br>
            <a:br>
              <a:rPr lang="en-US" b="1" dirty="0">
                <a:solidFill>
                  <a:schemeClr val="accent6"/>
                </a:solidFill>
              </a:rPr>
            </a:br>
            <a:br>
              <a:rPr lang="en-US" b="1" dirty="0">
                <a:solidFill>
                  <a:schemeClr val="accent6"/>
                </a:solidFill>
              </a:rPr>
            </a:br>
            <a:br>
              <a:rPr lang="en-US" b="1" dirty="0">
                <a:solidFill>
                  <a:schemeClr val="accent6"/>
                </a:solidFill>
              </a:rPr>
            </a:br>
            <a:br>
              <a:rPr lang="en-US" b="1" dirty="0">
                <a:solidFill>
                  <a:schemeClr val="accent6"/>
                </a:solidFill>
              </a:rPr>
            </a:br>
            <a:br>
              <a:rPr lang="en-US" b="1" dirty="0">
                <a:solidFill>
                  <a:schemeClr val="accent6"/>
                </a:solidFill>
              </a:rPr>
            </a:br>
            <a:br>
              <a:rPr lang="en-US" b="1" dirty="0">
                <a:solidFill>
                  <a:schemeClr val="accent6"/>
                </a:solidFill>
              </a:rPr>
            </a:br>
            <a:br>
              <a:rPr lang="en-US" b="1" dirty="0">
                <a:solidFill>
                  <a:schemeClr val="accent6"/>
                </a:solidFill>
              </a:rPr>
            </a:br>
            <a:br>
              <a:rPr lang="en-US" b="1" dirty="0">
                <a:solidFill>
                  <a:schemeClr val="accent6"/>
                </a:solidFill>
              </a:rPr>
            </a:br>
            <a:br>
              <a:rPr lang="en-US" b="1" dirty="0">
                <a:solidFill>
                  <a:schemeClr val="accent6"/>
                </a:solidFill>
              </a:rPr>
            </a:br>
            <a:br>
              <a:rPr lang="en-US" b="1" dirty="0">
                <a:solidFill>
                  <a:schemeClr val="accent6"/>
                </a:solidFill>
              </a:rPr>
            </a:br>
            <a:br>
              <a:rPr lang="en-US" b="1" dirty="0">
                <a:solidFill>
                  <a:schemeClr val="accent6"/>
                </a:solidFill>
              </a:rPr>
            </a:br>
            <a:br>
              <a:rPr lang="en-US" b="1" dirty="0">
                <a:solidFill>
                  <a:schemeClr val="accent6"/>
                </a:solidFill>
              </a:rPr>
            </a:br>
            <a:br>
              <a:rPr lang="en-US" b="1" dirty="0">
                <a:solidFill>
                  <a:schemeClr val="accent6"/>
                </a:solidFill>
              </a:rPr>
            </a:br>
            <a:br>
              <a:rPr lang="en-US" b="1" dirty="0">
                <a:solidFill>
                  <a:schemeClr val="accent6"/>
                </a:solidFill>
              </a:rPr>
            </a:br>
            <a:br>
              <a:rPr lang="en-US" b="1" dirty="0">
                <a:solidFill>
                  <a:schemeClr val="accent6"/>
                </a:solidFill>
              </a:rPr>
            </a:br>
            <a:br>
              <a:rPr lang="en-US" b="1" dirty="0">
                <a:solidFill>
                  <a:schemeClr val="accent6"/>
                </a:solidFill>
              </a:rPr>
            </a:br>
            <a:br>
              <a:rPr lang="en-US" b="1" dirty="0">
                <a:solidFill>
                  <a:schemeClr val="accent6"/>
                </a:solidFill>
              </a:rPr>
            </a:br>
            <a:br>
              <a:rPr lang="en-US" b="1" dirty="0">
                <a:solidFill>
                  <a:schemeClr val="accent6"/>
                </a:solidFill>
              </a:rPr>
            </a:br>
            <a:br>
              <a:rPr lang="en-US" b="1" dirty="0">
                <a:solidFill>
                  <a:schemeClr val="accent6"/>
                </a:solidFill>
              </a:rPr>
            </a:br>
            <a:br>
              <a:rPr lang="en-US" b="1" dirty="0">
                <a:solidFill>
                  <a:schemeClr val="accent6"/>
                </a:solidFill>
              </a:rPr>
            </a:br>
            <a:br>
              <a:rPr lang="en-US" b="1" dirty="0">
                <a:solidFill>
                  <a:schemeClr val="accent6"/>
                </a:solidFill>
              </a:rPr>
            </a:br>
            <a:br>
              <a:rPr lang="en-US" b="1" dirty="0">
                <a:solidFill>
                  <a:schemeClr val="accent6"/>
                </a:solidFill>
              </a:rPr>
            </a:br>
            <a:br>
              <a:rPr lang="en-US" b="1" dirty="0">
                <a:solidFill>
                  <a:schemeClr val="accent6"/>
                </a:solidFill>
              </a:rPr>
            </a:br>
            <a:br>
              <a:rPr lang="en-US" b="1" dirty="0">
                <a:solidFill>
                  <a:schemeClr val="accent6"/>
                </a:solidFill>
              </a:rPr>
            </a:br>
            <a:br>
              <a:rPr lang="en-US" b="1" dirty="0">
                <a:solidFill>
                  <a:schemeClr val="accent6"/>
                </a:solidFill>
              </a:rPr>
            </a:br>
            <a:br>
              <a:rPr lang="en-US" b="1" dirty="0">
                <a:solidFill>
                  <a:schemeClr val="accent6"/>
                </a:solidFill>
              </a:rPr>
            </a:br>
            <a:r>
              <a:rPr lang="en-US" b="1" dirty="0">
                <a:solidFill>
                  <a:schemeClr val="accent6"/>
                </a:solidFill>
              </a:rPr>
              <a:t>Adhesive layer</a:t>
            </a:r>
            <a:br>
              <a:rPr lang="en-US" dirty="0">
                <a:solidFill>
                  <a:schemeClr val="accent6"/>
                </a:solidFill>
              </a:rPr>
            </a:br>
            <a:br>
              <a:rPr lang="en-US" dirty="0">
                <a:solidFill>
                  <a:schemeClr val="accent6"/>
                </a:solidFill>
              </a:rPr>
            </a:b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4F7D9-4D8C-1DCC-614C-81778A742C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36" y="1392702"/>
            <a:ext cx="11667744" cy="5465298"/>
          </a:xfrm>
        </p:spPr>
        <p:txBody>
          <a:bodyPr>
            <a:normAutofit fontScale="92500" lnSpcReduction="20000"/>
          </a:bodyPr>
          <a:lstStyle/>
          <a:p>
            <a:pPr>
              <a:spcAft>
                <a:spcPts val="1000"/>
              </a:spcAft>
              <a:buSzPct val="100000"/>
            </a:pPr>
            <a:r>
              <a:rPr lang="en-US" sz="4000" dirty="0"/>
              <a:t>Can as well be called compromise, substratum or subbing layer</a:t>
            </a:r>
          </a:p>
          <a:p>
            <a:pPr>
              <a:spcAft>
                <a:spcPts val="1000"/>
              </a:spcAft>
              <a:buSzPct val="100000"/>
            </a:pPr>
            <a:r>
              <a:rPr lang="en-US" sz="4000" dirty="0"/>
              <a:t>This layer is made up of cellulose ester and gelatin in water and acetone, earlier made up of collodion.</a:t>
            </a:r>
          </a:p>
          <a:p>
            <a:pPr>
              <a:spcAft>
                <a:spcPts val="1000"/>
              </a:spcAft>
              <a:buSzPct val="100000"/>
            </a:pPr>
            <a:r>
              <a:rPr lang="en-US" sz="4000" dirty="0"/>
              <a:t>Bonds emulsion to the base</a:t>
            </a:r>
          </a:p>
          <a:p>
            <a:pPr>
              <a:spcAft>
                <a:spcPts val="1000"/>
              </a:spcAft>
              <a:buSzPct val="100000"/>
            </a:pPr>
            <a:r>
              <a:rPr lang="en-US" sz="4000" dirty="0"/>
              <a:t>Stays flexible when film is bent</a:t>
            </a:r>
          </a:p>
          <a:p>
            <a:pPr>
              <a:spcAft>
                <a:spcPts val="1000"/>
              </a:spcAft>
              <a:buSzPct val="100000"/>
            </a:pPr>
            <a:r>
              <a:rPr lang="en-US" sz="4000" dirty="0"/>
              <a:t>Stops emulsion lifting in processing</a:t>
            </a:r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7370709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B9FD-F693-B162-AD85-93C8A52DD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333" y="112542"/>
            <a:ext cx="11253667" cy="1153550"/>
          </a:xfrm>
        </p:spPr>
        <p:txBody>
          <a:bodyPr>
            <a:noAutofit/>
          </a:bodyPr>
          <a:lstStyle/>
          <a:p>
            <a:pPr algn="ctr"/>
            <a:r>
              <a:rPr lang="en-US" sz="4000" dirty="0">
                <a:solidFill>
                  <a:schemeClr val="accent6"/>
                </a:solidFill>
              </a:rPr>
              <a:t>SUPERCOAT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6A203-A3E4-02F1-1AB9-468859433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spcAft>
                <a:spcPts val="1000"/>
              </a:spcAft>
              <a:buSzPct val="100000"/>
            </a:pPr>
            <a:r>
              <a:rPr lang="en-US" sz="4000" dirty="0"/>
              <a:t>Hard, thin gelatin outer layer spread onto the surface of the emulsion</a:t>
            </a:r>
          </a:p>
          <a:p>
            <a:pPr>
              <a:spcAft>
                <a:spcPts val="1000"/>
              </a:spcAft>
              <a:buSzPct val="100000"/>
            </a:pPr>
            <a:r>
              <a:rPr lang="en-US" sz="4000" dirty="0"/>
              <a:t>Protects against scratches and pressure, that is mechanical damage</a:t>
            </a:r>
          </a:p>
          <a:p>
            <a:pPr>
              <a:spcAft>
                <a:spcPts val="1000"/>
              </a:spcAft>
              <a:buSzPct val="100000"/>
            </a:pPr>
            <a:r>
              <a:rPr lang="en-US" sz="4000" dirty="0"/>
              <a:t>Gives a shining surface for good appearance and durability</a:t>
            </a:r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9820781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B0C98-CEFD-8C6F-F635-09A6A2EEF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679" y="98474"/>
            <a:ext cx="11253667" cy="1143755"/>
          </a:xfrm>
        </p:spPr>
        <p:txBody>
          <a:bodyPr>
            <a:no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Major types of radiographic film</a:t>
            </a:r>
            <a:br>
              <a:rPr lang="en-US" dirty="0">
                <a:solidFill>
                  <a:schemeClr val="accent6"/>
                </a:solidFill>
              </a:rPr>
            </a:b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483E9-EBC7-C723-34B3-011CE4EC7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700">
                <a:solidFill>
                  <a:srgbClr val="253441"/>
                </a:solidFill>
                <a:latin typeface="Aptos"/>
              </a:defRPr>
            </a:pPr>
            <a:r>
              <a:rPr lang="en-US" sz="3200" dirty="0"/>
              <a:t>Screen film</a:t>
            </a:r>
          </a:p>
          <a:p>
            <a:pPr>
              <a:defRPr sz="1700">
                <a:solidFill>
                  <a:srgbClr val="253441"/>
                </a:solidFill>
                <a:latin typeface="Aptos"/>
              </a:defRPr>
            </a:pPr>
            <a:r>
              <a:rPr lang="en-US" sz="3200" dirty="0"/>
              <a:t>Direct-exposure film</a:t>
            </a:r>
          </a:p>
          <a:p>
            <a:pPr>
              <a:defRPr sz="1700">
                <a:solidFill>
                  <a:srgbClr val="253441"/>
                </a:solidFill>
                <a:latin typeface="Aptos"/>
              </a:defRPr>
            </a:pPr>
            <a:r>
              <a:rPr lang="en-US" sz="3200" dirty="0"/>
              <a:t>Dental film</a:t>
            </a:r>
          </a:p>
          <a:p>
            <a:pPr>
              <a:defRPr sz="1700">
                <a:solidFill>
                  <a:srgbClr val="253441"/>
                </a:solidFill>
                <a:latin typeface="Aptos"/>
              </a:defRPr>
            </a:pPr>
            <a:r>
              <a:rPr lang="en-US" sz="3200" dirty="0"/>
              <a:t>Mammography film-screen material</a:t>
            </a:r>
          </a:p>
          <a:p>
            <a:pPr>
              <a:defRPr sz="1700">
                <a:solidFill>
                  <a:srgbClr val="253441"/>
                </a:solidFill>
                <a:latin typeface="Aptos"/>
              </a:defRPr>
            </a:pPr>
            <a:r>
              <a:rPr lang="en-US" sz="3200" dirty="0"/>
              <a:t>Cine and duplicating film</a:t>
            </a:r>
          </a:p>
          <a:p>
            <a:pPr>
              <a:defRPr sz="1700">
                <a:solidFill>
                  <a:srgbClr val="253441"/>
                </a:solidFill>
                <a:latin typeface="Aptos"/>
              </a:defRPr>
            </a:pPr>
            <a:r>
              <a:rPr lang="en-US" sz="3200" dirty="0"/>
              <a:t>Special-purpose photographic materials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1089984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309B1-5B4A-6ECD-7FAC-CA2013F46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679" y="196948"/>
            <a:ext cx="11253667" cy="1181686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solidFill>
                  <a:srgbClr val="C00000"/>
                </a:solidFill>
              </a:rPr>
              <a:t>Screen film</a:t>
            </a:r>
            <a:br>
              <a:rPr lang="en-US" sz="3600" dirty="0">
                <a:solidFill>
                  <a:srgbClr val="C00000"/>
                </a:solidFill>
              </a:rPr>
            </a:b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E3485-3BDA-F688-B273-FFD8C4CF7F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>
                <a:solidFill>
                  <a:srgbClr val="253441"/>
                </a:solidFill>
                <a:latin typeface="Aptos"/>
              </a:defRPr>
            </a:pPr>
            <a:r>
              <a:rPr lang="en-US" sz="3600" dirty="0"/>
              <a:t>Designed to be exposed mainly by light or </a:t>
            </a:r>
            <a:r>
              <a:rPr lang="en-US" sz="3600" dirty="0" err="1"/>
              <a:t>xray</a:t>
            </a:r>
            <a:r>
              <a:rPr lang="en-US" sz="3600" dirty="0"/>
              <a:t> from intensifying screens.</a:t>
            </a:r>
          </a:p>
          <a:p>
            <a:pPr>
              <a:defRPr sz="2000">
                <a:solidFill>
                  <a:srgbClr val="253441"/>
                </a:solidFill>
                <a:latin typeface="Aptos"/>
              </a:defRPr>
            </a:pPr>
            <a:r>
              <a:rPr lang="en-US" sz="3600" dirty="0"/>
              <a:t>Usually requires less X-ray exposure than direct-exposure film.</a:t>
            </a:r>
          </a:p>
          <a:p>
            <a:pPr>
              <a:defRPr sz="2000">
                <a:solidFill>
                  <a:srgbClr val="253441"/>
                </a:solidFill>
                <a:latin typeface="Aptos"/>
              </a:defRPr>
            </a:pPr>
            <a:r>
              <a:rPr lang="en-US" sz="3600" dirty="0"/>
              <a:t>Used in conventional film-screen radiography.</a:t>
            </a: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2237889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4AD9A-E0ED-8513-BB66-1C4A7E32E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679" y="0"/>
            <a:ext cx="11253667" cy="1364566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solidFill>
                  <a:srgbClr val="EE0000"/>
                </a:solidFill>
              </a:rPr>
              <a:t>Direct-exposure film</a:t>
            </a:r>
            <a:br>
              <a:rPr lang="en-US" sz="3600" dirty="0">
                <a:solidFill>
                  <a:srgbClr val="EE0000"/>
                </a:solidFill>
              </a:rPr>
            </a:br>
            <a:endParaRPr lang="en-US" sz="3600" dirty="0">
              <a:solidFill>
                <a:srgbClr val="EE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2740BF-6421-3425-3AF9-234D11086E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>
                <a:solidFill>
                  <a:srgbClr val="253441"/>
                </a:solidFill>
                <a:latin typeface="Aptos"/>
              </a:defRPr>
            </a:pPr>
            <a:r>
              <a:rPr lang="en-US" sz="3600" dirty="0"/>
              <a:t>Receives a larger share of exposure directly from X-rays.</a:t>
            </a:r>
          </a:p>
          <a:p>
            <a:pPr>
              <a:defRPr sz="2000">
                <a:solidFill>
                  <a:srgbClr val="253441"/>
                </a:solidFill>
                <a:latin typeface="Aptos"/>
              </a:defRPr>
            </a:pPr>
            <a:r>
              <a:rPr lang="en-US" sz="3600" dirty="0"/>
              <a:t>Used in selected applications, including some dental techniques.</a:t>
            </a:r>
          </a:p>
          <a:p>
            <a:pPr>
              <a:defRPr sz="2000">
                <a:solidFill>
                  <a:srgbClr val="253441"/>
                </a:solidFill>
                <a:latin typeface="Aptos"/>
              </a:defRPr>
            </a:pPr>
            <a:r>
              <a:rPr lang="en-US" sz="3600" dirty="0"/>
              <a:t>May require more exposure than screen-film systems.</a:t>
            </a:r>
          </a:p>
          <a:p>
            <a:pPr>
              <a:defRPr sz="2000">
                <a:solidFill>
                  <a:srgbClr val="253441"/>
                </a:solidFill>
                <a:latin typeface="Aptos"/>
              </a:defRPr>
            </a:pPr>
            <a:r>
              <a:rPr lang="en-US" sz="3600" dirty="0"/>
              <a:t>Technique must follow established protocols to reduced much radiation exposure.</a:t>
            </a: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7007168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559D2-4E4A-96C9-FCF5-BE9A7973E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679" y="126609"/>
            <a:ext cx="11253667" cy="1209821"/>
          </a:xfrm>
        </p:spPr>
        <p:txBody>
          <a:bodyPr>
            <a:noAutofit/>
          </a:bodyPr>
          <a:lstStyle/>
          <a:p>
            <a:pPr algn="ctr"/>
            <a:r>
              <a:rPr lang="en-US" sz="4000" dirty="0">
                <a:solidFill>
                  <a:srgbClr val="EE0000"/>
                </a:solidFill>
              </a:rPr>
              <a:t>Mammography film-screen systems</a:t>
            </a:r>
            <a:br>
              <a:rPr lang="en-US" sz="4000" dirty="0">
                <a:solidFill>
                  <a:srgbClr val="EE0000"/>
                </a:solidFill>
              </a:rPr>
            </a:br>
            <a:endParaRPr lang="en-US" sz="4000" dirty="0">
              <a:solidFill>
                <a:srgbClr val="EE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577E7-077A-29A1-DBE7-623105E55C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>
                <a:solidFill>
                  <a:srgbClr val="253441"/>
                </a:solidFill>
                <a:latin typeface="Aptos"/>
              </a:defRPr>
            </a:pPr>
            <a:r>
              <a:rPr lang="en-US" sz="3600" dirty="0"/>
              <a:t>Designed for high spatial resolution and suitable contrast</a:t>
            </a:r>
          </a:p>
          <a:p>
            <a:pPr>
              <a:defRPr sz="2000">
                <a:solidFill>
                  <a:srgbClr val="253441"/>
                </a:solidFill>
                <a:latin typeface="Aptos"/>
              </a:defRPr>
            </a:pPr>
            <a:endParaRPr lang="en-US" sz="3600" dirty="0"/>
          </a:p>
          <a:p>
            <a:pPr>
              <a:defRPr sz="2000">
                <a:solidFill>
                  <a:srgbClr val="253441"/>
                </a:solidFill>
                <a:latin typeface="Aptos"/>
              </a:defRPr>
            </a:pPr>
            <a:r>
              <a:rPr lang="en-US" sz="3600" dirty="0"/>
              <a:t>Necessary to obtain good image-quality (high contrast).</a:t>
            </a:r>
          </a:p>
          <a:p>
            <a:pPr>
              <a:defRPr sz="2000">
                <a:solidFill>
                  <a:srgbClr val="253441"/>
                </a:solidFill>
                <a:latin typeface="Aptos"/>
              </a:defRPr>
            </a:pPr>
            <a:endParaRPr lang="en-US" sz="3600" dirty="0"/>
          </a:p>
          <a:p>
            <a:pPr>
              <a:defRPr sz="2000">
                <a:solidFill>
                  <a:srgbClr val="253441"/>
                </a:solidFill>
                <a:latin typeface="Aptos"/>
              </a:defRPr>
            </a:pPr>
            <a:r>
              <a:rPr lang="en-US" sz="3600" dirty="0"/>
              <a:t>Single emulsion film</a:t>
            </a: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144345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68660-0495-C443-EA6F-90496453E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679" y="0"/>
            <a:ext cx="11253667" cy="1242229"/>
          </a:xfrm>
        </p:spPr>
        <p:txBody>
          <a:bodyPr>
            <a:noAutofit/>
          </a:bodyPr>
          <a:lstStyle/>
          <a:p>
            <a:pPr algn="ctr"/>
            <a:r>
              <a:rPr lang="en-US" dirty="0">
                <a:solidFill>
                  <a:srgbClr val="EE0000"/>
                </a:solidFill>
              </a:rPr>
              <a:t>Dental radiographic films</a:t>
            </a:r>
            <a:br>
              <a:rPr lang="en-US" dirty="0">
                <a:solidFill>
                  <a:srgbClr val="EE0000"/>
                </a:solidFill>
              </a:rPr>
            </a:br>
            <a:endParaRPr lang="en-US" dirty="0">
              <a:solidFill>
                <a:srgbClr val="EE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7C532-81A1-C772-781A-FBD6047EB8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88931"/>
            <a:ext cx="12192000" cy="5369069"/>
          </a:xfrm>
        </p:spPr>
        <p:txBody>
          <a:bodyPr>
            <a:normAutofit lnSpcReduction="10000"/>
          </a:bodyPr>
          <a:lstStyle/>
          <a:p>
            <a:pPr>
              <a:defRPr sz="2000">
                <a:solidFill>
                  <a:srgbClr val="253441"/>
                </a:solidFill>
                <a:latin typeface="Aptos"/>
              </a:defRPr>
            </a:pPr>
            <a:r>
              <a:rPr lang="en-US" sz="3600" dirty="0"/>
              <a:t>Made up of intraoral and extraoral film</a:t>
            </a:r>
          </a:p>
          <a:p>
            <a:pPr>
              <a:defRPr sz="2000">
                <a:solidFill>
                  <a:srgbClr val="253441"/>
                </a:solidFill>
                <a:latin typeface="Aptos"/>
              </a:defRPr>
            </a:pPr>
            <a:r>
              <a:rPr lang="en-US" sz="3600" dirty="0"/>
              <a:t>Intraoral film is placed inside the mouth</a:t>
            </a:r>
          </a:p>
          <a:p>
            <a:pPr>
              <a:defRPr sz="2000">
                <a:solidFill>
                  <a:srgbClr val="253441"/>
                </a:solidFill>
                <a:latin typeface="Aptos"/>
              </a:defRPr>
            </a:pPr>
            <a:r>
              <a:rPr lang="en-US" sz="3600" dirty="0"/>
              <a:t>Intraoral film is small and enclosed in a light-tight packet.</a:t>
            </a:r>
          </a:p>
          <a:p>
            <a:pPr>
              <a:defRPr sz="2000">
                <a:solidFill>
                  <a:srgbClr val="253441"/>
                </a:solidFill>
                <a:latin typeface="Aptos"/>
              </a:defRPr>
            </a:pPr>
            <a:r>
              <a:rPr lang="en-US" sz="3600" dirty="0"/>
              <a:t>Protect packet from moisture and handling.</a:t>
            </a:r>
          </a:p>
          <a:p>
            <a:pPr>
              <a:defRPr sz="2000">
                <a:solidFill>
                  <a:srgbClr val="253441"/>
                </a:solidFill>
                <a:latin typeface="Aptos"/>
              </a:defRPr>
            </a:pPr>
            <a:r>
              <a:rPr lang="en-US" sz="3600" dirty="0"/>
              <a:t>Lead foil backing helps reduce backscatter reaching the film.</a:t>
            </a:r>
          </a:p>
          <a:p>
            <a:pPr>
              <a:defRPr sz="2000">
                <a:solidFill>
                  <a:srgbClr val="253441"/>
                </a:solidFill>
                <a:latin typeface="Aptos"/>
              </a:defRPr>
            </a:pPr>
            <a:r>
              <a:rPr lang="en-US" sz="3600" dirty="0"/>
              <a:t>Extraoral film-is placed outside the mouth usually in a cassette</a:t>
            </a:r>
          </a:p>
          <a:p>
            <a:pPr>
              <a:defRPr sz="2000">
                <a:solidFill>
                  <a:srgbClr val="253441"/>
                </a:solidFill>
                <a:latin typeface="Aptos"/>
              </a:defRPr>
            </a:pPr>
            <a:r>
              <a:rPr lang="en-US" sz="3600" dirty="0"/>
              <a:t>Larger than intraoral film.</a:t>
            </a: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4866442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05CDF-4FFF-DA00-A770-82A96398E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EE0000"/>
                </a:solidFill>
              </a:rPr>
              <a:t>Intraoral and extraoral Dental films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156D7C8-AE74-E1AE-72D8-CE983784737A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256" y="1533377"/>
            <a:ext cx="5018415" cy="4825219"/>
          </a:xfrm>
          <a:prstGeom prst="rect">
            <a:avLst/>
          </a:prstGeom>
        </p:spPr>
      </p:pic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325FC006-57FA-B8B2-FC00-96070714498B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533377"/>
            <a:ext cx="5572125" cy="4825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931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0E858-F256-C714-380C-829560E87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679" y="0"/>
            <a:ext cx="11253667" cy="1242229"/>
          </a:xfrm>
        </p:spPr>
        <p:txBody>
          <a:bodyPr>
            <a:noAutofit/>
          </a:bodyPr>
          <a:lstStyle/>
          <a:p>
            <a:pPr algn="ctr"/>
            <a:r>
              <a:rPr lang="en-US" sz="3600" dirty="0"/>
              <a:t>Common film sizes</a:t>
            </a:r>
            <a:br>
              <a:rPr lang="en-US" sz="3600" dirty="0"/>
            </a:br>
            <a:endParaRPr lang="en-US" sz="36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C575676-9F5C-279B-D57B-15B2A58E62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4325410"/>
              </p:ext>
            </p:extLst>
          </p:nvPr>
        </p:nvGraphicFramePr>
        <p:xfrm>
          <a:off x="590842" y="1406769"/>
          <a:ext cx="10381957" cy="541134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109232">
                  <a:extLst>
                    <a:ext uri="{9D8B030D-6E8A-4147-A177-3AD203B41FA5}">
                      <a16:colId xmlns:a16="http://schemas.microsoft.com/office/drawing/2014/main" val="313569747"/>
                    </a:ext>
                  </a:extLst>
                </a:gridCol>
                <a:gridCol w="5272725">
                  <a:extLst>
                    <a:ext uri="{9D8B030D-6E8A-4147-A177-3AD203B41FA5}">
                      <a16:colId xmlns:a16="http://schemas.microsoft.com/office/drawing/2014/main" val="3055625619"/>
                    </a:ext>
                  </a:extLst>
                </a:gridCol>
              </a:tblGrid>
              <a:tr h="86516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buNone/>
                      </a:pPr>
                      <a:r>
                        <a:rPr lang="en-US" sz="4400" dirty="0">
                          <a:effectLst/>
                        </a:rPr>
                        <a:t>Metric System</a:t>
                      </a:r>
                      <a:endParaRPr lang="en-US" sz="44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buNone/>
                      </a:pPr>
                      <a:r>
                        <a:rPr lang="en-US" sz="4400" dirty="0">
                          <a:effectLst/>
                        </a:rPr>
                        <a:t>Imperial System</a:t>
                      </a:r>
                      <a:endParaRPr lang="en-US" sz="44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42938824"/>
                  </a:ext>
                </a:extLst>
              </a:tr>
              <a:tr h="86516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buNone/>
                      </a:pPr>
                      <a:r>
                        <a:rPr lang="en-US" sz="4400" dirty="0">
                          <a:effectLst/>
                        </a:rPr>
                        <a:t>18×24 cm</a:t>
                      </a:r>
                      <a:endParaRPr lang="en-US" sz="44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buNone/>
                      </a:pPr>
                      <a:r>
                        <a:rPr lang="en-US" sz="4400" dirty="0">
                          <a:effectLst/>
                        </a:rPr>
                        <a:t>8×10 inches</a:t>
                      </a:r>
                      <a:endParaRPr lang="en-US" sz="44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12579875"/>
                  </a:ext>
                </a:extLst>
              </a:tr>
              <a:tr h="86516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buNone/>
                      </a:pPr>
                      <a:r>
                        <a:rPr lang="en-US" sz="4400" dirty="0">
                          <a:effectLst/>
                        </a:rPr>
                        <a:t>24×30 cm</a:t>
                      </a:r>
                      <a:endParaRPr lang="en-US" sz="44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buNone/>
                      </a:pPr>
                      <a:r>
                        <a:rPr lang="en-US" sz="4400" dirty="0">
                          <a:effectLst/>
                        </a:rPr>
                        <a:t>10×12 inches</a:t>
                      </a:r>
                      <a:endParaRPr lang="en-US" sz="44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44862457"/>
                  </a:ext>
                </a:extLst>
              </a:tr>
              <a:tr h="86516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buNone/>
                      </a:pPr>
                      <a:r>
                        <a:rPr lang="en-US" sz="4400">
                          <a:effectLst/>
                        </a:rPr>
                        <a:t>30×40 cm</a:t>
                      </a:r>
                      <a:endParaRPr lang="en-US" sz="44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buNone/>
                      </a:pPr>
                      <a:r>
                        <a:rPr lang="en-US" sz="4400" dirty="0">
                          <a:effectLst/>
                        </a:rPr>
                        <a:t>12×15 inches</a:t>
                      </a:r>
                      <a:endParaRPr lang="en-US" sz="44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74782112"/>
                  </a:ext>
                </a:extLst>
              </a:tr>
              <a:tr h="86516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buNone/>
                      </a:pPr>
                      <a:r>
                        <a:rPr lang="en-US" sz="4400">
                          <a:effectLst/>
                        </a:rPr>
                        <a:t>35×35 cm</a:t>
                      </a:r>
                      <a:endParaRPr lang="en-US" sz="44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buNone/>
                      </a:pPr>
                      <a:r>
                        <a:rPr lang="en-US" sz="4400" dirty="0">
                          <a:effectLst/>
                        </a:rPr>
                        <a:t>14×14 inches</a:t>
                      </a:r>
                      <a:endParaRPr lang="en-US" sz="44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32313462"/>
                  </a:ext>
                </a:extLst>
              </a:tr>
              <a:tr h="86516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buNone/>
                      </a:pPr>
                      <a:r>
                        <a:rPr lang="en-US" sz="4400">
                          <a:effectLst/>
                        </a:rPr>
                        <a:t>35×43 cm</a:t>
                      </a:r>
                      <a:endParaRPr lang="en-US" sz="44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buNone/>
                      </a:pPr>
                      <a:r>
                        <a:rPr lang="en-US" sz="4400" dirty="0">
                          <a:effectLst/>
                        </a:rPr>
                        <a:t>14×17 inches</a:t>
                      </a:r>
                      <a:endParaRPr lang="en-US" sz="44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1752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92308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01F69-0656-5097-4CBF-65BD32A20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679" y="0"/>
            <a:ext cx="11253667" cy="1322363"/>
          </a:xfrm>
        </p:spPr>
        <p:txBody>
          <a:bodyPr>
            <a:noAutofit/>
          </a:bodyPr>
          <a:lstStyle/>
          <a:p>
            <a:pPr algn="ctr"/>
            <a:br>
              <a:rPr lang="en-US" sz="4400" dirty="0">
                <a:solidFill>
                  <a:srgbClr val="EE0000"/>
                </a:solidFill>
              </a:rPr>
            </a:br>
            <a:r>
              <a:rPr lang="en-US" sz="4400" dirty="0">
                <a:solidFill>
                  <a:srgbClr val="EE0000"/>
                </a:solidFill>
              </a:rPr>
              <a:t>Film processing</a:t>
            </a:r>
            <a:br>
              <a:rPr lang="en-US" sz="4400" dirty="0">
                <a:solidFill>
                  <a:srgbClr val="EE0000"/>
                </a:solidFill>
              </a:rPr>
            </a:br>
            <a:endParaRPr lang="en-US" sz="4400" dirty="0">
              <a:solidFill>
                <a:srgbClr val="EE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B391F-E102-89B3-FD67-A967C58F5D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700">
                <a:solidFill>
                  <a:srgbClr val="253441"/>
                </a:solidFill>
                <a:latin typeface="Aptos"/>
              </a:defRPr>
            </a:pPr>
            <a:r>
              <a:rPr lang="en-US" sz="3600" dirty="0"/>
              <a:t>Development</a:t>
            </a:r>
          </a:p>
          <a:p>
            <a:pPr>
              <a:defRPr sz="1700">
                <a:solidFill>
                  <a:srgbClr val="253441"/>
                </a:solidFill>
                <a:latin typeface="Aptos"/>
              </a:defRPr>
            </a:pPr>
            <a:r>
              <a:rPr lang="en-US" sz="3600" dirty="0"/>
              <a:t>Rinsing</a:t>
            </a:r>
          </a:p>
          <a:p>
            <a:pPr>
              <a:defRPr sz="1700">
                <a:solidFill>
                  <a:srgbClr val="253441"/>
                </a:solidFill>
                <a:latin typeface="Aptos"/>
              </a:defRPr>
            </a:pPr>
            <a:r>
              <a:rPr lang="en-US" sz="3600" dirty="0"/>
              <a:t>Fixing</a:t>
            </a:r>
          </a:p>
          <a:p>
            <a:pPr>
              <a:defRPr sz="1700">
                <a:solidFill>
                  <a:srgbClr val="253441"/>
                </a:solidFill>
                <a:latin typeface="Aptos"/>
              </a:defRPr>
            </a:pPr>
            <a:r>
              <a:rPr lang="en-US" sz="3600" dirty="0"/>
              <a:t>Washing</a:t>
            </a:r>
          </a:p>
          <a:p>
            <a:pPr>
              <a:defRPr sz="1700">
                <a:solidFill>
                  <a:srgbClr val="253441"/>
                </a:solidFill>
                <a:latin typeface="Aptos"/>
              </a:defRPr>
            </a:pPr>
            <a:r>
              <a:rPr lang="en-US" sz="3600" dirty="0"/>
              <a:t>Drying</a:t>
            </a: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2241308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9B293-F6F9-C7AF-6710-998AC2328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679" y="0"/>
            <a:ext cx="11253667" cy="1242229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solidFill>
                  <a:srgbClr val="EE0000"/>
                </a:solidFill>
              </a:rPr>
              <a:t>Developer: what it does</a:t>
            </a:r>
            <a:br>
              <a:rPr lang="en-US" sz="3600" dirty="0">
                <a:solidFill>
                  <a:srgbClr val="EE0000"/>
                </a:solidFill>
              </a:rPr>
            </a:br>
            <a:endParaRPr lang="en-US" sz="3600" dirty="0">
              <a:solidFill>
                <a:srgbClr val="EE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AB0CE6-DB88-6E69-E088-FA4D8D3BCA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679" y="1488931"/>
            <a:ext cx="11389047" cy="5193223"/>
          </a:xfrm>
        </p:spPr>
        <p:txBody>
          <a:bodyPr>
            <a:normAutofit fontScale="92500"/>
          </a:bodyPr>
          <a:lstStyle/>
          <a:p>
            <a:pPr>
              <a:defRPr sz="2000">
                <a:solidFill>
                  <a:srgbClr val="253441"/>
                </a:solidFill>
                <a:latin typeface="Aptos"/>
              </a:defRPr>
            </a:pPr>
            <a:r>
              <a:rPr lang="en-US" sz="3600" dirty="0"/>
              <a:t>Reduces exposed silver-halide crystals to black metallic silver.</a:t>
            </a:r>
          </a:p>
          <a:p>
            <a:pPr>
              <a:defRPr sz="2000">
                <a:solidFill>
                  <a:srgbClr val="253441"/>
                </a:solidFill>
                <a:latin typeface="Aptos"/>
              </a:defRPr>
            </a:pPr>
            <a:r>
              <a:rPr lang="en-US" sz="3600" dirty="0"/>
              <a:t>Affects film density and contrast(difference in density between </a:t>
            </a:r>
            <a:r>
              <a:rPr lang="en-US" sz="3600" dirty="0" err="1"/>
              <a:t>between</a:t>
            </a:r>
            <a:r>
              <a:rPr lang="en-US" sz="3600" dirty="0"/>
              <a:t> adjacent structures).</a:t>
            </a:r>
          </a:p>
          <a:p>
            <a:pPr>
              <a:defRPr sz="2000">
                <a:solidFill>
                  <a:srgbClr val="253441"/>
                </a:solidFill>
                <a:latin typeface="Aptos"/>
              </a:defRPr>
            </a:pPr>
            <a:r>
              <a:rPr lang="en-US" sz="3600" dirty="0"/>
              <a:t>Time, temperature and chemical activity (strength) are important.</a:t>
            </a:r>
          </a:p>
          <a:p>
            <a:pPr>
              <a:defRPr sz="2000">
                <a:solidFill>
                  <a:srgbClr val="253441"/>
                </a:solidFill>
                <a:latin typeface="Aptos"/>
              </a:defRPr>
            </a:pPr>
            <a:r>
              <a:rPr lang="en-US" sz="3600" dirty="0"/>
              <a:t>Depleted or incorrectly maintained developer can cause poor images and affect diagnosis.</a:t>
            </a: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0887186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37A8E-52BA-3306-18DE-A76CE2C85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679" y="0"/>
            <a:ext cx="11253667" cy="1242229"/>
          </a:xfrm>
        </p:spPr>
        <p:txBody>
          <a:bodyPr>
            <a:noAutofit/>
          </a:bodyPr>
          <a:lstStyle/>
          <a:p>
            <a:pPr algn="ctr"/>
            <a:r>
              <a:rPr lang="en-US" sz="3600" dirty="0" err="1">
                <a:solidFill>
                  <a:schemeClr val="accent6"/>
                </a:solidFill>
              </a:rPr>
              <a:t>RINSE,Fixer</a:t>
            </a:r>
            <a:r>
              <a:rPr lang="en-US" sz="3600" dirty="0">
                <a:solidFill>
                  <a:schemeClr val="accent6"/>
                </a:solidFill>
              </a:rPr>
              <a:t>, washing and drying</a:t>
            </a:r>
            <a:br>
              <a:rPr lang="en-US" sz="3600" dirty="0">
                <a:solidFill>
                  <a:schemeClr val="accent6"/>
                </a:solidFill>
              </a:rPr>
            </a:br>
            <a:endParaRPr lang="en-US" sz="3600" dirty="0">
              <a:solidFill>
                <a:schemeClr val="accent6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6EAEF-1C7B-06B3-5EA0-2711676ADC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678" y="1488931"/>
            <a:ext cx="11792321" cy="5369069"/>
          </a:xfrm>
        </p:spPr>
        <p:txBody>
          <a:bodyPr>
            <a:noAutofit/>
          </a:bodyPr>
          <a:lstStyle/>
          <a:p>
            <a:pPr>
              <a:defRPr sz="2000">
                <a:solidFill>
                  <a:srgbClr val="253441"/>
                </a:solidFill>
                <a:latin typeface="Aptos"/>
              </a:defRPr>
            </a:pPr>
            <a:r>
              <a:rPr lang="en-US" sz="3600" dirty="0"/>
              <a:t>Rinse remove residual developer chemical before fixing</a:t>
            </a:r>
          </a:p>
          <a:p>
            <a:pPr>
              <a:defRPr sz="2000">
                <a:solidFill>
                  <a:srgbClr val="253441"/>
                </a:solidFill>
                <a:latin typeface="Aptos"/>
              </a:defRPr>
            </a:pPr>
            <a:r>
              <a:rPr lang="en-US" sz="3600" dirty="0"/>
              <a:t>Fixer removes unexposed silver halide.</a:t>
            </a:r>
          </a:p>
          <a:p>
            <a:pPr>
              <a:defRPr sz="2000">
                <a:solidFill>
                  <a:srgbClr val="253441"/>
                </a:solidFill>
                <a:latin typeface="Aptos"/>
              </a:defRPr>
            </a:pPr>
            <a:r>
              <a:rPr lang="en-US" sz="3600" dirty="0"/>
              <a:t>Washing removes residual processing chemicals.</a:t>
            </a:r>
          </a:p>
          <a:p>
            <a:pPr>
              <a:defRPr sz="2000">
                <a:solidFill>
                  <a:srgbClr val="253441"/>
                </a:solidFill>
                <a:latin typeface="Aptos"/>
              </a:defRPr>
            </a:pPr>
            <a:r>
              <a:rPr lang="en-US" sz="3600" dirty="0"/>
              <a:t>Poor washing may cause stains and poor archival stability.</a:t>
            </a:r>
          </a:p>
          <a:p>
            <a:pPr>
              <a:defRPr sz="2000">
                <a:solidFill>
                  <a:srgbClr val="253441"/>
                </a:solidFill>
                <a:latin typeface="Aptos"/>
              </a:defRPr>
            </a:pPr>
            <a:r>
              <a:rPr lang="en-US" sz="3600" dirty="0"/>
              <a:t>Drying should avoid dust, excessive heat and physical damage.</a:t>
            </a: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1635732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99D42-8F52-FB04-974D-2A13C156B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679" y="0"/>
            <a:ext cx="11253667" cy="1242229"/>
          </a:xfrm>
        </p:spPr>
        <p:txBody>
          <a:bodyPr>
            <a:no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Safe film handling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813BB-3C32-C72C-3BBA-E3650075E0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42229"/>
            <a:ext cx="12192000" cy="5615770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253441"/>
                </a:solidFill>
                <a:latin typeface="Aptos"/>
              </a:defRPr>
            </a:pPr>
            <a:r>
              <a:rPr lang="en-US" sz="3200" dirty="0"/>
              <a:t>Avoid fingerprints, bending, pressure and scratches.</a:t>
            </a:r>
          </a:p>
          <a:p>
            <a:pPr>
              <a:defRPr sz="2000">
                <a:solidFill>
                  <a:srgbClr val="253441"/>
                </a:solidFill>
                <a:latin typeface="Aptos"/>
              </a:defRPr>
            </a:pPr>
            <a:r>
              <a:rPr lang="en-US" sz="3200" dirty="0"/>
              <a:t>Keep film away from moisture, dust and chemicals.</a:t>
            </a:r>
          </a:p>
          <a:p>
            <a:pPr>
              <a:defRPr sz="2000">
                <a:solidFill>
                  <a:srgbClr val="253441"/>
                </a:solidFill>
                <a:latin typeface="Aptos"/>
              </a:defRPr>
            </a:pPr>
            <a:r>
              <a:rPr lang="en-US" sz="3200" dirty="0"/>
              <a:t>Protect unexposed film from light and radiation.</a:t>
            </a:r>
          </a:p>
          <a:p>
            <a:pPr>
              <a:spcAft>
                <a:spcPts val="900"/>
              </a:spcAft>
              <a:buSzPct val="100000"/>
            </a:pPr>
            <a:r>
              <a:rPr lang="en-US" sz="3200" dirty="0"/>
              <a:t>Hold film by the edges with clean, dry hands</a:t>
            </a:r>
          </a:p>
          <a:p>
            <a:pPr>
              <a:spcAft>
                <a:spcPts val="900"/>
              </a:spcAft>
              <a:buSzPct val="100000"/>
            </a:pPr>
            <a:r>
              <a:rPr lang="en-US" sz="3200" dirty="0"/>
              <a:t>Load and unload only in the darkroom with the door closed</a:t>
            </a:r>
          </a:p>
          <a:p>
            <a:pPr>
              <a:spcAft>
                <a:spcPts val="900"/>
              </a:spcAft>
              <a:buSzPct val="100000"/>
            </a:pPr>
            <a:r>
              <a:rPr lang="en-US" sz="3200" dirty="0"/>
              <a:t>Slide film into the cassette gently to avoid scratches</a:t>
            </a:r>
          </a:p>
          <a:p>
            <a:pPr>
              <a:spcAft>
                <a:spcPts val="900"/>
              </a:spcAft>
              <a:buSzPct val="100000"/>
            </a:pPr>
            <a:r>
              <a:rPr lang="en-US" sz="3200" dirty="0"/>
              <a:t>Never touch screens with fingers or sharp objects</a:t>
            </a:r>
          </a:p>
          <a:p>
            <a:pPr>
              <a:defRPr sz="2000">
                <a:solidFill>
                  <a:srgbClr val="253441"/>
                </a:solidFill>
                <a:latin typeface="Aptos"/>
              </a:defRPr>
            </a:pPr>
            <a:endParaRPr lang="en-US" sz="3200" dirty="0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7466840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3508E-287D-959C-21FE-BC7889605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679" y="168812"/>
            <a:ext cx="11253667" cy="787791"/>
          </a:xfrm>
        </p:spPr>
        <p:txBody>
          <a:bodyPr>
            <a:normAutofit/>
          </a:bodyPr>
          <a:lstStyle/>
          <a:p>
            <a:pPr algn="ctr"/>
            <a:r>
              <a:rPr lang="en-US" sz="4400" dirty="0">
                <a:solidFill>
                  <a:schemeClr val="accent6"/>
                </a:solidFill>
              </a:rPr>
              <a:t>Film storage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A420F-A66D-E2B9-085B-781335B24F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92702"/>
            <a:ext cx="12192000" cy="5465298"/>
          </a:xfrm>
        </p:spPr>
        <p:txBody>
          <a:bodyPr>
            <a:noAutofit/>
          </a:bodyPr>
          <a:lstStyle/>
          <a:p>
            <a:pPr>
              <a:defRPr sz="2000">
                <a:solidFill>
                  <a:srgbClr val="253441"/>
                </a:solidFill>
                <a:latin typeface="Aptos"/>
              </a:defRPr>
            </a:pPr>
            <a:r>
              <a:rPr lang="en-US" sz="3600" dirty="0"/>
              <a:t>Keep film in original packaging within manufacturer limits.</a:t>
            </a:r>
          </a:p>
          <a:p>
            <a:pPr>
              <a:defRPr sz="2000">
                <a:solidFill>
                  <a:srgbClr val="253441"/>
                </a:solidFill>
                <a:latin typeface="Aptos"/>
              </a:defRPr>
            </a:pPr>
            <a:r>
              <a:rPr lang="en-US" sz="3600" dirty="0"/>
              <a:t>Protect film from heat (</a:t>
            </a:r>
            <a:r>
              <a:rPr lang="en-US" sz="3600" dirty="0">
                <a:solidFill>
                  <a:schemeClr val="tx2"/>
                </a:solidFill>
              </a:rPr>
              <a:t>10–21 °C</a:t>
            </a:r>
            <a:r>
              <a:rPr lang="en-US" sz="3600" dirty="0"/>
              <a:t>), relative humidity (</a:t>
            </a:r>
            <a:r>
              <a:rPr lang="en-US" sz="3600" dirty="0">
                <a:solidFill>
                  <a:schemeClr val="tx2"/>
                </a:solidFill>
              </a:rPr>
              <a:t>40–60%</a:t>
            </a:r>
            <a:r>
              <a:rPr lang="en-US" sz="3600" dirty="0"/>
              <a:t>), sunlight, chemical fumes and radiation.</a:t>
            </a:r>
          </a:p>
          <a:p>
            <a:pPr>
              <a:defRPr sz="2000">
                <a:solidFill>
                  <a:srgbClr val="253441"/>
                </a:solidFill>
                <a:latin typeface="Aptos"/>
              </a:defRPr>
            </a:pPr>
            <a:r>
              <a:rPr lang="en-US" sz="3600" dirty="0"/>
              <a:t>Use first-expiry-first-out stock or first in first out (FIFO).</a:t>
            </a:r>
          </a:p>
          <a:p>
            <a:pPr>
              <a:defRPr sz="2000">
                <a:solidFill>
                  <a:srgbClr val="253441"/>
                </a:solidFill>
                <a:latin typeface="Aptos"/>
              </a:defRPr>
            </a:pPr>
            <a:r>
              <a:rPr lang="en-US" sz="3600" dirty="0"/>
              <a:t>Film should be stored in boxes or carton in an upright position</a:t>
            </a:r>
          </a:p>
          <a:p>
            <a:pPr>
              <a:defRPr sz="2000">
                <a:solidFill>
                  <a:srgbClr val="253441"/>
                </a:solidFill>
                <a:latin typeface="Aptos"/>
              </a:defRPr>
            </a:pPr>
            <a:r>
              <a:rPr lang="en-US" sz="3600" dirty="0"/>
              <a:t>Record batch numbers and expiry dates.</a:t>
            </a: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8976669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8CC26-7205-D2AE-4127-D07FBBD7A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679" y="98474"/>
            <a:ext cx="11253667" cy="1143755"/>
          </a:xfrm>
        </p:spPr>
        <p:txBody>
          <a:bodyPr>
            <a:no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Darkroom and safelight practice</a:t>
            </a:r>
            <a:br>
              <a:rPr lang="en-US" dirty="0">
                <a:solidFill>
                  <a:schemeClr val="accent6"/>
                </a:solidFill>
              </a:rPr>
            </a:b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6862C-453D-6E15-DF1B-52D8838465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 sz="2000">
                <a:solidFill>
                  <a:srgbClr val="253441"/>
                </a:solidFill>
                <a:latin typeface="Aptos"/>
              </a:defRPr>
            </a:pPr>
            <a:r>
              <a:rPr lang="en-US" sz="3600" dirty="0"/>
              <a:t>Darkroom should be light-tight, clean and </a:t>
            </a:r>
            <a:r>
              <a:rPr lang="en-US" sz="3600" dirty="0" err="1"/>
              <a:t>organised</a:t>
            </a:r>
            <a:r>
              <a:rPr lang="en-US" sz="3600" dirty="0"/>
              <a:t>.</a:t>
            </a:r>
          </a:p>
          <a:p>
            <a:pPr>
              <a:defRPr sz="2000">
                <a:solidFill>
                  <a:srgbClr val="253441"/>
                </a:solidFill>
                <a:latin typeface="Aptos"/>
              </a:defRPr>
            </a:pPr>
            <a:r>
              <a:rPr lang="en-US" sz="3600" dirty="0"/>
              <a:t>Use the correct safelight filter, wattage and distance.</a:t>
            </a:r>
          </a:p>
          <a:p>
            <a:pPr>
              <a:defRPr sz="2000">
                <a:solidFill>
                  <a:srgbClr val="253441"/>
                </a:solidFill>
                <a:latin typeface="Aptos"/>
              </a:defRPr>
            </a:pPr>
            <a:r>
              <a:rPr lang="en-US" sz="3600" dirty="0"/>
              <a:t>Test for safelight fog when required.</a:t>
            </a:r>
          </a:p>
          <a:p>
            <a:pPr>
              <a:defRPr sz="2000">
                <a:solidFill>
                  <a:srgbClr val="253441"/>
                </a:solidFill>
                <a:latin typeface="Aptos"/>
              </a:defRPr>
            </a:pPr>
            <a:r>
              <a:rPr lang="en-US" sz="3600" dirty="0"/>
              <a:t>Load and unload film only under approved conditions.</a:t>
            </a:r>
          </a:p>
          <a:p>
            <a:pPr>
              <a:spcAft>
                <a:spcPts val="900"/>
              </a:spcAft>
              <a:buSzPct val="100000"/>
            </a:pPr>
            <a:r>
              <a:rPr lang="en-US" sz="3600" dirty="0"/>
              <a:t>15-watt lamp and at least 1.2 m (4 ft) from the work bench</a:t>
            </a:r>
          </a:p>
          <a:p>
            <a:pPr>
              <a:spcAft>
                <a:spcPts val="900"/>
              </a:spcAft>
              <a:buSzPct val="100000"/>
            </a:pPr>
            <a:r>
              <a:rPr lang="en-US" sz="3600" dirty="0"/>
              <a:t>Keep wet and dry areas separate and the room clean and ventilated</a:t>
            </a:r>
          </a:p>
          <a:p>
            <a:pPr>
              <a:defRPr sz="2000">
                <a:solidFill>
                  <a:srgbClr val="253441"/>
                </a:solidFill>
                <a:latin typeface="Aptos"/>
              </a:defRPr>
            </a:pPr>
            <a:endParaRPr lang="en-US" sz="3600" dirty="0"/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2834324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0B77F-AA52-3771-2291-A7F317E77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679" y="112542"/>
            <a:ext cx="11253667" cy="731519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2"/>
                </a:solidFill>
              </a:rPr>
              <a:t>Common handling artefacts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8B9F1-A261-BE1D-DD18-389B0D79B7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36" y="1308295"/>
            <a:ext cx="11253668" cy="4881397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/>
              <a:t> </a:t>
            </a:r>
          </a:p>
          <a:p>
            <a:endParaRPr lang="en-US" sz="2400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3F4134F-ADFD-59F6-D0A5-20A4813666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8752089"/>
              </p:ext>
            </p:extLst>
          </p:nvPr>
        </p:nvGraphicFramePr>
        <p:xfrm>
          <a:off x="1" y="844062"/>
          <a:ext cx="12192000" cy="61880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75722201"/>
                    </a:ext>
                  </a:extLst>
                </a:gridCol>
                <a:gridCol w="3818598">
                  <a:extLst>
                    <a:ext uri="{9D8B030D-6E8A-4147-A177-3AD203B41FA5}">
                      <a16:colId xmlns:a16="http://schemas.microsoft.com/office/drawing/2014/main" val="2695235337"/>
                    </a:ext>
                  </a:extLst>
                </a:gridCol>
                <a:gridCol w="4309402">
                  <a:extLst>
                    <a:ext uri="{9D8B030D-6E8A-4147-A177-3AD203B41FA5}">
                      <a16:colId xmlns:a16="http://schemas.microsoft.com/office/drawing/2014/main" val="1631750921"/>
                    </a:ext>
                  </a:extLst>
                </a:gridCol>
              </a:tblGrid>
              <a:tr h="990059">
                <a:tc>
                  <a:txBody>
                    <a:bodyPr/>
                    <a:lstStyle/>
                    <a:p>
                      <a:r>
                        <a:rPr lang="en-US" sz="2400" dirty="0"/>
                        <a:t>Artefact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Appearance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Cause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7513204"/>
                  </a:ext>
                </a:extLst>
              </a:tr>
              <a:tr h="1014588">
                <a:tc>
                  <a:txBody>
                    <a:bodyPr/>
                    <a:lstStyle/>
                    <a:p>
                      <a:r>
                        <a:rPr lang="en-US" sz="2400" b="1" dirty="0"/>
                        <a:t>static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Black branching or tree lines</a:t>
                      </a:r>
                      <a:endParaRPr lang="en-US" sz="2400" dirty="0"/>
                    </a:p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Low humidity, fast film removal</a:t>
                      </a:r>
                      <a:endParaRPr lang="en-US" sz="2400" dirty="0"/>
                    </a:p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9762847"/>
                  </a:ext>
                </a:extLst>
              </a:tr>
              <a:tr h="101458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Crimp</a:t>
                      </a:r>
                      <a:endParaRPr lang="en-US" sz="2400" dirty="0"/>
                    </a:p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Black or white crescents</a:t>
                      </a:r>
                      <a:endParaRPr lang="en-US" sz="2400" dirty="0"/>
                    </a:p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Film bent before or after exposure</a:t>
                      </a:r>
                      <a:endParaRPr lang="en-US" sz="2400" dirty="0"/>
                    </a:p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6742849"/>
                  </a:ext>
                </a:extLst>
              </a:tr>
              <a:tr h="101458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Fog</a:t>
                      </a:r>
                      <a:endParaRPr lang="en-US" sz="2400" dirty="0"/>
                    </a:p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Overall grey haze</a:t>
                      </a:r>
                      <a:endParaRPr lang="en-US" sz="2400" dirty="0"/>
                    </a:p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Light, radiation, heat, age, fumes</a:t>
                      </a:r>
                      <a:endParaRPr lang="en-US" sz="2400" dirty="0"/>
                    </a:p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2835498"/>
                  </a:ext>
                </a:extLst>
              </a:tr>
              <a:tr h="99005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Finger marks</a:t>
                      </a:r>
                      <a:endParaRPr lang="en-US" sz="2400" dirty="0"/>
                    </a:p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Black or white prints</a:t>
                      </a:r>
                      <a:endParaRPr lang="en-US" sz="2400" dirty="0"/>
                    </a:p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Developer or fixer on fingers</a:t>
                      </a:r>
                      <a:endParaRPr lang="en-US" sz="2400" dirty="0"/>
                    </a:p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155563"/>
                  </a:ext>
                </a:extLst>
              </a:tr>
              <a:tr h="99005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Scratches</a:t>
                      </a:r>
                      <a:endParaRPr lang="en-US" sz="2400" dirty="0"/>
                    </a:p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Thin white lines</a:t>
                      </a:r>
                      <a:endParaRPr lang="en-US" sz="2400" dirty="0"/>
                    </a:p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Rough loading or dirty screens</a:t>
                      </a:r>
                      <a:endParaRPr lang="en-US" sz="2400" dirty="0"/>
                    </a:p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94019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12691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BE906-5B4E-DD64-73D3-3F0F0D587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rgbClr val="EE0000"/>
                </a:solidFill>
              </a:rPr>
              <a:t>roll films</a:t>
            </a:r>
            <a:endParaRPr lang="en-US" sz="4800" dirty="0">
              <a:solidFill>
                <a:srgbClr val="EE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EF344A-96CC-A7A6-260F-A8AB85E2B7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solidFill>
                  <a:schemeClr val="tx2"/>
                </a:solidFill>
              </a:rPr>
              <a:t>Roll film records an image from a screen, not from the patient directly.</a:t>
            </a:r>
            <a:endParaRPr lang="en-US" sz="4400" dirty="0"/>
          </a:p>
          <a:p>
            <a:pPr>
              <a:spcAft>
                <a:spcPts val="900"/>
              </a:spcAft>
              <a:buSzPct val="100000"/>
            </a:pPr>
            <a:r>
              <a:rPr lang="en-US" sz="4400" dirty="0"/>
              <a:t>Comes in widths or sizes of 16, 35, 70, 100 and 105 mm</a:t>
            </a:r>
          </a:p>
          <a:p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27466660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554D9-4FF2-D49A-23BB-F3FEEF9F7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679" y="0"/>
            <a:ext cx="11253667" cy="661182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2"/>
                </a:solidFill>
              </a:rPr>
              <a:t>Roll film sizes and uses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380DCFD-2531-F3D8-B775-36ED80CE26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6620737"/>
              </p:ext>
            </p:extLst>
          </p:nvPr>
        </p:nvGraphicFramePr>
        <p:xfrm>
          <a:off x="0" y="661182"/>
          <a:ext cx="12192000" cy="70045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72318">
                  <a:extLst>
                    <a:ext uri="{9D8B030D-6E8A-4147-A177-3AD203B41FA5}">
                      <a16:colId xmlns:a16="http://schemas.microsoft.com/office/drawing/2014/main" val="1934002833"/>
                    </a:ext>
                  </a:extLst>
                </a:gridCol>
                <a:gridCol w="7719682">
                  <a:extLst>
                    <a:ext uri="{9D8B030D-6E8A-4147-A177-3AD203B41FA5}">
                      <a16:colId xmlns:a16="http://schemas.microsoft.com/office/drawing/2014/main" val="3994737471"/>
                    </a:ext>
                  </a:extLst>
                </a:gridCol>
              </a:tblGrid>
              <a:tr h="10146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Format</a:t>
                      </a:r>
                      <a:endParaRPr lang="en-US" sz="2800" dirty="0"/>
                    </a:p>
                    <a:p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Typical use</a:t>
                      </a:r>
                      <a:endParaRPr lang="en-US" sz="2800" dirty="0"/>
                    </a:p>
                    <a:p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7814790"/>
                  </a:ext>
                </a:extLst>
              </a:tr>
              <a:tr h="10146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16 mm</a:t>
                      </a:r>
                      <a:endParaRPr lang="en-US" sz="2800" dirty="0"/>
                    </a:p>
                    <a:p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Cine and fluoroscopic recording cameras</a:t>
                      </a:r>
                      <a:endParaRPr lang="en-US" sz="2800" dirty="0"/>
                    </a:p>
                    <a:p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2767422"/>
                  </a:ext>
                </a:extLst>
              </a:tr>
              <a:tr h="10146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35 mm</a:t>
                      </a:r>
                      <a:endParaRPr lang="en-US" sz="2800" dirty="0"/>
                    </a:p>
                    <a:p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Cine and fluoroscopic recording cameras</a:t>
                      </a:r>
                      <a:endParaRPr lang="en-US" sz="2800" dirty="0"/>
                    </a:p>
                    <a:p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6998898"/>
                  </a:ext>
                </a:extLst>
              </a:tr>
              <a:tr h="10146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70 mm</a:t>
                      </a:r>
                      <a:endParaRPr lang="en-US" sz="2800" dirty="0"/>
                    </a:p>
                    <a:p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Serial spot cameras, photofluorography</a:t>
                      </a:r>
                      <a:endParaRPr lang="en-US" sz="2800" dirty="0"/>
                    </a:p>
                    <a:p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0373983"/>
                  </a:ext>
                </a:extLst>
              </a:tr>
              <a:tr h="10146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100 mm</a:t>
                      </a:r>
                      <a:endParaRPr lang="en-US" sz="2800" dirty="0"/>
                    </a:p>
                    <a:p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Mass chest screening</a:t>
                      </a:r>
                      <a:endParaRPr lang="en-US" sz="2800" dirty="0"/>
                    </a:p>
                    <a:p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694158"/>
                  </a:ext>
                </a:extLst>
              </a:tr>
              <a:tr h="19311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105 mm</a:t>
                      </a:r>
                      <a:endParaRPr lang="en-US" sz="2800" dirty="0"/>
                    </a:p>
                    <a:p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Mass miniature radiography (photofluorography)</a:t>
                      </a:r>
                      <a:endParaRPr lang="en-US" sz="28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Widely used for tuberculosis screening of large populations.</a:t>
                      </a:r>
                    </a:p>
                    <a:p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80763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62504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3BAF8-AB4B-A121-B305-128A5EFC5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679" y="112543"/>
            <a:ext cx="11253667" cy="815926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>
                <a:solidFill>
                  <a:srgbClr val="EE0000"/>
                </a:solidFill>
              </a:rPr>
              <a:t>Other photographic materials: beyond </a:t>
            </a:r>
            <a:r>
              <a:rPr lang="en-US" sz="4000" dirty="0" err="1">
                <a:solidFill>
                  <a:srgbClr val="EE0000"/>
                </a:solidFill>
              </a:rPr>
              <a:t>xray</a:t>
            </a:r>
            <a:r>
              <a:rPr lang="en-US" sz="4000" dirty="0">
                <a:solidFill>
                  <a:srgbClr val="EE0000"/>
                </a:solidFill>
              </a:rPr>
              <a:t> film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6993E-8FE8-5292-A4C0-A169D7FE95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28469"/>
            <a:ext cx="12192000" cy="5929531"/>
          </a:xfrm>
        </p:spPr>
        <p:txBody>
          <a:bodyPr>
            <a:normAutofit lnSpcReduction="10000"/>
          </a:bodyPr>
          <a:lstStyle/>
          <a:p>
            <a:r>
              <a:rPr lang="en-US" sz="2800" b="1" dirty="0"/>
              <a:t>Duplicating film</a:t>
            </a:r>
            <a:r>
              <a:rPr lang="en-US" sz="2400" dirty="0"/>
              <a:t>-produces copies of existing radiographic film for referral, teaching or record purpose</a:t>
            </a:r>
          </a:p>
          <a:p>
            <a:r>
              <a:rPr lang="en-US" sz="2400" b="1" dirty="0"/>
              <a:t>Photographic paper</a:t>
            </a:r>
            <a:r>
              <a:rPr lang="en-US" sz="2400" dirty="0"/>
              <a:t>-produces permanent photographic prints</a:t>
            </a:r>
          </a:p>
          <a:p>
            <a:r>
              <a:rPr lang="en-US" sz="2400" b="1" dirty="0"/>
              <a:t>Slide or reversal film- </a:t>
            </a:r>
            <a:r>
              <a:rPr lang="en-US" sz="2400" dirty="0"/>
              <a:t>produces positive transparencies for projection during </a:t>
            </a:r>
            <a:r>
              <a:rPr lang="en-US" sz="2400" dirty="0" err="1"/>
              <a:t>lectures,demonstration</a:t>
            </a:r>
            <a:r>
              <a:rPr lang="en-US" sz="2400" dirty="0"/>
              <a:t> and presentations</a:t>
            </a:r>
          </a:p>
          <a:p>
            <a:r>
              <a:rPr lang="en-US" sz="2400" b="1" dirty="0"/>
              <a:t>Photostimulable phosphor plate (PSP)- </a:t>
            </a:r>
            <a:r>
              <a:rPr lang="en-US" sz="2400" dirty="0"/>
              <a:t>Use in computed radiography to store a latent image after exposure to </a:t>
            </a:r>
            <a:r>
              <a:rPr lang="en-US" sz="2400" dirty="0" err="1"/>
              <a:t>xrays</a:t>
            </a:r>
            <a:r>
              <a:rPr lang="en-US" sz="2400" dirty="0"/>
              <a:t>. They are reusable</a:t>
            </a:r>
          </a:p>
          <a:p>
            <a:r>
              <a:rPr lang="en-US" sz="2800" b="1" dirty="0"/>
              <a:t>Microfilm</a:t>
            </a:r>
            <a:r>
              <a:rPr lang="en-US" sz="2400" dirty="0"/>
              <a:t>-for reducing size of documents and images to save storage space</a:t>
            </a:r>
          </a:p>
          <a:p>
            <a:pPr>
              <a:spcAft>
                <a:spcPts val="900"/>
              </a:spcAft>
            </a:pPr>
            <a:r>
              <a:rPr lang="en-US" sz="2800" b="1" dirty="0"/>
              <a:t>Developer</a:t>
            </a:r>
            <a:r>
              <a:rPr lang="en-US" sz="2400" dirty="0"/>
              <a:t>- reducing agents such as hydroquinone and </a:t>
            </a:r>
            <a:r>
              <a:rPr lang="en-US" sz="2400" dirty="0" err="1"/>
              <a:t>phenidone</a:t>
            </a:r>
            <a:r>
              <a:rPr lang="en-US" sz="2400" dirty="0"/>
              <a:t> in alkaline solution</a:t>
            </a:r>
          </a:p>
          <a:p>
            <a:pPr>
              <a:spcAft>
                <a:spcPts val="900"/>
              </a:spcAft>
            </a:pPr>
            <a:r>
              <a:rPr lang="en-US" sz="2800" b="1" dirty="0"/>
              <a:t>Fixer</a:t>
            </a:r>
            <a:r>
              <a:rPr lang="en-US" sz="2400" dirty="0"/>
              <a:t>-that removes unexposed silver halide. It contains sodium or </a:t>
            </a:r>
            <a:r>
              <a:rPr lang="en-US" sz="2400" dirty="0" err="1"/>
              <a:t>ammoniumthiosulphate,acidifier,preservative,hardener,buffer</a:t>
            </a:r>
            <a:r>
              <a:rPr lang="en-US" sz="2400" dirty="0"/>
              <a:t> and solvent </a:t>
            </a:r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94516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12CCA-F087-C501-4015-603B7EEE8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679" y="253217"/>
            <a:ext cx="11253667" cy="872198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EE0000"/>
                </a:solidFill>
              </a:rPr>
              <a:t>Spectral Sensitivity of Films</a:t>
            </a:r>
            <a:endParaRPr lang="en-US" dirty="0">
              <a:solidFill>
                <a:srgbClr val="EE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94454D-95B4-7FDB-5B14-43F63F2A7F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SzPct val="100000"/>
            </a:pPr>
            <a:r>
              <a:rPr lang="en-US" sz="3200" dirty="0"/>
              <a:t>Is the ability of a film to respond to different wavelengths (</a:t>
            </a:r>
            <a:r>
              <a:rPr lang="en-US" sz="3200" dirty="0" err="1"/>
              <a:t>colours</a:t>
            </a:r>
            <a:r>
              <a:rPr lang="en-US" sz="3200" dirty="0"/>
              <a:t>) of light to form an image </a:t>
            </a:r>
          </a:p>
          <a:p>
            <a:pPr>
              <a:buSzPct val="100000"/>
            </a:pPr>
            <a:r>
              <a:rPr lang="en-US" sz="3200" dirty="0"/>
              <a:t>It ensures that the film matches the </a:t>
            </a:r>
            <a:r>
              <a:rPr lang="en-US" sz="3200" dirty="0" err="1"/>
              <a:t>colour</a:t>
            </a:r>
            <a:r>
              <a:rPr lang="en-US" sz="3200" dirty="0"/>
              <a:t> of light emitted by the intensifying screen</a:t>
            </a:r>
          </a:p>
          <a:p>
            <a:pPr>
              <a:buSzPct val="100000"/>
            </a:pPr>
            <a:r>
              <a:rPr lang="en-US" sz="3200" dirty="0"/>
              <a:t>It improves image formation and helps prevent unnecessary radiation exposure</a:t>
            </a:r>
          </a:p>
          <a:p>
            <a:pPr>
              <a:buSzPct val="100000"/>
            </a:pPr>
            <a:r>
              <a:rPr lang="en-US" sz="3200" dirty="0"/>
              <a:t>It reduces film screen mismatch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562083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E2D78-BC54-61F9-7812-0086CDA74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679" y="1"/>
            <a:ext cx="11253667" cy="801858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EE0000"/>
                </a:solidFill>
              </a:rPr>
              <a:t>Classes of spectral sensitivity</a:t>
            </a:r>
            <a:endParaRPr lang="en-US" sz="3600" dirty="0">
              <a:solidFill>
                <a:srgbClr val="EE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8811A2-4B2C-92DD-1790-58DE42E7D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36" y="1488931"/>
            <a:ext cx="11253668" cy="5249494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4000" b="1" dirty="0"/>
              <a:t>Blue-sensitive film (monochromatic film)</a:t>
            </a:r>
          </a:p>
          <a:p>
            <a:pPr>
              <a:defRPr sz="2000">
                <a:solidFill>
                  <a:srgbClr val="253441"/>
                </a:solidFill>
                <a:latin typeface="Aptos"/>
              </a:defRPr>
            </a:pPr>
            <a:r>
              <a:rPr lang="en-US" sz="4000" dirty="0"/>
              <a:t>Responds mainly to blue and near-ultraviolet light with a wavelength of 380-495nm.</a:t>
            </a:r>
          </a:p>
          <a:p>
            <a:pPr>
              <a:defRPr sz="2000">
                <a:solidFill>
                  <a:srgbClr val="253441"/>
                </a:solidFill>
                <a:latin typeface="Aptos"/>
              </a:defRPr>
            </a:pPr>
            <a:r>
              <a:rPr lang="en-US" sz="4000" dirty="0"/>
              <a:t>Used with compatible blue-emitting intensifying screens such as calcium tungstate</a:t>
            </a:r>
          </a:p>
          <a:p>
            <a:pPr>
              <a:defRPr sz="2000">
                <a:solidFill>
                  <a:srgbClr val="253441"/>
                </a:solidFill>
                <a:latin typeface="Aptos"/>
              </a:defRPr>
            </a:pPr>
            <a:r>
              <a:rPr lang="en-US" sz="4000" dirty="0"/>
              <a:t>Safelight conditions must match the film specification.</a:t>
            </a:r>
          </a:p>
          <a:p>
            <a:pPr>
              <a:defRPr sz="2000">
                <a:solidFill>
                  <a:srgbClr val="253441"/>
                </a:solidFill>
                <a:latin typeface="Aptos"/>
              </a:defRPr>
            </a:pPr>
            <a:r>
              <a:rPr lang="en-US" sz="4000" dirty="0"/>
              <a:t>Correct pairing supports efficient image formation</a:t>
            </a:r>
          </a:p>
        </p:txBody>
      </p:sp>
    </p:spTree>
    <p:extLst>
      <p:ext uri="{BB962C8B-B14F-4D97-AF65-F5344CB8AC3E}">
        <p14:creationId xmlns:p14="http://schemas.microsoft.com/office/powerpoint/2010/main" val="11087338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6377D-FA50-62EB-8A8D-742B32302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679" y="126609"/>
            <a:ext cx="11253667" cy="1280160"/>
          </a:xfrm>
        </p:spPr>
        <p:txBody>
          <a:bodyPr>
            <a:noAutofit/>
          </a:bodyPr>
          <a:lstStyle/>
          <a:p>
            <a:pPr algn="ctr"/>
            <a:br>
              <a:rPr lang="en-US" sz="3600" dirty="0"/>
            </a:br>
            <a:br>
              <a:rPr lang="en-US" sz="3600" dirty="0"/>
            </a:br>
            <a:br>
              <a:rPr lang="en-US" sz="3600" dirty="0"/>
            </a:br>
            <a:br>
              <a:rPr lang="en-US" sz="3600" dirty="0"/>
            </a:br>
            <a:br>
              <a:rPr lang="en-US" sz="3600" dirty="0"/>
            </a:br>
            <a:br>
              <a:rPr lang="en-US" sz="3600" dirty="0"/>
            </a:br>
            <a:br>
              <a:rPr lang="en-US" sz="3600" dirty="0"/>
            </a:br>
            <a:br>
              <a:rPr lang="en-US" sz="3600" dirty="0"/>
            </a:br>
            <a:br>
              <a:rPr lang="en-US" sz="3600" dirty="0"/>
            </a:br>
            <a:br>
              <a:rPr lang="en-US" sz="3600" dirty="0"/>
            </a:br>
            <a:br>
              <a:rPr lang="en-US" sz="3600" dirty="0"/>
            </a:br>
            <a:br>
              <a:rPr lang="en-US" sz="3600" dirty="0"/>
            </a:br>
            <a:br>
              <a:rPr lang="en-US" sz="3600" dirty="0"/>
            </a:br>
            <a:br>
              <a:rPr lang="en-US" sz="3600" dirty="0"/>
            </a:br>
            <a:r>
              <a:rPr lang="en-US" sz="3600" dirty="0">
                <a:solidFill>
                  <a:srgbClr val="EE0000"/>
                </a:solidFill>
              </a:rPr>
              <a:t>Green-sensitive film</a:t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FED26F-AAD9-F1E1-BFED-F052CB6FD9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36" y="1406769"/>
            <a:ext cx="11253668" cy="4782923"/>
          </a:xfrm>
        </p:spPr>
        <p:txBody>
          <a:bodyPr>
            <a:normAutofit lnSpcReduction="10000"/>
          </a:bodyPr>
          <a:lstStyle/>
          <a:p>
            <a:pPr>
              <a:defRPr sz="2000">
                <a:solidFill>
                  <a:srgbClr val="253441"/>
                </a:solidFill>
                <a:latin typeface="Aptos"/>
              </a:defRPr>
            </a:pPr>
            <a:r>
              <a:rPr lang="en-US" sz="4000" dirty="0"/>
              <a:t>Also called orthochromatic film with a wavelength of 495-570nm</a:t>
            </a:r>
          </a:p>
          <a:p>
            <a:pPr>
              <a:defRPr sz="2000">
                <a:solidFill>
                  <a:srgbClr val="253441"/>
                </a:solidFill>
                <a:latin typeface="Aptos"/>
              </a:defRPr>
            </a:pPr>
            <a:endParaRPr lang="en-US" sz="4000" dirty="0"/>
          </a:p>
          <a:p>
            <a:pPr>
              <a:defRPr sz="2000">
                <a:solidFill>
                  <a:srgbClr val="253441"/>
                </a:solidFill>
                <a:latin typeface="Aptos"/>
              </a:defRPr>
            </a:pPr>
            <a:r>
              <a:rPr lang="en-US" sz="4000" dirty="0"/>
              <a:t>Used with green-emitting rare-earth screens.</a:t>
            </a:r>
          </a:p>
          <a:p>
            <a:pPr>
              <a:defRPr sz="2000">
                <a:solidFill>
                  <a:srgbClr val="253441"/>
                </a:solidFill>
                <a:latin typeface="Aptos"/>
              </a:defRPr>
            </a:pPr>
            <a:endParaRPr lang="en-US" sz="4000" dirty="0"/>
          </a:p>
          <a:p>
            <a:pPr>
              <a:defRPr sz="2000">
                <a:solidFill>
                  <a:srgbClr val="253441"/>
                </a:solidFill>
                <a:latin typeface="Aptos"/>
              </a:defRPr>
            </a:pPr>
            <a:r>
              <a:rPr lang="en-US" sz="4000" dirty="0"/>
              <a:t>Best in diagnostic radiography</a:t>
            </a:r>
          </a:p>
        </p:txBody>
      </p:sp>
    </p:spTree>
    <p:extLst>
      <p:ext uri="{BB962C8B-B14F-4D97-AF65-F5344CB8AC3E}">
        <p14:creationId xmlns:p14="http://schemas.microsoft.com/office/powerpoint/2010/main" val="25435816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F6E9D-2ECC-D637-C560-0D4480D1B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679" y="1"/>
            <a:ext cx="11253667" cy="1308294"/>
          </a:xfrm>
        </p:spPr>
        <p:txBody>
          <a:bodyPr>
            <a:noAutofit/>
          </a:bodyPr>
          <a:lstStyle/>
          <a:p>
            <a:pPr algn="ctr"/>
            <a:r>
              <a:rPr lang="en-US" b="1" dirty="0">
                <a:solidFill>
                  <a:srgbClr val="EE0000"/>
                </a:solidFill>
              </a:rPr>
              <a:t>Panchromatic film</a:t>
            </a:r>
            <a:br>
              <a:rPr lang="en-US" b="1" dirty="0">
                <a:solidFill>
                  <a:srgbClr val="EE0000"/>
                </a:solidFill>
              </a:rPr>
            </a:br>
            <a:endParaRPr lang="en-US" b="1" dirty="0">
              <a:solidFill>
                <a:srgbClr val="EE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DB4CF4-8C35-74F7-F97D-ED5DD67D92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defRPr sz="2000">
                <a:solidFill>
                  <a:srgbClr val="253441"/>
                </a:solidFill>
                <a:latin typeface="Aptos"/>
              </a:defRPr>
            </a:pPr>
            <a:r>
              <a:rPr lang="en-US" sz="3600" dirty="0"/>
              <a:t>Sensitive across much of the visible spectrum, including red.</a:t>
            </a:r>
          </a:p>
          <a:p>
            <a:pPr>
              <a:defRPr sz="2000">
                <a:solidFill>
                  <a:srgbClr val="253441"/>
                </a:solidFill>
                <a:latin typeface="Aptos"/>
              </a:defRPr>
            </a:pPr>
            <a:r>
              <a:rPr lang="en-US" sz="3600" dirty="0"/>
              <a:t>Have a wavelength of about 570-750 nm</a:t>
            </a:r>
          </a:p>
          <a:p>
            <a:pPr>
              <a:defRPr sz="2000">
                <a:solidFill>
                  <a:srgbClr val="253441"/>
                </a:solidFill>
                <a:latin typeface="Aptos"/>
              </a:defRPr>
            </a:pPr>
            <a:r>
              <a:rPr lang="en-US" sz="3600" dirty="0"/>
              <a:t>Used in selected photographic applications.</a:t>
            </a:r>
          </a:p>
          <a:p>
            <a:pPr>
              <a:defRPr sz="2000">
                <a:solidFill>
                  <a:srgbClr val="253441"/>
                </a:solidFill>
                <a:latin typeface="Aptos"/>
              </a:defRPr>
            </a:pPr>
            <a:r>
              <a:rPr lang="en-US" sz="3600" dirty="0"/>
              <a:t>Requires careful safelight control.</a:t>
            </a:r>
          </a:p>
          <a:p>
            <a:pPr>
              <a:defRPr sz="2000">
                <a:solidFill>
                  <a:srgbClr val="253441"/>
                </a:solidFill>
                <a:latin typeface="Aptos"/>
              </a:defRPr>
            </a:pPr>
            <a:r>
              <a:rPr lang="en-US" sz="3600" dirty="0"/>
              <a:t>Not interchangeable with all radiographic screen films</a:t>
            </a:r>
          </a:p>
          <a:p>
            <a:pPr>
              <a:defRPr sz="2000">
                <a:solidFill>
                  <a:srgbClr val="253441"/>
                </a:solidFill>
                <a:latin typeface="Aptos"/>
              </a:defRPr>
            </a:pPr>
            <a:r>
              <a:rPr lang="en-US" sz="3600" dirty="0"/>
              <a:t>Responds to all visible light; rare in radiography; total darkness</a:t>
            </a:r>
          </a:p>
          <a:p>
            <a:pPr marL="0" indent="0">
              <a:buNone/>
              <a:defRPr sz="2000">
                <a:solidFill>
                  <a:srgbClr val="253441"/>
                </a:solidFill>
                <a:latin typeface="Aptos"/>
              </a:defRPr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796246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D804A-2F56-7C9D-46A8-17592DEFF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679" y="182881"/>
            <a:ext cx="11253667" cy="633046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2"/>
                </a:solidFill>
              </a:rPr>
              <a:t>Safelights and spectral sensitivity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95E4913-2BBD-4D4C-61A9-449EDF4C77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94740552"/>
              </p:ext>
            </p:extLst>
          </p:nvPr>
        </p:nvGraphicFramePr>
        <p:xfrm>
          <a:off x="98474" y="1606505"/>
          <a:ext cx="12093526" cy="6170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95540">
                  <a:extLst>
                    <a:ext uri="{9D8B030D-6E8A-4147-A177-3AD203B41FA5}">
                      <a16:colId xmlns:a16="http://schemas.microsoft.com/office/drawing/2014/main" val="3112451242"/>
                    </a:ext>
                  </a:extLst>
                </a:gridCol>
                <a:gridCol w="7097986">
                  <a:extLst>
                    <a:ext uri="{9D8B030D-6E8A-4147-A177-3AD203B41FA5}">
                      <a16:colId xmlns:a16="http://schemas.microsoft.com/office/drawing/2014/main" val="3595764668"/>
                    </a:ext>
                  </a:extLst>
                </a:gridCol>
              </a:tblGrid>
              <a:tr h="11325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b="1" dirty="0">
                          <a:solidFill>
                            <a:schemeClr val="bg1"/>
                          </a:solidFill>
                        </a:rPr>
                        <a:t>Film class</a:t>
                      </a:r>
                      <a:endParaRPr lang="en-US" sz="3600" dirty="0"/>
                    </a:p>
                    <a:p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b="1" dirty="0">
                          <a:solidFill>
                            <a:schemeClr val="bg1"/>
                          </a:solidFill>
                        </a:rPr>
                        <a:t>Suitable safelight</a:t>
                      </a:r>
                      <a:endParaRPr lang="en-US" sz="3600" dirty="0"/>
                    </a:p>
                    <a:p>
                      <a:endParaRPr lang="en-US" sz="3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3593464"/>
                  </a:ext>
                </a:extLst>
              </a:tr>
              <a:tr h="11325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b="1" dirty="0">
                          <a:solidFill>
                            <a:schemeClr val="tx1"/>
                          </a:solidFill>
                        </a:rPr>
                        <a:t>Blue-sensitive</a:t>
                      </a:r>
                      <a:endParaRPr lang="en-US" sz="3600" dirty="0"/>
                    </a:p>
                    <a:p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Amber or light red filter</a:t>
                      </a:r>
                      <a:endParaRPr lang="en-US" sz="3600" dirty="0"/>
                    </a:p>
                    <a:p>
                      <a:endParaRPr lang="en-US" sz="3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2596195"/>
                  </a:ext>
                </a:extLst>
              </a:tr>
              <a:tr h="11325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b="1" dirty="0">
                          <a:solidFill>
                            <a:schemeClr val="tx1"/>
                          </a:solidFill>
                        </a:rPr>
                        <a:t>Orthochromatic</a:t>
                      </a:r>
                      <a:endParaRPr lang="en-US" sz="3600" dirty="0"/>
                    </a:p>
                    <a:p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Dark red filter (GBX-2 type)</a:t>
                      </a:r>
                      <a:endParaRPr lang="en-US" sz="3600" dirty="0"/>
                    </a:p>
                    <a:p>
                      <a:endParaRPr lang="en-US" sz="3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0204289"/>
                  </a:ext>
                </a:extLst>
              </a:tr>
              <a:tr h="16552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b="1" dirty="0">
                          <a:solidFill>
                            <a:schemeClr val="tx1"/>
                          </a:solidFill>
                        </a:rPr>
                        <a:t>Panchromatic </a:t>
                      </a:r>
                      <a:endParaRPr lang="en-US" sz="3600" dirty="0"/>
                    </a:p>
                    <a:p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Total darkness or manufacturer's dim safelight</a:t>
                      </a:r>
                      <a:endParaRPr lang="en-US" sz="3600" dirty="0"/>
                    </a:p>
                    <a:p>
                      <a:endParaRPr lang="en-US" sz="3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795130"/>
                  </a:ext>
                </a:extLst>
              </a:tr>
              <a:tr h="867152">
                <a:tc>
                  <a:txBody>
                    <a:bodyPr/>
                    <a:lstStyle/>
                    <a:p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4139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229743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F91CD-D3BE-A901-6E9A-901B1F8C2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679" y="1"/>
            <a:ext cx="11253667" cy="801858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err="1">
                <a:solidFill>
                  <a:srgbClr val="EE0000"/>
                </a:solidFill>
              </a:rPr>
              <a:t>Specialised</a:t>
            </a:r>
            <a:r>
              <a:rPr lang="en-US" sz="3600" b="1" dirty="0">
                <a:solidFill>
                  <a:srgbClr val="EE0000"/>
                </a:solidFill>
              </a:rPr>
              <a:t> Photographic Materials</a:t>
            </a:r>
            <a:endParaRPr lang="en-US" sz="3600" dirty="0">
              <a:solidFill>
                <a:srgbClr val="EE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EEBE0-08B8-3871-68C7-12C3DA7D64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36" y="942535"/>
            <a:ext cx="11253668" cy="5247157"/>
          </a:xfrm>
        </p:spPr>
        <p:txBody>
          <a:bodyPr>
            <a:normAutofit/>
          </a:bodyPr>
          <a:lstStyle/>
          <a:p>
            <a:r>
              <a:rPr lang="en-US" sz="2800" dirty="0"/>
              <a:t>Involves Cine, CT, duplicating, MRI and instant films</a:t>
            </a:r>
          </a:p>
          <a:p>
            <a:pPr marL="0" indent="0" algn="ctr">
              <a:buNone/>
            </a:pPr>
            <a:r>
              <a:rPr lang="en-US" sz="4400" b="1" dirty="0"/>
              <a:t>CINE FILM</a:t>
            </a:r>
          </a:p>
          <a:p>
            <a:pPr>
              <a:spcAft>
                <a:spcPts val="900"/>
              </a:spcAft>
            </a:pPr>
            <a:r>
              <a:rPr lang="en-US" sz="2800" dirty="0"/>
              <a:t>Coronary angiography and ventriculography</a:t>
            </a:r>
          </a:p>
          <a:p>
            <a:pPr>
              <a:spcAft>
                <a:spcPts val="900"/>
              </a:spcAft>
            </a:pPr>
            <a:r>
              <a:rPr lang="en-US" sz="2800" dirty="0"/>
              <a:t>Dynamic studies of swallowing and gastrointestinal motion</a:t>
            </a:r>
          </a:p>
          <a:p>
            <a:pPr marL="0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28169168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B395E-61AE-9FCF-6046-295A7E51F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679" y="126609"/>
            <a:ext cx="11253667" cy="717454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EE0000"/>
                </a:solidFill>
              </a:rPr>
              <a:t>Duplicating film</a:t>
            </a:r>
            <a:endParaRPr lang="en-US" dirty="0">
              <a:solidFill>
                <a:srgbClr val="EE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A31F7-35C9-0FD8-2D16-00CB0718DA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36" y="1488931"/>
            <a:ext cx="11253668" cy="496814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4000" dirty="0"/>
              <a:t>Necessary for</a:t>
            </a:r>
          </a:p>
          <a:p>
            <a:r>
              <a:rPr lang="en-US" sz="4000" dirty="0"/>
              <a:t>Teaching- </a:t>
            </a:r>
            <a:r>
              <a:rPr lang="en-US" sz="4000" dirty="0" err="1"/>
              <a:t>e.g</a:t>
            </a:r>
            <a:r>
              <a:rPr lang="en-US" sz="4000" dirty="0"/>
              <a:t> for lectures and conferences</a:t>
            </a:r>
          </a:p>
          <a:p>
            <a:r>
              <a:rPr lang="en-US" sz="4000" dirty="0"/>
              <a:t>For referral purposes- Sent with the patient for a second opinion</a:t>
            </a:r>
          </a:p>
          <a:p>
            <a:r>
              <a:rPr lang="en-US" sz="4000" dirty="0">
                <a:solidFill>
                  <a:schemeClr val="tx2"/>
                </a:solidFill>
              </a:rPr>
              <a:t>Medico-legal purposes</a:t>
            </a:r>
          </a:p>
          <a:p>
            <a:r>
              <a:rPr lang="en-US" sz="4000" dirty="0">
                <a:solidFill>
                  <a:schemeClr val="tx2"/>
                </a:solidFill>
              </a:rPr>
              <a:t>Back up when necessary</a:t>
            </a:r>
            <a:endParaRPr lang="en-US" sz="4000" dirty="0"/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5785824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55B2A-23B9-1279-4E6B-B7846D9B0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679" y="211016"/>
            <a:ext cx="11253667" cy="731520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EE0000"/>
                </a:solidFill>
              </a:rPr>
              <a:t>MRI (NMR) film: principle</a:t>
            </a:r>
            <a:endParaRPr lang="en-US" dirty="0">
              <a:solidFill>
                <a:srgbClr val="EE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E4F1DE-7B1C-2AED-6626-758A5A08AE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spcAft>
                <a:spcPts val="900"/>
              </a:spcAft>
              <a:buSzPct val="100000"/>
            </a:pPr>
            <a:r>
              <a:rPr lang="en-US" sz="3200" dirty="0"/>
              <a:t>MRI film usually means a printed hard copy</a:t>
            </a:r>
          </a:p>
          <a:p>
            <a:pPr>
              <a:spcAft>
                <a:spcPts val="900"/>
              </a:spcAft>
              <a:buSzPct val="100000"/>
            </a:pPr>
            <a:r>
              <a:rPr lang="en-US" sz="3200" dirty="0"/>
              <a:t>Images are produced on the workstation and printed from there</a:t>
            </a:r>
          </a:p>
          <a:p>
            <a:pPr>
              <a:spcAft>
                <a:spcPts val="900"/>
              </a:spcAft>
              <a:buSzPct val="100000"/>
            </a:pPr>
            <a:r>
              <a:rPr lang="en-US" sz="3200" dirty="0"/>
              <a:t>Multi-sequence layouts: proton density, T1, T2 and FLAIR on one sheet</a:t>
            </a:r>
          </a:p>
          <a:p>
            <a:pPr>
              <a:spcAft>
                <a:spcPts val="900"/>
              </a:spcAft>
              <a:buSzPct val="100000"/>
            </a:pPr>
            <a:r>
              <a:rPr lang="en-US" sz="3200" dirty="0"/>
              <a:t>Axial, sagittal and coronal</a:t>
            </a:r>
          </a:p>
          <a:p>
            <a:pPr>
              <a:spcAft>
                <a:spcPts val="900"/>
              </a:spcAft>
              <a:buSzPct val="100000"/>
            </a:pPr>
            <a:r>
              <a:rPr lang="en-US" sz="3200" dirty="0"/>
              <a:t>Typical matrix: 256 × 256 or 512 × 512 pixel</a:t>
            </a:r>
          </a:p>
          <a:p>
            <a:pPr marL="0" indent="0">
              <a:spcAft>
                <a:spcPts val="900"/>
              </a:spcAft>
              <a:buSzPct val="100000"/>
              <a:buNone/>
            </a:pPr>
            <a:r>
              <a:rPr lang="en-US" sz="3200" dirty="0"/>
              <a:t>N/B </a:t>
            </a:r>
            <a:r>
              <a:rPr lang="en-US" sz="3200" i="1" dirty="0">
                <a:solidFill>
                  <a:schemeClr val="tx2"/>
                </a:solidFill>
              </a:rPr>
              <a:t>MRI film is the same hard-copy film used for CT.</a:t>
            </a:r>
            <a:endParaRPr lang="en-US" sz="3200" dirty="0"/>
          </a:p>
          <a:p>
            <a:pPr marL="0" indent="0">
              <a:spcAft>
                <a:spcPts val="900"/>
              </a:spcAft>
              <a:buSzPct val="100000"/>
              <a:buNone/>
            </a:pPr>
            <a:endParaRPr lang="en-US" sz="3200" dirty="0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85141400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CC53C-209B-E6DA-2C41-CD8C9518E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679" y="112542"/>
            <a:ext cx="11253667" cy="717453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EE0000"/>
                </a:solidFill>
              </a:rPr>
              <a:t>CT film</a:t>
            </a:r>
            <a:endParaRPr lang="en-US" dirty="0">
              <a:solidFill>
                <a:srgbClr val="EE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61F40-2CF3-327C-4A5E-69BC24ABF4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900"/>
              </a:spcAft>
              <a:buSzPct val="100000"/>
            </a:pPr>
            <a:r>
              <a:rPr lang="en-US" sz="3600" dirty="0"/>
              <a:t>Many images can be printed per sheet</a:t>
            </a:r>
          </a:p>
          <a:p>
            <a:pPr>
              <a:spcAft>
                <a:spcPts val="900"/>
              </a:spcAft>
              <a:buSzPct val="100000"/>
            </a:pPr>
            <a:r>
              <a:rPr lang="en-US" sz="3600" dirty="0"/>
              <a:t>Separate window settings for soft tissue, lung and bone</a:t>
            </a:r>
          </a:p>
          <a:p>
            <a:pPr>
              <a:spcAft>
                <a:spcPts val="900"/>
              </a:spcAft>
              <a:buSzPct val="100000"/>
            </a:pPr>
            <a:r>
              <a:rPr lang="en-US" sz="3600" dirty="0"/>
              <a:t>Used for referral, surgical planning and oncology follow-up</a:t>
            </a:r>
          </a:p>
          <a:p>
            <a:pPr>
              <a:spcAft>
                <a:spcPts val="900"/>
              </a:spcAft>
              <a:buSzPct val="100000"/>
            </a:pPr>
            <a:r>
              <a:rPr lang="en-US" sz="3600" dirty="0"/>
              <a:t>Soft-copy viewing on PACS reduces filming</a:t>
            </a:r>
          </a:p>
          <a:p>
            <a:pPr marL="0" indent="0">
              <a:buNone/>
            </a:pPr>
            <a:r>
              <a:rPr lang="en-US" sz="3600" dirty="0"/>
              <a:t>N/B </a:t>
            </a:r>
            <a:r>
              <a:rPr lang="en-US" sz="3600" i="1" dirty="0">
                <a:solidFill>
                  <a:schemeClr val="tx2"/>
                </a:solidFill>
              </a:rPr>
              <a:t>Window settings decide image appearance on the film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84281493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86424-B748-CAA3-CC4E-B9295FAE8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679" y="154746"/>
            <a:ext cx="11253667" cy="647112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EE0000"/>
                </a:solidFill>
              </a:rPr>
              <a:t>Instant (Polaroid) film</a:t>
            </a:r>
            <a:endParaRPr lang="en-US" dirty="0">
              <a:solidFill>
                <a:srgbClr val="EE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9B36DA-0892-B756-AF43-4BE29638A9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SzPct val="100000"/>
            </a:pPr>
            <a:r>
              <a:rPr lang="en-US" sz="4000" dirty="0"/>
              <a:t>Quick prints, mostly from ultrasound</a:t>
            </a:r>
          </a:p>
          <a:p>
            <a:pPr>
              <a:spcAft>
                <a:spcPts val="1000"/>
              </a:spcAft>
              <a:buSzPct val="100000"/>
            </a:pPr>
            <a:r>
              <a:rPr lang="en-US" sz="4000" dirty="0"/>
              <a:t>Poor long-term stability</a:t>
            </a:r>
          </a:p>
          <a:p>
            <a:pPr>
              <a:spcAft>
                <a:spcPts val="1000"/>
              </a:spcAft>
              <a:buSzPct val="100000"/>
            </a:pPr>
            <a:r>
              <a:rPr lang="en-US" sz="4000" dirty="0"/>
              <a:t>Higher cost per print</a:t>
            </a:r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10578969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5F5A8-C3B8-C56E-F9DE-9D4F8F5D3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679" y="182880"/>
            <a:ext cx="11253667" cy="759655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EE0000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32269-9818-4B76-A4F1-B37A95C498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800" dirty="0"/>
              <a:t>Medical image processing is an essential aspect of radiography that transforms image forming information into useful diagnostic images.</a:t>
            </a:r>
          </a:p>
        </p:txBody>
      </p:sp>
    </p:spTree>
    <p:extLst>
      <p:ext uri="{BB962C8B-B14F-4D97-AF65-F5344CB8AC3E}">
        <p14:creationId xmlns:p14="http://schemas.microsoft.com/office/powerpoint/2010/main" val="353156405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A1FF4-660E-6F08-22B0-2CB7EC5A7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679" y="98474"/>
            <a:ext cx="11253667" cy="703385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EE0000"/>
                </a:solidFill>
              </a:rPr>
              <a:t>References</a:t>
            </a:r>
            <a:endParaRPr lang="en-US" dirty="0">
              <a:solidFill>
                <a:srgbClr val="EE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BCBDE-65FD-06AB-AD9A-51501046CD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22363"/>
            <a:ext cx="12084148" cy="5535637"/>
          </a:xfrm>
        </p:spPr>
        <p:txBody>
          <a:bodyPr>
            <a:normAutofit/>
          </a:bodyPr>
          <a:lstStyle/>
          <a:p>
            <a:pPr marL="0" indent="0">
              <a:spcAft>
                <a:spcPts val="800"/>
              </a:spcAft>
              <a:buNone/>
            </a:pPr>
            <a:r>
              <a:rPr lang="en-US" sz="2400" dirty="0"/>
              <a:t>1. Bushong SC. Radiologic science for technologists: physics, biology, and protection. 11th ed. St. Louis: Elsevier; 2017.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en-US" sz="2400" dirty="0"/>
              <a:t>2. Carlton RR, Adler AM, </a:t>
            </a:r>
            <a:r>
              <a:rPr lang="en-US" sz="2400" dirty="0" err="1"/>
              <a:t>Balac</a:t>
            </a:r>
            <a:r>
              <a:rPr lang="en-US" sz="2400" dirty="0"/>
              <a:t> V. Principles of radiographic imaging: an art and a science. 6th ed. Boston: Cengage Learning; 2019.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en-US" sz="2400" dirty="0"/>
              <a:t>3. </a:t>
            </a:r>
            <a:r>
              <a:rPr lang="en-US" sz="2400" dirty="0" err="1"/>
              <a:t>Bushberg</a:t>
            </a:r>
            <a:r>
              <a:rPr lang="en-US" sz="2400" dirty="0"/>
              <a:t> JT, Seibert JA, Leidholdt EM Jr, Boone JM. The essential physics of medical imaging. 3rd ed. Philadelphia: Lippincott Williams &amp; Wilkins; 2012.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en-US" sz="2400" dirty="0"/>
              <a:t>4. Ball JL, Moore AD, Turner S. Ball and Moore's essential physics for radiographers. 4th ed. Oxford: Wiley-Blackwell; 2008.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en-US" sz="2400" dirty="0"/>
              <a:t>5. Hendee WR, Ritenour ER. Medical imaging physics. 4th ed. New York: Wiley-Liss; 2002.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7334543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AF1337-67A5-EF4F-E8B3-397583D26F8A}"/>
              </a:ext>
            </a:extLst>
          </p:cNvPr>
          <p:cNvSpPr txBox="1"/>
          <p:nvPr/>
        </p:nvSpPr>
        <p:spPr>
          <a:xfrm rot="19135498">
            <a:off x="2973253" y="2700996"/>
            <a:ext cx="624549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i="1" dirty="0"/>
              <a:t>Thanks for listening</a:t>
            </a:r>
          </a:p>
        </p:txBody>
      </p:sp>
    </p:spTree>
    <p:extLst>
      <p:ext uri="{BB962C8B-B14F-4D97-AF65-F5344CB8AC3E}">
        <p14:creationId xmlns:p14="http://schemas.microsoft.com/office/powerpoint/2010/main" val="3713406825"/>
      </p:ext>
    </p:extLst>
  </p:cSld>
  <p:clrMapOvr>
    <a:masterClrMapping/>
  </p:clrMapOvr>
</p:sld>
</file>

<file path=ppt/theme/theme1.xml><?xml version="1.0" encoding="utf-8"?>
<a:theme xmlns:a="http://schemas.openxmlformats.org/drawingml/2006/main" name="Lines">
  <a:themeElements>
    <a:clrScheme name="Lines">
      <a:dk1>
        <a:srgbClr val="0F0F0F"/>
      </a:dk1>
      <a:lt1>
        <a:sysClr val="window" lastClr="FFFFFF"/>
      </a:lt1>
      <a:dk2>
        <a:srgbClr val="0A242A"/>
      </a:dk2>
      <a:lt2>
        <a:srgbClr val="F5F2ED"/>
      </a:lt2>
      <a:accent1>
        <a:srgbClr val="E45730"/>
      </a:accent1>
      <a:accent2>
        <a:srgbClr val="27717D"/>
      </a:accent2>
      <a:accent3>
        <a:srgbClr val="8CA8B5"/>
      </a:accent3>
      <a:accent4>
        <a:srgbClr val="607381"/>
      </a:accent4>
      <a:accent5>
        <a:srgbClr val="A39990"/>
      </a:accent5>
      <a:accent6>
        <a:srgbClr val="BA3106"/>
      </a:accent6>
      <a:hlink>
        <a:srgbClr val="E45730"/>
      </a:hlink>
      <a:folHlink>
        <a:srgbClr val="24717F"/>
      </a:folHlink>
    </a:clrScheme>
    <a:fontScheme name="Univers Condensed Arial Light">
      <a:majorFont>
        <a:latin typeface="Univers Condensed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Lines" id="{73C0D9B4-D252-4142-B71F-89E39AB3FA27}" vid="{AF756BC4-928A-4ACB-8AC0-2FBFD00AF4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Lines</Template>
  <TotalTime>722</TotalTime>
  <Words>2061</Words>
  <Application>Microsoft Office PowerPoint</Application>
  <PresentationFormat>Widescreen</PresentationFormat>
  <Paragraphs>293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1" baseType="lpstr">
      <vt:lpstr>Aptos</vt:lpstr>
      <vt:lpstr>Arial</vt:lpstr>
      <vt:lpstr>Arial Nova Light</vt:lpstr>
      <vt:lpstr>Calibri</vt:lpstr>
      <vt:lpstr>Univers Condensed</vt:lpstr>
      <vt:lpstr>Lines</vt:lpstr>
      <vt:lpstr>PowerPoint Presentation</vt:lpstr>
      <vt:lpstr>OUTLINE</vt:lpstr>
      <vt:lpstr> Aim and learning outcomes </vt:lpstr>
      <vt:lpstr>XRAY FILM STRUTURE</vt:lpstr>
      <vt:lpstr>Types of xray film </vt:lpstr>
      <vt:lpstr>PowerPoint Presentation</vt:lpstr>
      <vt:lpstr>Cross-section of a double-emulsion film</vt:lpstr>
      <vt:lpstr>Film structure at a glance </vt:lpstr>
      <vt:lpstr> Film base </vt:lpstr>
      <vt:lpstr>    Emulsion and gelatin </vt:lpstr>
      <vt:lpstr>       Silver-halide crystals </vt:lpstr>
      <vt:lpstr>Latent image: from invisible to visible (from invisible exposure to visible radiographic image) </vt:lpstr>
      <vt:lpstr>The cassette and intensifying screens </vt:lpstr>
      <vt:lpstr>                                  Adhesive layer  </vt:lpstr>
      <vt:lpstr>SUPERCOAT</vt:lpstr>
      <vt:lpstr>Major types of radiographic film </vt:lpstr>
      <vt:lpstr>Screen film </vt:lpstr>
      <vt:lpstr>Direct-exposure film </vt:lpstr>
      <vt:lpstr>Mammography film-screen systems </vt:lpstr>
      <vt:lpstr>Dental radiographic films </vt:lpstr>
      <vt:lpstr>Intraoral and extraoral Dental films</vt:lpstr>
      <vt:lpstr>Common film sizes </vt:lpstr>
      <vt:lpstr> Film processing </vt:lpstr>
      <vt:lpstr>Developer: what it does </vt:lpstr>
      <vt:lpstr>RINSE,Fixer, washing and drying </vt:lpstr>
      <vt:lpstr>Safe film handling </vt:lpstr>
      <vt:lpstr>Film storage</vt:lpstr>
      <vt:lpstr>Darkroom and safelight practice </vt:lpstr>
      <vt:lpstr>Common handling artefacts</vt:lpstr>
      <vt:lpstr>roll films</vt:lpstr>
      <vt:lpstr>Roll film sizes and uses</vt:lpstr>
      <vt:lpstr>Other photographic materials: beyond xray film</vt:lpstr>
      <vt:lpstr>Spectral Sensitivity of Films</vt:lpstr>
      <vt:lpstr>Classes of spectral sensitivity</vt:lpstr>
      <vt:lpstr>              Green-sensitive film </vt:lpstr>
      <vt:lpstr>Panchromatic film </vt:lpstr>
      <vt:lpstr>Safelights and spectral sensitivity</vt:lpstr>
      <vt:lpstr>Specialised Photographic Materials</vt:lpstr>
      <vt:lpstr>Duplicating film</vt:lpstr>
      <vt:lpstr>MRI (NMR) film: principle</vt:lpstr>
      <vt:lpstr>CT film</vt:lpstr>
      <vt:lpstr>Instant (Polaroid) film</vt:lpstr>
      <vt:lpstr>CONCLUSION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Egop Brownson Egop</dc:creator>
  <cp:lastModifiedBy>Egop Brownson Egop</cp:lastModifiedBy>
  <cp:revision>55</cp:revision>
  <dcterms:created xsi:type="dcterms:W3CDTF">2026-10-17T14:18:59Z</dcterms:created>
  <dcterms:modified xsi:type="dcterms:W3CDTF">2026-10-20T05:03:56Z</dcterms:modified>
</cp:coreProperties>
</file>