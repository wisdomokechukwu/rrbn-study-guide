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3" r:id="rId2"/>
    <p:sldId id="256" r:id="rId3"/>
    <p:sldId id="257" r:id="rId4"/>
    <p:sldId id="258" r:id="rId5"/>
    <p:sldId id="284" r:id="rId6"/>
    <p:sldId id="259" r:id="rId7"/>
    <p:sldId id="260" r:id="rId8"/>
    <p:sldId id="261" r:id="rId9"/>
    <p:sldId id="262" r:id="rId10"/>
    <p:sldId id="263" r:id="rId11"/>
    <p:sldId id="264" r:id="rId12"/>
    <p:sldId id="265" r:id="rId13"/>
    <p:sldId id="266" r:id="rId14"/>
    <p:sldId id="267" r:id="rId15"/>
    <p:sldId id="270" r:id="rId16"/>
    <p:sldId id="272" r:id="rId17"/>
    <p:sldId id="271" r:id="rId18"/>
    <p:sldId id="273" r:id="rId19"/>
    <p:sldId id="274" r:id="rId20"/>
    <p:sldId id="275" r:id="rId21"/>
    <p:sldId id="276" r:id="rId22"/>
    <p:sldId id="277" r:id="rId23"/>
    <p:sldId id="278" r:id="rId24"/>
    <p:sldId id="279" r:id="rId25"/>
    <p:sldId id="285" r:id="rId26"/>
    <p:sldId id="280" r:id="rId27"/>
    <p:sldId id="281" r:id="rId28"/>
    <p:sldId id="286" r:id="rId29"/>
    <p:sldId id="287"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00" autoAdjust="0"/>
    <p:restoredTop sz="94660"/>
  </p:normalViewPr>
  <p:slideViewPr>
    <p:cSldViewPr>
      <p:cViewPr>
        <p:scale>
          <a:sx n="70" d="100"/>
          <a:sy n="70" d="100"/>
        </p:scale>
        <p:origin x="-1614" y="-1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865D0E97-9AAA-48EC-9423-10316851B6A4}" type="datetimeFigureOut">
              <a:rPr lang="en-US" smtClean="0"/>
              <a:t>10/21/2026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25EABC03-F960-48FC-9623-9F166D79B3D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65D0E97-9AAA-48EC-9423-10316851B6A4}" type="datetimeFigureOut">
              <a:rPr lang="en-US" smtClean="0"/>
              <a:t>10/21/2026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5EABC03-F960-48FC-9623-9F166D79B3D6}"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865D0E97-9AAA-48EC-9423-10316851B6A4}" type="datetimeFigureOut">
              <a:rPr lang="en-US" smtClean="0"/>
              <a:t>10/21/2026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5EABC03-F960-48FC-9623-9F166D79B3D6}"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865D0E97-9AAA-48EC-9423-10316851B6A4}" type="datetimeFigureOut">
              <a:rPr lang="en-US" smtClean="0"/>
              <a:t>10/21/2026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25EABC03-F960-48FC-9623-9F166D79B3D6}"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865D0E97-9AAA-48EC-9423-10316851B6A4}" type="datetimeFigureOut">
              <a:rPr lang="en-US" smtClean="0"/>
              <a:t>10/21/2026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25EABC03-F960-48FC-9623-9F166D79B3D6}"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865D0E97-9AAA-48EC-9423-10316851B6A4}" type="datetimeFigureOut">
              <a:rPr lang="en-US" smtClean="0"/>
              <a:t>10/21/2026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25EABC03-F960-48FC-9623-9F166D79B3D6}"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865D0E97-9AAA-48EC-9423-10316851B6A4}" type="datetimeFigureOut">
              <a:rPr lang="en-US" smtClean="0"/>
              <a:t>10/21/2026</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25EABC03-F960-48FC-9623-9F166D79B3D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865D0E97-9AAA-48EC-9423-10316851B6A4}" type="datetimeFigureOut">
              <a:rPr lang="en-US" smtClean="0"/>
              <a:t>10/21/2026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25EABC03-F960-48FC-9623-9F166D79B3D6}"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865D0E97-9AAA-48EC-9423-10316851B6A4}" type="datetimeFigureOut">
              <a:rPr lang="en-US" smtClean="0"/>
              <a:t>10/21/2026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25EABC03-F960-48FC-9623-9F166D79B3D6}"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65D0E97-9AAA-48EC-9423-10316851B6A4}" type="datetimeFigureOut">
              <a:rPr lang="en-US" smtClean="0"/>
              <a:t>10/21/2026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5EABC03-F960-48FC-9623-9F166D79B3D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65D0E97-9AAA-48EC-9423-10316851B6A4}" type="datetimeFigureOut">
              <a:rPr lang="en-US" smtClean="0"/>
              <a:t>10/21/2026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25EABC03-F960-48FC-9623-9F166D79B3D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865D0E97-9AAA-48EC-9423-10316851B6A4}" type="datetimeFigureOut">
              <a:rPr lang="en-US" smtClean="0"/>
              <a:t>10/21/2026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25EABC03-F960-48FC-9623-9F166D79B3D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pic>
        <p:nvPicPr>
          <p:cNvPr id="2050" name="Picture 2" descr="C:\Users\HELLO\Desktop\IMG-20261018-WA0005.jpg"/>
          <p:cNvPicPr>
            <a:picLocks noGrp="1" noChangeAspect="1" noChangeArrowheads="1"/>
          </p:cNvPicPr>
          <p:nvPr>
            <p:ph idx="1"/>
          </p:nvPr>
        </p:nvPicPr>
        <p:blipFill>
          <a:blip r:embed="rId2">
            <a:extLst>
              <a:ext uri="{28A0092B-C50C-407E-A947-70E740481C1C}">
                <a14:useLocalDpi val="0"/>
              </a:ext>
            </a:extLst>
          </a:blip>
          <a:srcRect/>
          <a:stretch>
            <a:fillRect/>
          </a:stretch>
        </p:blipFill>
        <p:spPr bwMode="auto">
          <a:xfrm>
            <a:off x="825919" y="582930"/>
            <a:ext cx="7492162" cy="5589270"/>
          </a:xfrm>
          <a:prstGeom prst="rect">
            <a:avLst/>
          </a:prstGeom>
          <a:noFill/>
          <a:extLst>
            <a:ext uri="{909E8E84-426E-40DD-AFC4-6F175D3DCCD1}">
              <a14:hiddenFill>
                <a:solidFill>
                  <a:srgbClr val="FFFFFF"/>
                </a:solidFill>
              </a14:hiddenFill>
            </a:ext>
          </a:extLst>
        </p:spPr>
      </p:pic>
    </p:spTree>
    <p:extLst>
      <p:ext uri="{BB962C8B-B14F-4D97-AF65-F5344CB8AC3E}">
        <p14:creationId val="614757014"/>
      </p:ext>
    </p:extLst>
  </p:cSld>
  <p:clrMapOvr>
    <a:masterClrMapping/>
  </p:clrMapOvr>
</p:sld>
</file>

<file path=ppt/slides/slide2.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2" name="Title 1"/>
          <p:cNvSpPr>
            <a:spLocks noGrp="1"/>
          </p:cNvSpPr>
          <p:nvPr>
            <p:ph type="ctr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2450" b="1">
                <a:solidFill>
                  <a:srgbClr val="0056D2"/>
                </a:solidFill>
                <a:latin typeface="Poppins SemiBold"/>
                <a:ea typeface="Poppins SemiBold"/>
                <a:cs typeface="Poppins SemiBold"/>
              </a:defRPr>
            </a:pPr>
            <a:r>
              <a:rPr lang="en-US" sz="2450" dirty="0" smtClean="0" b="1">
                <a:solidFill>
                  <a:srgbClr val="0056D2"/>
                </a:solidFill>
                <a:latin typeface="Poppins SemiBold" panose="02040602050305030304" pitchFamily="18" charset="0"/>
                <a:ea typeface="Poppins SemiBold"/>
                <a:cs typeface="Poppins SemiBold"/>
              </a:rPr>
              <a:t>INTRODUCTION TO BASIC RADIOGRAPHIC EQUIPMENT</a:t>
            </a:r>
            <a:endParaRPr lang="en-US" sz="2450" dirty="0" b="1">
              <a:solidFill>
                <a:srgbClr val="0056D2"/>
              </a:solidFill>
              <a:latin typeface="Poppins SemiBold" panose="02040602050305030304" pitchFamily="18" charset="0"/>
              <a:ea typeface="Poppins SemiBold"/>
              <a:cs typeface="Poppins SemiBold"/>
            </a:endParaRPr>
          </a:p>
        </p:txBody>
      </p:sp>
      <p:sp>
        <p:nvSpPr>
          <p:cNvPr id="3" name="Subtitle 2"/>
          <p:cNvSpPr>
            <a:spLocks noGrp="1"/>
          </p:cNvSpPr>
          <p:nvPr>
            <p:ph type="subTitle" idx="1"/>
          </p:nvPr>
        </p:nvSpPr>
        <p:spPr>
          <a:xfrm>
            <a:off x="502920" y="1748790"/>
            <a:ext cx="8138160" cy="4423410"/>
          </a:xfrm>
        </p:spPr>
        <p:txBody>
          <a:bodyPr wrap="square" anchor="t" lIns="0" rIns="0" tIns="0" bIns="0">
            <a:normAutofit fontScale="100000" lnSpcReduction="0"/>
          </a:bodyPr>
          <a:lstStyle/>
          <a:p>
            <a:pPr algn="l" marL="0" indent="0">
              <a:lnSpc>
                <a:spcPts val="100"/>
              </a:lnSpc>
              <a:spcBef>
                <a:spcPts val="0"/>
              </a:spcBef>
              <a:spcAft>
                <a:spcPts val="0"/>
              </a:spcAft>
              <a:defRPr sz="100" b="0">
                <a:solidFill>
                  <a:srgbClr val="243B53"/>
                </a:solidFill>
                <a:latin typeface="Arial"/>
                <a:ea typeface="Arial"/>
                <a:cs typeface="Arial"/>
              </a:defRPr>
            </a:pPr>
            <a:endParaRPr lang="en-US" sz="100" b="0" dirty="0" smtClean="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2250" b="1">
                <a:solidFill>
                  <a:srgbClr val="243B53"/>
                </a:solidFill>
                <a:latin typeface="Arial"/>
                <a:ea typeface="Arial"/>
                <a:cs typeface="Arial"/>
              </a:defRPr>
            </a:pPr>
            <a:r>
              <a:rPr lang="en-US" sz="2250" b="1" dirty="0" smtClean="0">
                <a:solidFill>
                  <a:srgbClr val="243B53"/>
                </a:solidFill>
                <a:latin typeface="Arial" panose="02040602050305030304" pitchFamily="18" charset="0"/>
                <a:ea typeface="Arial"/>
                <a:cs typeface="Arial"/>
              </a:rPr>
              <a:t>MXT 302</a:t>
            </a:r>
            <a:endParaRPr sz="2250" b="1">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b="0" dirty="0" smtClean="0" sz="10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2250" b="1">
                <a:solidFill>
                  <a:srgbClr val="243B53"/>
                </a:solidFill>
                <a:latin typeface="Arial"/>
                <a:ea typeface="Arial"/>
                <a:cs typeface="Arial"/>
              </a:defRPr>
            </a:pPr>
            <a:r>
              <a:rPr lang="en-US" b="1" dirty="0" smtClean="0" sz="2250">
                <a:solidFill>
                  <a:srgbClr val="243B53"/>
                </a:solidFill>
                <a:latin typeface="Arial" panose="02040602050305030304" pitchFamily="18" charset="0"/>
                <a:ea typeface="Arial"/>
                <a:cs typeface="Arial"/>
              </a:rPr>
              <a:t>BY </a:t>
            </a:r>
            <a:endParaRPr sz="2250" b="1">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b="0" dirty="0" sz="10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2250" b="1">
                <a:solidFill>
                  <a:srgbClr val="243B53"/>
                </a:solidFill>
                <a:latin typeface="Arial"/>
                <a:ea typeface="Arial"/>
                <a:cs typeface="Arial"/>
              </a:defRPr>
            </a:pPr>
            <a:r>
              <a:rPr lang="en-US" b="1" dirty="0" smtClean="0" sz="2250">
                <a:solidFill>
                  <a:srgbClr val="243B53"/>
                </a:solidFill>
                <a:latin typeface="Arial" panose="02040602050305030304" pitchFamily="18" charset="0"/>
                <a:ea typeface="Arial"/>
                <a:cs typeface="Arial"/>
              </a:rPr>
              <a:t>DIR. GBARABE, KENT </a:t>
            </a:r>
            <a:endParaRPr lang="en-US" b="1" dirty="0" sz="2250">
              <a:solidFill>
                <a:srgbClr val="243B53"/>
              </a:solidFill>
              <a:latin typeface="Arial" panose="02040602050305030304" pitchFamily="18" charset="0"/>
              <a:ea typeface="Arial"/>
              <a:cs typeface="Arial"/>
            </a:endParaRPr>
          </a:p>
        </p:txBody>
      </p:sp>
    </p:spTree>
    <p:extLst>
      <p:ext uri="{BB962C8B-B14F-4D97-AF65-F5344CB8AC3E}">
        <p14:creationId val="4207861278"/>
      </p:ext>
    </p:extLst>
  </p:cSld>
  <p:clrMapOvr>
    <a:masterClrMapping/>
  </p:clrMapOvr>
</p:sld>
</file>

<file path=ppt/slides/slide3.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1850" b="1">
                <a:solidFill>
                  <a:srgbClr val="243B53"/>
                </a:solidFill>
                <a:latin typeface="Arial"/>
                <a:ea typeface="Arial"/>
                <a:cs typeface="Arial"/>
              </a:defRPr>
            </a:pPr>
            <a:r>
              <a:rPr lang="en-US" dirty="0" smtClean="0" sz="1850" b="1">
                <a:solidFill>
                  <a:srgbClr val="243B53"/>
                </a:solidFill>
                <a:latin typeface="Arial" panose="02040602050305030304" pitchFamily="18" charset="0"/>
                <a:ea typeface="Arial"/>
                <a:cs typeface="Arial"/>
              </a:rPr>
              <a:t>INTRODUCTION </a:t>
            </a:r>
            <a:endParaRPr lang="en-US" dirty="0" sz="1850" b="1">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z="1850" b="1">
                <a:solidFill>
                  <a:srgbClr val="243B53"/>
                </a:solidFill>
                <a:latin typeface="Arial" panose="02040602050305030304" pitchFamily="18" charset="0"/>
                <a:ea typeface="Arial"/>
                <a:cs typeface="Arial"/>
              </a:rPr>
              <a:t>X RAY GENERATORS AND </a:t>
            </a:r>
            <a:r>
              <a:rPr lang="en-US" dirty="0" smtClean="0" sz="1850" b="1">
                <a:solidFill>
                  <a:srgbClr val="243B53"/>
                </a:solidFill>
                <a:latin typeface="Arial" panose="02040602050305030304" pitchFamily="18" charset="0"/>
                <a:ea typeface="Arial"/>
                <a:cs typeface="Arial"/>
              </a:rPr>
              <a:t>TRANSFORMERS</a:t>
            </a:r>
            <a:endParaRPr sz="1850" b="1">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mtClean="0" sz="1850" b="1">
                <a:solidFill>
                  <a:srgbClr val="243B53"/>
                </a:solidFill>
                <a:latin typeface="Arial" panose="02040602050305030304" pitchFamily="18" charset="0"/>
                <a:ea typeface="Arial"/>
                <a:cs typeface="Arial"/>
              </a:rPr>
              <a:t>HOW X RAY GENERATOR WORKS</a:t>
            </a:r>
            <a:endParaRPr sz="1850" b="1">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mtClean="0" sz="1850" b="1">
                <a:solidFill>
                  <a:srgbClr val="243B53"/>
                </a:solidFill>
                <a:latin typeface="Arial" panose="02040602050305030304" pitchFamily="18" charset="0"/>
                <a:ea typeface="Arial"/>
                <a:cs typeface="Arial"/>
              </a:rPr>
              <a:t>TYPES OF X RAY GENERATOR</a:t>
            </a:r>
            <a:endParaRPr sz="1850" b="1">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mtClean="0" sz="1850" b="1">
                <a:solidFill>
                  <a:srgbClr val="243B53"/>
                </a:solidFill>
                <a:latin typeface="Arial" panose="02040602050305030304" pitchFamily="18" charset="0"/>
                <a:ea typeface="Arial"/>
                <a:cs typeface="Arial"/>
              </a:rPr>
              <a:t>FUNCTIONS OF X RAY GENERATOR</a:t>
            </a:r>
            <a:endParaRPr lang="en-US" dirty="0" sz="1850" b="1">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z="1850" b="1">
                <a:solidFill>
                  <a:srgbClr val="243B53"/>
                </a:solidFill>
                <a:latin typeface="Arial" panose="02040602050305030304" pitchFamily="18" charset="0"/>
                <a:ea typeface="Arial"/>
                <a:cs typeface="Arial"/>
              </a:rPr>
              <a:t>BEAM LIMITING AND CENTERING DEVICES</a:t>
            </a:r>
            <a:endParaRPr sz="1850" b="1">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mtClean="0" sz="1850" b="1">
                <a:solidFill>
                  <a:srgbClr val="243B53"/>
                </a:solidFill>
                <a:latin typeface="Arial" panose="02040602050305030304" pitchFamily="18" charset="0"/>
                <a:ea typeface="Arial"/>
                <a:cs typeface="Arial"/>
              </a:rPr>
              <a:t>OTHER </a:t>
            </a:r>
            <a:r>
              <a:rPr lang="en-US" dirty="0" sz="1850" b="1">
                <a:solidFill>
                  <a:srgbClr val="243B53"/>
                </a:solidFill>
                <a:latin typeface="Arial" panose="02040602050305030304" pitchFamily="18" charset="0"/>
                <a:ea typeface="Arial"/>
                <a:cs typeface="Arial"/>
              </a:rPr>
              <a:t>EQUIPMENT ACCESSORIES</a:t>
            </a:r>
            <a:endParaRPr sz="1850" b="1">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z="1850" b="1">
                <a:solidFill>
                  <a:srgbClr val="243B53"/>
                </a:solidFill>
                <a:latin typeface="Arial" panose="02040602050305030304" pitchFamily="18" charset="0"/>
                <a:ea typeface="Arial"/>
                <a:cs typeface="Arial"/>
              </a:rPr>
              <a:t>CONCEPT OF X RAY </a:t>
            </a:r>
            <a:r>
              <a:rPr lang="en-US" dirty="0" smtClean="0" sz="1850" b="1">
                <a:solidFill>
                  <a:srgbClr val="243B53"/>
                </a:solidFill>
                <a:latin typeface="Arial" panose="02040602050305030304" pitchFamily="18" charset="0"/>
                <a:ea typeface="Arial"/>
                <a:cs typeface="Arial"/>
              </a:rPr>
              <a:t>PRODUCTION</a:t>
            </a:r>
            <a:endParaRPr sz="1850" b="1">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mtClean="0" sz="1850" b="1">
                <a:solidFill>
                  <a:srgbClr val="243B53"/>
                </a:solidFill>
                <a:latin typeface="Arial" panose="02040602050305030304" pitchFamily="18" charset="0"/>
                <a:ea typeface="Arial"/>
                <a:cs typeface="Arial"/>
              </a:rPr>
              <a:t>TYPES OF X RAY PRODUCTION</a:t>
            </a:r>
            <a:endParaRPr lang="en-US" dirty="0" sz="1850" b="1">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z="1850" b="1">
                <a:solidFill>
                  <a:srgbClr val="243B53"/>
                </a:solidFill>
                <a:latin typeface="Arial" panose="02040602050305030304" pitchFamily="18" charset="0"/>
                <a:ea typeface="Arial"/>
                <a:cs typeface="Arial"/>
              </a:rPr>
              <a:t>SECONDARY AND SCATTERED RADIATIONS</a:t>
            </a:r>
            <a:endParaRPr sz="1850" b="1">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z="1850" b="1">
                <a:solidFill>
                  <a:srgbClr val="243B53"/>
                </a:solidFill>
                <a:latin typeface="Arial" panose="02040602050305030304" pitchFamily="18" charset="0"/>
                <a:ea typeface="Arial"/>
                <a:cs typeface="Arial"/>
              </a:rPr>
              <a:t>ANTI SCATTER </a:t>
            </a:r>
            <a:r>
              <a:rPr lang="en-US" dirty="0" smtClean="0" sz="1850" b="1">
                <a:solidFill>
                  <a:srgbClr val="243B53"/>
                </a:solidFill>
                <a:latin typeface="Arial" panose="02040602050305030304" pitchFamily="18" charset="0"/>
                <a:ea typeface="Arial"/>
                <a:cs typeface="Arial"/>
              </a:rPr>
              <a:t>GRID</a:t>
            </a:r>
            <a:endParaRPr sz="1850" b="1">
              <a:solidFill>
                <a:srgbClr val="243B53"/>
              </a:solidFill>
              <a:latin typeface="Arial"/>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mtClean="0" sz="1850" b="1">
                <a:solidFill>
                  <a:srgbClr val="243B53"/>
                </a:solidFill>
                <a:latin typeface="Arial" panose="02040602050305030304" pitchFamily="18" charset="0"/>
                <a:ea typeface="Arial"/>
                <a:cs typeface="Arial"/>
              </a:rPr>
              <a:t>BUCKY ASSEMBLY</a:t>
            </a:r>
            <a:endParaRPr lang="en-US" dirty="0" sz="1850" b="1">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1850" b="1">
                <a:solidFill>
                  <a:srgbClr val="243B53"/>
                </a:solidFill>
                <a:latin typeface="Arial"/>
                <a:ea typeface="Arial"/>
                <a:cs typeface="Arial"/>
              </a:defRPr>
            </a:pPr>
            <a:r>
              <a:rPr lang="en-US" dirty="0" sz="1850" b="1">
                <a:solidFill>
                  <a:srgbClr val="243B53"/>
                </a:solidFill>
                <a:latin typeface="Arial" panose="02040602050305030304" pitchFamily="18" charset="0"/>
                <a:ea typeface="Arial"/>
                <a:cs typeface="Arial"/>
              </a:rPr>
              <a:t>TYPES OF X RAY MACHINES/EQUIPMENTS</a:t>
            </a:r>
            <a:endParaRPr sz="1850" b="1">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mtClean="0" sz="3200" b="1">
                <a:solidFill>
                  <a:srgbClr val="0056D2"/>
                </a:solidFill>
                <a:latin typeface="Poppins SemiBold"/>
                <a:ea typeface="Poppins SemiBold"/>
                <a:cs typeface="Poppins SemiBold"/>
              </a:rPr>
              <a:t>COURSE OUTLINE</a:t>
            </a:r>
            <a:br>
              <a:rPr lang="en-US" dirty="0" smtClean="0"/>
            </a:br>
            <a:endParaRPr lang="en-US" dirty="0" sz="3200" b="1">
              <a:solidFill>
                <a:srgbClr val="0056D2"/>
              </a:solidFill>
              <a:latin typeface="Poppins SemiBold"/>
              <a:ea typeface="Poppins SemiBold"/>
              <a:cs typeface="Poppins SemiBold"/>
            </a:endParaRPr>
          </a:p>
        </p:txBody>
      </p:sp>
    </p:spTree>
    <p:extLst>
      <p:ext uri="{BB962C8B-B14F-4D97-AF65-F5344CB8AC3E}">
        <p14:creationId val="3005273146"/>
      </p:ext>
    </p:extLst>
  </p:cSld>
  <p:clrMapOvr>
    <a:masterClrMapping/>
  </p:clrMapOvr>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000" b="0">
                <a:solidFill>
                  <a:srgbClr val="243B53"/>
                </a:solidFill>
                <a:latin typeface="Arial"/>
                <a:ea typeface="Arial"/>
                <a:cs typeface="Arial"/>
              </a:defRPr>
            </a:pPr>
            <a:r>
              <a:rPr lang="en-US" sz="2000" dirty="0" smtClean="0" b="0">
                <a:solidFill>
                  <a:srgbClr val="243B53"/>
                </a:solidFill>
                <a:latin typeface="Arial" panose="02040602050305030304" pitchFamily="18" charset="0"/>
                <a:ea typeface="Arial"/>
                <a:cs typeface="Arial"/>
              </a:rPr>
              <a:t>The </a:t>
            </a:r>
            <a:r>
              <a:rPr lang="en-US" sz="2000" dirty="0" b="0">
                <a:solidFill>
                  <a:srgbClr val="243B53"/>
                </a:solidFill>
                <a:latin typeface="Arial" panose="02040602050305030304" pitchFamily="18" charset="0"/>
                <a:ea typeface="Arial"/>
                <a:cs typeface="Arial"/>
              </a:rPr>
              <a:t>basic of radiographic equipment consist of the component hardware and technical system used to generate and capture x ray images  for diagnostic and therapeutic purposes.  They consist of machines, devices and accessories used to produced x </a:t>
            </a:r>
            <a:r>
              <a:rPr lang="en-US" sz="2000" dirty="0" smtClean="0" b="0">
                <a:solidFill>
                  <a:srgbClr val="243B53"/>
                </a:solidFill>
                <a:latin typeface="Arial" panose="02040602050305030304" pitchFamily="18" charset="0"/>
                <a:ea typeface="Arial"/>
                <a:cs typeface="Arial"/>
              </a:rPr>
              <a:t>ray  </a:t>
            </a:r>
            <a:r>
              <a:rPr lang="en-US" sz="2000" dirty="0" b="0">
                <a:solidFill>
                  <a:srgbClr val="243B53"/>
                </a:solidFill>
                <a:latin typeface="Arial" panose="02040602050305030304" pitchFamily="18" charset="0"/>
                <a:ea typeface="Arial"/>
                <a:cs typeface="Arial"/>
              </a:rPr>
              <a:t>images .</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sz="2000" b="0" dirty="0">
                <a:solidFill>
                  <a:srgbClr val="243B53"/>
                </a:solidFill>
                <a:latin typeface="Arial" panose="02040602050305030304" pitchFamily="18" charset="0"/>
                <a:ea typeface="Arial"/>
                <a:cs typeface="Arial"/>
              </a:rPr>
              <a:t>X RAY MACHINES</a:t>
            </a:r>
            <a:r>
              <a:rPr lang="en-US" sz="2000" dirty="0" b="0">
                <a:solidFill>
                  <a:srgbClr val="243B53"/>
                </a:solidFill>
                <a:latin typeface="Arial" panose="02040602050305030304" pitchFamily="18" charset="0"/>
                <a:ea typeface="Arial"/>
                <a:cs typeface="Arial"/>
              </a:rPr>
              <a:t>: This is a machine that contains an x ray tube used to produce the images of the internal body tissues and organs.</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sz="2000" b="0" dirty="0">
                <a:solidFill>
                  <a:srgbClr val="243B53"/>
                </a:solidFill>
                <a:latin typeface="Arial" panose="02040602050305030304" pitchFamily="18" charset="0"/>
                <a:ea typeface="Arial"/>
                <a:cs typeface="Arial"/>
              </a:rPr>
              <a:t>X RAY TUBE </a:t>
            </a:r>
            <a:r>
              <a:rPr lang="en-US" sz="2000" dirty="0" b="0">
                <a:solidFill>
                  <a:srgbClr val="243B53"/>
                </a:solidFill>
                <a:latin typeface="Arial" panose="02040602050305030304" pitchFamily="18" charset="0"/>
                <a:ea typeface="Arial"/>
                <a:cs typeface="Arial"/>
              </a:rPr>
              <a:t>: This is a vacuum sealed tube that has a cathode and an anode which converts electrical energy into a focused beam of x radiations. It has (1) an anode assembly (2) Cathode assembly  (3)  Glass housing (4) Exit window (5) Voltage supply </a:t>
            </a:r>
            <a:r>
              <a:rPr lang="en-US" sz="2000" dirty="0" smtClean="0" b="0">
                <a:solidFill>
                  <a:srgbClr val="243B53"/>
                </a:solidFill>
                <a:latin typeface="Arial" panose="02040602050305030304" pitchFamily="18" charset="0"/>
                <a:ea typeface="Arial"/>
                <a:cs typeface="Arial"/>
              </a:rPr>
              <a:t>(6) Collimators (7) Filters</a:t>
            </a:r>
            <a:endParaRPr lang="en-US" sz="2000" dirty="0" b="0">
              <a:solidFill>
                <a:srgbClr val="243B53"/>
              </a:solidFill>
              <a:latin typeface="Arial" panose="02040602050305030304" pitchFamily="18" charset="0"/>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mtClean="0" sz="3200" b="1">
                <a:solidFill>
                  <a:srgbClr val="0056D2"/>
                </a:solidFill>
                <a:latin typeface="Poppins SemiBold"/>
                <a:ea typeface="Poppins SemiBold"/>
                <a:cs typeface="Poppins SemiBold"/>
              </a:rPr>
              <a:t>INTRODUCTION</a:t>
            </a:r>
            <a:br>
              <a:rPr lang="en-US" dirty="0" smtClean="0"/>
            </a:br>
            <a:endParaRPr lang="en-US" dirty="0" sz="3200" b="1">
              <a:solidFill>
                <a:srgbClr val="0056D2"/>
              </a:solidFill>
              <a:latin typeface="Poppins SemiBold"/>
              <a:ea typeface="Poppins SemiBold"/>
              <a:cs typeface="Poppins SemiBold"/>
            </a:endParaRPr>
          </a:p>
        </p:txBody>
      </p:sp>
    </p:spTree>
    <p:extLst>
      <p:ext uri="{BB962C8B-B14F-4D97-AF65-F5344CB8AC3E}">
        <p14:creationId val="2183850801"/>
      </p:ext>
    </p:extLst>
  </p:cSld>
  <p:clrMapOvr>
    <a:masterClrMapping/>
  </p:clrMapOvr>
</p:sld>
</file>

<file path=ppt/slides/slide5.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marL="0" indent="0" algn="l">
              <a:lnSpc>
                <a:spcPts val="100"/>
              </a:lnSpc>
              <a:spcBef>
                <a:spcPts val="0"/>
              </a:spcBef>
              <a:spcAft>
                <a:spcPts val="0"/>
              </a:spcAft>
              <a:buNone/>
              <a:defRPr sz="100" b="0">
                <a:solidFill>
                  <a:srgbClr val="243B53"/>
                </a:solidFill>
                <a:latin typeface="Arial"/>
                <a:ea typeface="Arial"/>
                <a:cs typeface="Arial"/>
              </a:defRPr>
            </a:pPr>
            <a:endParaRPr lang="en-US" sz="100" b="0" dirty="0" smtClean="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1650" b="0">
                <a:solidFill>
                  <a:srgbClr val="243B53"/>
                </a:solidFill>
                <a:latin typeface="Arial"/>
                <a:ea typeface="Arial"/>
                <a:cs typeface="Arial"/>
              </a:defRPr>
            </a:pPr>
            <a:r>
              <a:rPr lang="en-US" sz="1650" b="0" dirty="0" smtClean="0">
                <a:solidFill>
                  <a:srgbClr val="243B53"/>
                </a:solidFill>
                <a:latin typeface="Arial" panose="02040602050305030304" pitchFamily="18" charset="0"/>
                <a:ea typeface="Arial"/>
                <a:cs typeface="Arial"/>
              </a:rPr>
              <a:t>ANODE </a:t>
            </a:r>
            <a:r>
              <a:rPr lang="en-US" sz="1650" b="0" dirty="0">
                <a:solidFill>
                  <a:srgbClr val="243B53"/>
                </a:solidFill>
                <a:latin typeface="Arial" panose="02040602050305030304" pitchFamily="18" charset="0"/>
                <a:ea typeface="Arial"/>
                <a:cs typeface="Arial"/>
              </a:rPr>
              <a:t>ASSEMBLY</a:t>
            </a:r>
            <a:r>
              <a:rPr lang="en-US" sz="1650" dirty="0" b="0">
                <a:solidFill>
                  <a:srgbClr val="243B53"/>
                </a:solidFill>
                <a:latin typeface="Arial" panose="02040602050305030304" pitchFamily="18" charset="0"/>
                <a:ea typeface="Arial"/>
                <a:cs typeface="Arial"/>
              </a:rPr>
              <a:t>:  This is the positive electrode and is made of Tungsten metal plate </a:t>
            </a:r>
            <a:r>
              <a:rPr lang="en-US" sz="1650" dirty="0" smtClean="0" b="0">
                <a:solidFill>
                  <a:srgbClr val="243B53"/>
                </a:solidFill>
                <a:latin typeface="Arial" panose="02040602050305030304" pitchFamily="18" charset="0"/>
                <a:ea typeface="Arial"/>
                <a:cs typeface="Arial"/>
              </a:rPr>
              <a:t>(except for mammography tubes that are made of Molybdenum) that </a:t>
            </a:r>
            <a:r>
              <a:rPr lang="en-US" sz="1650" dirty="0" b="0">
                <a:solidFill>
                  <a:srgbClr val="243B53"/>
                </a:solidFill>
                <a:latin typeface="Arial" panose="02040602050305030304" pitchFamily="18" charset="0"/>
                <a:ea typeface="Arial"/>
                <a:cs typeface="Arial"/>
              </a:rPr>
              <a:t>received the bombarded electrons at its target. The anode are of different types, Fixed, </a:t>
            </a:r>
            <a:r>
              <a:rPr lang="en-US" sz="1650" dirty="0" smtClean="0" b="0">
                <a:solidFill>
                  <a:srgbClr val="243B53"/>
                </a:solidFill>
                <a:latin typeface="Arial" panose="02040602050305030304" pitchFamily="18" charset="0"/>
                <a:ea typeface="Arial"/>
                <a:cs typeface="Arial"/>
              </a:rPr>
              <a:t>and rotatory  anode. </a:t>
            </a:r>
            <a:r>
              <a:rPr lang="en-US" sz="1650" dirty="0" b="0">
                <a:solidFill>
                  <a:srgbClr val="243B53"/>
                </a:solidFill>
                <a:latin typeface="Arial" panose="02040602050305030304" pitchFamily="18" charset="0"/>
                <a:ea typeface="Arial"/>
                <a:cs typeface="Arial"/>
              </a:rPr>
              <a:t>There are Rotor and stator circuit that enable the rotation of the </a:t>
            </a:r>
            <a:r>
              <a:rPr lang="en-US" sz="1650" dirty="0" smtClean="0" b="0">
                <a:solidFill>
                  <a:srgbClr val="243B53"/>
                </a:solidFill>
                <a:latin typeface="Arial" panose="02040602050305030304" pitchFamily="18" charset="0"/>
                <a:ea typeface="Arial"/>
                <a:cs typeface="Arial"/>
              </a:rPr>
              <a:t>anode and also help in heat dissipation. </a:t>
            </a:r>
            <a:r>
              <a:rPr lang="en-US" sz="1650" dirty="0" b="0">
                <a:solidFill>
                  <a:srgbClr val="243B53"/>
                </a:solidFill>
                <a:latin typeface="Arial" panose="02040602050305030304" pitchFamily="18" charset="0"/>
                <a:ea typeface="Arial"/>
                <a:cs typeface="Arial"/>
              </a:rPr>
              <a:t>It also has a relay that protect the anode circuit against adverse current </a:t>
            </a:r>
            <a:r>
              <a:rPr lang="en-US" sz="1650" dirty="0" smtClean="0" b="0">
                <a:solidFill>
                  <a:srgbClr val="243B53"/>
                </a:solidFill>
                <a:latin typeface="Arial" panose="02040602050305030304" pitchFamily="18" charset="0"/>
                <a:ea typeface="Arial"/>
                <a:cs typeface="Arial"/>
              </a:rPr>
              <a:t>situations and power overload. There </a:t>
            </a:r>
            <a:r>
              <a:rPr lang="en-US" sz="1650" dirty="0" b="0">
                <a:solidFill>
                  <a:srgbClr val="243B53"/>
                </a:solidFill>
                <a:latin typeface="Arial" panose="02040602050305030304" pitchFamily="18" charset="0"/>
                <a:ea typeface="Arial"/>
                <a:cs typeface="Arial"/>
              </a:rPr>
              <a:t>is an interlock system that enable each circuit to function simultaneously during each exposure</a:t>
            </a:r>
            <a:r>
              <a:rPr lang="en-US" sz="1650" dirty="0" smtClean="0" b="0">
                <a:solidFill>
                  <a:srgbClr val="243B53"/>
                </a:solidFill>
                <a:latin typeface="Arial" panose="02040602050305030304" pitchFamily="18" charset="0"/>
                <a:ea typeface="Arial"/>
                <a:cs typeface="Arial"/>
              </a:rPr>
              <a:t>.</a:t>
            </a:r>
            <a:endParaRPr sz="1650" b="0">
              <a:solidFill>
                <a:srgbClr val="243B53"/>
              </a:solidFill>
              <a:latin typeface="Arial"/>
              <a:ea typeface="Arial"/>
              <a:cs typeface="Arial"/>
            </a:endParaRPr>
          </a:p>
          <a:p>
            <a:pPr algn="l" marL="0" indent="0">
              <a:lnSpc>
                <a:spcPct val="118000"/>
              </a:lnSpc>
              <a:spcBef>
                <a:spcPts val="0"/>
              </a:spcBef>
              <a:spcAft>
                <a:spcPts val="450"/>
              </a:spcAft>
              <a:defRPr sz="1650" b="0">
                <a:solidFill>
                  <a:srgbClr val="243B53"/>
                </a:solidFill>
                <a:latin typeface="Arial"/>
                <a:ea typeface="Arial"/>
                <a:cs typeface="Arial"/>
              </a:defRPr>
            </a:pPr>
            <a:r>
              <a:rPr lang="en-US" sz="1650" b="0" dirty="0">
                <a:solidFill>
                  <a:srgbClr val="243B53"/>
                </a:solidFill>
                <a:latin typeface="Arial" panose="02040602050305030304" pitchFamily="18" charset="0"/>
                <a:ea typeface="Arial"/>
                <a:cs typeface="Arial"/>
              </a:rPr>
              <a:t>CATHODE ASSEMBLY</a:t>
            </a:r>
            <a:r>
              <a:rPr lang="en-US" sz="1650" dirty="0" b="0">
                <a:solidFill>
                  <a:srgbClr val="243B53"/>
                </a:solidFill>
                <a:latin typeface="Arial" panose="02040602050305030304" pitchFamily="18" charset="0"/>
                <a:ea typeface="Arial"/>
                <a:cs typeface="Arial"/>
              </a:rPr>
              <a:t>: This is the negative electrode that is designed for the emission of electrons and are projected and focused to the target. They are made of Tungsten materials. It can be dual focus or single focus</a:t>
            </a:r>
            <a:r>
              <a:rPr lang="en-US" sz="1650" dirty="0" smtClean="0" b="0">
                <a:solidFill>
                  <a:srgbClr val="243B53"/>
                </a:solidFill>
                <a:latin typeface="Arial" panose="02040602050305030304" pitchFamily="18" charset="0"/>
                <a:ea typeface="Arial"/>
                <a:cs typeface="Arial"/>
              </a:rPr>
              <a:t>.</a:t>
            </a:r>
            <a:endParaRPr lang="en-US" sz="1650" dirty="0" b="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1650" b="0">
                <a:solidFill>
                  <a:srgbClr val="243B53"/>
                </a:solidFill>
                <a:latin typeface="Arial"/>
                <a:ea typeface="Arial"/>
                <a:cs typeface="Arial"/>
              </a:defRPr>
            </a:pPr>
            <a:r>
              <a:rPr lang="en-US" sz="1650" b="0" dirty="0">
                <a:solidFill>
                  <a:srgbClr val="243B53"/>
                </a:solidFill>
                <a:latin typeface="Arial" panose="02040602050305030304" pitchFamily="18" charset="0"/>
                <a:ea typeface="Arial"/>
                <a:cs typeface="Arial"/>
              </a:rPr>
              <a:t>GLASS HOUSING</a:t>
            </a:r>
            <a:r>
              <a:rPr lang="en-US" sz="1650" dirty="0" b="0">
                <a:solidFill>
                  <a:srgbClr val="243B53"/>
                </a:solidFill>
                <a:latin typeface="Arial" panose="02040602050305030304" pitchFamily="18" charset="0"/>
                <a:ea typeface="Arial"/>
                <a:cs typeface="Arial"/>
              </a:rPr>
              <a:t>: This is a vacuum glass void of air and is made of Pyrex glass </a:t>
            </a:r>
            <a:r>
              <a:rPr lang="en-US" sz="1650" dirty="0" smtClean="0" b="0">
                <a:solidFill>
                  <a:srgbClr val="243B53"/>
                </a:solidFill>
                <a:latin typeface="Arial" panose="02040602050305030304" pitchFamily="18" charset="0"/>
                <a:ea typeface="Arial"/>
                <a:cs typeface="Arial"/>
              </a:rPr>
              <a:t>.</a:t>
            </a:r>
            <a:endParaRPr sz="1650" b="0">
              <a:solidFill>
                <a:srgbClr val="243B53"/>
              </a:solidFill>
              <a:latin typeface="Arial"/>
              <a:ea typeface="Arial"/>
              <a:cs typeface="Arial"/>
            </a:endParaRPr>
          </a:p>
          <a:p>
            <a:pPr algn="l" marL="0" indent="0">
              <a:lnSpc>
                <a:spcPct val="118000"/>
              </a:lnSpc>
              <a:spcBef>
                <a:spcPts val="0"/>
              </a:spcBef>
              <a:spcAft>
                <a:spcPts val="450"/>
              </a:spcAft>
              <a:defRPr sz="1650" b="0">
                <a:solidFill>
                  <a:srgbClr val="243B53"/>
                </a:solidFill>
                <a:latin typeface="Arial"/>
                <a:ea typeface="Arial"/>
                <a:cs typeface="Arial"/>
              </a:defRPr>
            </a:pPr>
            <a:r>
              <a:rPr lang="en-US" sz="1650" b="0" dirty="0" smtClean="0">
                <a:solidFill>
                  <a:srgbClr val="243B53"/>
                </a:solidFill>
                <a:latin typeface="Arial" panose="02040602050305030304" pitchFamily="18" charset="0"/>
                <a:ea typeface="Arial"/>
                <a:cs typeface="Arial"/>
              </a:rPr>
              <a:t>FILTERS: </a:t>
            </a:r>
            <a:r>
              <a:rPr lang="en-US" sz="1650" dirty="0" b="0">
                <a:solidFill>
                  <a:srgbClr val="243B53"/>
                </a:solidFill>
                <a:latin typeface="Arial"/>
                <a:ea typeface="Arial"/>
                <a:cs typeface="Arial"/>
              </a:rPr>
              <a:t>X-ray filters are materials placed in the path of the X-ray beam to absorb low-energy X-ray photons that would increase the patient's radiation dose without contributing much to image formation.</a:t>
            </a:r>
            <a:endParaRPr lang="en-US" sz="1650" b="0" dirty="0">
              <a:solidFill>
                <a:srgbClr val="243B53"/>
              </a:solidFill>
              <a:latin typeface="Arial" panose="02040602050305030304" pitchFamily="18" charset="0"/>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panose="02040602050305030304" pitchFamily="18" charset="0"/>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panose="02040602050305030304" pitchFamily="18" charset="0"/>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mtClean="0" sz="3200" b="1">
                <a:solidFill>
                  <a:srgbClr val="0056D2"/>
                </a:solidFill>
                <a:latin typeface="Poppins SemiBold"/>
                <a:ea typeface="Poppins SemiBold"/>
                <a:cs typeface="Poppins SemiBold"/>
              </a:rPr>
              <a:t>INTRODUCTION CONTD.</a:t>
            </a:r>
            <a:br>
              <a:rPr lang="en-US" dirty="0" smtClean="0"/>
            </a:br>
            <a:endParaRPr lang="en-US" dirty="0" sz="3200" b="1">
              <a:solidFill>
                <a:srgbClr val="0056D2"/>
              </a:solidFill>
              <a:latin typeface="Poppins SemiBold"/>
              <a:ea typeface="Poppins SemiBold"/>
              <a:cs typeface="Poppins SemiBold"/>
            </a:endParaRPr>
          </a:p>
        </p:txBody>
      </p:sp>
    </p:spTree>
    <p:extLst>
      <p:ext uri="{BB962C8B-B14F-4D97-AF65-F5344CB8AC3E}">
        <p14:creationId val="1374726812"/>
      </p:ext>
    </p:extLst>
  </p:cSld>
  <p:clrMapOvr>
    <a:masterClrMapping/>
  </p:clrMapOvr>
</p:sld>
</file>

<file path=ppt/slides/slide6.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000" b="0">
                <a:solidFill>
                  <a:srgbClr val="243B53"/>
                </a:solidFill>
                <a:latin typeface="Arial"/>
                <a:ea typeface="Arial"/>
                <a:cs typeface="Arial"/>
              </a:defRPr>
            </a:pPr>
            <a:r>
              <a:rPr lang="en-US" sz="2000" b="0" dirty="0" smtClean="0">
                <a:solidFill>
                  <a:srgbClr val="243B53"/>
                </a:solidFill>
                <a:latin typeface="Arial" panose="02040602050305030304" pitchFamily="18" charset="0"/>
                <a:ea typeface="Arial"/>
                <a:cs typeface="Arial"/>
              </a:rPr>
              <a:t>VOLTAGE SUPPLY</a:t>
            </a:r>
            <a:r>
              <a:rPr lang="en-US" sz="2000" dirty="0" smtClean="0" b="0">
                <a:solidFill>
                  <a:srgbClr val="243B53"/>
                </a:solidFill>
                <a:latin typeface="Arial" panose="02040602050305030304" pitchFamily="18" charset="0"/>
                <a:ea typeface="Arial"/>
                <a:cs typeface="Arial"/>
              </a:rPr>
              <a:t>: There are two sources of voltage supply to the x ray tube. The high voltage supply drive the electrons across the x ray tube to be bombarded at the target while the low voltage supply gives the require low tube current to heat up the filament to produce the emitted electrons.</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sz="2000" b="0" dirty="0" smtClean="0">
                <a:solidFill>
                  <a:srgbClr val="243B53"/>
                </a:solidFill>
                <a:latin typeface="Arial" panose="02040602050305030304" pitchFamily="18" charset="0"/>
                <a:ea typeface="Arial"/>
                <a:cs typeface="Arial"/>
              </a:rPr>
              <a:t>COLLIMATOR HOUSING</a:t>
            </a:r>
            <a:r>
              <a:rPr lang="en-US" sz="2000" dirty="0" smtClean="0" b="0">
                <a:solidFill>
                  <a:srgbClr val="243B53"/>
                </a:solidFill>
                <a:latin typeface="Arial" panose="02040602050305030304" pitchFamily="18" charset="0"/>
                <a:ea typeface="Arial"/>
                <a:cs typeface="Arial"/>
              </a:rPr>
              <a:t>: This is a device that restrict and confined the emitted x ray beam that exit from the target surface to the area of interest on the patient. It has two pairs of lead shutters that can be adjusted adjacent to each other. Its main function is to confine the emitted x ray beam towards the area of interest as well to absorbed scattered radiation from the target not to reach the patient.</a:t>
            </a:r>
            <a:endParaRPr lang="en-US" sz="2000" dirty="0" b="0">
              <a:solidFill>
                <a:srgbClr val="243B53"/>
              </a:solidFill>
              <a:latin typeface="Arial" panose="02040602050305030304" pitchFamily="18" charset="0"/>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mtClean="0" sz="3200" b="1">
                <a:solidFill>
                  <a:srgbClr val="0056D2"/>
                </a:solidFill>
                <a:latin typeface="Poppins SemiBold" panose="02040602050305030304" pitchFamily="18" charset="0"/>
                <a:ea typeface="Poppins SemiBold"/>
                <a:cs typeface="Poppins SemiBold"/>
              </a:rPr>
              <a:t>INTRODUCTION CONTD.</a:t>
            </a:r>
            <a:endParaRPr lang="en-US" dirty="0" sz="3200" b="1">
              <a:solidFill>
                <a:srgbClr val="0056D2"/>
              </a:solidFill>
              <a:latin typeface="Poppins SemiBold" panose="02040602050305030304" pitchFamily="18" charset="0"/>
              <a:ea typeface="Poppins SemiBold"/>
              <a:cs typeface="Poppins SemiBold"/>
            </a:endParaRPr>
          </a:p>
        </p:txBody>
      </p:sp>
    </p:spTree>
    <p:extLst>
      <p:ext uri="{BB962C8B-B14F-4D97-AF65-F5344CB8AC3E}">
        <p14:creationId val="2353476741"/>
      </p:ext>
    </p:extLst>
  </p:cSld>
  <p:clrMapOvr>
    <a:masterClrMapping/>
  </p:clrMapOvr>
</p:sld>
</file>

<file path=ppt/slides/slide7.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1700" b="0">
                <a:solidFill>
                  <a:srgbClr val="243B53"/>
                </a:solidFill>
                <a:latin typeface="Arial"/>
                <a:ea typeface="Arial"/>
                <a:cs typeface="Arial"/>
              </a:defRPr>
            </a:pPr>
            <a:r>
              <a:rPr lang="en-US" sz="1700" b="0" dirty="0" smtClean="0">
                <a:solidFill>
                  <a:srgbClr val="243B53"/>
                </a:solidFill>
                <a:latin typeface="Arial" panose="02040602050305030304" pitchFamily="18" charset="0"/>
                <a:ea typeface="Arial"/>
                <a:cs typeface="Arial"/>
              </a:rPr>
              <a:t>X RAY TABLE  AND WALL STAND </a:t>
            </a:r>
            <a:r>
              <a:rPr lang="en-US" sz="1700" dirty="0" smtClean="0" b="0">
                <a:solidFill>
                  <a:srgbClr val="243B53"/>
                </a:solidFill>
                <a:latin typeface="Arial" panose="02040602050305030304" pitchFamily="18" charset="0"/>
                <a:ea typeface="Arial"/>
                <a:cs typeface="Arial"/>
              </a:rPr>
              <a:t>: This aids positioning of patients and imaging detector placement.</a:t>
            </a:r>
            <a:endParaRPr sz="1700" b="0">
              <a:solidFill>
                <a:srgbClr val="243B53"/>
              </a:solidFill>
              <a:latin typeface="Arial"/>
              <a:ea typeface="Arial"/>
              <a:cs typeface="Arial"/>
            </a:endParaRPr>
          </a:p>
          <a:p>
            <a:pPr algn="l" marL="0" indent="0">
              <a:lnSpc>
                <a:spcPct val="118000"/>
              </a:lnSpc>
              <a:spcBef>
                <a:spcPts val="0"/>
              </a:spcBef>
              <a:spcAft>
                <a:spcPts val="450"/>
              </a:spcAft>
              <a:defRPr sz="1700" b="0">
                <a:solidFill>
                  <a:srgbClr val="243B53"/>
                </a:solidFill>
                <a:latin typeface="Arial"/>
                <a:ea typeface="Arial"/>
                <a:cs typeface="Arial"/>
              </a:defRPr>
            </a:pPr>
            <a:r>
              <a:rPr lang="en-US" sz="1700" b="0" dirty="0" smtClean="0">
                <a:solidFill>
                  <a:srgbClr val="243B53"/>
                </a:solidFill>
                <a:latin typeface="Arial" panose="02040602050305030304" pitchFamily="18" charset="0"/>
                <a:ea typeface="Arial"/>
                <a:cs typeface="Arial"/>
              </a:rPr>
              <a:t>CONTROL CONSOLE </a:t>
            </a:r>
            <a:r>
              <a:rPr lang="en-US" sz="1700" dirty="0" smtClean="0" b="0">
                <a:solidFill>
                  <a:srgbClr val="243B53"/>
                </a:solidFill>
                <a:latin typeface="Arial" panose="02040602050305030304" pitchFamily="18" charset="0"/>
                <a:ea typeface="Arial"/>
                <a:cs typeface="Arial"/>
              </a:rPr>
              <a:t>: This comprises of the knobs and keys that allows one to select the exposure factors and other parameters that will necessitate good image quality. It has the exposure button, voltage compensator, AEC, anatomical body selection, filters etc.</a:t>
            </a:r>
            <a:endParaRPr sz="1700" b="0">
              <a:solidFill>
                <a:srgbClr val="243B53"/>
              </a:solidFill>
              <a:latin typeface="Arial"/>
              <a:ea typeface="Arial"/>
              <a:cs typeface="Arial"/>
            </a:endParaRPr>
          </a:p>
          <a:p>
            <a:pPr algn="l" marL="0" indent="0">
              <a:lnSpc>
                <a:spcPct val="118000"/>
              </a:lnSpc>
              <a:spcBef>
                <a:spcPts val="0"/>
              </a:spcBef>
              <a:spcAft>
                <a:spcPts val="450"/>
              </a:spcAft>
              <a:defRPr sz="1700" b="0">
                <a:solidFill>
                  <a:srgbClr val="243B53"/>
                </a:solidFill>
                <a:latin typeface="Arial"/>
                <a:ea typeface="Arial"/>
                <a:cs typeface="Arial"/>
              </a:defRPr>
            </a:pPr>
            <a:r>
              <a:rPr lang="en-US" sz="1700" b="0" dirty="0" smtClean="0">
                <a:solidFill>
                  <a:srgbClr val="243B53"/>
                </a:solidFill>
                <a:latin typeface="Arial" panose="02040602050305030304" pitchFamily="18" charset="0"/>
                <a:ea typeface="Arial"/>
                <a:cs typeface="Arial"/>
              </a:rPr>
              <a:t>X RAY GENERATORS </a:t>
            </a:r>
            <a:r>
              <a:rPr lang="en-US" sz="1700" dirty="0" smtClean="0" b="0">
                <a:solidFill>
                  <a:srgbClr val="243B53"/>
                </a:solidFill>
                <a:latin typeface="Arial" panose="02040602050305030304" pitchFamily="18" charset="0"/>
                <a:ea typeface="Arial"/>
                <a:cs typeface="Arial"/>
              </a:rPr>
              <a:t>: This is a system design to provide the needed high voltage that drives the electron across the x ray tube from the filament to the target. It also houses the Rectifiers, contactors, capacitors, autotimers and the filament  low voltage transformers. The generator convert the sinusoidal  alternating electrical voltage into a constant potential that enable steady supply of potential difference across the tube. This process is call rectification of alternating current.  There is also a  stepdown transformer that supply the cathode filament with a low voltage and high current (5-15V and 3-7 A) needed to cause thermionic emission (boiling off of electrons )</a:t>
            </a:r>
            <a:endParaRPr sz="17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panose="02040602050305030304" pitchFamily="18" charset="0"/>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dirty="0" smtClean="0" b="1">
                <a:solidFill>
                  <a:srgbClr val="0056D2"/>
                </a:solidFill>
                <a:latin typeface="Poppins SemiBold"/>
                <a:ea typeface="Poppins SemiBold"/>
                <a:cs typeface="Poppins SemiBold"/>
              </a:rPr>
              <a:t>INTRODUCTION CONTD</a:t>
            </a:r>
            <a:r>
              <a:rPr lang="en-US" sz="3200" dirty="0" smtClean="0" b="1">
                <a:solidFill>
                  <a:srgbClr val="0056D2"/>
                </a:solidFill>
                <a:latin typeface="Poppins SemiBold"/>
                <a:ea typeface="Poppins SemiBold"/>
                <a:cs typeface="Poppins SemiBold"/>
              </a:rPr>
              <a:t>.</a:t>
            </a:r>
            <a:endParaRPr lang="en-US" sz="3200" dirty="0" b="1">
              <a:solidFill>
                <a:srgbClr val="0056D2"/>
              </a:solidFill>
              <a:latin typeface="Poppins SemiBold"/>
              <a:ea typeface="Poppins SemiBold"/>
              <a:cs typeface="Poppins SemiBold"/>
            </a:endParaRPr>
          </a:p>
        </p:txBody>
      </p:sp>
    </p:spTree>
    <p:extLst>
      <p:ext uri="{BB962C8B-B14F-4D97-AF65-F5344CB8AC3E}">
        <p14:creationId val="13651610"/>
      </p:ext>
    </p:extLst>
  </p:cSld>
  <p:clrMapOvr>
    <a:masterClrMapping/>
  </p:clrMapOvr>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dirty="0" smtClean="0" sz="2200" b="0">
                <a:solidFill>
                  <a:srgbClr val="243B53"/>
                </a:solidFill>
                <a:latin typeface="Arial" panose="02040602050305030304" pitchFamily="18" charset="0"/>
                <a:ea typeface="Arial"/>
                <a:cs typeface="Arial"/>
              </a:rPr>
              <a:t>An </a:t>
            </a:r>
            <a:r>
              <a:rPr lang="en-US" dirty="0" sz="2200" b="0">
                <a:solidFill>
                  <a:srgbClr val="243B53"/>
                </a:solidFill>
                <a:latin typeface="Arial" panose="02040602050305030304" pitchFamily="18" charset="0"/>
                <a:ea typeface="Arial"/>
                <a:cs typeface="Arial"/>
              </a:rPr>
              <a:t>X-ray generator is the part of an X-ray machine that supplies and controls the electrical power required to produce X-rays in the X-ray tube</a:t>
            </a:r>
            <a:r>
              <a:rPr lang="en-US" dirty="0" smtClean="0" sz="2200" b="0">
                <a:solidFill>
                  <a:srgbClr val="243B53"/>
                </a:solidFill>
                <a:latin typeface="Arial" panose="02040602050305030304" pitchFamily="18" charset="0"/>
                <a:ea typeface="Arial"/>
                <a:cs typeface="Arial"/>
              </a:rPr>
              <a:t>.</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dirty="0" sz="100" b="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panose="02040602050305030304" pitchFamily="18" charset="0"/>
                <a:ea typeface="Arial"/>
                <a:cs typeface="Arial"/>
              </a:rPr>
              <a:t>It converts the incoming electrical supply into the appropriate voltage and current needed for X-ray production. It also controls the exposure factors, including </a:t>
            </a:r>
            <a:r>
              <a:rPr lang="en-US" dirty="0" err="1" sz="2200" b="0">
                <a:solidFill>
                  <a:srgbClr val="243B53"/>
                </a:solidFill>
                <a:latin typeface="Arial" panose="02040602050305030304" pitchFamily="18" charset="0"/>
                <a:ea typeface="Arial"/>
                <a:cs typeface="Arial"/>
              </a:rPr>
              <a:t>kVp</a:t>
            </a:r>
            <a:r>
              <a:rPr lang="en-US" dirty="0" sz="2200" b="0">
                <a:solidFill>
                  <a:srgbClr val="243B53"/>
                </a:solidFill>
                <a:latin typeface="Arial" panose="02040602050305030304" pitchFamily="18" charset="0"/>
                <a:ea typeface="Arial"/>
                <a:cs typeface="Arial"/>
              </a:rPr>
              <a:t>, mA, and exposure time.</a:t>
            </a:r>
            <a:endParaRPr sz="2200" b="0">
              <a:solidFill>
                <a:srgbClr val="243B53"/>
              </a:solidFill>
              <a:latin typeface="Arial"/>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panose="02040602050305030304" pitchFamily="18" charset="0"/>
                <a:ea typeface="Arial"/>
                <a:cs typeface="Arial"/>
              </a:rPr>
              <a:t>In simple terms, the X-ray generator provides the electrical energy that makes X-ray production possible.</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panose="02040602050305030304" pitchFamily="18" charset="0"/>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smtClean="0">
                <a:solidFill>
                  <a:srgbClr val="0056D2"/>
                </a:solidFill>
                <a:latin typeface="Poppins SemiBold" panose="02040602050305030304" pitchFamily="18" charset="0"/>
                <a:ea typeface="Poppins SemiBold"/>
                <a:cs typeface="Poppins SemiBold"/>
              </a:rPr>
              <a:t>X- RAY GENERATOR</a:t>
            </a:r>
            <a:endParaRPr lang="en-US" sz="3200" dirty="0" b="1">
              <a:solidFill>
                <a:srgbClr val="0056D2"/>
              </a:solidFill>
              <a:latin typeface="Poppins SemiBold" panose="02040602050305030304" pitchFamily="18" charset="0"/>
              <a:ea typeface="Poppins SemiBold"/>
              <a:cs typeface="Poppins SemiBold"/>
            </a:endParaRPr>
          </a:p>
        </p:txBody>
      </p:sp>
    </p:spTree>
    <p:extLst>
      <p:ext uri="{BB962C8B-B14F-4D97-AF65-F5344CB8AC3E}">
        <p14:creationId val="3248128096"/>
      </p:ext>
    </p:extLst>
  </p:cSld>
  <p:clrMapOvr>
    <a:masterClrMapping/>
  </p:clrMapOvr>
</p:sld>
</file>

<file path=ppt/slides/slide9.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5" name="Radia accent line"/>
          <p:cNvSpPr/>
          <p:nvPr/>
        </p:nvSpPr>
        <p:spPr>
          <a:xfrm>
            <a:off x="502920" y="1405890"/>
            <a:ext cx="594360" cy="41148"/>
          </a:xfrm>
          <a:prstGeom prst="rect">
            <a:avLst/>
          </a:prstGeom>
          <a:solidFill>
            <a:srgbClr val="0056D2"/>
          </a:solidFill>
          <a:ln>
            <a:noFill/>
          </a:ln>
        </p:spPr>
      </p:sp>
      <p:pic>
        <p:nvPicPr>
          <p:cNvPr id="4" name="Content Placeholder 3" descr="X ray generators | PPTX"/>
          <p:cNvPicPr>
            <a:picLocks noGrp="1"/>
          </p:cNvPicPr>
          <p:nvPr>
            <p:ph idx="1"/>
          </p:nvPr>
        </p:nvPicPr>
        <p:blipFill>
          <a:blip r:embed="rId2">
            <a:extLst>
              <a:ext uri="{28A0092B-C50C-407E-A947-70E740481C1C}">
                <a14:useLocalDpi val="0"/>
              </a:ext>
            </a:extLst>
          </a:blip>
          <a:stretch>
            <a:fillRect/>
          </a:stretch>
        </p:blipFill>
        <p:spPr bwMode="auto">
          <a:xfrm>
            <a:off x="1110166" y="1748790"/>
            <a:ext cx="6923668" cy="4423410"/>
          </a:xfrm>
          <a:prstGeom prst="rect">
            <a:avLst/>
          </a:prstGeom>
          <a:noFill/>
          <a:ln>
            <a:noFill/>
          </a:ln>
        </p:spPr>
      </p:pic>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2800" b="1">
                <a:solidFill>
                  <a:srgbClr val="0056D2"/>
                </a:solidFill>
                <a:latin typeface="Poppins SemiBold"/>
                <a:ea typeface="Poppins SemiBold"/>
                <a:cs typeface="Poppins SemiBold"/>
              </a:defRPr>
            </a:pPr>
            <a:r>
              <a:rPr lang="en-US" b="1" dirty="0" smtClean="0" sz="2800">
                <a:solidFill>
                  <a:srgbClr val="0056D2"/>
                </a:solidFill>
                <a:latin typeface="Poppins SemiBold"/>
                <a:ea typeface="Poppins SemiBold"/>
                <a:cs typeface="Poppins SemiBold"/>
              </a:rPr>
              <a:t> </a:t>
            </a:r>
            <a:br>
              <a:rPr lang="en-US" b="1" dirty="0" smtClean="0"/>
            </a:br>
            <a:r>
              <a:rPr lang="en-US" sz="2800" b="1" dirty="0" smtClean="0">
                <a:solidFill>
                  <a:srgbClr val="0056D2"/>
                </a:solidFill>
                <a:latin typeface="Poppins SemiBold" panose="02040602050305030304" pitchFamily="18" charset="0"/>
                <a:ea typeface="Poppins SemiBold"/>
                <a:cs typeface="Poppins SemiBold"/>
              </a:rPr>
              <a:t>MAIN COMPONENTS OF AN X-RAY GENERATOR</a:t>
            </a:r>
            <a:r>
              <a:rPr lang="en-US" dirty="0" smtClean="0" sz="2800" b="1">
                <a:solidFill>
                  <a:srgbClr val="0056D2"/>
                </a:solidFill>
                <a:latin typeface="Poppins SemiBold"/>
                <a:ea typeface="Poppins SemiBold"/>
                <a:cs typeface="Poppins SemiBold"/>
              </a:rPr>
              <a:t/>
            </a:r>
            <a:br>
              <a:rPr lang="en-US" dirty="0" smtClean="0"/>
            </a:br>
            <a:endParaRPr lang="en-US" dirty="0" sz="2800" b="1">
              <a:solidFill>
                <a:srgbClr val="0056D2"/>
              </a:solidFill>
              <a:latin typeface="Poppins SemiBold"/>
              <a:ea typeface="Poppins SemiBold"/>
              <a:cs typeface="Poppins SemiBold"/>
            </a:endParaRPr>
          </a:p>
        </p:txBody>
      </p:sp>
    </p:spTree>
    <p:extLst>
      <p:ext uri="{BB962C8B-B14F-4D97-AF65-F5344CB8AC3E}">
        <p14:creationId val="70598567"/>
      </p:ext>
    </p:extLst>
  </p:cSld>
  <p:clrMapOvr>
    <a:masterClrMapping/>
  </p:clrMapOvr>
</p:sld>
</file>

<file path=ppt/slides/slide10.xml><?xml version="1.0" encoding="utf-8"?>
<p:sld xmlns:a="http://schemas.openxmlformats.org/drawingml/2006/main" xmlns:a14="http://schemas.microsoft.com/office/drawing/2010/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7" name="Radia accent line"/>
          <p:cNvSpPr/>
          <p:nvPr/>
        </p:nvSpPr>
        <p:spPr>
          <a:xfrm>
            <a:off x="502920" y="1405890"/>
            <a:ext cx="594360" cy="41148"/>
          </a:xfrm>
          <a:prstGeom prst="rect">
            <a:avLst/>
          </a:prstGeom>
          <a:solidFill>
            <a:srgbClr val="0056D2"/>
          </a:solidFill>
          <a:ln>
            <a:noFill/>
          </a:ln>
        </p:spPr>
      </p:sp>
      <p:pic>
        <p:nvPicPr>
          <p:cNvPr id="6" name="Content Placeholder 5" descr="2.2 – DE 115: Dental Radiography"/>
          <p:cNvPicPr>
            <a:picLocks noGrp="1"/>
          </p:cNvPicPr>
          <p:nvPr>
            <p:ph idx="1"/>
          </p:nvPr>
        </p:nvPicPr>
        <p:blipFill>
          <a:blip r:embed="rId2">
            <a:extLst>
              <a:ext uri="{28A0092B-C50C-407E-A947-70E740481C1C}">
                <a14:useLocalDpi val="0"/>
              </a:ext>
            </a:extLst>
          </a:blip>
          <a:stretch>
            <a:fillRect/>
          </a:stretch>
        </p:blipFill>
        <p:spPr bwMode="auto">
          <a:xfrm>
            <a:off x="1196239" y="1748790"/>
            <a:ext cx="6751522" cy="4423410"/>
          </a:xfrm>
          <a:prstGeom prst="rect">
            <a:avLst/>
          </a:prstGeom>
          <a:noFill/>
          <a:ln>
            <a:noFill/>
          </a:ln>
        </p:spPr>
      </p:pic>
      <p:sp>
        <p:nvSpPr>
          <p:cNvPr id="3" name="Title 2"/>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mtClean="0" sz="3200" b="1">
                <a:solidFill>
                  <a:srgbClr val="0056D2"/>
                </a:solidFill>
                <a:latin typeface="Poppins SemiBold"/>
                <a:ea typeface="Poppins SemiBold"/>
                <a:cs typeface="Poppins SemiBold"/>
              </a:rPr>
              <a:t/>
            </a:r>
            <a:br>
              <a:rPr lang="en-US" dirty="0" smtClean="0"/>
            </a:br>
            <a:r>
              <a:rPr lang="en-US" dirty="0" smtClean="0" sz="3200" b="1">
                <a:solidFill>
                  <a:srgbClr val="0056D2"/>
                </a:solidFill>
                <a:latin typeface="Poppins SemiBold"/>
                <a:ea typeface="Poppins SemiBold"/>
                <a:cs typeface="Poppins SemiBold"/>
              </a:rPr>
              <a:t> </a:t>
            </a:r>
            <a:r>
              <a:rPr lang="en-US" sz="3200" dirty="0" smtClean="0" b="1">
                <a:solidFill>
                  <a:srgbClr val="0056D2"/>
                </a:solidFill>
                <a:latin typeface="Poppins SemiBold"/>
                <a:ea typeface="Poppins SemiBold"/>
                <a:cs typeface="Poppins SemiBold"/>
              </a:rPr>
              <a:t>HIGH-VOLTAGE TRANSFORMER</a:t>
            </a:r>
            <a:r>
              <a:rPr lang="en-US" dirty="0" sz="3200" b="1">
                <a:solidFill>
                  <a:srgbClr val="0056D2"/>
                </a:solidFill>
                <a:latin typeface="Poppins SemiBold"/>
                <a:ea typeface="Poppins SemiBold"/>
                <a:cs typeface="Poppins SemiBold"/>
              </a:rPr>
              <a:t/>
            </a:r>
            <a:br>
              <a:rPr lang="en-US" dirty="0"/>
            </a:br>
            <a:r>
              <a:rPr lang="en-US" dirty="0" sz="3200" b="1">
                <a:solidFill>
                  <a:srgbClr val="0056D2"/>
                </a:solidFill>
                <a:latin typeface="Poppins SemiBold"/>
                <a:ea typeface="Poppins SemiBold"/>
                <a:cs typeface="Poppins SemiBold"/>
              </a:rPr>
              <a:t> </a:t>
            </a:r>
            <a:br>
              <a:rPr lang="en-US" dirty="0"/>
            </a:br>
            <a:endParaRPr lang="en-US" dirty="0" sz="3200" b="1">
              <a:solidFill>
                <a:srgbClr val="0056D2"/>
              </a:solidFill>
              <a:latin typeface="Poppins SemiBold"/>
              <a:ea typeface="Poppins SemiBold"/>
              <a:cs typeface="Poppins SemiBold"/>
            </a:endParaRPr>
          </a:p>
        </p:txBody>
      </p:sp>
    </p:spTree>
    <p:extLst>
      <p:ext uri="{BB962C8B-B14F-4D97-AF65-F5344CB8AC3E}">
        <p14:creationId val="3588469200"/>
      </p:ext>
    </p:extLst>
  </p:cSld>
  <p:clrMapOvr>
    <a:masterClrMapping/>
  </p:clrMapOvr>
</p:sld>
</file>

<file path=ppt/slides/slide11.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algn="l" marL="0" indent="0">
              <a:lnSpc>
                <a:spcPct val="118000"/>
              </a:lnSpc>
              <a:spcBef>
                <a:spcPts val="0"/>
              </a:spcBef>
              <a:spcAft>
                <a:spcPts val="450"/>
              </a:spcAft>
              <a:defRPr sz="1650" b="0">
                <a:solidFill>
                  <a:srgbClr val="243B53"/>
                </a:solidFill>
                <a:latin typeface="Arial"/>
                <a:ea typeface="Arial"/>
                <a:cs typeface="Arial"/>
              </a:defRPr>
            </a:pPr>
            <a:r>
              <a:rPr lang="en-US" sz="1650" b="0" dirty="0" smtClean="0">
                <a:solidFill>
                  <a:srgbClr val="243B53"/>
                </a:solidFill>
                <a:latin typeface="Arial" panose="02040602050305030304" pitchFamily="18" charset="0"/>
                <a:ea typeface="Arial"/>
                <a:cs typeface="Arial"/>
              </a:rPr>
              <a:t>High tension transformer </a:t>
            </a:r>
            <a:r>
              <a:rPr lang="en-US" sz="1650" dirty="0" smtClean="0" b="0">
                <a:solidFill>
                  <a:srgbClr val="243B53"/>
                </a:solidFill>
                <a:latin typeface="Arial" panose="02040602050305030304" pitchFamily="18" charset="0"/>
                <a:ea typeface="Arial"/>
                <a:cs typeface="Arial"/>
              </a:rPr>
              <a:t>: </a:t>
            </a:r>
            <a:r>
              <a:rPr lang="en-US" sz="1650" dirty="0" b="0">
                <a:solidFill>
                  <a:srgbClr val="243B53"/>
                </a:solidFill>
                <a:latin typeface="Arial"/>
                <a:ea typeface="Arial"/>
                <a:cs typeface="Arial"/>
              </a:rPr>
              <a:t>I</a:t>
            </a:r>
            <a:r>
              <a:rPr lang="en-US" sz="1650" dirty="0" smtClean="0" b="0">
                <a:solidFill>
                  <a:srgbClr val="243B53"/>
                </a:solidFill>
                <a:latin typeface="Arial"/>
                <a:ea typeface="Arial"/>
                <a:cs typeface="Arial"/>
              </a:rPr>
              <a:t>ncreases </a:t>
            </a:r>
            <a:r>
              <a:rPr lang="en-US" sz="1650" dirty="0" b="0">
                <a:solidFill>
                  <a:srgbClr val="243B53"/>
                </a:solidFill>
                <a:latin typeface="Arial"/>
                <a:ea typeface="Arial"/>
                <a:cs typeface="Arial"/>
              </a:rPr>
              <a:t>the incoming electrical voltage to the high voltage required across the X-ray tube to accelerate electrons from the cathode to the anode</a:t>
            </a:r>
            <a:r>
              <a:rPr lang="en-US" sz="1650" dirty="0" smtClean="0" b="0">
                <a:solidFill>
                  <a:srgbClr val="243B53"/>
                </a:solidFill>
                <a:latin typeface="Arial"/>
                <a:ea typeface="Arial"/>
                <a:cs typeface="Arial"/>
              </a:rPr>
              <a:t>.</a:t>
            </a:r>
            <a:endParaRPr lang="en-US" sz="1650" dirty="0" smtClean="0" b="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1650" b="0">
                <a:solidFill>
                  <a:srgbClr val="243B53"/>
                </a:solidFill>
                <a:latin typeface="Arial"/>
                <a:ea typeface="Arial"/>
                <a:cs typeface="Arial"/>
              </a:defRPr>
            </a:pPr>
            <a:r>
              <a:rPr lang="en-US" sz="1650" dirty="0" smtClean="0" b="0">
                <a:solidFill>
                  <a:srgbClr val="243B53"/>
                </a:solidFill>
                <a:latin typeface="Arial" panose="02040602050305030304" pitchFamily="18" charset="0"/>
                <a:ea typeface="Arial"/>
                <a:cs typeface="Arial"/>
              </a:rPr>
              <a:t> </a:t>
            </a:r>
            <a:r>
              <a:rPr lang="en-US" sz="1650" b="0" dirty="0">
                <a:solidFill>
                  <a:srgbClr val="243B53"/>
                </a:solidFill>
                <a:latin typeface="Arial" panose="02040602050305030304" pitchFamily="18" charset="0"/>
                <a:ea typeface="Arial"/>
                <a:cs typeface="Arial"/>
              </a:rPr>
              <a:t>Filament transformer</a:t>
            </a:r>
            <a:endParaRPr sz="1650" b="0">
              <a:solidFill>
                <a:srgbClr val="243B53"/>
              </a:solidFill>
              <a:latin typeface="Arial"/>
              <a:ea typeface="Arial"/>
              <a:cs typeface="Arial"/>
            </a:endParaRPr>
          </a:p>
          <a:p>
            <a:pPr marL="0" indent="0" algn="l">
              <a:lnSpc>
                <a:spcPct val="118000"/>
              </a:lnSpc>
              <a:spcBef>
                <a:spcPts val="0"/>
              </a:spcBef>
              <a:spcAft>
                <a:spcPts val="450"/>
              </a:spcAft>
              <a:buNone/>
              <a:defRPr sz="1650" b="0">
                <a:solidFill>
                  <a:srgbClr val="243B53"/>
                </a:solidFill>
                <a:latin typeface="Arial"/>
                <a:ea typeface="Arial"/>
                <a:cs typeface="Arial"/>
              </a:defRPr>
            </a:pPr>
            <a:r>
              <a:rPr lang="en-US" sz="1650" dirty="0" b="0">
                <a:solidFill>
                  <a:srgbClr val="243B53"/>
                </a:solidFill>
                <a:latin typeface="Arial" panose="02040602050305030304" pitchFamily="18" charset="0"/>
                <a:ea typeface="Arial"/>
                <a:cs typeface="Arial"/>
              </a:rPr>
              <a:t>Supplies low voltage but high current to heat the cathode filament, causing thermionic emission of electrons.</a:t>
            </a:r>
            <a:endParaRPr sz="1650" b="0">
              <a:solidFill>
                <a:srgbClr val="243B53"/>
              </a:solidFill>
              <a:latin typeface="Arial"/>
              <a:ea typeface="Arial"/>
              <a:cs typeface="Arial"/>
            </a:endParaRPr>
          </a:p>
          <a:p>
            <a:pPr algn="l" marL="0" indent="0">
              <a:lnSpc>
                <a:spcPct val="118000"/>
              </a:lnSpc>
              <a:spcBef>
                <a:spcPts val="0"/>
              </a:spcBef>
              <a:spcAft>
                <a:spcPts val="450"/>
              </a:spcAft>
              <a:defRPr sz="1650" b="0">
                <a:solidFill>
                  <a:srgbClr val="243B53"/>
                </a:solidFill>
                <a:latin typeface="Arial"/>
                <a:ea typeface="Arial"/>
                <a:cs typeface="Arial"/>
              </a:defRPr>
            </a:pPr>
            <a:r>
              <a:rPr lang="en-US" sz="1650" dirty="0" smtClean="0" b="0">
                <a:solidFill>
                  <a:srgbClr val="243B53"/>
                </a:solidFill>
                <a:latin typeface="Arial" panose="02040602050305030304" pitchFamily="18" charset="0"/>
                <a:ea typeface="Arial"/>
                <a:cs typeface="Arial"/>
              </a:rPr>
              <a:t> </a:t>
            </a:r>
            <a:r>
              <a:rPr lang="en-US" sz="1650" b="0" dirty="0">
                <a:solidFill>
                  <a:srgbClr val="243B53"/>
                </a:solidFill>
                <a:latin typeface="Arial" panose="02040602050305030304" pitchFamily="18" charset="0"/>
                <a:ea typeface="Arial"/>
                <a:cs typeface="Arial"/>
              </a:rPr>
              <a:t>Rectifier</a:t>
            </a:r>
            <a:endParaRPr sz="1650" b="0">
              <a:solidFill>
                <a:srgbClr val="243B53"/>
              </a:solidFill>
              <a:latin typeface="Arial"/>
              <a:ea typeface="Arial"/>
              <a:cs typeface="Arial"/>
            </a:endParaRPr>
          </a:p>
          <a:p>
            <a:pPr marL="0" indent="0" algn="l">
              <a:lnSpc>
                <a:spcPct val="118000"/>
              </a:lnSpc>
              <a:spcBef>
                <a:spcPts val="0"/>
              </a:spcBef>
              <a:spcAft>
                <a:spcPts val="450"/>
              </a:spcAft>
              <a:buNone/>
              <a:defRPr sz="1650" b="0">
                <a:solidFill>
                  <a:srgbClr val="243B53"/>
                </a:solidFill>
                <a:latin typeface="Arial"/>
                <a:ea typeface="Arial"/>
                <a:cs typeface="Arial"/>
              </a:defRPr>
            </a:pPr>
            <a:r>
              <a:rPr lang="en-US" sz="1650" dirty="0" b="0">
                <a:solidFill>
                  <a:srgbClr val="243B53"/>
                </a:solidFill>
                <a:latin typeface="Arial" panose="02040602050305030304" pitchFamily="18" charset="0"/>
                <a:ea typeface="Arial"/>
                <a:cs typeface="Arial"/>
              </a:rPr>
              <a:t>Converts alternating current (AC) into unidirectional current for the X-ray tube</a:t>
            </a:r>
            <a:r>
              <a:rPr lang="en-US" sz="1650" dirty="0" smtClean="0" b="0">
                <a:solidFill>
                  <a:srgbClr val="243B53"/>
                </a:solidFill>
                <a:latin typeface="Arial" panose="02040602050305030304" pitchFamily="18" charset="0"/>
                <a:ea typeface="Arial"/>
                <a:cs typeface="Arial"/>
              </a:rPr>
              <a:t>.</a:t>
            </a:r>
            <a:endParaRPr sz="165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Ø"/>
              <a:defRPr sz="1650" b="0">
                <a:solidFill>
                  <a:srgbClr val="243B53"/>
                </a:solidFill>
                <a:latin typeface="Arial"/>
                <a:ea typeface="Arial"/>
                <a:cs typeface="Arial"/>
              </a:defRPr>
            </a:pPr>
            <a:r>
              <a:rPr lang="en-US" sz="1650" b="0" dirty="0" smtClean="0">
                <a:solidFill>
                  <a:srgbClr val="243B53"/>
                </a:solidFill>
                <a:latin typeface="Arial" panose="02040602050305030304" pitchFamily="18" charset="0"/>
                <a:ea typeface="Arial"/>
                <a:cs typeface="Arial"/>
              </a:rPr>
              <a:t>Capacitors : </a:t>
            </a:r>
            <a:r>
              <a:rPr lang="en-US" sz="1650" dirty="0" b="0">
                <a:solidFill>
                  <a:srgbClr val="243B53"/>
                </a:solidFill>
                <a:latin typeface="Arial"/>
                <a:ea typeface="Arial"/>
                <a:cs typeface="Arial"/>
              </a:rPr>
              <a:t>Store electrical energy and help smooth voltage fluctuations in certain generator designs.</a:t>
            </a:r>
            <a:endParaRPr lang="en-US" sz="1650" b="0" dirty="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1650" b="0">
                <a:solidFill>
                  <a:srgbClr val="243B53"/>
                </a:solidFill>
                <a:latin typeface="Arial"/>
                <a:ea typeface="Arial"/>
                <a:cs typeface="Arial"/>
              </a:defRPr>
            </a:pPr>
            <a:r>
              <a:rPr lang="en-US" sz="1650" dirty="0" smtClean="0" b="0">
                <a:solidFill>
                  <a:srgbClr val="243B53"/>
                </a:solidFill>
                <a:latin typeface="Arial" panose="02040602050305030304" pitchFamily="18" charset="0"/>
                <a:ea typeface="Arial"/>
                <a:cs typeface="Arial"/>
              </a:rPr>
              <a:t> </a:t>
            </a:r>
            <a:r>
              <a:rPr lang="en-US" sz="1650" b="0" dirty="0">
                <a:solidFill>
                  <a:srgbClr val="243B53"/>
                </a:solidFill>
                <a:latin typeface="Arial" panose="02040602050305030304" pitchFamily="18" charset="0"/>
                <a:ea typeface="Arial"/>
                <a:cs typeface="Arial"/>
              </a:rPr>
              <a:t>Control console</a:t>
            </a:r>
            <a:endParaRPr sz="1650" b="0">
              <a:solidFill>
                <a:srgbClr val="243B53"/>
              </a:solidFill>
              <a:latin typeface="Arial"/>
              <a:ea typeface="Arial"/>
              <a:cs typeface="Arial"/>
            </a:endParaRPr>
          </a:p>
          <a:p>
            <a:pPr marL="0" indent="0" algn="l">
              <a:lnSpc>
                <a:spcPct val="118000"/>
              </a:lnSpc>
              <a:spcBef>
                <a:spcPts val="0"/>
              </a:spcBef>
              <a:spcAft>
                <a:spcPts val="450"/>
              </a:spcAft>
              <a:buNone/>
              <a:defRPr sz="1650" b="0">
                <a:solidFill>
                  <a:srgbClr val="243B53"/>
                </a:solidFill>
                <a:latin typeface="Arial"/>
                <a:ea typeface="Arial"/>
                <a:cs typeface="Arial"/>
              </a:defRPr>
            </a:pPr>
            <a:r>
              <a:rPr lang="en-US" sz="1650" dirty="0" b="0">
                <a:solidFill>
                  <a:srgbClr val="243B53"/>
                </a:solidFill>
                <a:latin typeface="Arial" panose="02040602050305030304" pitchFamily="18" charset="0"/>
                <a:ea typeface="Arial"/>
                <a:cs typeface="Arial"/>
              </a:rPr>
              <a:t>Allows the radiographer to select exposure factors such as </a:t>
            </a:r>
            <a:r>
              <a:rPr lang="en-US" sz="1650" dirty="0" err="1" b="0">
                <a:solidFill>
                  <a:srgbClr val="243B53"/>
                </a:solidFill>
                <a:latin typeface="Arial" panose="02040602050305030304" pitchFamily="18" charset="0"/>
                <a:ea typeface="Arial"/>
                <a:cs typeface="Arial"/>
              </a:rPr>
              <a:t>kVp</a:t>
            </a:r>
            <a:r>
              <a:rPr lang="en-US" sz="1650" dirty="0" b="0">
                <a:solidFill>
                  <a:srgbClr val="243B53"/>
                </a:solidFill>
                <a:latin typeface="Arial" panose="02040602050305030304" pitchFamily="18" charset="0"/>
                <a:ea typeface="Arial"/>
                <a:cs typeface="Arial"/>
              </a:rPr>
              <a:t>, mA, and exposure time.</a:t>
            </a:r>
            <a:endParaRPr sz="1650" b="0">
              <a:solidFill>
                <a:srgbClr val="243B53"/>
              </a:solidFill>
              <a:latin typeface="Arial"/>
              <a:ea typeface="Arial"/>
              <a:cs typeface="Arial"/>
            </a:endParaRPr>
          </a:p>
          <a:p>
            <a:pPr algn="l" marL="0" indent="0">
              <a:lnSpc>
                <a:spcPct val="118000"/>
              </a:lnSpc>
              <a:spcBef>
                <a:spcPts val="0"/>
              </a:spcBef>
              <a:spcAft>
                <a:spcPts val="450"/>
              </a:spcAft>
              <a:defRPr sz="1650" b="0">
                <a:solidFill>
                  <a:srgbClr val="243B53"/>
                </a:solidFill>
                <a:latin typeface="Arial"/>
                <a:ea typeface="Arial"/>
                <a:cs typeface="Arial"/>
              </a:defRPr>
            </a:pPr>
            <a:r>
              <a:rPr lang="en-US" sz="1650" b="0" dirty="0" smtClean="0">
                <a:solidFill>
                  <a:srgbClr val="243B53"/>
                </a:solidFill>
                <a:latin typeface="Arial" panose="02040602050305030304" pitchFamily="18" charset="0"/>
                <a:ea typeface="Arial"/>
                <a:cs typeface="Arial"/>
              </a:rPr>
              <a:t> </a:t>
            </a:r>
            <a:r>
              <a:rPr lang="en-US" sz="1650" b="0" dirty="0">
                <a:solidFill>
                  <a:srgbClr val="243B53"/>
                </a:solidFill>
                <a:latin typeface="Arial" panose="02040602050305030304" pitchFamily="18" charset="0"/>
                <a:ea typeface="Arial"/>
                <a:cs typeface="Arial"/>
              </a:rPr>
              <a:t>Exposure timer</a:t>
            </a:r>
            <a:endParaRPr sz="1650" b="0">
              <a:solidFill>
                <a:srgbClr val="243B53"/>
              </a:solidFill>
              <a:latin typeface="Arial"/>
              <a:ea typeface="Arial"/>
              <a:cs typeface="Arial"/>
            </a:endParaRPr>
          </a:p>
          <a:p>
            <a:pPr marL="0" indent="0" algn="l">
              <a:lnSpc>
                <a:spcPct val="118000"/>
              </a:lnSpc>
              <a:spcBef>
                <a:spcPts val="0"/>
              </a:spcBef>
              <a:spcAft>
                <a:spcPts val="450"/>
              </a:spcAft>
              <a:buNone/>
              <a:defRPr sz="1650" b="0">
                <a:solidFill>
                  <a:srgbClr val="243B53"/>
                </a:solidFill>
                <a:latin typeface="Arial"/>
                <a:ea typeface="Arial"/>
                <a:cs typeface="Arial"/>
              </a:defRPr>
            </a:pPr>
            <a:r>
              <a:rPr lang="en-US" sz="1650" dirty="0" b="0">
                <a:solidFill>
                  <a:srgbClr val="243B53"/>
                </a:solidFill>
                <a:latin typeface="Arial" panose="02040602050305030304" pitchFamily="18" charset="0"/>
                <a:ea typeface="Arial"/>
                <a:cs typeface="Arial"/>
              </a:rPr>
              <a:t>Controls how long the X-ray tube produces radiation during an exposure</a:t>
            </a:r>
            <a:r>
              <a:rPr lang="en-US" sz="1650" dirty="0" smtClean="0" b="0">
                <a:solidFill>
                  <a:srgbClr val="243B53"/>
                </a:solidFill>
                <a:latin typeface="Arial" panose="02040602050305030304" pitchFamily="18" charset="0"/>
                <a:ea typeface="Arial"/>
                <a:cs typeface="Arial"/>
              </a:rPr>
              <a:t>.</a:t>
            </a:r>
            <a:endParaRPr lang="en-US" sz="1650" dirty="0" b="0">
              <a:solidFill>
                <a:srgbClr val="243B53"/>
              </a:solidFill>
              <a:latin typeface="Arial" panose="02040602050305030304" pitchFamily="18" charset="0"/>
              <a:ea typeface="Arial"/>
              <a:cs typeface="Arial"/>
            </a:endParaRPr>
          </a:p>
          <a:p>
            <a:pPr marL="0" indent="0" algn="l">
              <a:lnSpc>
                <a:spcPct val="118000"/>
              </a:lnSpc>
              <a:spcBef>
                <a:spcPts val="0"/>
              </a:spcBef>
              <a:spcAft>
                <a:spcPts val="450"/>
              </a:spcAft>
              <a:buNone/>
              <a:defRPr sz="1650" b="0">
                <a:solidFill>
                  <a:srgbClr val="243B53"/>
                </a:solidFill>
                <a:latin typeface="Arial"/>
                <a:ea typeface="Arial"/>
                <a:cs typeface="Arial"/>
              </a:defRPr>
            </a:pPr>
            <a:r>
              <a:rPr lang="en-US" sz="1650" dirty="0" smtClean="0" b="0">
                <a:solidFill>
                  <a:srgbClr val="243B53"/>
                </a:solidFill>
                <a:latin typeface="Arial" panose="02040602050305030304" pitchFamily="18" charset="0"/>
                <a:ea typeface="Arial"/>
                <a:cs typeface="Arial"/>
              </a:rPr>
              <a:t>Other </a:t>
            </a:r>
            <a:r>
              <a:rPr lang="en-US" sz="1650" dirty="0" b="0">
                <a:solidFill>
                  <a:srgbClr val="243B53"/>
                </a:solidFill>
                <a:latin typeface="Arial" panose="02040602050305030304" pitchFamily="18" charset="0"/>
                <a:ea typeface="Arial"/>
                <a:cs typeface="Arial"/>
              </a:rPr>
              <a:t>important parts include the autotransformer, voltage and current control circuits, and the rotor or stator control circuit for rotating-anode tubes.</a:t>
            </a:r>
            <a:endParaRPr sz="165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Tree>
    <p:extLst>
      <p:ext uri="{BB962C8B-B14F-4D97-AF65-F5344CB8AC3E}">
        <p14:creationId val="1836271266"/>
      </p:ext>
    </p:extLst>
  </p:cSld>
  <p:clrMapOvr>
    <a:masterClrMapping/>
  </p:clrMapOvr>
</p:sld>
</file>

<file path=ppt/slides/slide12.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150" b="0">
                <a:solidFill>
                  <a:srgbClr val="243B53"/>
                </a:solidFill>
                <a:latin typeface="Arial"/>
                <a:ea typeface="Arial"/>
                <a:cs typeface="Arial"/>
              </a:defRPr>
            </a:pPr>
            <a:r>
              <a:rPr lang="en-US" sz="2150" dirty="0" smtClean="0" b="0">
                <a:solidFill>
                  <a:srgbClr val="243B53"/>
                </a:solidFill>
                <a:latin typeface="Arial" panose="02040602050305030304" pitchFamily="18" charset="0"/>
                <a:ea typeface="Arial"/>
                <a:cs typeface="Arial"/>
              </a:rPr>
              <a:t>  </a:t>
            </a:r>
            <a:r>
              <a:rPr lang="en-US" sz="2150" b="0" dirty="0" smtClean="0">
                <a:solidFill>
                  <a:srgbClr val="243B53"/>
                </a:solidFill>
                <a:latin typeface="Arial" panose="02040602050305030304" pitchFamily="18" charset="0"/>
                <a:ea typeface="Arial"/>
                <a:cs typeface="Arial"/>
              </a:rPr>
              <a:t>Electrical </a:t>
            </a:r>
            <a:r>
              <a:rPr lang="en-US" sz="2150" b="0" dirty="0">
                <a:solidFill>
                  <a:srgbClr val="243B53"/>
                </a:solidFill>
                <a:latin typeface="Arial" panose="02040602050305030304" pitchFamily="18" charset="0"/>
                <a:ea typeface="Arial"/>
                <a:cs typeface="Arial"/>
              </a:rPr>
              <a:t>power supply</a:t>
            </a:r>
            <a:endParaRPr sz="2150" b="0">
              <a:solidFill>
                <a:srgbClr val="243B53"/>
              </a:solidFill>
              <a:latin typeface="Arial"/>
              <a:ea typeface="Arial"/>
              <a:cs typeface="Arial"/>
            </a:endParaRPr>
          </a:p>
          <a:p>
            <a:pPr algn="l" marL="0" indent="0">
              <a:lnSpc>
                <a:spcPct val="118000"/>
              </a:lnSpc>
              <a:spcBef>
                <a:spcPts val="0"/>
              </a:spcBef>
              <a:spcAft>
                <a:spcPts val="450"/>
              </a:spcAft>
              <a:defRPr sz="2150" b="0">
                <a:solidFill>
                  <a:srgbClr val="243B53"/>
                </a:solidFill>
                <a:latin typeface="Arial"/>
                <a:ea typeface="Arial"/>
                <a:cs typeface="Arial"/>
              </a:defRPr>
            </a:pPr>
            <a:r>
              <a:rPr lang="en-US" sz="2150" dirty="0" b="0">
                <a:solidFill>
                  <a:srgbClr val="243B53"/>
                </a:solidFill>
                <a:latin typeface="Arial" panose="02040602050305030304" pitchFamily="18" charset="0"/>
                <a:ea typeface="Arial"/>
                <a:cs typeface="Arial"/>
              </a:rPr>
              <a:t>Provides the incoming AC electricity</a:t>
            </a:r>
            <a:r>
              <a:rPr lang="en-US" sz="2150" dirty="0" smtClean="0" b="0">
                <a:solidFill>
                  <a:srgbClr val="243B53"/>
                </a:solidFill>
                <a:latin typeface="Arial" panose="02040602050305030304" pitchFamily="18" charset="0"/>
                <a:ea typeface="Arial"/>
                <a:cs typeface="Arial"/>
              </a:rPr>
              <a:t>.</a:t>
            </a:r>
            <a:endParaRPr sz="215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panose="02040602050305030304" pitchFamily="18" charset="0"/>
              <a:ea typeface="Arial"/>
              <a:cs typeface="Arial"/>
            </a:endParaRPr>
          </a:p>
          <a:p>
            <a:pPr marL="0" indent="0" algn="l">
              <a:lnSpc>
                <a:spcPct val="118000"/>
              </a:lnSpc>
              <a:spcBef>
                <a:spcPts val="0"/>
              </a:spcBef>
              <a:spcAft>
                <a:spcPts val="450"/>
              </a:spcAft>
              <a:buNone/>
              <a:defRPr sz="2150" b="0">
                <a:solidFill>
                  <a:srgbClr val="243B53"/>
                </a:solidFill>
                <a:latin typeface="Arial"/>
                <a:ea typeface="Arial"/>
                <a:cs typeface="Arial"/>
              </a:defRPr>
            </a:pPr>
            <a:r>
              <a:rPr lang="en-US" sz="2150" b="0" dirty="0" smtClean="0">
                <a:solidFill>
                  <a:srgbClr val="243B53"/>
                </a:solidFill>
                <a:latin typeface="Arial" panose="02040602050305030304" pitchFamily="18" charset="0"/>
                <a:ea typeface="Arial"/>
                <a:cs typeface="Arial"/>
              </a:rPr>
              <a:t>Control </a:t>
            </a:r>
            <a:r>
              <a:rPr lang="en-US" sz="2150" b="0" dirty="0">
                <a:solidFill>
                  <a:srgbClr val="243B53"/>
                </a:solidFill>
                <a:latin typeface="Arial" panose="02040602050305030304" pitchFamily="18" charset="0"/>
                <a:ea typeface="Arial"/>
                <a:cs typeface="Arial"/>
              </a:rPr>
              <a:t>circuits</a:t>
            </a:r>
            <a:endParaRPr sz="2150" b="0">
              <a:solidFill>
                <a:srgbClr val="243B53"/>
              </a:solidFill>
              <a:latin typeface="Arial"/>
              <a:ea typeface="Arial"/>
              <a:cs typeface="Arial"/>
            </a:endParaRPr>
          </a:p>
          <a:p>
            <a:pPr algn="l" marL="0" indent="0">
              <a:lnSpc>
                <a:spcPct val="118000"/>
              </a:lnSpc>
              <a:spcBef>
                <a:spcPts val="0"/>
              </a:spcBef>
              <a:spcAft>
                <a:spcPts val="450"/>
              </a:spcAft>
              <a:defRPr sz="2150" b="0">
                <a:solidFill>
                  <a:srgbClr val="243B53"/>
                </a:solidFill>
                <a:latin typeface="Arial"/>
                <a:ea typeface="Arial"/>
                <a:cs typeface="Arial"/>
              </a:defRPr>
            </a:pPr>
            <a:r>
              <a:rPr lang="en-US" sz="2150" dirty="0" b="0">
                <a:solidFill>
                  <a:srgbClr val="243B53"/>
                </a:solidFill>
                <a:latin typeface="Arial" panose="02040602050305030304" pitchFamily="18" charset="0"/>
                <a:ea typeface="Arial"/>
                <a:cs typeface="Arial"/>
              </a:rPr>
              <a:t>Regulate the selected </a:t>
            </a:r>
            <a:r>
              <a:rPr lang="en-US" sz="2150" dirty="0" err="1" b="0">
                <a:solidFill>
                  <a:srgbClr val="243B53"/>
                </a:solidFill>
                <a:latin typeface="Arial" panose="02040602050305030304" pitchFamily="18" charset="0"/>
                <a:ea typeface="Arial"/>
                <a:cs typeface="Arial"/>
              </a:rPr>
              <a:t>kVp</a:t>
            </a:r>
            <a:r>
              <a:rPr lang="en-US" sz="2150" dirty="0" b="0">
                <a:solidFill>
                  <a:srgbClr val="243B53"/>
                </a:solidFill>
                <a:latin typeface="Arial" panose="02040602050305030304" pitchFamily="18" charset="0"/>
                <a:ea typeface="Arial"/>
                <a:cs typeface="Arial"/>
              </a:rPr>
              <a:t>, mA and exposure time</a:t>
            </a:r>
            <a:r>
              <a:rPr lang="en-US" sz="2150" dirty="0" smtClean="0" b="0">
                <a:solidFill>
                  <a:srgbClr val="243B53"/>
                </a:solidFill>
                <a:latin typeface="Arial" panose="02040602050305030304" pitchFamily="18" charset="0"/>
                <a:ea typeface="Arial"/>
                <a:cs typeface="Arial"/>
              </a:rPr>
              <a:t>.</a:t>
            </a:r>
            <a:endParaRPr sz="215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panose="02040602050305030304" pitchFamily="18" charset="0"/>
              <a:ea typeface="Arial"/>
              <a:cs typeface="Arial"/>
            </a:endParaRPr>
          </a:p>
          <a:p>
            <a:pPr marL="0" indent="0" algn="l">
              <a:lnSpc>
                <a:spcPct val="118000"/>
              </a:lnSpc>
              <a:spcBef>
                <a:spcPts val="0"/>
              </a:spcBef>
              <a:spcAft>
                <a:spcPts val="450"/>
              </a:spcAft>
              <a:buNone/>
              <a:defRPr sz="2150" b="0">
                <a:solidFill>
                  <a:srgbClr val="243B53"/>
                </a:solidFill>
                <a:latin typeface="Arial"/>
                <a:ea typeface="Arial"/>
                <a:cs typeface="Arial"/>
              </a:defRPr>
            </a:pPr>
            <a:r>
              <a:rPr lang="en-US" sz="2150" b="0" dirty="0" smtClean="0">
                <a:solidFill>
                  <a:srgbClr val="243B53"/>
                </a:solidFill>
                <a:latin typeface="Arial" panose="02040602050305030304" pitchFamily="18" charset="0"/>
                <a:ea typeface="Arial"/>
                <a:cs typeface="Arial"/>
              </a:rPr>
              <a:t>Transformers </a:t>
            </a:r>
            <a:r>
              <a:rPr lang="en-US" sz="2150" b="0" dirty="0">
                <a:solidFill>
                  <a:srgbClr val="243B53"/>
                </a:solidFill>
                <a:latin typeface="Arial" panose="02040602050305030304" pitchFamily="18" charset="0"/>
                <a:ea typeface="Arial"/>
                <a:cs typeface="Arial"/>
              </a:rPr>
              <a:t>and rectifiers</a:t>
            </a:r>
            <a:endParaRPr sz="2150" b="0">
              <a:solidFill>
                <a:srgbClr val="243B53"/>
              </a:solidFill>
              <a:latin typeface="Arial"/>
              <a:ea typeface="Arial"/>
              <a:cs typeface="Arial"/>
            </a:endParaRPr>
          </a:p>
          <a:p>
            <a:pPr algn="l" marL="0" indent="0">
              <a:lnSpc>
                <a:spcPct val="118000"/>
              </a:lnSpc>
              <a:spcBef>
                <a:spcPts val="0"/>
              </a:spcBef>
              <a:spcAft>
                <a:spcPts val="450"/>
              </a:spcAft>
              <a:defRPr sz="2150" b="0">
                <a:solidFill>
                  <a:srgbClr val="243B53"/>
                </a:solidFill>
                <a:latin typeface="Arial"/>
                <a:ea typeface="Arial"/>
                <a:cs typeface="Arial"/>
              </a:defRPr>
            </a:pPr>
            <a:r>
              <a:rPr lang="en-US" sz="2150" dirty="0" b="0">
                <a:solidFill>
                  <a:srgbClr val="243B53"/>
                </a:solidFill>
                <a:latin typeface="Arial" panose="02040602050305030304" pitchFamily="18" charset="0"/>
                <a:ea typeface="Arial"/>
                <a:cs typeface="Arial"/>
              </a:rPr>
              <a:t>Adjust voltage and current and provide the required tube supply</a:t>
            </a:r>
            <a:r>
              <a:rPr lang="en-US" sz="2150" dirty="0" smtClean="0" b="0">
                <a:solidFill>
                  <a:srgbClr val="243B53"/>
                </a:solidFill>
                <a:latin typeface="Arial" panose="02040602050305030304" pitchFamily="18" charset="0"/>
                <a:ea typeface="Arial"/>
                <a:cs typeface="Arial"/>
              </a:rPr>
              <a:t>.</a:t>
            </a:r>
            <a:endParaRPr sz="215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panose="02040602050305030304" pitchFamily="18" charset="0"/>
              <a:ea typeface="Arial"/>
              <a:cs typeface="Arial"/>
            </a:endParaRPr>
          </a:p>
          <a:p>
            <a:pPr marL="0" indent="0" algn="l">
              <a:lnSpc>
                <a:spcPct val="118000"/>
              </a:lnSpc>
              <a:spcBef>
                <a:spcPts val="0"/>
              </a:spcBef>
              <a:spcAft>
                <a:spcPts val="450"/>
              </a:spcAft>
              <a:buNone/>
              <a:defRPr sz="2150" b="0">
                <a:solidFill>
                  <a:srgbClr val="243B53"/>
                </a:solidFill>
                <a:latin typeface="Arial"/>
                <a:ea typeface="Arial"/>
                <a:cs typeface="Arial"/>
              </a:defRPr>
            </a:pPr>
            <a:r>
              <a:rPr lang="en-US" sz="2150" b="0" dirty="0" smtClean="0">
                <a:solidFill>
                  <a:srgbClr val="243B53"/>
                </a:solidFill>
                <a:latin typeface="Arial" panose="02040602050305030304" pitchFamily="18" charset="0"/>
                <a:ea typeface="Arial"/>
                <a:cs typeface="Arial"/>
              </a:rPr>
              <a:t>X-ray </a:t>
            </a:r>
            <a:r>
              <a:rPr lang="en-US" sz="2150" b="0" dirty="0">
                <a:solidFill>
                  <a:srgbClr val="243B53"/>
                </a:solidFill>
                <a:latin typeface="Arial" panose="02040602050305030304" pitchFamily="18" charset="0"/>
                <a:ea typeface="Arial"/>
                <a:cs typeface="Arial"/>
              </a:rPr>
              <a:t>tube</a:t>
            </a:r>
            <a:endParaRPr sz="2150" b="0">
              <a:solidFill>
                <a:srgbClr val="243B53"/>
              </a:solidFill>
              <a:latin typeface="Arial"/>
              <a:ea typeface="Arial"/>
              <a:cs typeface="Arial"/>
            </a:endParaRPr>
          </a:p>
          <a:p>
            <a:pPr algn="l" marL="0" indent="0">
              <a:lnSpc>
                <a:spcPct val="118000"/>
              </a:lnSpc>
              <a:spcBef>
                <a:spcPts val="0"/>
              </a:spcBef>
              <a:spcAft>
                <a:spcPts val="450"/>
              </a:spcAft>
              <a:defRPr sz="2150" b="0">
                <a:solidFill>
                  <a:srgbClr val="243B53"/>
                </a:solidFill>
                <a:latin typeface="Arial"/>
                <a:ea typeface="Arial"/>
                <a:cs typeface="Arial"/>
              </a:defRPr>
            </a:pPr>
            <a:r>
              <a:rPr lang="en-US" sz="2150" dirty="0" b="0">
                <a:solidFill>
                  <a:srgbClr val="243B53"/>
                </a:solidFill>
                <a:latin typeface="Arial" panose="02040602050305030304" pitchFamily="18" charset="0"/>
                <a:ea typeface="Arial"/>
                <a:cs typeface="Arial"/>
              </a:rPr>
              <a:t>Electrons travel from the cathode to the anode</a:t>
            </a:r>
            <a:r>
              <a:rPr lang="en-US" sz="2150" dirty="0" smtClean="0" b="0">
                <a:solidFill>
                  <a:srgbClr val="243B53"/>
                </a:solidFill>
                <a:latin typeface="Arial" panose="02040602050305030304" pitchFamily="18" charset="0"/>
                <a:ea typeface="Arial"/>
                <a:cs typeface="Arial"/>
              </a:rPr>
              <a:t>.</a:t>
            </a:r>
            <a:endParaRPr sz="215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panose="02040602050305030304" pitchFamily="18" charset="0"/>
              <a:ea typeface="Arial"/>
              <a:cs typeface="Arial"/>
            </a:endParaRPr>
          </a:p>
          <a:p>
            <a:pPr marL="0" indent="0" algn="l">
              <a:lnSpc>
                <a:spcPct val="118000"/>
              </a:lnSpc>
              <a:spcBef>
                <a:spcPts val="0"/>
              </a:spcBef>
              <a:spcAft>
                <a:spcPts val="450"/>
              </a:spcAft>
              <a:buNone/>
              <a:defRPr sz="2150" b="0">
                <a:solidFill>
                  <a:srgbClr val="243B53"/>
                </a:solidFill>
                <a:latin typeface="Arial"/>
                <a:ea typeface="Arial"/>
                <a:cs typeface="Arial"/>
              </a:defRPr>
            </a:pPr>
            <a:r>
              <a:rPr lang="en-US" sz="2150" b="0" dirty="0" smtClean="0">
                <a:solidFill>
                  <a:srgbClr val="243B53"/>
                </a:solidFill>
                <a:latin typeface="Arial" panose="02040602050305030304" pitchFamily="18" charset="0"/>
                <a:ea typeface="Arial"/>
                <a:cs typeface="Arial"/>
              </a:rPr>
              <a:t>X-ray </a:t>
            </a:r>
            <a:r>
              <a:rPr lang="en-US" sz="2150" b="0" dirty="0">
                <a:solidFill>
                  <a:srgbClr val="243B53"/>
                </a:solidFill>
                <a:latin typeface="Arial" panose="02040602050305030304" pitchFamily="18" charset="0"/>
                <a:ea typeface="Arial"/>
                <a:cs typeface="Arial"/>
              </a:rPr>
              <a:t>production</a:t>
            </a:r>
            <a:endParaRPr sz="2150" b="0">
              <a:solidFill>
                <a:srgbClr val="243B53"/>
              </a:solidFill>
              <a:latin typeface="Arial"/>
              <a:ea typeface="Arial"/>
              <a:cs typeface="Arial"/>
            </a:endParaRPr>
          </a:p>
          <a:p>
            <a:pPr algn="l" marL="0" indent="0">
              <a:lnSpc>
                <a:spcPct val="118000"/>
              </a:lnSpc>
              <a:spcBef>
                <a:spcPts val="0"/>
              </a:spcBef>
              <a:spcAft>
                <a:spcPts val="450"/>
              </a:spcAft>
              <a:defRPr sz="2150" b="0">
                <a:solidFill>
                  <a:srgbClr val="243B53"/>
                </a:solidFill>
                <a:latin typeface="Arial"/>
                <a:ea typeface="Arial"/>
                <a:cs typeface="Arial"/>
              </a:defRPr>
            </a:pPr>
            <a:r>
              <a:rPr lang="en-US" sz="2150" dirty="0" b="0">
                <a:solidFill>
                  <a:srgbClr val="243B53"/>
                </a:solidFill>
                <a:latin typeface="Arial" panose="02040602050305030304" pitchFamily="18" charset="0"/>
                <a:ea typeface="Arial"/>
                <a:cs typeface="Arial"/>
              </a:rPr>
              <a:t>Electrons strike the target, producing X-rays and heat.</a:t>
            </a:r>
            <a:endParaRPr sz="215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dirty="0" smtClean="0" b="1">
                <a:solidFill>
                  <a:srgbClr val="0056D2"/>
                </a:solidFill>
                <a:latin typeface="Poppins SemiBold" panose="02040602050305030304" pitchFamily="18" charset="0"/>
                <a:ea typeface="Poppins SemiBold"/>
                <a:cs typeface="Poppins SemiBold"/>
              </a:rPr>
              <a:t>HOW AN X-RAY GENERATOR WORKS</a:t>
            </a:r>
            <a:r>
              <a:rPr lang="en-US" dirty="0" sz="3200" b="1">
                <a:solidFill>
                  <a:srgbClr val="0056D2"/>
                </a:solidFill>
                <a:latin typeface="Poppins SemiBold"/>
                <a:ea typeface="Poppins SemiBold"/>
                <a:cs typeface="Poppins SemiBold"/>
              </a:rPr>
              <a:t/>
            </a:r>
            <a:br>
              <a:rPr lang="en-US" dirty="0"/>
            </a:br>
            <a:endParaRPr lang="en-US" dirty="0" sz="3200" b="1">
              <a:solidFill>
                <a:srgbClr val="0056D2"/>
              </a:solidFill>
              <a:latin typeface="Poppins SemiBold"/>
              <a:ea typeface="Poppins SemiBold"/>
              <a:cs typeface="Poppins SemiBold"/>
            </a:endParaRPr>
          </a:p>
        </p:txBody>
      </p:sp>
    </p:spTree>
    <p:extLst>
      <p:ext uri="{BB962C8B-B14F-4D97-AF65-F5344CB8AC3E}">
        <p14:creationId val="506447442"/>
      </p:ext>
    </p:extLst>
  </p:cSld>
  <p:clrMapOvr>
    <a:masterClrMapping/>
  </p:clrMapOvr>
</p:sld>
</file>

<file path=ppt/slides/slide13.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lvl="0" algn="l" marL="0" indent="0">
              <a:lnSpc>
                <a:spcPct val="118000"/>
              </a:lnSpc>
              <a:spcBef>
                <a:spcPts val="0"/>
              </a:spcBef>
              <a:spcAft>
                <a:spcPts val="450"/>
              </a:spcAft>
              <a:defRPr sz="2000" b="0">
                <a:solidFill>
                  <a:srgbClr val="243B53"/>
                </a:solidFill>
                <a:latin typeface="Arial"/>
                <a:ea typeface="Arial"/>
                <a:cs typeface="Arial"/>
              </a:defRPr>
            </a:pPr>
            <a:r>
              <a:rPr lang="en-US" sz="2000" dirty="0" smtClean="0" b="0">
                <a:solidFill>
                  <a:srgbClr val="243B53"/>
                </a:solidFill>
                <a:latin typeface="Arial" panose="02040602050305030304" pitchFamily="18" charset="0"/>
                <a:ea typeface="Arial"/>
                <a:cs typeface="Arial"/>
              </a:rPr>
              <a:t>Power </a:t>
            </a:r>
            <a:r>
              <a:rPr lang="en-US" sz="2000" dirty="0" b="0">
                <a:solidFill>
                  <a:srgbClr val="243B53"/>
                </a:solidFill>
                <a:latin typeface="Arial" panose="02040602050305030304" pitchFamily="18" charset="0"/>
                <a:ea typeface="Arial"/>
                <a:cs typeface="Arial"/>
              </a:rPr>
              <a:t>enters the generator: The mains electricity supplies the X-ray system.</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sz="2000" dirty="0" b="0">
                <a:solidFill>
                  <a:srgbClr val="243B53"/>
                </a:solidFill>
                <a:latin typeface="Arial" panose="02040602050305030304" pitchFamily="18" charset="0"/>
                <a:ea typeface="Arial"/>
                <a:cs typeface="Arial"/>
              </a:rPr>
              <a:t>Exposure factors are selected: The radiographer chooses the appropriate </a:t>
            </a:r>
            <a:r>
              <a:rPr lang="en-US" sz="2000" dirty="0" err="1" b="0">
                <a:solidFill>
                  <a:srgbClr val="243B53"/>
                </a:solidFill>
                <a:latin typeface="Arial" panose="02040602050305030304" pitchFamily="18" charset="0"/>
                <a:ea typeface="Arial"/>
                <a:cs typeface="Arial"/>
              </a:rPr>
              <a:t>kVp</a:t>
            </a:r>
            <a:r>
              <a:rPr lang="en-US" sz="2000" dirty="0" b="0">
                <a:solidFill>
                  <a:srgbClr val="243B53"/>
                </a:solidFill>
                <a:latin typeface="Arial" panose="02040602050305030304" pitchFamily="18" charset="0"/>
                <a:ea typeface="Arial"/>
                <a:cs typeface="Arial"/>
              </a:rPr>
              <a:t>, mA and exposure time.</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sz="2000" dirty="0" b="0">
                <a:solidFill>
                  <a:srgbClr val="243B53"/>
                </a:solidFill>
                <a:latin typeface="Arial" panose="02040602050305030304" pitchFamily="18" charset="0"/>
                <a:ea typeface="Arial"/>
                <a:cs typeface="Arial"/>
              </a:rPr>
              <a:t>The filament is heated: The filament transformer supplies current to heat the cathode filament, releasing electrons.</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sz="2000" dirty="0" b="0">
                <a:solidFill>
                  <a:srgbClr val="243B53"/>
                </a:solidFill>
                <a:latin typeface="Arial" panose="02040602050305030304" pitchFamily="18" charset="0"/>
                <a:ea typeface="Arial"/>
                <a:cs typeface="Arial"/>
              </a:rPr>
              <a:t>High voltage is applied: The high-voltage circuit accelerates electrons across the vacuum inside the X-ray tube.</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sz="2000" dirty="0" b="0">
                <a:solidFill>
                  <a:srgbClr val="243B53"/>
                </a:solidFill>
                <a:latin typeface="Arial" panose="02040602050305030304" pitchFamily="18" charset="0"/>
                <a:ea typeface="Arial"/>
                <a:cs typeface="Arial"/>
              </a:rPr>
              <a:t>Electrons strike the anode: Their kinetic energy is converted mainly into heat, with a small fraction converted into X-rays.</a:t>
            </a:r>
            <a:endParaRPr sz="2000" b="0">
              <a:solidFill>
                <a:srgbClr val="243B53"/>
              </a:solidFill>
              <a:latin typeface="Arial"/>
              <a:ea typeface="Arial"/>
              <a:cs typeface="Arial"/>
            </a:endParaRPr>
          </a:p>
          <a:p>
            <a:pPr lvl="0" algn="l" marL="0" indent="0">
              <a:lnSpc>
                <a:spcPct val="118000"/>
              </a:lnSpc>
              <a:spcBef>
                <a:spcPts val="0"/>
              </a:spcBef>
              <a:spcAft>
                <a:spcPts val="450"/>
              </a:spcAft>
              <a:defRPr sz="2000" b="0">
                <a:solidFill>
                  <a:srgbClr val="243B53"/>
                </a:solidFill>
                <a:latin typeface="Arial"/>
                <a:ea typeface="Arial"/>
                <a:cs typeface="Arial"/>
              </a:defRPr>
            </a:pPr>
            <a:r>
              <a:rPr lang="en-US" sz="2000" dirty="0" b="0">
                <a:solidFill>
                  <a:srgbClr val="243B53"/>
                </a:solidFill>
                <a:latin typeface="Arial" panose="02040602050305030304" pitchFamily="18" charset="0"/>
                <a:ea typeface="Arial"/>
                <a:cs typeface="Arial"/>
              </a:rPr>
              <a:t>The exposure stops: The timer or exposure-control circuit terminates the exposure at the required time.</a:t>
            </a:r>
            <a:endParaRPr sz="20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dirty="0" smtClean="0" b="1">
                <a:solidFill>
                  <a:srgbClr val="0056D2"/>
                </a:solidFill>
                <a:latin typeface="Poppins SemiBold"/>
                <a:ea typeface="Poppins SemiBold"/>
                <a:cs typeface="Poppins SemiBold"/>
              </a:rPr>
              <a:t>STEP-BY-STEP EXPLANATION</a:t>
            </a:r>
            <a:r>
              <a:rPr lang="en-US" dirty="0" smtClean="0" sz="3200" b="1">
                <a:solidFill>
                  <a:srgbClr val="0056D2"/>
                </a:solidFill>
                <a:latin typeface="Poppins SemiBold"/>
                <a:ea typeface="Poppins SemiBold"/>
                <a:cs typeface="Poppins SemiBold"/>
              </a:rPr>
              <a:t/>
            </a:r>
            <a:br>
              <a:rPr lang="en-US" dirty="0" smtClean="0"/>
            </a:br>
            <a:endParaRPr lang="en-US" dirty="0" sz="3200" b="1">
              <a:solidFill>
                <a:srgbClr val="0056D2"/>
              </a:solidFill>
              <a:latin typeface="Poppins SemiBold"/>
              <a:ea typeface="Poppins SemiBold"/>
              <a:cs typeface="Poppins SemiBold"/>
            </a:endParaRPr>
          </a:p>
        </p:txBody>
      </p:sp>
    </p:spTree>
    <p:extLst>
      <p:ext uri="{BB962C8B-B14F-4D97-AF65-F5344CB8AC3E}">
        <p14:creationId val="3674523878"/>
      </p:ext>
    </p:extLst>
  </p:cSld>
  <p:clrMapOvr>
    <a:masterClrMapping/>
  </p:clrMapOvr>
</p:sld>
</file>

<file path=ppt/slides/slide14.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9" name="Radia accent line"/>
          <p:cNvSpPr/>
          <p:nvPr/>
        </p:nvSpPr>
        <p:spPr>
          <a:xfrm>
            <a:off x="502920" y="1405890"/>
            <a:ext cx="594360" cy="41148"/>
          </a:xfrm>
          <a:prstGeom prst="rect">
            <a:avLst/>
          </a:prstGeom>
          <a:solidFill>
            <a:srgbClr val="0056D2"/>
          </a:solidFill>
          <a:ln>
            <a:noFill/>
          </a:ln>
        </p:spPr>
      </p:sp>
      <p:graphicFrame>
        <p:nvGraphicFramePr>
          <p:cNvPr id="8" name="Content Placeholder 7"/>
          <p:cNvGraphicFramePr>
            <a:graphicFrameLocks noGrp="1"/>
          </p:cNvGraphicFramePr>
          <p:nvPr>
            <p:ph idx="1"/>
            <p:extLst>
              <p:ext uri="{D42A27DB-BD31-4B8C-83A1-F6EECF244321}">
                <p14:modId val="4286284074"/>
              </p:ext>
            </p:extLst>
          </p:nvPr>
        </p:nvGraphicFramePr>
        <p:xfrm>
          <a:off x="502920" y="1748790"/>
          <a:ext cx="8138160" cy="4423410"/>
        </p:xfrm>
        <a:graphic>
          <a:graphicData uri="http://schemas.openxmlformats.org/drawingml/2006/table">
            <a:tbl>
              <a:tblPr firstRow="1" firstCol="1" bandRow="1">
                <a:tableStyleId>{5C22544A-7EE6-4342-B048-85BDC9FD1C3A}</a:tableStyleId>
              </a:tblPr>
              <a:tblGrid>
                <a:gridCol w="2712720"/>
                <a:gridCol w="2712720"/>
                <a:gridCol w="2712720"/>
              </a:tblGrid>
              <a:tr h="398101">
                <a:tc>
                  <a:txBody>
                    <a:bodyPr/>
                    <a:lstStyle/>
                    <a:p>
                      <a:pPr algn="l">
                        <a:lnSpc>
                          <a:spcPct val="115000"/>
                        </a:lnSpc>
                        <a:spcAft>
                          <a:spcPts val="1000"/>
                        </a:spcAft>
                        <a:defRPr sz="1700" b="1">
                          <a:solidFill>
                            <a:srgbClr val="FFFFFF"/>
                          </a:solidFill>
                          <a:latin typeface="Arial"/>
                          <a:ea typeface="Arial"/>
                          <a:cs typeface="Arial"/>
                        </a:defRPr>
                      </a:pPr>
                      <a:r>
                        <a:rPr lang="en-US" sz="1700" dirty="0" b="1">
                          <a:solidFill>
                            <a:srgbClr val="FFFFFF"/>
                          </a:solidFill>
                          <a:effectLst/>
                          <a:latin typeface="Arial"/>
                          <a:ea typeface="Arial"/>
                          <a:cs typeface="Arial"/>
                        </a:rPr>
                        <a:t>Factor</a:t>
                      </a:r>
                      <a:endParaRPr lang="en-US" sz="1700" dirty="0" b="1">
                        <a:solidFill>
                          <a:srgbClr val="FFFFFF"/>
                        </a:solidFill>
                        <a:effectLst/>
                        <a:latin typeface="Arial"/>
                        <a:ea typeface="Arial"/>
                        <a:cs typeface="Arial"/>
                      </a:endParaRPr>
                    </a:p>
                  </a:txBody>
                  <a:tcPr marL="63500" marR="63500" marT="50800" marB="50800" anchor="ctr">
                    <a:solidFill>
                      <a:srgbClr val="243B53"/>
                    </a:solidFill>
                  </a:tcPr>
                </a:tc>
                <a:tc>
                  <a:txBody>
                    <a:bodyPr/>
                    <a:lstStyle/>
                    <a:p>
                      <a:pPr algn="l">
                        <a:lnSpc>
                          <a:spcPct val="115000"/>
                        </a:lnSpc>
                        <a:spcAft>
                          <a:spcPts val="1000"/>
                        </a:spcAft>
                        <a:defRPr sz="1700" b="1">
                          <a:solidFill>
                            <a:srgbClr val="FFFFFF"/>
                          </a:solidFill>
                          <a:latin typeface="Arial"/>
                          <a:ea typeface="Arial"/>
                          <a:cs typeface="Arial"/>
                        </a:defRPr>
                      </a:pPr>
                      <a:r>
                        <a:rPr lang="en-US" sz="1700" dirty="0" b="1">
                          <a:solidFill>
                            <a:srgbClr val="FFFFFF"/>
                          </a:solidFill>
                          <a:effectLst/>
                          <a:latin typeface="Arial"/>
                          <a:ea typeface="Arial"/>
                          <a:cs typeface="Arial"/>
                        </a:rPr>
                        <a:t>Meaning</a:t>
                      </a:r>
                      <a:endParaRPr lang="en-US" sz="1700" dirty="0" b="1">
                        <a:solidFill>
                          <a:srgbClr val="FFFFFF"/>
                        </a:solidFill>
                        <a:effectLst/>
                        <a:latin typeface="Arial"/>
                        <a:ea typeface="Arial"/>
                        <a:cs typeface="Arial"/>
                      </a:endParaRPr>
                    </a:p>
                  </a:txBody>
                  <a:tcPr marL="63500" marR="63500" marT="50800" marB="50800" anchor="ctr">
                    <a:solidFill>
                      <a:srgbClr val="243B53"/>
                    </a:solidFill>
                  </a:tcPr>
                </a:tc>
                <a:tc>
                  <a:txBody>
                    <a:bodyPr/>
                    <a:lstStyle/>
                    <a:p>
                      <a:pPr algn="l">
                        <a:lnSpc>
                          <a:spcPct val="115000"/>
                        </a:lnSpc>
                        <a:spcAft>
                          <a:spcPts val="1000"/>
                        </a:spcAft>
                        <a:defRPr sz="1700" b="1">
                          <a:solidFill>
                            <a:srgbClr val="FFFFFF"/>
                          </a:solidFill>
                          <a:latin typeface="Arial"/>
                          <a:ea typeface="Arial"/>
                          <a:cs typeface="Arial"/>
                        </a:defRPr>
                      </a:pPr>
                      <a:r>
                        <a:rPr lang="en-US" sz="1700" dirty="0" b="1">
                          <a:solidFill>
                            <a:srgbClr val="FFFFFF"/>
                          </a:solidFill>
                          <a:effectLst/>
                          <a:latin typeface="Arial"/>
                          <a:ea typeface="Arial"/>
                          <a:cs typeface="Arial"/>
                        </a:rPr>
                        <a:t>Main effect</a:t>
                      </a:r>
                      <a:endParaRPr lang="en-US" sz="1700" dirty="0" b="1">
                        <a:solidFill>
                          <a:srgbClr val="FFFFFF"/>
                        </a:solidFill>
                        <a:effectLst/>
                        <a:latin typeface="Arial"/>
                        <a:ea typeface="Arial"/>
                        <a:cs typeface="Arial"/>
                      </a:endParaRPr>
                    </a:p>
                  </a:txBody>
                  <a:tcPr marL="63500" marR="63500" marT="50800" marB="50800" anchor="ctr">
                    <a:solidFill>
                      <a:srgbClr val="243B53"/>
                    </a:solidFill>
                  </a:tcPr>
                </a:tc>
              </a:tr>
              <a:tr h="1209069">
                <a:tc>
                  <a:txBody>
                    <a:bodyPr/>
                    <a:lstStyle/>
                    <a:p>
                      <a:pPr algn="l">
                        <a:lnSpc>
                          <a:spcPct val="115000"/>
                        </a:lnSpc>
                        <a:spcAft>
                          <a:spcPts val="1000"/>
                        </a:spcAft>
                        <a:defRPr sz="1700" b="0">
                          <a:solidFill>
                            <a:srgbClr val="243B53"/>
                          </a:solidFill>
                          <a:latin typeface="Arial"/>
                          <a:ea typeface="Arial"/>
                          <a:cs typeface="Arial"/>
                        </a:defRPr>
                      </a:pPr>
                      <a:r>
                        <a:rPr lang="en-US" sz="1700" b="0">
                          <a:solidFill>
                            <a:srgbClr val="243B53"/>
                          </a:solidFill>
                          <a:effectLst/>
                          <a:latin typeface="Arial"/>
                          <a:ea typeface="Arial"/>
                          <a:cs typeface="Arial"/>
                        </a:rPr>
                        <a:t>kVp</a:t>
                      </a:r>
                      <a:endParaRPr lang="en-US" sz="1700" b="0">
                        <a:solidFill>
                          <a:srgbClr val="243B53"/>
                        </a:solidFill>
                        <a:effectLst/>
                        <a:latin typeface="Arial"/>
                        <a:ea typeface="Arial"/>
                        <a:cs typeface="Arial"/>
                      </a:endParaRPr>
                    </a:p>
                  </a:txBody>
                  <a:tcPr marL="63500" marR="63500" marT="50800" marB="50800" anchor="ctr">
                    <a:solidFill>
                      <a:srgbClr val="F1F5FB"/>
                    </a:solidFill>
                  </a:tcPr>
                </a:tc>
                <a:tc>
                  <a:txBody>
                    <a:bodyPr/>
                    <a:lstStyle/>
                    <a:p>
                      <a:pPr algn="l">
                        <a:lnSpc>
                          <a:spcPct val="115000"/>
                        </a:lnSpc>
                        <a:spcAft>
                          <a:spcPts val="1000"/>
                        </a:spcAft>
                        <a:defRPr sz="1700" b="0">
                          <a:solidFill>
                            <a:srgbClr val="243B53"/>
                          </a:solidFill>
                          <a:latin typeface="Arial"/>
                          <a:ea typeface="Arial"/>
                          <a:cs typeface="Arial"/>
                        </a:defRPr>
                      </a:pPr>
                      <a:r>
                        <a:rPr lang="en-US" sz="1700" dirty="0" b="0">
                          <a:solidFill>
                            <a:srgbClr val="243B53"/>
                          </a:solidFill>
                          <a:effectLst/>
                          <a:latin typeface="Arial"/>
                          <a:ea typeface="Arial"/>
                          <a:cs typeface="Arial"/>
                        </a:rPr>
                        <a:t>Kilovoltage peak</a:t>
                      </a:r>
                      <a:endParaRPr lang="en-US" sz="1700" dirty="0" b="0">
                        <a:solidFill>
                          <a:srgbClr val="243B53"/>
                        </a:solidFill>
                        <a:effectLst/>
                        <a:latin typeface="Arial"/>
                        <a:ea typeface="Arial"/>
                        <a:cs typeface="Arial"/>
                      </a:endParaRPr>
                    </a:p>
                  </a:txBody>
                  <a:tcPr marL="63500" marR="63500" marT="50800" marB="50800" anchor="ctr">
                    <a:solidFill>
                      <a:srgbClr val="F1F5FB"/>
                    </a:solidFill>
                  </a:tcPr>
                </a:tc>
                <a:tc>
                  <a:txBody>
                    <a:bodyPr/>
                    <a:lstStyle/>
                    <a:p>
                      <a:pPr algn="l">
                        <a:lnSpc>
                          <a:spcPct val="115000"/>
                        </a:lnSpc>
                        <a:spcAft>
                          <a:spcPts val="1000"/>
                        </a:spcAft>
                        <a:defRPr sz="1700" b="0">
                          <a:solidFill>
                            <a:srgbClr val="243B53"/>
                          </a:solidFill>
                          <a:latin typeface="Arial"/>
                          <a:ea typeface="Arial"/>
                          <a:cs typeface="Arial"/>
                        </a:defRPr>
                      </a:pPr>
                      <a:r>
                        <a:rPr lang="en-US" sz="1700" dirty="0" b="0">
                          <a:solidFill>
                            <a:srgbClr val="243B53"/>
                          </a:solidFill>
                          <a:effectLst/>
                          <a:latin typeface="Arial"/>
                          <a:ea typeface="Arial"/>
                          <a:cs typeface="Arial"/>
                        </a:rPr>
                        <a:t>Controls electron energy and strongly affects X-ray beam penetration.</a:t>
                      </a:r>
                      <a:endParaRPr lang="en-US" sz="1700" dirty="0" b="0">
                        <a:solidFill>
                          <a:srgbClr val="243B53"/>
                        </a:solidFill>
                        <a:effectLst/>
                        <a:latin typeface="Arial"/>
                        <a:ea typeface="Arial"/>
                        <a:cs typeface="Arial"/>
                      </a:endParaRPr>
                    </a:p>
                  </a:txBody>
                  <a:tcPr marL="63500" marR="63500" marT="50800" marB="50800" anchor="ctr">
                    <a:solidFill>
                      <a:srgbClr val="F1F5FB"/>
                    </a:solidFill>
                  </a:tcPr>
                </a:tc>
              </a:tr>
              <a:tr h="938746">
                <a:tc>
                  <a:txBody>
                    <a:bodyPr/>
                    <a:lstStyle/>
                    <a:p>
                      <a:pPr algn="l">
                        <a:lnSpc>
                          <a:spcPct val="115000"/>
                        </a:lnSpc>
                        <a:spcAft>
                          <a:spcPts val="1000"/>
                        </a:spcAft>
                        <a:defRPr sz="1700" b="0">
                          <a:solidFill>
                            <a:srgbClr val="243B53"/>
                          </a:solidFill>
                          <a:latin typeface="Arial"/>
                          <a:ea typeface="Arial"/>
                          <a:cs typeface="Arial"/>
                        </a:defRPr>
                      </a:pPr>
                      <a:r>
                        <a:rPr lang="en-US" sz="1700" dirty="0" b="0">
                          <a:solidFill>
                            <a:srgbClr val="243B53"/>
                          </a:solidFill>
                          <a:effectLst/>
                          <a:latin typeface="Arial"/>
                          <a:ea typeface="Arial"/>
                          <a:cs typeface="Arial"/>
                        </a:rPr>
                        <a:t>mA</a:t>
                      </a:r>
                      <a:endParaRPr lang="en-US" sz="1700" dirty="0" b="0">
                        <a:solidFill>
                          <a:srgbClr val="243B53"/>
                        </a:solidFill>
                        <a:effectLst/>
                        <a:latin typeface="Arial"/>
                        <a:ea typeface="Arial"/>
                        <a:cs typeface="Arial"/>
                      </a:endParaRPr>
                    </a:p>
                  </a:txBody>
                  <a:tcPr marL="63500" marR="63500" marT="50800" marB="50800" anchor="ctr">
                    <a:solidFill>
                      <a:srgbClr val="FFFFFF"/>
                    </a:solidFill>
                  </a:tcPr>
                </a:tc>
                <a:tc>
                  <a:txBody>
                    <a:bodyPr/>
                    <a:lstStyle/>
                    <a:p>
                      <a:pPr algn="l">
                        <a:lnSpc>
                          <a:spcPct val="115000"/>
                        </a:lnSpc>
                        <a:spcAft>
                          <a:spcPts val="1000"/>
                        </a:spcAft>
                        <a:defRPr sz="1700" b="0">
                          <a:solidFill>
                            <a:srgbClr val="243B53"/>
                          </a:solidFill>
                          <a:latin typeface="Arial"/>
                          <a:ea typeface="Arial"/>
                          <a:cs typeface="Arial"/>
                        </a:defRPr>
                      </a:pPr>
                      <a:r>
                        <a:rPr lang="en-US" sz="1700" b="0">
                          <a:solidFill>
                            <a:srgbClr val="243B53"/>
                          </a:solidFill>
                          <a:effectLst/>
                          <a:latin typeface="Arial"/>
                          <a:ea typeface="Arial"/>
                          <a:cs typeface="Arial"/>
                        </a:rPr>
                        <a:t>Milliamperage</a:t>
                      </a:r>
                      <a:endParaRPr lang="en-US" sz="1700" b="0">
                        <a:solidFill>
                          <a:srgbClr val="243B53"/>
                        </a:solidFill>
                        <a:effectLst/>
                        <a:latin typeface="Arial"/>
                        <a:ea typeface="Arial"/>
                        <a:cs typeface="Arial"/>
                      </a:endParaRPr>
                    </a:p>
                  </a:txBody>
                  <a:tcPr marL="63500" marR="63500" marT="50800" marB="50800" anchor="ctr">
                    <a:solidFill>
                      <a:srgbClr val="FFFFFF"/>
                    </a:solidFill>
                  </a:tcPr>
                </a:tc>
                <a:tc>
                  <a:txBody>
                    <a:bodyPr/>
                    <a:lstStyle/>
                    <a:p>
                      <a:pPr algn="l">
                        <a:lnSpc>
                          <a:spcPct val="115000"/>
                        </a:lnSpc>
                        <a:spcAft>
                          <a:spcPts val="1000"/>
                        </a:spcAft>
                        <a:defRPr sz="1700" b="0">
                          <a:solidFill>
                            <a:srgbClr val="243B53"/>
                          </a:solidFill>
                          <a:latin typeface="Arial"/>
                          <a:ea typeface="Arial"/>
                          <a:cs typeface="Arial"/>
                        </a:defRPr>
                      </a:pPr>
                      <a:r>
                        <a:rPr lang="en-US" sz="1700" dirty="0" b="0">
                          <a:solidFill>
                            <a:srgbClr val="243B53"/>
                          </a:solidFill>
                          <a:effectLst/>
                          <a:latin typeface="Arial"/>
                          <a:ea typeface="Arial"/>
                          <a:cs typeface="Arial"/>
                        </a:rPr>
                        <a:t>Controls the rate of electron flow and affects X-ray quantity.</a:t>
                      </a:r>
                      <a:endParaRPr lang="en-US" sz="1700" dirty="0" b="0">
                        <a:solidFill>
                          <a:srgbClr val="243B53"/>
                        </a:solidFill>
                        <a:effectLst/>
                        <a:latin typeface="Arial"/>
                        <a:ea typeface="Arial"/>
                        <a:cs typeface="Arial"/>
                      </a:endParaRPr>
                    </a:p>
                  </a:txBody>
                  <a:tcPr marL="63500" marR="63500" marT="50800" marB="50800" anchor="ctr">
                    <a:solidFill>
                      <a:srgbClr val="FFFFFF"/>
                    </a:solidFill>
                  </a:tcPr>
                </a:tc>
              </a:tr>
              <a:tr h="668423">
                <a:tc>
                  <a:txBody>
                    <a:bodyPr/>
                    <a:lstStyle/>
                    <a:p>
                      <a:pPr algn="l">
                        <a:lnSpc>
                          <a:spcPct val="115000"/>
                        </a:lnSpc>
                        <a:spcAft>
                          <a:spcPts val="1000"/>
                        </a:spcAft>
                        <a:defRPr sz="1700" b="0">
                          <a:solidFill>
                            <a:srgbClr val="243B53"/>
                          </a:solidFill>
                          <a:latin typeface="Arial"/>
                          <a:ea typeface="Arial"/>
                          <a:cs typeface="Arial"/>
                        </a:defRPr>
                      </a:pPr>
                      <a:r>
                        <a:rPr lang="en-US" sz="1700" b="0">
                          <a:solidFill>
                            <a:srgbClr val="243B53"/>
                          </a:solidFill>
                          <a:effectLst/>
                          <a:latin typeface="Arial"/>
                          <a:ea typeface="Arial"/>
                          <a:cs typeface="Arial"/>
                        </a:rPr>
                        <a:t>Exposure time</a:t>
                      </a:r>
                      <a:endParaRPr lang="en-US" sz="1700" b="0">
                        <a:solidFill>
                          <a:srgbClr val="243B53"/>
                        </a:solidFill>
                        <a:effectLst/>
                        <a:latin typeface="Arial"/>
                        <a:ea typeface="Arial"/>
                        <a:cs typeface="Arial"/>
                      </a:endParaRPr>
                    </a:p>
                  </a:txBody>
                  <a:tcPr marL="63500" marR="63500" marT="50800" marB="50800" anchor="ctr">
                    <a:solidFill>
                      <a:srgbClr val="F1F5FB"/>
                    </a:solidFill>
                  </a:tcPr>
                </a:tc>
                <a:tc>
                  <a:txBody>
                    <a:bodyPr/>
                    <a:lstStyle/>
                    <a:p>
                      <a:pPr algn="l">
                        <a:lnSpc>
                          <a:spcPct val="115000"/>
                        </a:lnSpc>
                        <a:spcAft>
                          <a:spcPts val="1000"/>
                        </a:spcAft>
                        <a:defRPr sz="1700" b="0">
                          <a:solidFill>
                            <a:srgbClr val="243B53"/>
                          </a:solidFill>
                          <a:latin typeface="Arial"/>
                          <a:ea typeface="Arial"/>
                          <a:cs typeface="Arial"/>
                        </a:defRPr>
                      </a:pPr>
                      <a:r>
                        <a:rPr lang="en-US" sz="1700" b="0">
                          <a:solidFill>
                            <a:srgbClr val="243B53"/>
                          </a:solidFill>
                          <a:effectLst/>
                          <a:latin typeface="Arial"/>
                          <a:ea typeface="Arial"/>
                          <a:cs typeface="Arial"/>
                        </a:rPr>
                        <a:t>Duration of exposure</a:t>
                      </a:r>
                      <a:endParaRPr lang="en-US" sz="1700" b="0">
                        <a:solidFill>
                          <a:srgbClr val="243B53"/>
                        </a:solidFill>
                        <a:effectLst/>
                        <a:latin typeface="Arial"/>
                        <a:ea typeface="Arial"/>
                        <a:cs typeface="Arial"/>
                      </a:endParaRPr>
                    </a:p>
                  </a:txBody>
                  <a:tcPr marL="63500" marR="63500" marT="50800" marB="50800" anchor="ctr">
                    <a:solidFill>
                      <a:srgbClr val="F1F5FB"/>
                    </a:solidFill>
                  </a:tcPr>
                </a:tc>
                <a:tc>
                  <a:txBody>
                    <a:bodyPr/>
                    <a:lstStyle/>
                    <a:p>
                      <a:pPr algn="l">
                        <a:lnSpc>
                          <a:spcPct val="115000"/>
                        </a:lnSpc>
                        <a:spcAft>
                          <a:spcPts val="1000"/>
                        </a:spcAft>
                        <a:defRPr sz="1700" b="0">
                          <a:solidFill>
                            <a:srgbClr val="243B53"/>
                          </a:solidFill>
                          <a:latin typeface="Arial"/>
                          <a:ea typeface="Arial"/>
                          <a:cs typeface="Arial"/>
                        </a:defRPr>
                      </a:pPr>
                      <a:r>
                        <a:rPr lang="en-US" sz="1700" dirty="0" b="0">
                          <a:solidFill>
                            <a:srgbClr val="243B53"/>
                          </a:solidFill>
                          <a:effectLst/>
                          <a:latin typeface="Arial"/>
                          <a:ea typeface="Arial"/>
                          <a:cs typeface="Arial"/>
                        </a:rPr>
                        <a:t>Determines how long X-rays are produced.</a:t>
                      </a:r>
                      <a:endParaRPr lang="en-US" sz="1700" dirty="0" b="0">
                        <a:solidFill>
                          <a:srgbClr val="243B53"/>
                        </a:solidFill>
                        <a:effectLst/>
                        <a:latin typeface="Arial"/>
                        <a:ea typeface="Arial"/>
                        <a:cs typeface="Arial"/>
                      </a:endParaRPr>
                    </a:p>
                  </a:txBody>
                  <a:tcPr marL="63500" marR="63500" marT="50800" marB="50800" anchor="ctr">
                    <a:solidFill>
                      <a:srgbClr val="F1F5FB"/>
                    </a:solidFill>
                  </a:tcPr>
                </a:tc>
              </a:tr>
              <a:tr h="1209069">
                <a:tc>
                  <a:txBody>
                    <a:bodyPr/>
                    <a:lstStyle/>
                    <a:p>
                      <a:pPr algn="l">
                        <a:lnSpc>
                          <a:spcPct val="115000"/>
                        </a:lnSpc>
                        <a:spcAft>
                          <a:spcPts val="1000"/>
                        </a:spcAft>
                        <a:defRPr sz="1700" b="0">
                          <a:solidFill>
                            <a:srgbClr val="243B53"/>
                          </a:solidFill>
                          <a:latin typeface="Arial"/>
                          <a:ea typeface="Arial"/>
                          <a:cs typeface="Arial"/>
                        </a:defRPr>
                      </a:pPr>
                      <a:r>
                        <a:rPr lang="en-US" sz="1700" dirty="0" err="1" b="0">
                          <a:solidFill>
                            <a:srgbClr val="243B53"/>
                          </a:solidFill>
                          <a:effectLst/>
                          <a:latin typeface="Arial"/>
                          <a:ea typeface="Arial"/>
                          <a:cs typeface="Arial"/>
                        </a:rPr>
                        <a:t>mAs</a:t>
                      </a:r>
                      <a:endParaRPr lang="en-US" sz="1700" dirty="0" b="0">
                        <a:solidFill>
                          <a:srgbClr val="243B53"/>
                        </a:solidFill>
                        <a:effectLst/>
                        <a:latin typeface="Arial"/>
                        <a:ea typeface="Arial"/>
                        <a:cs typeface="Arial"/>
                      </a:endParaRPr>
                    </a:p>
                  </a:txBody>
                  <a:tcPr marL="63500" marR="63500" marT="50800" marB="50800" anchor="ctr">
                    <a:solidFill>
                      <a:srgbClr val="FFFFFF"/>
                    </a:solidFill>
                  </a:tcPr>
                </a:tc>
                <a:tc>
                  <a:txBody>
                    <a:bodyPr/>
                    <a:lstStyle/>
                    <a:p>
                      <a:pPr algn="l">
                        <a:lnSpc>
                          <a:spcPct val="115000"/>
                        </a:lnSpc>
                        <a:spcAft>
                          <a:spcPts val="1000"/>
                        </a:spcAft>
                        <a:defRPr sz="1700" b="0">
                          <a:solidFill>
                            <a:srgbClr val="243B53"/>
                          </a:solidFill>
                          <a:latin typeface="Arial"/>
                          <a:ea typeface="Arial"/>
                          <a:cs typeface="Arial"/>
                        </a:defRPr>
                      </a:pPr>
                      <a:r>
                        <a:rPr lang="en-US" sz="1700" b="0">
                          <a:solidFill>
                            <a:srgbClr val="243B53"/>
                          </a:solidFill>
                          <a:effectLst/>
                          <a:latin typeface="Arial"/>
                          <a:ea typeface="Arial"/>
                          <a:cs typeface="Arial"/>
                        </a:rPr>
                        <a:t>mA × exposure time</a:t>
                      </a:r>
                      <a:endParaRPr lang="en-US" sz="1700" b="0">
                        <a:solidFill>
                          <a:srgbClr val="243B53"/>
                        </a:solidFill>
                        <a:effectLst/>
                        <a:latin typeface="Arial"/>
                        <a:ea typeface="Arial"/>
                        <a:cs typeface="Arial"/>
                      </a:endParaRPr>
                    </a:p>
                  </a:txBody>
                  <a:tcPr marL="63500" marR="63500" marT="50800" marB="50800" anchor="ctr">
                    <a:solidFill>
                      <a:srgbClr val="FFFFFF"/>
                    </a:solidFill>
                  </a:tcPr>
                </a:tc>
                <a:tc>
                  <a:txBody>
                    <a:bodyPr/>
                    <a:lstStyle/>
                    <a:p>
                      <a:pPr algn="l">
                        <a:lnSpc>
                          <a:spcPct val="115000"/>
                        </a:lnSpc>
                        <a:spcAft>
                          <a:spcPts val="1000"/>
                        </a:spcAft>
                        <a:defRPr sz="1700" b="0">
                          <a:solidFill>
                            <a:srgbClr val="243B53"/>
                          </a:solidFill>
                          <a:latin typeface="Arial"/>
                          <a:ea typeface="Arial"/>
                          <a:cs typeface="Arial"/>
                        </a:defRPr>
                      </a:pPr>
                      <a:r>
                        <a:rPr lang="en-US" sz="1700" dirty="0" b="0">
                          <a:solidFill>
                            <a:srgbClr val="243B53"/>
                          </a:solidFill>
                          <a:effectLst/>
                          <a:latin typeface="Arial"/>
                          <a:ea typeface="Arial"/>
                          <a:cs typeface="Arial"/>
                        </a:rPr>
                        <a:t>Determines the total tube current-time product and strongly affects X-ray </a:t>
                      </a:r>
                      <a:r>
                        <a:rPr lang="en-US" sz="1700" dirty="0" smtClean="0" b="0">
                          <a:solidFill>
                            <a:srgbClr val="243B53"/>
                          </a:solidFill>
                          <a:effectLst/>
                          <a:latin typeface="Arial"/>
                          <a:ea typeface="Arial"/>
                          <a:cs typeface="Arial"/>
                        </a:rPr>
                        <a:t>quantity.</a:t>
                      </a:r>
                      <a:endParaRPr lang="en-US" sz="1700" dirty="0" b="0">
                        <a:solidFill>
                          <a:srgbClr val="243B53"/>
                        </a:solidFill>
                        <a:effectLst/>
                        <a:latin typeface="Arial"/>
                        <a:ea typeface="Arial"/>
                        <a:cs typeface="Arial"/>
                      </a:endParaRPr>
                    </a:p>
                  </a:txBody>
                  <a:tcPr marL="63500" marR="63500" marT="50800" marB="50800" anchor="ctr">
                    <a:solidFill>
                      <a:srgbClr val="FFFFFF"/>
                    </a:solidFill>
                  </a:tcPr>
                </a:tc>
              </a:tr>
            </a:tbl>
          </a:graphicData>
        </a:graphic>
      </p:graphicFrame>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2150" b="1">
                <a:solidFill>
                  <a:srgbClr val="0056D2"/>
                </a:solidFill>
                <a:latin typeface="Poppins SemiBold"/>
                <a:ea typeface="Poppins SemiBold"/>
                <a:cs typeface="Poppins SemiBold"/>
              </a:defRPr>
            </a:pPr>
            <a:r>
              <a:rPr lang="en-US" sz="2150" dirty="0" smtClean="0" b="1">
                <a:solidFill>
                  <a:srgbClr val="0056D2"/>
                </a:solidFill>
                <a:latin typeface="Poppins SemiBold"/>
                <a:ea typeface="Poppins SemiBold"/>
                <a:cs typeface="Poppins SemiBold"/>
              </a:rPr>
              <a:t>IMPORTANT EXPOSURE FACTORS CONTROLLED BY THE GENERATOR</a:t>
            </a:r>
            <a:r>
              <a:rPr lang="en-US" dirty="0" sz="2150" b="1">
                <a:solidFill>
                  <a:srgbClr val="0056D2"/>
                </a:solidFill>
                <a:latin typeface="Poppins SemiBold"/>
                <a:ea typeface="Poppins SemiBold"/>
                <a:cs typeface="Poppins SemiBold"/>
              </a:rPr>
              <a:t/>
            </a:r>
            <a:br>
              <a:rPr lang="en-US" dirty="0"/>
            </a:br>
            <a:endParaRPr lang="en-US" dirty="0" sz="2150" b="1">
              <a:solidFill>
                <a:srgbClr val="0056D2"/>
              </a:solidFill>
              <a:latin typeface="Poppins SemiBold"/>
              <a:ea typeface="Poppins SemiBold"/>
              <a:cs typeface="Poppins SemiBold"/>
            </a:endParaRPr>
          </a:p>
        </p:txBody>
      </p:sp>
    </p:spTree>
    <p:extLst>
      <p:ext uri="{BB962C8B-B14F-4D97-AF65-F5344CB8AC3E}">
        <p14:creationId val="2544317662"/>
      </p:ext>
    </p:extLst>
  </p:cSld>
  <p:clrMapOvr>
    <a:masterClrMapping/>
  </p:clrMapOvr>
</p:sld>
</file>

<file path=ppt/slides/slide15.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1550" b="0">
                <a:solidFill>
                  <a:srgbClr val="243B53"/>
                </a:solidFill>
                <a:latin typeface="Arial"/>
                <a:ea typeface="Arial"/>
                <a:cs typeface="Arial"/>
              </a:defRPr>
            </a:pPr>
            <a:r>
              <a:rPr lang="en-US" sz="1550" b="0" dirty="0">
                <a:solidFill>
                  <a:srgbClr val="243B53"/>
                </a:solidFill>
                <a:latin typeface="Arial" panose="02040602050305030304" pitchFamily="18" charset="0"/>
                <a:ea typeface="Arial"/>
                <a:cs typeface="Arial"/>
              </a:rPr>
              <a:t>Single-phase generator</a:t>
            </a:r>
            <a:endParaRPr sz="1550" b="0">
              <a:solidFill>
                <a:srgbClr val="243B53"/>
              </a:solidFill>
              <a:latin typeface="Arial"/>
              <a:ea typeface="Arial"/>
              <a:cs typeface="Arial"/>
            </a:endParaRPr>
          </a:p>
          <a:p>
            <a:pPr algn="l" marL="0" indent="0">
              <a:lnSpc>
                <a:spcPct val="118000"/>
              </a:lnSpc>
              <a:spcBef>
                <a:spcPts val="0"/>
              </a:spcBef>
              <a:spcAft>
                <a:spcPts val="450"/>
              </a:spcAft>
              <a:defRPr sz="1550" b="0">
                <a:solidFill>
                  <a:srgbClr val="243B53"/>
                </a:solidFill>
                <a:latin typeface="Arial"/>
                <a:ea typeface="Arial"/>
                <a:cs typeface="Arial"/>
              </a:defRPr>
            </a:pPr>
            <a:r>
              <a:rPr lang="en-US" sz="1550" dirty="0" b="0">
                <a:solidFill>
                  <a:srgbClr val="243B53"/>
                </a:solidFill>
                <a:latin typeface="Arial" panose="02040602050305030304" pitchFamily="18" charset="0"/>
                <a:ea typeface="Arial"/>
                <a:cs typeface="Arial"/>
              </a:rPr>
              <a:t>Uses single-phase AC and produces greater voltage ripple than modern high-frequency systems</a:t>
            </a:r>
            <a:r>
              <a:rPr lang="en-US" sz="1550" dirty="0" smtClean="0" b="0">
                <a:solidFill>
                  <a:srgbClr val="243B53"/>
                </a:solidFill>
                <a:latin typeface="Arial" panose="02040602050305030304" pitchFamily="18" charset="0"/>
                <a:ea typeface="Arial"/>
                <a:cs typeface="Arial"/>
              </a:rPr>
              <a:t>.</a:t>
            </a:r>
            <a:endParaRPr lang="en-US" sz="1550" dirty="0" b="0">
              <a:solidFill>
                <a:srgbClr val="243B53"/>
              </a:solidFill>
              <a:latin typeface="Arial" panose="02040602050305030304" pitchFamily="18" charset="0"/>
              <a:ea typeface="Arial"/>
              <a:cs typeface="Arial"/>
            </a:endParaRPr>
          </a:p>
          <a:p>
            <a:pPr marL="0" indent="0" algn="l">
              <a:lnSpc>
                <a:spcPct val="118000"/>
              </a:lnSpc>
              <a:spcBef>
                <a:spcPts val="0"/>
              </a:spcBef>
              <a:spcAft>
                <a:spcPts val="450"/>
              </a:spcAft>
              <a:buNone/>
              <a:defRPr sz="1550" b="0">
                <a:solidFill>
                  <a:srgbClr val="243B53"/>
                </a:solidFill>
                <a:latin typeface="Arial"/>
                <a:ea typeface="Arial"/>
                <a:cs typeface="Arial"/>
              </a:defRPr>
            </a:pPr>
            <a:r>
              <a:rPr lang="en-US" sz="1550" b="0" dirty="0">
                <a:solidFill>
                  <a:srgbClr val="243B53"/>
                </a:solidFill>
                <a:latin typeface="Arial" panose="02040602050305030304" pitchFamily="18" charset="0"/>
                <a:ea typeface="Arial"/>
                <a:cs typeface="Arial"/>
              </a:rPr>
              <a:t>Three-phase </a:t>
            </a:r>
            <a:r>
              <a:rPr lang="en-US" sz="1550" b="0" dirty="0" smtClean="0">
                <a:solidFill>
                  <a:srgbClr val="243B53"/>
                </a:solidFill>
                <a:latin typeface="Arial" panose="02040602050305030304" pitchFamily="18" charset="0"/>
                <a:ea typeface="Arial"/>
                <a:cs typeface="Arial"/>
              </a:rPr>
              <a:t>generator - 6 valves </a:t>
            </a:r>
            <a:endParaRPr lang="en-US" sz="1550" b="0" dirty="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1550" b="0">
                <a:solidFill>
                  <a:srgbClr val="243B53"/>
                </a:solidFill>
                <a:latin typeface="Arial"/>
                <a:ea typeface="Arial"/>
                <a:cs typeface="Arial"/>
              </a:defRPr>
            </a:pPr>
            <a:r>
              <a:rPr lang="en-US" sz="1550" dirty="0" b="0">
                <a:solidFill>
                  <a:srgbClr val="243B53"/>
                </a:solidFill>
                <a:latin typeface="Arial" panose="02040602050305030304" pitchFamily="18" charset="0"/>
                <a:ea typeface="Arial"/>
                <a:cs typeface="Arial"/>
              </a:rPr>
              <a:t>Provides a more constant tube voltage and generally more efficient X-ray production than a single-phase generator</a:t>
            </a:r>
            <a:r>
              <a:rPr lang="en-US" sz="1550" dirty="0" smtClean="0" b="0">
                <a:solidFill>
                  <a:srgbClr val="243B53"/>
                </a:solidFill>
                <a:latin typeface="Arial" panose="02040602050305030304" pitchFamily="18" charset="0"/>
                <a:ea typeface="Arial"/>
                <a:cs typeface="Arial"/>
              </a:rPr>
              <a:t>.</a:t>
            </a:r>
            <a:endParaRPr sz="1550" b="0">
              <a:solidFill>
                <a:srgbClr val="243B53"/>
              </a:solidFill>
              <a:latin typeface="Arial"/>
              <a:ea typeface="Arial"/>
              <a:cs typeface="Arial"/>
            </a:endParaRPr>
          </a:p>
          <a:p>
            <a:pPr algn="l" marL="0" indent="0">
              <a:lnSpc>
                <a:spcPct val="118000"/>
              </a:lnSpc>
              <a:spcBef>
                <a:spcPts val="0"/>
              </a:spcBef>
              <a:spcAft>
                <a:spcPts val="450"/>
              </a:spcAft>
              <a:defRPr sz="1550" b="0">
                <a:solidFill>
                  <a:srgbClr val="243B53"/>
                </a:solidFill>
                <a:latin typeface="Arial"/>
                <a:ea typeface="Arial"/>
                <a:cs typeface="Arial"/>
              </a:defRPr>
            </a:pPr>
            <a:r>
              <a:rPr lang="en-US" sz="1550" b="0" dirty="0" smtClean="0">
                <a:solidFill>
                  <a:srgbClr val="243B53"/>
                </a:solidFill>
                <a:latin typeface="Arial" panose="02040602050305030304" pitchFamily="18" charset="0"/>
                <a:ea typeface="Arial"/>
                <a:cs typeface="Arial"/>
              </a:rPr>
              <a:t>Three-phase generator -12 valves </a:t>
            </a:r>
            <a:endParaRPr sz="1550" b="0">
              <a:solidFill>
                <a:srgbClr val="243B53"/>
              </a:solidFill>
              <a:latin typeface="Arial"/>
              <a:ea typeface="Arial"/>
              <a:cs typeface="Arial"/>
            </a:endParaRPr>
          </a:p>
          <a:p>
            <a:pPr marL="0" indent="0" algn="l">
              <a:lnSpc>
                <a:spcPct val="118000"/>
              </a:lnSpc>
              <a:spcBef>
                <a:spcPts val="0"/>
              </a:spcBef>
              <a:spcAft>
                <a:spcPts val="450"/>
              </a:spcAft>
              <a:buNone/>
              <a:defRPr sz="1550" b="0">
                <a:solidFill>
                  <a:srgbClr val="243B53"/>
                </a:solidFill>
                <a:latin typeface="Arial"/>
                <a:ea typeface="Arial"/>
                <a:cs typeface="Arial"/>
              </a:defRPr>
            </a:pPr>
            <a:r>
              <a:rPr lang="en-US" sz="1550" dirty="0" b="0">
                <a:solidFill>
                  <a:srgbClr val="243B53"/>
                </a:solidFill>
                <a:latin typeface="Arial"/>
                <a:ea typeface="Arial"/>
                <a:cs typeface="Arial"/>
              </a:rPr>
              <a:t>S</a:t>
            </a:r>
            <a:r>
              <a:rPr lang="en-US" sz="1550" dirty="0" smtClean="0" b="0">
                <a:solidFill>
                  <a:srgbClr val="243B53"/>
                </a:solidFill>
                <a:latin typeface="Arial"/>
                <a:ea typeface="Arial"/>
                <a:cs typeface="Arial"/>
              </a:rPr>
              <a:t>upply </a:t>
            </a:r>
            <a:r>
              <a:rPr lang="en-US" sz="1550" dirty="0" b="0">
                <a:solidFill>
                  <a:srgbClr val="243B53"/>
                </a:solidFill>
                <a:latin typeface="Arial"/>
                <a:ea typeface="Arial"/>
                <a:cs typeface="Arial"/>
              </a:rPr>
              <a:t>high voltage to the X-ray tube with reduced voltage ripple, producing a more consistent X-ray beam and greater X-ray output efficiency than a single-phase generator under comparable conditions</a:t>
            </a:r>
            <a:r>
              <a:rPr lang="en-US" sz="1550" dirty="0" smtClean="0" b="0">
                <a:solidFill>
                  <a:srgbClr val="243B53"/>
                </a:solidFill>
                <a:latin typeface="Arial"/>
                <a:ea typeface="Arial"/>
                <a:cs typeface="Arial"/>
              </a:rPr>
              <a:t>.</a:t>
            </a:r>
            <a:endParaRPr lang="en-US" sz="1550" b="0" dirty="0">
              <a:solidFill>
                <a:srgbClr val="243B53"/>
              </a:solidFill>
              <a:latin typeface="Arial" panose="02040602050305030304" pitchFamily="18" charset="0"/>
              <a:ea typeface="Arial"/>
              <a:cs typeface="Arial"/>
            </a:endParaRPr>
          </a:p>
          <a:p>
            <a:pPr marL="0" indent="0" algn="l">
              <a:lnSpc>
                <a:spcPct val="118000"/>
              </a:lnSpc>
              <a:spcBef>
                <a:spcPts val="0"/>
              </a:spcBef>
              <a:spcAft>
                <a:spcPts val="450"/>
              </a:spcAft>
              <a:buNone/>
              <a:defRPr sz="1550" b="0">
                <a:solidFill>
                  <a:srgbClr val="243B53"/>
                </a:solidFill>
                <a:latin typeface="Arial"/>
                <a:ea typeface="Arial"/>
                <a:cs typeface="Arial"/>
              </a:defRPr>
            </a:pPr>
            <a:r>
              <a:rPr lang="en-US" sz="1550" b="0" dirty="0">
                <a:solidFill>
                  <a:srgbClr val="243B53"/>
                </a:solidFill>
                <a:latin typeface="Arial" panose="02040602050305030304" pitchFamily="18" charset="0"/>
                <a:ea typeface="Arial"/>
                <a:cs typeface="Arial"/>
              </a:rPr>
              <a:t>High-frequency generator</a:t>
            </a:r>
            <a:endParaRPr sz="1550" b="0">
              <a:solidFill>
                <a:srgbClr val="243B53"/>
              </a:solidFill>
              <a:latin typeface="Arial"/>
              <a:ea typeface="Arial"/>
              <a:cs typeface="Arial"/>
            </a:endParaRPr>
          </a:p>
          <a:p>
            <a:pPr algn="l" marL="0" indent="0">
              <a:lnSpc>
                <a:spcPct val="118000"/>
              </a:lnSpc>
              <a:spcBef>
                <a:spcPts val="0"/>
              </a:spcBef>
              <a:spcAft>
                <a:spcPts val="450"/>
              </a:spcAft>
              <a:defRPr sz="1550" b="0">
                <a:solidFill>
                  <a:srgbClr val="243B53"/>
                </a:solidFill>
                <a:latin typeface="Arial"/>
                <a:ea typeface="Arial"/>
                <a:cs typeface="Arial"/>
              </a:defRPr>
            </a:pPr>
            <a:r>
              <a:rPr lang="en-US" sz="1550" dirty="0" b="0">
                <a:solidFill>
                  <a:srgbClr val="243B53"/>
                </a:solidFill>
                <a:latin typeface="Arial" panose="02040602050305030304" pitchFamily="18" charset="0"/>
                <a:ea typeface="Arial"/>
                <a:cs typeface="Arial"/>
              </a:rPr>
              <a:t>Uses electronic switching to produce a nearly constant tube voltage, allowing efficient operation and consistent exposures</a:t>
            </a:r>
            <a:r>
              <a:rPr lang="en-US" sz="1550" dirty="0" smtClean="0" b="0">
                <a:solidFill>
                  <a:srgbClr val="243B53"/>
                </a:solidFill>
                <a:latin typeface="Arial" panose="02040602050305030304" pitchFamily="18" charset="0"/>
                <a:ea typeface="Arial"/>
                <a:cs typeface="Arial"/>
              </a:rPr>
              <a:t>.</a:t>
            </a:r>
            <a:endParaRPr sz="1550" b="0">
              <a:solidFill>
                <a:srgbClr val="243B53"/>
              </a:solidFill>
              <a:latin typeface="Arial"/>
              <a:ea typeface="Arial"/>
              <a:cs typeface="Arial"/>
            </a:endParaRPr>
          </a:p>
          <a:p>
            <a:pPr algn="l" marL="0" indent="0">
              <a:lnSpc>
                <a:spcPct val="118000"/>
              </a:lnSpc>
              <a:spcBef>
                <a:spcPts val="0"/>
              </a:spcBef>
              <a:spcAft>
                <a:spcPts val="450"/>
              </a:spcAft>
              <a:defRPr sz="1550" b="0">
                <a:solidFill>
                  <a:srgbClr val="243B53"/>
                </a:solidFill>
                <a:latin typeface="Arial"/>
                <a:ea typeface="Arial"/>
                <a:cs typeface="Arial"/>
              </a:defRPr>
            </a:pPr>
            <a:r>
              <a:rPr lang="en-US" sz="1550" b="0" dirty="0" smtClean="0">
                <a:solidFill>
                  <a:srgbClr val="243B53"/>
                </a:solidFill>
                <a:latin typeface="Arial" panose="02040602050305030304" pitchFamily="18" charset="0"/>
                <a:ea typeface="Arial"/>
                <a:cs typeface="Arial"/>
              </a:rPr>
              <a:t>Constant potential generator: </a:t>
            </a:r>
            <a:r>
              <a:rPr lang="en-US" sz="1550" dirty="0" b="0">
                <a:solidFill>
                  <a:srgbClr val="243B53"/>
                </a:solidFill>
                <a:latin typeface="Arial"/>
                <a:ea typeface="Arial"/>
                <a:cs typeface="Arial"/>
              </a:rPr>
              <a:t>Keeps the selected </a:t>
            </a:r>
            <a:r>
              <a:rPr lang="en-US" sz="1550" dirty="0" smtClean="0" b="0">
                <a:solidFill>
                  <a:srgbClr val="243B53"/>
                </a:solidFill>
                <a:latin typeface="Arial"/>
                <a:ea typeface="Arial"/>
                <a:cs typeface="Arial"/>
              </a:rPr>
              <a:t>(</a:t>
            </a:r>
            <a:r>
              <a:rPr lang="en-US" sz="1550" dirty="0" err="1" b="0">
                <a:solidFill>
                  <a:srgbClr val="243B53"/>
                </a:solidFill>
                <a:latin typeface="Arial"/>
                <a:ea typeface="Arial"/>
                <a:cs typeface="Arial"/>
              </a:rPr>
              <a:t>kVp</a:t>
            </a:r>
            <a:r>
              <a:rPr lang="en-US" sz="1550" dirty="0" b="0">
                <a:solidFill>
                  <a:srgbClr val="243B53"/>
                </a:solidFill>
                <a:latin typeface="Arial"/>
                <a:ea typeface="Arial"/>
                <a:cs typeface="Arial"/>
              </a:rPr>
              <a:t>) nearly constant throughout the </a:t>
            </a:r>
            <a:r>
              <a:rPr lang="en-US" sz="1550" dirty="0" smtClean="0" b="0">
                <a:solidFill>
                  <a:srgbClr val="243B53"/>
                </a:solidFill>
                <a:latin typeface="Arial"/>
                <a:ea typeface="Arial"/>
                <a:cs typeface="Arial"/>
              </a:rPr>
              <a:t>exposure thereby </a:t>
            </a:r>
            <a:r>
              <a:rPr lang="en-US" sz="1550" dirty="0" b="0">
                <a:solidFill>
                  <a:srgbClr val="243B53"/>
                </a:solidFill>
                <a:latin typeface="Arial"/>
                <a:ea typeface="Arial"/>
                <a:cs typeface="Arial"/>
              </a:rPr>
              <a:t>Minimizes fluctuations in the voltage supplied to the X-ray tube.</a:t>
            </a:r>
            <a:endParaRPr sz="155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b="0" dirty="0">
              <a:solidFill>
                <a:srgbClr val="243B53"/>
              </a:solidFill>
              <a:latin typeface="Arial" panose="02040602050305030304" pitchFamily="18" charset="0"/>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dirty="0" smtClean="0" b="1">
                <a:solidFill>
                  <a:srgbClr val="0056D2"/>
                </a:solidFill>
                <a:latin typeface="Poppins SemiBold" panose="02040602050305030304" pitchFamily="18" charset="0"/>
                <a:ea typeface="Poppins SemiBold"/>
                <a:cs typeface="Poppins SemiBold"/>
              </a:rPr>
              <a:t>TYPES OF X-RAY GENERATORS</a:t>
            </a:r>
            <a:endParaRPr lang="en-US" sz="3200" dirty="0" b="1">
              <a:solidFill>
                <a:srgbClr val="0056D2"/>
              </a:solidFill>
              <a:latin typeface="Poppins SemiBold" panose="02040602050305030304" pitchFamily="18" charset="0"/>
              <a:ea typeface="Poppins SemiBold"/>
              <a:cs typeface="Poppins SemiBold"/>
            </a:endParaRPr>
          </a:p>
        </p:txBody>
      </p:sp>
    </p:spTree>
    <p:extLst>
      <p:ext uri="{BB962C8B-B14F-4D97-AF65-F5344CB8AC3E}">
        <p14:creationId val="3349841936"/>
      </p:ext>
    </p:extLst>
  </p:cSld>
  <p:clrMapOvr>
    <a:masterClrMapping/>
  </p:clrMapOvr>
</p:sld>
</file>

<file path=ppt/slides/slide16.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000" b="0">
                <a:solidFill>
                  <a:srgbClr val="243B53"/>
                </a:solidFill>
                <a:latin typeface="Arial"/>
                <a:ea typeface="Arial"/>
                <a:cs typeface="Arial"/>
              </a:defRPr>
            </a:pPr>
            <a:r>
              <a:rPr lang="en-US" sz="2000" b="0" dirty="0">
                <a:solidFill>
                  <a:srgbClr val="243B53"/>
                </a:solidFill>
                <a:latin typeface="Arial" panose="02040602050305030304" pitchFamily="18" charset="0"/>
                <a:ea typeface="Arial"/>
                <a:cs typeface="Arial"/>
              </a:rPr>
              <a:t>HIGH TENSION GENERATORS:- </a:t>
            </a:r>
            <a:r>
              <a:rPr lang="en-US" sz="2000" dirty="0" b="0">
                <a:solidFill>
                  <a:srgbClr val="243B53"/>
                </a:solidFill>
                <a:latin typeface="Arial" panose="02040602050305030304" pitchFamily="18" charset="0"/>
                <a:ea typeface="Arial"/>
                <a:cs typeface="Arial"/>
              </a:rPr>
              <a:t>This  consist of a HTT which is in  thousands of turns in the secondary circuit (1:50) step up transformers. It converts the line voltage supply to the generator (415V)  to kilo voltage of ranges 30-150kvp these drives the emitted electrons across the polarity of the x ray tube from the cathode filament to the anode target</a:t>
            </a:r>
            <a:r>
              <a:rPr lang="en-US" sz="2000" dirty="0" smtClean="0" b="0">
                <a:solidFill>
                  <a:srgbClr val="243B53"/>
                </a:solidFill>
                <a:latin typeface="Arial" panose="02040602050305030304" pitchFamily="18" charset="0"/>
                <a:ea typeface="Arial"/>
                <a:cs typeface="Arial"/>
              </a:rPr>
              <a:t>.</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sz="2000" b="0" dirty="0">
                <a:solidFill>
                  <a:srgbClr val="243B53"/>
                </a:solidFill>
                <a:latin typeface="Arial" panose="02040602050305030304" pitchFamily="18" charset="0"/>
                <a:ea typeface="Arial"/>
                <a:cs typeface="Arial"/>
              </a:rPr>
              <a:t>EXPOSURE TIMER:- </a:t>
            </a:r>
            <a:r>
              <a:rPr lang="en-US" sz="2000" dirty="0" b="0">
                <a:solidFill>
                  <a:srgbClr val="243B53"/>
                </a:solidFill>
                <a:latin typeface="Arial" panose="02040602050305030304" pitchFamily="18" charset="0"/>
                <a:ea typeface="Arial"/>
                <a:cs typeface="Arial"/>
              </a:rPr>
              <a:t>This are electrical or electronic device in the generator circuitry that regulates  or controls the duration of time the x ray tube produces x radiation during an exposure. Its main function is to terminate the production of x rays as soon as the selected time for exposure elapses.</a:t>
            </a:r>
            <a:endParaRPr sz="20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mtClean="0" sz="3200" b="1">
                <a:solidFill>
                  <a:srgbClr val="0056D2"/>
                </a:solidFill>
                <a:latin typeface="Poppins SemiBold" panose="02040602050305030304" pitchFamily="18" charset="0"/>
                <a:ea typeface="Poppins SemiBold"/>
                <a:cs typeface="Poppins SemiBold"/>
              </a:rPr>
              <a:t>TYPES OF GENERATOR CONTD. </a:t>
            </a:r>
            <a:endParaRPr lang="en-US" dirty="0" sz="3200" b="1">
              <a:solidFill>
                <a:srgbClr val="0056D2"/>
              </a:solidFill>
              <a:latin typeface="Poppins SemiBold" panose="02040602050305030304" pitchFamily="18" charset="0"/>
              <a:ea typeface="Poppins SemiBold"/>
              <a:cs typeface="Poppins SemiBold"/>
            </a:endParaRPr>
          </a:p>
        </p:txBody>
      </p:sp>
    </p:spTree>
    <p:extLst>
      <p:ext uri="{BB962C8B-B14F-4D97-AF65-F5344CB8AC3E}">
        <p14:creationId val="906604659"/>
      </p:ext>
    </p:extLst>
  </p:cSld>
  <p:clrMapOvr>
    <a:masterClrMapping/>
  </p:clrMapOvr>
</p:sld>
</file>

<file path=ppt/slides/slide17.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dirty="0" smtClean="0" sz="2200" b="0">
                <a:solidFill>
                  <a:srgbClr val="243B53"/>
                </a:solidFill>
                <a:latin typeface="Arial" panose="02040602050305030304" pitchFamily="18" charset="0"/>
                <a:ea typeface="Arial"/>
                <a:cs typeface="Arial"/>
              </a:rPr>
              <a:t>Supplies </a:t>
            </a:r>
            <a:r>
              <a:rPr lang="en-US" dirty="0" sz="2200" b="0">
                <a:solidFill>
                  <a:srgbClr val="243B53"/>
                </a:solidFill>
                <a:latin typeface="Arial" panose="02040602050305030304" pitchFamily="18" charset="0"/>
                <a:ea typeface="Arial"/>
                <a:cs typeface="Arial"/>
              </a:rPr>
              <a:t>the high voltage needed for electron acceleration</a:t>
            </a:r>
            <a:r>
              <a:rPr lang="en-US" dirty="0" smtClean="0" sz="2200" b="0">
                <a:solidFill>
                  <a:srgbClr val="243B53"/>
                </a:solidFill>
                <a:latin typeface="Arial" panose="02040602050305030304" pitchFamily="18" charset="0"/>
                <a:ea typeface="Arial"/>
                <a:cs typeface="Arial"/>
              </a:rPr>
              <a:t>.</a:t>
            </a:r>
            <a:endParaRPr lang="en-US" dirty="0" sz="2200" b="0">
              <a:solidFill>
                <a:srgbClr val="243B53"/>
              </a:solidFill>
              <a:latin typeface="Arial" panose="02040602050305030304" pitchFamily="18" charset="0"/>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panose="02040602050305030304" pitchFamily="18" charset="0"/>
                <a:ea typeface="Arial"/>
                <a:cs typeface="Arial"/>
              </a:rPr>
              <a:t>Supplies filament current for thermionic emission.</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panose="02040602050305030304" pitchFamily="18" charset="0"/>
                <a:ea typeface="Arial"/>
                <a:cs typeface="Arial"/>
              </a:rPr>
              <a:t>Controls the tube current and tube voltage.</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panose="02040602050305030304" pitchFamily="18" charset="0"/>
                <a:ea typeface="Arial"/>
                <a:cs typeface="Arial"/>
              </a:rPr>
              <a:t>Controls the duration of exposure.</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panose="02040602050305030304" pitchFamily="18" charset="0"/>
                <a:ea typeface="Arial"/>
                <a:cs typeface="Arial"/>
              </a:rPr>
              <a:t>Helps maintain the accuracy and reproducibility of exposures.</a:t>
            </a:r>
            <a:endParaRPr sz="2200" b="0">
              <a:solidFill>
                <a:srgbClr val="243B53"/>
              </a:solidFill>
              <a:latin typeface="Arial"/>
              <a:ea typeface="Arial"/>
              <a:cs typeface="Arial"/>
            </a:endParaRPr>
          </a:p>
          <a:p>
            <a:pPr lvl="0" algn="l" marL="0" indent="0">
              <a:lnSpc>
                <a:spcPct val="118000"/>
              </a:lnSpc>
              <a:spcBef>
                <a:spcPts val="0"/>
              </a:spcBef>
              <a:spcAft>
                <a:spcPts val="450"/>
              </a:spcAft>
              <a:defRPr sz="2200" b="0">
                <a:solidFill>
                  <a:srgbClr val="243B53"/>
                </a:solidFill>
                <a:latin typeface="Arial"/>
                <a:ea typeface="Arial"/>
                <a:cs typeface="Arial"/>
              </a:defRPr>
            </a:pPr>
            <a:r>
              <a:rPr lang="en-US" dirty="0" sz="2200" b="0">
                <a:solidFill>
                  <a:srgbClr val="243B53"/>
                </a:solidFill>
                <a:latin typeface="Arial" panose="02040602050305030304" pitchFamily="18" charset="0"/>
                <a:ea typeface="Arial"/>
                <a:cs typeface="Arial"/>
              </a:rPr>
              <a:t>Works with safety interlocks and exposure-control systems to support safe operation.</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b="1" dirty="0" smtClean="0">
                <a:solidFill>
                  <a:srgbClr val="0056D2"/>
                </a:solidFill>
                <a:latin typeface="Poppins SemiBold" panose="02040602050305030304" pitchFamily="18" charset="0"/>
                <a:ea typeface="Poppins SemiBold"/>
                <a:cs typeface="Poppins SemiBold"/>
              </a:rPr>
              <a:t>FUNCTIONS OF AN X-RAY GENERATOR</a:t>
            </a:r>
            <a:r>
              <a:rPr lang="en-US" sz="3200" dirty="0" smtClean="0" b="1">
                <a:solidFill>
                  <a:srgbClr val="0056D2"/>
                </a:solidFill>
                <a:latin typeface="Poppins SemiBold" panose="02040602050305030304" pitchFamily="18" charset="0"/>
                <a:ea typeface="Poppins SemiBold"/>
                <a:cs typeface="Poppins SemiBold"/>
              </a:rPr>
              <a:t/>
            </a:r>
            <a:br>
              <a:rPr lang="en-US" sz="2800" dirty="0" smtClean="0">
                <a:latin typeface="Book Antiqua" panose="02040602050305030304" pitchFamily="18" charset="0"/>
              </a:rPr>
            </a:br>
            <a:endParaRPr lang="en-US" sz="3200" dirty="0" b="1">
              <a:solidFill>
                <a:srgbClr val="0056D2"/>
              </a:solidFill>
              <a:latin typeface="Poppins SemiBold" panose="02040602050305030304" pitchFamily="18" charset="0"/>
              <a:ea typeface="Poppins SemiBold"/>
              <a:cs typeface="Poppins SemiBold"/>
            </a:endParaRPr>
          </a:p>
        </p:txBody>
      </p:sp>
    </p:spTree>
    <p:extLst>
      <p:ext uri="{BB962C8B-B14F-4D97-AF65-F5344CB8AC3E}">
        <p14:creationId val="3401913708"/>
      </p:ext>
    </p:extLst>
  </p:cSld>
  <p:clrMapOvr>
    <a:masterClrMapping/>
  </p:clrMapOvr>
</p:sld>
</file>

<file path=ppt/slides/slide18.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000" b="0">
                <a:solidFill>
                  <a:srgbClr val="243B53"/>
                </a:solidFill>
                <a:latin typeface="Arial"/>
                <a:ea typeface="Arial"/>
                <a:cs typeface="Arial"/>
              </a:defRPr>
            </a:pPr>
            <a:r>
              <a:rPr lang="en-US" b="0" dirty="0" smtClean="0" sz="2000">
                <a:solidFill>
                  <a:srgbClr val="243B53"/>
                </a:solidFill>
                <a:latin typeface="Arial" panose="02040602050305030304" pitchFamily="18" charset="0"/>
                <a:ea typeface="Arial"/>
                <a:cs typeface="Arial"/>
              </a:rPr>
              <a:t>The </a:t>
            </a:r>
            <a:r>
              <a:rPr lang="en-US" b="0" dirty="0" sz="2000">
                <a:solidFill>
                  <a:srgbClr val="243B53"/>
                </a:solidFill>
                <a:latin typeface="Arial" panose="02040602050305030304" pitchFamily="18" charset="0"/>
                <a:ea typeface="Arial"/>
                <a:cs typeface="Arial"/>
              </a:rPr>
              <a:t>beam limiting  </a:t>
            </a:r>
            <a:r>
              <a:rPr lang="en-US" dirty="0" sz="2000" b="0">
                <a:solidFill>
                  <a:srgbClr val="243B53"/>
                </a:solidFill>
                <a:latin typeface="Arial" panose="02040602050305030304" pitchFamily="18" charset="0"/>
                <a:ea typeface="Arial"/>
                <a:cs typeface="Arial"/>
              </a:rPr>
              <a:t>are devices used to either limit or restrict the amount of radiation exposed to a unit arear of the medium. They are equally used to control scattered radiation. They are classified into three groups:- Aperture diaphragms, cones and cylinders, collimators. Their main function is to restrict the </a:t>
            </a:r>
            <a:r>
              <a:rPr lang="en-US" dirty="0" smtClean="0" sz="2000" b="0">
                <a:solidFill>
                  <a:srgbClr val="243B53"/>
                </a:solidFill>
                <a:latin typeface="Arial" panose="02040602050305030304" pitchFamily="18" charset="0"/>
                <a:ea typeface="Arial"/>
                <a:cs typeface="Arial"/>
              </a:rPr>
              <a:t>x ray beam to </a:t>
            </a:r>
            <a:r>
              <a:rPr lang="en-US" dirty="0" sz="2000" b="0">
                <a:solidFill>
                  <a:srgbClr val="243B53"/>
                </a:solidFill>
                <a:latin typeface="Arial" panose="02040602050305030304" pitchFamily="18" charset="0"/>
                <a:ea typeface="Arial"/>
                <a:cs typeface="Arial"/>
              </a:rPr>
              <a:t>the arear of interest and to protect the patient for </a:t>
            </a:r>
            <a:r>
              <a:rPr lang="en-US" dirty="0" smtClean="0" sz="2000" b="0">
                <a:solidFill>
                  <a:srgbClr val="243B53"/>
                </a:solidFill>
                <a:latin typeface="Arial" panose="02040602050305030304" pitchFamily="18" charset="0"/>
                <a:ea typeface="Arial"/>
                <a:cs typeface="Arial"/>
              </a:rPr>
              <a:t>excessive x - </a:t>
            </a:r>
            <a:r>
              <a:rPr lang="en-US" dirty="0" sz="2000" b="0">
                <a:solidFill>
                  <a:srgbClr val="243B53"/>
                </a:solidFill>
                <a:latin typeface="Arial" panose="02040602050305030304" pitchFamily="18" charset="0"/>
                <a:ea typeface="Arial"/>
                <a:cs typeface="Arial"/>
              </a:rPr>
              <a:t>irradiation.  </a:t>
            </a:r>
            <a:endParaRPr lang="en-US" dirty="0" smtClean="0" sz="2000" b="0">
              <a:solidFill>
                <a:srgbClr val="243B53"/>
              </a:solidFill>
              <a:latin typeface="Arial" panose="02040602050305030304" pitchFamily="18" charset="0"/>
              <a:ea typeface="Arial"/>
              <a:cs typeface="Arial"/>
            </a:endParaRPr>
          </a:p>
          <a:p>
            <a:pPr marL="0" indent="0" algn="l">
              <a:lnSpc>
                <a:spcPct val="118000"/>
              </a:lnSpc>
              <a:spcBef>
                <a:spcPts val="0"/>
              </a:spcBef>
              <a:spcAft>
                <a:spcPts val="450"/>
              </a:spcAft>
              <a:buNone/>
              <a:defRPr sz="2000" b="0">
                <a:solidFill>
                  <a:srgbClr val="243B53"/>
                </a:solidFill>
                <a:latin typeface="Arial"/>
                <a:ea typeface="Arial"/>
                <a:cs typeface="Arial"/>
              </a:defRPr>
            </a:pPr>
            <a:r>
              <a:rPr lang="en-US" b="0" dirty="0" smtClean="0" sz="2000">
                <a:solidFill>
                  <a:srgbClr val="243B53"/>
                </a:solidFill>
                <a:latin typeface="Arial" panose="02040602050305030304" pitchFamily="18" charset="0"/>
                <a:ea typeface="Arial"/>
                <a:cs typeface="Arial"/>
              </a:rPr>
              <a:t>The </a:t>
            </a:r>
            <a:r>
              <a:rPr lang="en-US" b="0" dirty="0" sz="2000">
                <a:solidFill>
                  <a:srgbClr val="243B53"/>
                </a:solidFill>
                <a:latin typeface="Arial" panose="02040602050305030304" pitchFamily="18" charset="0"/>
                <a:ea typeface="Arial"/>
                <a:cs typeface="Arial"/>
              </a:rPr>
              <a:t>beam centering </a:t>
            </a:r>
            <a:r>
              <a:rPr lang="en-US" dirty="0" sz="2000" b="0">
                <a:solidFill>
                  <a:srgbClr val="243B53"/>
                </a:solidFill>
                <a:latin typeface="Arial" panose="02040602050305030304" pitchFamily="18" charset="0"/>
                <a:ea typeface="Arial"/>
                <a:cs typeface="Arial"/>
              </a:rPr>
              <a:t>devices are devices that direct or indicate the direction of the central or primary beam to the arear of interest. Examples are Light beam localizer, centering marks, </a:t>
            </a:r>
            <a:r>
              <a:rPr lang="en-US" dirty="0" err="1" sz="2000" b="0">
                <a:solidFill>
                  <a:srgbClr val="243B53"/>
                </a:solidFill>
                <a:latin typeface="Arial" panose="02040602050305030304" pitchFamily="18" charset="0"/>
                <a:ea typeface="Arial"/>
                <a:cs typeface="Arial"/>
              </a:rPr>
              <a:t>Varray</a:t>
            </a:r>
            <a:r>
              <a:rPr lang="en-US" dirty="0" sz="2000" b="0">
                <a:solidFill>
                  <a:srgbClr val="243B53"/>
                </a:solidFill>
                <a:latin typeface="Arial" panose="02040602050305030304" pitchFamily="18" charset="0"/>
                <a:ea typeface="Arial"/>
                <a:cs typeface="Arial"/>
              </a:rPr>
              <a:t> lamps and beam alignment indicator.</a:t>
            </a:r>
            <a:endParaRPr sz="20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dirty="0" smtClean="0" b="1">
                <a:solidFill>
                  <a:srgbClr val="0056D2"/>
                </a:solidFill>
                <a:latin typeface="Poppins SemiBold" panose="02040602050305030304" pitchFamily="18" charset="0"/>
                <a:ea typeface="Poppins SemiBold"/>
                <a:cs typeface="Poppins SemiBold"/>
              </a:rPr>
              <a:t>BEAM LIMITING /CENTERING DEVICES</a:t>
            </a:r>
            <a:endParaRPr lang="en-US" sz="3200" dirty="0" b="1">
              <a:solidFill>
                <a:srgbClr val="0056D2"/>
              </a:solidFill>
              <a:latin typeface="Poppins SemiBold" panose="02040602050305030304" pitchFamily="18" charset="0"/>
              <a:ea typeface="Poppins SemiBold"/>
              <a:cs typeface="Poppins SemiBold"/>
            </a:endParaRPr>
          </a:p>
        </p:txBody>
      </p:sp>
    </p:spTree>
    <p:extLst>
      <p:ext uri="{BB962C8B-B14F-4D97-AF65-F5344CB8AC3E}">
        <p14:creationId val="3450444483"/>
      </p:ext>
    </p:extLst>
  </p:cSld>
  <p:clrMapOvr>
    <a:masterClrMapping/>
  </p:clrMapOvr>
</p:sld>
</file>

<file path=ppt/slides/slide19.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000" b="0">
                <a:solidFill>
                  <a:srgbClr val="243B53"/>
                </a:solidFill>
                <a:latin typeface="Arial"/>
                <a:ea typeface="Arial"/>
                <a:cs typeface="Arial"/>
              </a:defRPr>
            </a:pPr>
            <a:r>
              <a:rPr lang="en-US" b="0" dirty="0" smtClean="0" sz="2000">
                <a:solidFill>
                  <a:srgbClr val="243B53"/>
                </a:solidFill>
                <a:latin typeface="Arial" panose="02040602050305030304" pitchFamily="18" charset="0"/>
                <a:ea typeface="Arial"/>
                <a:cs typeface="Arial"/>
              </a:rPr>
              <a:t>FUSE</a:t>
            </a:r>
            <a:r>
              <a:rPr lang="en-US" b="0" dirty="0" sz="2000">
                <a:solidFill>
                  <a:srgbClr val="243B53"/>
                </a:solidFill>
                <a:latin typeface="Arial" panose="02040602050305030304" pitchFamily="18" charset="0"/>
                <a:ea typeface="Arial"/>
                <a:cs typeface="Arial"/>
              </a:rPr>
              <a:t>:- </a:t>
            </a:r>
            <a:r>
              <a:rPr lang="en-US" dirty="0" sz="2000" b="0">
                <a:solidFill>
                  <a:srgbClr val="243B53"/>
                </a:solidFill>
                <a:latin typeface="Arial" panose="02040602050305030304" pitchFamily="18" charset="0"/>
                <a:ea typeface="Arial"/>
                <a:cs typeface="Arial"/>
              </a:rPr>
              <a:t>This is a device that safeguard electrical equipment from excessive high current by breaking the circuit in the cause of a high voltage supply.</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b="0" dirty="0" smtClean="0" sz="2000">
                <a:solidFill>
                  <a:srgbClr val="243B53"/>
                </a:solidFill>
                <a:latin typeface="Arial" panose="02040602050305030304" pitchFamily="18" charset="0"/>
                <a:ea typeface="Arial"/>
                <a:cs typeface="Arial"/>
              </a:rPr>
              <a:t>SWITCHES:- </a:t>
            </a:r>
            <a:r>
              <a:rPr lang="en-US" dirty="0" sz="2000" b="0">
                <a:solidFill>
                  <a:srgbClr val="243B53"/>
                </a:solidFill>
                <a:latin typeface="Arial" panose="02040602050305030304" pitchFamily="18" charset="0"/>
                <a:ea typeface="Arial"/>
                <a:cs typeface="Arial"/>
              </a:rPr>
              <a:t>This device allows the flow of current to the circuit when operated and disallow the flow of current when stopped. Its used to ON and Off the </a:t>
            </a:r>
            <a:r>
              <a:rPr lang="en-US" dirty="0" err="1" sz="2000" b="0">
                <a:solidFill>
                  <a:srgbClr val="243B53"/>
                </a:solidFill>
                <a:latin typeface="Arial" panose="02040602050305030304" pitchFamily="18" charset="0"/>
                <a:ea typeface="Arial"/>
                <a:cs typeface="Arial"/>
              </a:rPr>
              <a:t>equipments</a:t>
            </a:r>
            <a:r>
              <a:rPr lang="en-US" dirty="0" sz="2000" b="0">
                <a:solidFill>
                  <a:srgbClr val="243B53"/>
                </a:solidFill>
                <a:latin typeface="Arial" panose="02040602050305030304" pitchFamily="18" charset="0"/>
                <a:ea typeface="Arial"/>
                <a:cs typeface="Arial"/>
              </a:rPr>
              <a:t>.</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b="0" dirty="0" smtClean="0" sz="2000">
                <a:solidFill>
                  <a:srgbClr val="243B53"/>
                </a:solidFill>
                <a:latin typeface="Arial" panose="02040602050305030304" pitchFamily="18" charset="0"/>
                <a:ea typeface="Arial"/>
                <a:cs typeface="Arial"/>
              </a:rPr>
              <a:t>INTERLOCKS:- </a:t>
            </a:r>
            <a:r>
              <a:rPr lang="en-US" dirty="0" sz="2000" b="0">
                <a:solidFill>
                  <a:srgbClr val="243B53"/>
                </a:solidFill>
                <a:latin typeface="Arial" panose="02040602050305030304" pitchFamily="18" charset="0"/>
                <a:ea typeface="Arial"/>
                <a:cs typeface="Arial"/>
              </a:rPr>
              <a:t>This  delay the exposure in situation the anode rotation is not adequate thereby protect the tube from damage. Also in circumstances of power </a:t>
            </a:r>
            <a:r>
              <a:rPr lang="en-US" dirty="0" smtClean="0" sz="2000" b="0">
                <a:solidFill>
                  <a:srgbClr val="243B53"/>
                </a:solidFill>
                <a:latin typeface="Arial" panose="02040602050305030304" pitchFamily="18" charset="0"/>
                <a:ea typeface="Arial"/>
                <a:cs typeface="Arial"/>
              </a:rPr>
              <a:t>fluctuations, </a:t>
            </a:r>
            <a:r>
              <a:rPr lang="en-US" dirty="0" sz="2000" b="0">
                <a:solidFill>
                  <a:srgbClr val="243B53"/>
                </a:solidFill>
                <a:latin typeface="Arial" panose="02040602050305030304" pitchFamily="18" charset="0"/>
                <a:ea typeface="Arial"/>
                <a:cs typeface="Arial"/>
              </a:rPr>
              <a:t>the interlocks disallow the exposure. Its fixed in the anode stator circuitry. It protect the tube against power overload , insufficient rotation of the anode </a:t>
            </a:r>
            <a:endParaRPr sz="20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2300" b="1">
                <a:solidFill>
                  <a:srgbClr val="0056D2"/>
                </a:solidFill>
                <a:latin typeface="Poppins SemiBold"/>
                <a:ea typeface="Poppins SemiBold"/>
                <a:cs typeface="Poppins SemiBold"/>
              </a:defRPr>
            </a:pPr>
            <a:r>
              <a:rPr lang="en-US" sz="2300" dirty="0" smtClean="0" b="1">
                <a:solidFill>
                  <a:srgbClr val="0056D2"/>
                </a:solidFill>
                <a:latin typeface="Poppins SemiBold" panose="02040602050305030304" pitchFamily="18" charset="0"/>
                <a:ea typeface="Poppins SemiBold"/>
                <a:cs typeface="Poppins SemiBold"/>
              </a:rPr>
              <a:t>OTHER EQUIPMENT ACCESSORIES IN THE X RAY CIRCUITRY</a:t>
            </a:r>
            <a:r>
              <a:rPr lang="en-US" dirty="0" smtClean="0" sz="2300" b="1">
                <a:solidFill>
                  <a:srgbClr val="0056D2"/>
                </a:solidFill>
                <a:latin typeface="Poppins SemiBold"/>
                <a:ea typeface="Poppins SemiBold"/>
                <a:cs typeface="Poppins SemiBold"/>
              </a:rPr>
              <a:t/>
            </a:r>
            <a:br>
              <a:rPr lang="en-US" dirty="0" smtClean="0"/>
            </a:br>
            <a:endParaRPr lang="en-US" dirty="0" sz="2300" b="1">
              <a:solidFill>
                <a:srgbClr val="0056D2"/>
              </a:solidFill>
              <a:latin typeface="Poppins SemiBold"/>
              <a:ea typeface="Poppins SemiBold"/>
              <a:cs typeface="Poppins SemiBold"/>
            </a:endParaRPr>
          </a:p>
        </p:txBody>
      </p:sp>
    </p:spTree>
    <p:extLst>
      <p:ext uri="{BB962C8B-B14F-4D97-AF65-F5344CB8AC3E}">
        <p14:creationId val="4203036361"/>
      </p:ext>
    </p:extLst>
  </p:cSld>
  <p:clrMapOvr>
    <a:masterClrMapping/>
  </p:clrMapOvr>
</p:sld>
</file>

<file path=ppt/slides/slide20.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200" b="0">
                <a:solidFill>
                  <a:srgbClr val="243B53"/>
                </a:solidFill>
                <a:latin typeface="Arial"/>
                <a:ea typeface="Arial"/>
                <a:cs typeface="Arial"/>
              </a:defRPr>
            </a:pPr>
            <a:r>
              <a:rPr lang="en-US" b="0" dirty="0" sz="2200">
                <a:solidFill>
                  <a:srgbClr val="243B53"/>
                </a:solidFill>
                <a:latin typeface="Arial" panose="02040602050305030304" pitchFamily="18" charset="0"/>
                <a:ea typeface="Arial"/>
                <a:cs typeface="Arial"/>
              </a:rPr>
              <a:t>RELAY</a:t>
            </a:r>
            <a:r>
              <a:rPr lang="en-US" dirty="0" sz="2200" b="0">
                <a:solidFill>
                  <a:srgbClr val="243B53"/>
                </a:solidFill>
                <a:latin typeface="Arial" panose="02040602050305030304" pitchFamily="18" charset="0"/>
                <a:ea typeface="Arial"/>
                <a:cs typeface="Arial"/>
              </a:rPr>
              <a:t>:-This device protect the equipment against high current using the thermal effect of electric current</a:t>
            </a:r>
            <a:r>
              <a:rPr lang="en-US" dirty="0" smtClean="0" sz="2200" b="0">
                <a:solidFill>
                  <a:srgbClr val="243B53"/>
                </a:solidFill>
                <a:latin typeface="Arial" panose="02040602050305030304" pitchFamily="18" charset="0"/>
                <a:ea typeface="Arial"/>
                <a:cs typeface="Arial"/>
              </a:rPr>
              <a:t>.</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b="0" dirty="0" sz="2200">
                <a:solidFill>
                  <a:srgbClr val="243B53"/>
                </a:solidFill>
                <a:latin typeface="Arial" panose="02040602050305030304" pitchFamily="18" charset="0"/>
                <a:ea typeface="Arial"/>
                <a:cs typeface="Arial"/>
              </a:rPr>
              <a:t>CIRCUIT BREAKER</a:t>
            </a:r>
            <a:r>
              <a:rPr lang="en-US" dirty="0" sz="2200" b="0">
                <a:solidFill>
                  <a:srgbClr val="243B53"/>
                </a:solidFill>
                <a:latin typeface="Arial" panose="02040602050305030304" pitchFamily="18" charset="0"/>
                <a:ea typeface="Arial"/>
                <a:cs typeface="Arial"/>
              </a:rPr>
              <a:t>:- This protect the equipment from abnormal power supply by discontinue the circuit.</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2300" b="1">
                <a:solidFill>
                  <a:srgbClr val="0056D2"/>
                </a:solidFill>
                <a:latin typeface="Poppins SemiBold"/>
                <a:ea typeface="Poppins SemiBold"/>
                <a:cs typeface="Poppins SemiBold"/>
              </a:defRPr>
            </a:pPr>
            <a:r>
              <a:rPr lang="en-US" sz="2300" dirty="0" b="1">
                <a:solidFill>
                  <a:srgbClr val="0056D2"/>
                </a:solidFill>
                <a:latin typeface="Poppins SemiBold" panose="02040602050305030304" pitchFamily="18" charset="0"/>
                <a:ea typeface="Poppins SemiBold"/>
                <a:cs typeface="Poppins SemiBold"/>
              </a:rPr>
              <a:t>OTHER EQUIPMENT ACCESSORIES IN THE X RAY </a:t>
            </a:r>
            <a:r>
              <a:rPr lang="en-US" sz="2300" dirty="0" smtClean="0" b="1">
                <a:solidFill>
                  <a:srgbClr val="0056D2"/>
                </a:solidFill>
                <a:latin typeface="Poppins SemiBold" panose="02040602050305030304" pitchFamily="18" charset="0"/>
                <a:ea typeface="Poppins SemiBold"/>
                <a:cs typeface="Poppins SemiBold"/>
              </a:rPr>
              <a:t>CIRCUITRY</a:t>
            </a:r>
            <a:endParaRPr lang="en-US" sz="2300" dirty="0" b="1">
              <a:solidFill>
                <a:srgbClr val="0056D2"/>
              </a:solidFill>
              <a:latin typeface="Poppins SemiBold"/>
              <a:ea typeface="Poppins SemiBold"/>
              <a:cs typeface="Poppins SemiBold"/>
            </a:endParaRPr>
          </a:p>
        </p:txBody>
      </p:sp>
    </p:spTree>
    <p:extLst>
      <p:ext uri="{BB962C8B-B14F-4D97-AF65-F5344CB8AC3E}">
        <p14:creationId val="2665627314"/>
      </p:ext>
    </p:extLst>
  </p:cSld>
  <p:clrMapOvr>
    <a:masterClrMapping/>
  </p:clrMapOvr>
</p:sld>
</file>

<file path=ppt/slides/slide21.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8"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000" b="0">
                <a:solidFill>
                  <a:srgbClr val="243B53"/>
                </a:solidFill>
                <a:latin typeface="Arial"/>
                <a:ea typeface="Arial"/>
                <a:cs typeface="Arial"/>
              </a:defRPr>
            </a:pPr>
            <a:r>
              <a:rPr lang="en-US" dirty="0" smtClean="0" sz="2000" b="0">
                <a:solidFill>
                  <a:srgbClr val="243B53"/>
                </a:solidFill>
                <a:latin typeface="Arial" panose="02040602050305030304" pitchFamily="18" charset="0"/>
                <a:ea typeface="Arial"/>
                <a:cs typeface="Arial"/>
              </a:rPr>
              <a:t>X </a:t>
            </a:r>
            <a:r>
              <a:rPr lang="en-US" dirty="0" sz="2000" b="0">
                <a:solidFill>
                  <a:srgbClr val="243B53"/>
                </a:solidFill>
                <a:latin typeface="Arial" panose="02040602050305030304" pitchFamily="18" charset="0"/>
                <a:ea typeface="Arial"/>
                <a:cs typeface="Arial"/>
              </a:rPr>
              <a:t>rays are produced when  high speed electrons emitted from the cathode filament are converted to x ray photons as they strike and interact with the target material</a:t>
            </a:r>
            <a:r>
              <a:rPr lang="en-US" dirty="0" smtClean="0" sz="2000" b="0">
                <a:solidFill>
                  <a:srgbClr val="243B53"/>
                </a:solidFill>
                <a:latin typeface="Arial" panose="02040602050305030304" pitchFamily="18" charset="0"/>
                <a:ea typeface="Arial"/>
                <a:cs typeface="Arial"/>
              </a:rPr>
              <a:t>. This </a:t>
            </a:r>
            <a:r>
              <a:rPr lang="en-US" dirty="0" sz="2000" b="0">
                <a:solidFill>
                  <a:srgbClr val="243B53"/>
                </a:solidFill>
                <a:latin typeface="Arial" panose="02040602050305030304" pitchFamily="18" charset="0"/>
                <a:ea typeface="Arial"/>
                <a:cs typeface="Arial"/>
              </a:rPr>
              <a:t>process involved the following steps:-  </a:t>
            </a:r>
            <a:endParaRPr lang="en-US" dirty="0" smtClean="0" sz="2000" b="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panose="02040602050305030304" pitchFamily="18" charset="0"/>
                <a:ea typeface="Arial"/>
                <a:cs typeface="Arial"/>
              </a:rPr>
              <a:t>H</a:t>
            </a:r>
            <a:r>
              <a:rPr lang="en-US" dirty="0" smtClean="0" sz="2000" b="0">
                <a:solidFill>
                  <a:srgbClr val="243B53"/>
                </a:solidFill>
                <a:latin typeface="Arial" panose="02040602050305030304" pitchFamily="18" charset="0"/>
                <a:ea typeface="Arial"/>
                <a:cs typeface="Arial"/>
              </a:rPr>
              <a:t>eated </a:t>
            </a:r>
            <a:r>
              <a:rPr lang="en-US" dirty="0" sz="2000" b="0">
                <a:solidFill>
                  <a:srgbClr val="243B53"/>
                </a:solidFill>
                <a:latin typeface="Arial" panose="02040602050305030304" pitchFamily="18" charset="0"/>
                <a:ea typeface="Arial"/>
                <a:cs typeface="Arial"/>
              </a:rPr>
              <a:t>filament at the </a:t>
            </a:r>
            <a:r>
              <a:rPr lang="en-US" dirty="0" smtClean="0" sz="2000" b="0">
                <a:solidFill>
                  <a:srgbClr val="243B53"/>
                </a:solidFill>
                <a:latin typeface="Arial" panose="02040602050305030304" pitchFamily="18" charset="0"/>
                <a:ea typeface="Arial"/>
                <a:cs typeface="Arial"/>
              </a:rPr>
              <a:t>cathode         emission </a:t>
            </a:r>
            <a:r>
              <a:rPr lang="en-US" dirty="0" sz="2000" b="0">
                <a:solidFill>
                  <a:srgbClr val="243B53"/>
                </a:solidFill>
                <a:latin typeface="Arial" panose="02040602050305030304" pitchFamily="18" charset="0"/>
                <a:ea typeface="Arial"/>
                <a:cs typeface="Arial"/>
              </a:rPr>
              <a:t>of electrons  to saturation </a:t>
            </a:r>
            <a:r>
              <a:rPr lang="en-US" dirty="0" smtClean="0" sz="2000" b="0">
                <a:solidFill>
                  <a:srgbClr val="243B53"/>
                </a:solidFill>
                <a:latin typeface="Arial" panose="02040602050305030304" pitchFamily="18" charset="0"/>
                <a:ea typeface="Arial"/>
                <a:cs typeface="Arial"/>
              </a:rPr>
              <a:t>points</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mtClean="0" sz="2000" b="0">
                <a:solidFill>
                  <a:srgbClr val="243B53"/>
                </a:solidFill>
                <a:latin typeface="Arial" panose="02040602050305030304" pitchFamily="18" charset="0"/>
                <a:ea typeface="Arial"/>
                <a:cs typeface="Arial"/>
              </a:rPr>
              <a:t>Fast </a:t>
            </a:r>
            <a:r>
              <a:rPr lang="en-US" dirty="0" sz="2000" b="0">
                <a:solidFill>
                  <a:srgbClr val="243B53"/>
                </a:solidFill>
                <a:latin typeface="Arial" panose="02040602050305030304" pitchFamily="18" charset="0"/>
                <a:ea typeface="Arial"/>
                <a:cs typeface="Arial"/>
              </a:rPr>
              <a:t>movement of electron  due to high potential difference across </a:t>
            </a:r>
            <a:r>
              <a:rPr lang="en-US" dirty="0" smtClean="0" sz="2000" b="0">
                <a:solidFill>
                  <a:srgbClr val="243B53"/>
                </a:solidFill>
                <a:latin typeface="Arial" panose="02040602050305030304" pitchFamily="18" charset="0"/>
                <a:ea typeface="Arial"/>
                <a:cs typeface="Arial"/>
              </a:rPr>
              <a:t>vacuum x ray tube.</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panose="02040602050305030304" pitchFamily="18" charset="0"/>
                <a:ea typeface="Arial"/>
                <a:cs typeface="Arial"/>
              </a:rPr>
              <a:t>B</a:t>
            </a:r>
            <a:r>
              <a:rPr lang="en-US" dirty="0" smtClean="0" sz="2000" b="0">
                <a:solidFill>
                  <a:srgbClr val="243B53"/>
                </a:solidFill>
                <a:latin typeface="Arial" panose="02040602050305030304" pitchFamily="18" charset="0"/>
                <a:ea typeface="Arial"/>
                <a:cs typeface="Arial"/>
              </a:rPr>
              <a:t>ombardment </a:t>
            </a:r>
            <a:r>
              <a:rPr lang="en-US" dirty="0" sz="2000" b="0">
                <a:solidFill>
                  <a:srgbClr val="243B53"/>
                </a:solidFill>
                <a:latin typeface="Arial" panose="02040602050305030304" pitchFamily="18" charset="0"/>
                <a:ea typeface="Arial"/>
                <a:cs typeface="Arial"/>
              </a:rPr>
              <a:t>of target surface  at </a:t>
            </a:r>
            <a:r>
              <a:rPr lang="en-US" dirty="0" smtClean="0" sz="2000" b="0">
                <a:solidFill>
                  <a:srgbClr val="243B53"/>
                </a:solidFill>
                <a:latin typeface="Arial" panose="02040602050305030304" pitchFamily="18" charset="0"/>
                <a:ea typeface="Arial"/>
                <a:cs typeface="Arial"/>
              </a:rPr>
              <a:t>anode interaction </a:t>
            </a:r>
            <a:r>
              <a:rPr lang="en-US" dirty="0" sz="2000" b="0">
                <a:solidFill>
                  <a:srgbClr val="243B53"/>
                </a:solidFill>
                <a:latin typeface="Arial" panose="02040602050305030304" pitchFamily="18" charset="0"/>
                <a:ea typeface="Arial"/>
                <a:cs typeface="Arial"/>
              </a:rPr>
              <a:t>of anode target  material by fast moving </a:t>
            </a:r>
            <a:r>
              <a:rPr lang="en-US" dirty="0" smtClean="0" sz="2000" b="0">
                <a:solidFill>
                  <a:srgbClr val="243B53"/>
                </a:solidFill>
                <a:latin typeface="Arial" panose="02040602050305030304" pitchFamily="18" charset="0"/>
                <a:ea typeface="Arial"/>
                <a:cs typeface="Arial"/>
              </a:rPr>
              <a:t>electrons.</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dirty="0" sz="2000" b="0">
                <a:solidFill>
                  <a:srgbClr val="243B53"/>
                </a:solidFill>
                <a:latin typeface="Arial" panose="02040602050305030304" pitchFamily="18" charset="0"/>
                <a:ea typeface="Arial"/>
                <a:cs typeface="Arial"/>
              </a:rPr>
              <a:t>D</a:t>
            </a:r>
            <a:r>
              <a:rPr lang="en-US" dirty="0" smtClean="0" sz="2000" b="0">
                <a:solidFill>
                  <a:srgbClr val="243B53"/>
                </a:solidFill>
                <a:latin typeface="Arial" panose="02040602050305030304" pitchFamily="18" charset="0"/>
                <a:ea typeface="Arial"/>
                <a:cs typeface="Arial"/>
              </a:rPr>
              <a:t>eceleration </a:t>
            </a:r>
            <a:r>
              <a:rPr lang="en-US" dirty="0" sz="2000" b="0">
                <a:solidFill>
                  <a:srgbClr val="243B53"/>
                </a:solidFill>
                <a:latin typeface="Arial" panose="02040602050305030304" pitchFamily="18" charset="0"/>
                <a:ea typeface="Arial"/>
                <a:cs typeface="Arial"/>
              </a:rPr>
              <a:t>of electrons and subsequent loss of energy of electron to release x </a:t>
            </a:r>
            <a:r>
              <a:rPr lang="en-US" dirty="0" smtClean="0" sz="2000" b="0">
                <a:solidFill>
                  <a:srgbClr val="243B53"/>
                </a:solidFill>
                <a:latin typeface="Arial" panose="02040602050305030304" pitchFamily="18" charset="0"/>
                <a:ea typeface="Arial"/>
                <a:cs typeface="Arial"/>
              </a:rPr>
              <a:t>ray photons. </a:t>
            </a:r>
            <a:endParaRPr lang="en-US" dirty="0" sz="2000" b="0">
              <a:solidFill>
                <a:srgbClr val="243B53"/>
              </a:solidFill>
              <a:latin typeface="Arial" panose="02040602050305030304" pitchFamily="18" charset="0"/>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dirty="0" b="1">
                <a:solidFill>
                  <a:srgbClr val="0056D2"/>
                </a:solidFill>
                <a:latin typeface="Poppins SemiBold" panose="02040602050305030304" pitchFamily="18" charset="0"/>
                <a:ea typeface="Poppins SemiBold"/>
                <a:cs typeface="Poppins SemiBold"/>
              </a:rPr>
              <a:t>CONCEPT OF X RAY PRODUCTION</a:t>
            </a:r>
            <a:endParaRPr sz="3200" b="1">
              <a:solidFill>
                <a:srgbClr val="0056D2"/>
              </a:solidFill>
              <a:latin typeface="Poppins SemiBold"/>
              <a:ea typeface="Poppins SemiBold"/>
              <a:cs typeface="Poppins SemiBold"/>
            </a:endParaRPr>
          </a:p>
        </p:txBody>
      </p:sp>
      <p:sp>
        <p:nvSpPr>
          <p:cNvPr id="6" name="Right Arrow 5"/>
          <p:cNvSpPr/>
          <p:nvPr/>
        </p:nvSpPr>
        <p:spPr>
          <a:xfrm>
            <a:off x="5220072" y="3167257"/>
            <a:ext cx="489204" cy="1897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 </a:t>
            </a:r>
            <a:endParaRPr lang="en-US" dirty="0"/>
          </a:p>
        </p:txBody>
      </p:sp>
      <p:sp>
        <p:nvSpPr>
          <p:cNvPr id="7" name="Right Arrow 6"/>
          <p:cNvSpPr/>
          <p:nvPr/>
        </p:nvSpPr>
        <p:spPr>
          <a:xfrm>
            <a:off x="6221681" y="4437112"/>
            <a:ext cx="648072" cy="1897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val="388502385"/>
      </p:ext>
    </p:extLst>
  </p:cSld>
  <p:clrMapOvr>
    <a:masterClrMapping/>
  </p:clrMapOvr>
</p:sld>
</file>

<file path=ppt/slides/slide22.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1950" b="0">
                <a:solidFill>
                  <a:srgbClr val="243B53"/>
                </a:solidFill>
                <a:latin typeface="Arial"/>
                <a:ea typeface="Arial"/>
                <a:cs typeface="Arial"/>
              </a:defRPr>
            </a:pPr>
            <a:r>
              <a:rPr lang="en-US" sz="1950" dirty="0" smtClean="0" b="0">
                <a:solidFill>
                  <a:srgbClr val="243B53"/>
                </a:solidFill>
                <a:latin typeface="Arial" panose="02040602050305030304" pitchFamily="18" charset="0"/>
                <a:ea typeface="Arial"/>
                <a:cs typeface="Arial"/>
              </a:rPr>
              <a:t>There are two methods of X ray production </a:t>
            </a:r>
            <a:endParaRPr sz="1950" b="0">
              <a:solidFill>
                <a:srgbClr val="243B53"/>
              </a:solidFill>
              <a:latin typeface="Arial"/>
              <a:ea typeface="Arial"/>
              <a:cs typeface="Arial"/>
            </a:endParaRPr>
          </a:p>
          <a:p>
            <a:pPr algn="l" marL="0" indent="0">
              <a:lnSpc>
                <a:spcPct val="118000"/>
              </a:lnSpc>
              <a:spcBef>
                <a:spcPts val="0"/>
              </a:spcBef>
              <a:spcAft>
                <a:spcPts val="450"/>
              </a:spcAft>
              <a:defRPr sz="1950" b="0">
                <a:solidFill>
                  <a:srgbClr val="243B53"/>
                </a:solidFill>
                <a:latin typeface="Arial"/>
                <a:ea typeface="Arial"/>
                <a:cs typeface="Arial"/>
              </a:defRPr>
            </a:pPr>
            <a:r>
              <a:rPr lang="en-US" sz="1950" b="0" dirty="0" smtClean="0">
                <a:solidFill>
                  <a:srgbClr val="243B53"/>
                </a:solidFill>
                <a:latin typeface="Arial" panose="02040602050305030304" pitchFamily="18" charset="0"/>
                <a:ea typeface="Arial"/>
                <a:cs typeface="Arial"/>
              </a:rPr>
              <a:t>Continuous Spectrum (Bremsstrahlung or breaking radiation):-</a:t>
            </a:r>
            <a:r>
              <a:rPr lang="en-US" sz="1950" dirty="0" smtClean="0" b="0">
                <a:solidFill>
                  <a:srgbClr val="243B53"/>
                </a:solidFill>
                <a:latin typeface="Arial" panose="02040602050305030304" pitchFamily="18" charset="0"/>
                <a:ea typeface="Arial"/>
                <a:cs typeface="Arial"/>
              </a:rPr>
              <a:t> In this process the fast moving electron interact with the target atom and are deflected from their original direction or path thereby loss energy and are decelerated. The kinetic energy loss by the electron is emitted in form of a photon energy called x ray photons. This account for most x rays used in diagnosis</a:t>
            </a:r>
            <a:endParaRPr sz="195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smtClean="0" b="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1950" b="0">
                <a:solidFill>
                  <a:srgbClr val="243B53"/>
                </a:solidFill>
                <a:latin typeface="Arial"/>
                <a:ea typeface="Arial"/>
                <a:cs typeface="Arial"/>
              </a:defRPr>
            </a:pPr>
            <a:r>
              <a:rPr lang="en-US" sz="1950" b="0" dirty="0" smtClean="0">
                <a:solidFill>
                  <a:srgbClr val="243B53"/>
                </a:solidFill>
                <a:latin typeface="Arial" panose="02040602050305030304" pitchFamily="18" charset="0"/>
                <a:ea typeface="Arial"/>
                <a:cs typeface="Arial"/>
              </a:rPr>
              <a:t>Characteristic radiation:- </a:t>
            </a:r>
            <a:r>
              <a:rPr lang="en-US" sz="1950" dirty="0" b="0">
                <a:solidFill>
                  <a:srgbClr val="243B53"/>
                </a:solidFill>
                <a:latin typeface="Arial" panose="02040602050305030304" pitchFamily="18" charset="0"/>
                <a:ea typeface="Arial"/>
                <a:cs typeface="Arial"/>
              </a:rPr>
              <a:t>I</a:t>
            </a:r>
            <a:r>
              <a:rPr lang="en-US" sz="1950" dirty="0" smtClean="0" b="0">
                <a:solidFill>
                  <a:srgbClr val="243B53"/>
                </a:solidFill>
                <a:latin typeface="Arial" panose="02040602050305030304" pitchFamily="18" charset="0"/>
                <a:ea typeface="Arial"/>
                <a:cs typeface="Arial"/>
              </a:rPr>
              <a:t>s produced when the fast moving electron from the cathode filament interact and eject an inner electron from the orbit of the atom of the target material (Tungsten) thereby causing a vacant orbital shell within the atom of the target material and this vacant orbital shell will  cause electron transition from the outer shell to filled  the gap.</a:t>
            </a:r>
            <a:endParaRPr sz="195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dirty="0" smtClean="0" b="1">
                <a:solidFill>
                  <a:srgbClr val="0056D2"/>
                </a:solidFill>
                <a:latin typeface="Poppins SemiBold"/>
                <a:ea typeface="Poppins SemiBold"/>
                <a:cs typeface="Poppins SemiBold"/>
              </a:rPr>
              <a:t>TYPES OF X-RAY PRODUCTION</a:t>
            </a:r>
            <a:endParaRPr lang="en-US" sz="3200" dirty="0" b="1">
              <a:solidFill>
                <a:srgbClr val="0056D2"/>
              </a:solidFill>
              <a:latin typeface="Poppins SemiBold"/>
              <a:ea typeface="Poppins SemiBold"/>
              <a:cs typeface="Poppins SemiBold"/>
            </a:endParaRPr>
          </a:p>
        </p:txBody>
      </p:sp>
    </p:spTree>
    <p:extLst>
      <p:ext uri="{BB962C8B-B14F-4D97-AF65-F5344CB8AC3E}">
        <p14:creationId val="1084646046"/>
      </p:ext>
    </p:extLst>
  </p:cSld>
  <p:clrMapOvr>
    <a:masterClrMapping/>
  </p:clrMapOvr>
</p:sld>
</file>

<file path=ppt/slides/slide23.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mtClean="0" sz="2200" b="0">
                <a:solidFill>
                  <a:srgbClr val="243B53"/>
                </a:solidFill>
                <a:latin typeface="Arial" panose="02040602050305030304" pitchFamily="18" charset="0"/>
                <a:ea typeface="Arial"/>
                <a:cs typeface="Arial"/>
              </a:rPr>
              <a:t>This </a:t>
            </a:r>
            <a:r>
              <a:rPr lang="en-US" dirty="0" sz="2200" b="0">
                <a:solidFill>
                  <a:srgbClr val="243B53"/>
                </a:solidFill>
                <a:latin typeface="Arial" panose="02040602050305030304" pitchFamily="18" charset="0"/>
                <a:ea typeface="Arial"/>
                <a:cs typeface="Arial"/>
              </a:rPr>
              <a:t>is the radiation resulting from the interaction of x rays with matter such as patients, couch, or any other material within the direction of the x </a:t>
            </a:r>
            <a:r>
              <a:rPr lang="en-US" dirty="0" smtClean="0" sz="2200" b="0">
                <a:solidFill>
                  <a:srgbClr val="243B53"/>
                </a:solidFill>
                <a:latin typeface="Arial" panose="02040602050305030304" pitchFamily="18" charset="0"/>
                <a:ea typeface="Arial"/>
                <a:cs typeface="Arial"/>
              </a:rPr>
              <a:t>ray beam. </a:t>
            </a:r>
            <a:endParaRPr sz="2200" b="0">
              <a:solidFill>
                <a:srgbClr val="243B53"/>
              </a:solidFill>
              <a:latin typeface="Arial"/>
              <a:ea typeface="Arial"/>
              <a:cs typeface="Arial"/>
            </a:endParaRPr>
          </a:p>
          <a:p>
            <a:pPr marL="0" indent="0" algn="l">
              <a:lnSpc>
                <a:spcPct val="118000"/>
              </a:lnSpc>
              <a:spcBef>
                <a:spcPts val="0"/>
              </a:spcBef>
              <a:spcAft>
                <a:spcPts val="450"/>
              </a:spcAft>
              <a:buNone/>
              <a:defRPr sz="2200" b="0">
                <a:solidFill>
                  <a:srgbClr val="243B53"/>
                </a:solidFill>
                <a:latin typeface="Arial"/>
                <a:ea typeface="Arial"/>
                <a:cs typeface="Arial"/>
              </a:defRPr>
            </a:pPr>
            <a:r>
              <a:rPr lang="en-US" dirty="0" smtClean="0" sz="2200" b="0">
                <a:solidFill>
                  <a:srgbClr val="243B53"/>
                </a:solidFill>
                <a:latin typeface="Arial" panose="02040602050305030304" pitchFamily="18" charset="0"/>
                <a:ea typeface="Arial"/>
                <a:cs typeface="Arial"/>
              </a:rPr>
              <a:t>Their </a:t>
            </a:r>
            <a:r>
              <a:rPr lang="en-US" dirty="0" sz="2200" b="0">
                <a:solidFill>
                  <a:srgbClr val="243B53"/>
                </a:solidFill>
                <a:latin typeface="Arial" panose="02040602050305030304" pitchFamily="18" charset="0"/>
                <a:ea typeface="Arial"/>
                <a:cs typeface="Arial"/>
              </a:rPr>
              <a:t>effects are deleterious which causes </a:t>
            </a:r>
            <a:r>
              <a:rPr lang="en-US" dirty="0" smtClean="0" sz="2200" b="0">
                <a:solidFill>
                  <a:srgbClr val="243B53"/>
                </a:solidFill>
                <a:latin typeface="Arial" panose="02040602050305030304" pitchFamily="18" charset="0"/>
                <a:ea typeface="Arial"/>
                <a:cs typeface="Arial"/>
              </a:rPr>
              <a:t> </a:t>
            </a:r>
            <a:endParaRPr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US" dirty="0" sz="2200" b="0">
                <a:solidFill>
                  <a:srgbClr val="243B53"/>
                </a:solidFill>
                <a:latin typeface="Arial" panose="02040602050305030304" pitchFamily="18" charset="0"/>
                <a:ea typeface="Arial"/>
                <a:cs typeface="Arial"/>
              </a:rPr>
              <a:t>M</a:t>
            </a:r>
            <a:r>
              <a:rPr lang="en-US" dirty="0" smtClean="0" sz="2200" b="0">
                <a:solidFill>
                  <a:srgbClr val="243B53"/>
                </a:solidFill>
                <a:latin typeface="Arial" panose="02040602050305030304" pitchFamily="18" charset="0"/>
                <a:ea typeface="Arial"/>
                <a:cs typeface="Arial"/>
              </a:rPr>
              <a:t>ore </a:t>
            </a:r>
            <a:r>
              <a:rPr lang="en-US" dirty="0" sz="2200" b="0">
                <a:solidFill>
                  <a:srgbClr val="243B53"/>
                </a:solidFill>
                <a:latin typeface="Arial" panose="02040602050305030304" pitchFamily="18" charset="0"/>
                <a:ea typeface="Arial"/>
                <a:cs typeface="Arial"/>
              </a:rPr>
              <a:t>patients exposure </a:t>
            </a:r>
            <a:r>
              <a:rPr lang="en-US" dirty="0" smtClean="0" sz="2200" b="0">
                <a:solidFill>
                  <a:srgbClr val="243B53"/>
                </a:solidFill>
                <a:latin typeface="Arial" panose="02040602050305030304" pitchFamily="18" charset="0"/>
                <a:ea typeface="Arial"/>
                <a:cs typeface="Arial"/>
              </a:rPr>
              <a:t>dose.</a:t>
            </a:r>
            <a:endParaRPr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US" dirty="0" sz="2200" b="0">
                <a:solidFill>
                  <a:srgbClr val="243B53"/>
                </a:solidFill>
                <a:latin typeface="Arial" panose="02040602050305030304" pitchFamily="18" charset="0"/>
                <a:ea typeface="Arial"/>
                <a:cs typeface="Arial"/>
              </a:rPr>
              <a:t>A</a:t>
            </a:r>
            <a:r>
              <a:rPr lang="en-US" dirty="0" smtClean="0" sz="2200" b="0">
                <a:solidFill>
                  <a:srgbClr val="243B53"/>
                </a:solidFill>
                <a:latin typeface="Arial" panose="02040602050305030304" pitchFamily="18" charset="0"/>
                <a:ea typeface="Arial"/>
                <a:cs typeface="Arial"/>
              </a:rPr>
              <a:t>ffect </a:t>
            </a:r>
            <a:r>
              <a:rPr lang="en-US" dirty="0" sz="2200" b="0">
                <a:solidFill>
                  <a:srgbClr val="243B53"/>
                </a:solidFill>
                <a:latin typeface="Arial" panose="02040602050305030304" pitchFamily="18" charset="0"/>
                <a:ea typeface="Arial"/>
                <a:cs typeface="Arial"/>
              </a:rPr>
              <a:t>image quality by reducing contrast </a:t>
            </a:r>
            <a:endParaRPr lang="en-US" dirty="0" smtClean="0" sz="2200" b="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buFont typeface="Wingdings" panose="05000000000000000000" pitchFamily="2" charset="2"/>
              <a:buChar char="ü"/>
              <a:defRPr sz="2200" b="0">
                <a:solidFill>
                  <a:srgbClr val="243B53"/>
                </a:solidFill>
                <a:latin typeface="Arial"/>
                <a:ea typeface="Arial"/>
                <a:cs typeface="Arial"/>
              </a:defRPr>
            </a:pPr>
            <a:r>
              <a:rPr lang="en-US" dirty="0" smtClean="0" sz="2200" b="0">
                <a:solidFill>
                  <a:srgbClr val="243B53"/>
                </a:solidFill>
                <a:latin typeface="Arial" panose="02040602050305030304" pitchFamily="18" charset="0"/>
                <a:ea typeface="Arial"/>
                <a:cs typeface="Arial"/>
              </a:rPr>
              <a:t> </a:t>
            </a:r>
            <a:r>
              <a:rPr lang="en-US" dirty="0" sz="2200" b="0">
                <a:solidFill>
                  <a:srgbClr val="243B53"/>
                </a:solidFill>
                <a:latin typeface="Arial" panose="02040602050305030304" pitchFamily="18" charset="0"/>
                <a:ea typeface="Arial"/>
                <a:cs typeface="Arial"/>
              </a:rPr>
              <a:t>contributes to detector signals and increase noise . Their effects on the Image can be reduced by using </a:t>
            </a:r>
            <a:endParaRPr lang="en-US" dirty="0" smtClean="0" sz="2200" b="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buFont typeface="Wingdings" panose="05000000000000000000" pitchFamily="2" charset="2"/>
              <a:buChar char="q"/>
              <a:defRPr sz="2200" b="0">
                <a:solidFill>
                  <a:srgbClr val="243B53"/>
                </a:solidFill>
                <a:latin typeface="Arial"/>
                <a:ea typeface="Arial"/>
                <a:cs typeface="Arial"/>
              </a:defRPr>
            </a:pPr>
            <a:r>
              <a:rPr lang="en-US" dirty="0" smtClean="0" sz="2200" b="0">
                <a:solidFill>
                  <a:srgbClr val="243B53"/>
                </a:solidFill>
                <a:latin typeface="Arial" panose="02040602050305030304" pitchFamily="18" charset="0"/>
                <a:ea typeface="Arial"/>
                <a:cs typeface="Arial"/>
              </a:rPr>
              <a:t> </a:t>
            </a:r>
            <a:r>
              <a:rPr lang="en-US" dirty="0" sz="2200" b="0">
                <a:solidFill>
                  <a:srgbClr val="243B53"/>
                </a:solidFill>
                <a:latin typeface="Arial" panose="02040602050305030304" pitchFamily="18" charset="0"/>
                <a:ea typeface="Arial"/>
                <a:cs typeface="Arial"/>
              </a:rPr>
              <a:t>Grid </a:t>
            </a:r>
            <a:endParaRPr lang="en-US" dirty="0" smtClean="0" sz="2200" b="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buFont typeface="Wingdings" panose="05000000000000000000" pitchFamily="2" charset="2"/>
              <a:buChar char="q"/>
              <a:defRPr sz="2200" b="0">
                <a:solidFill>
                  <a:srgbClr val="243B53"/>
                </a:solidFill>
                <a:latin typeface="Arial"/>
                <a:ea typeface="Arial"/>
                <a:cs typeface="Arial"/>
              </a:defRPr>
            </a:pPr>
            <a:r>
              <a:rPr lang="en-US" dirty="0" smtClean="0" sz="2200" b="0">
                <a:solidFill>
                  <a:srgbClr val="243B53"/>
                </a:solidFill>
                <a:latin typeface="Arial" panose="02040602050305030304" pitchFamily="18" charset="0"/>
                <a:ea typeface="Arial"/>
                <a:cs typeface="Arial"/>
              </a:rPr>
              <a:t> </a:t>
            </a:r>
            <a:r>
              <a:rPr lang="en-US" dirty="0" sz="2200" b="0">
                <a:solidFill>
                  <a:srgbClr val="243B53"/>
                </a:solidFill>
                <a:latin typeface="Arial" panose="02040602050305030304" pitchFamily="18" charset="0"/>
                <a:ea typeface="Arial"/>
                <a:cs typeface="Arial"/>
              </a:rPr>
              <a:t>C</a:t>
            </a:r>
            <a:r>
              <a:rPr lang="en-US" dirty="0" smtClean="0" sz="2200" b="0">
                <a:solidFill>
                  <a:srgbClr val="243B53"/>
                </a:solidFill>
                <a:latin typeface="Arial" panose="02040602050305030304" pitchFamily="18" charset="0"/>
                <a:ea typeface="Arial"/>
                <a:cs typeface="Arial"/>
              </a:rPr>
              <a:t>ollimators </a:t>
            </a:r>
            <a:endParaRPr sz="2200" b="0">
              <a:solidFill>
                <a:srgbClr val="243B53"/>
              </a:solidFill>
              <a:latin typeface="Arial"/>
              <a:ea typeface="Arial"/>
              <a:cs typeface="Arial"/>
            </a:endParaRPr>
          </a:p>
          <a:p>
            <a:pPr algn="l" marL="0" indent="0">
              <a:lnSpc>
                <a:spcPct val="118000"/>
              </a:lnSpc>
              <a:spcBef>
                <a:spcPts val="0"/>
              </a:spcBef>
              <a:spcAft>
                <a:spcPts val="450"/>
              </a:spcAft>
              <a:buFont typeface="Wingdings" panose="05000000000000000000" pitchFamily="2" charset="2"/>
              <a:buChar char="q"/>
              <a:defRPr sz="2200" b="0">
                <a:solidFill>
                  <a:srgbClr val="243B53"/>
                </a:solidFill>
                <a:latin typeface="Arial"/>
                <a:ea typeface="Arial"/>
                <a:cs typeface="Arial"/>
              </a:defRPr>
            </a:pPr>
            <a:r>
              <a:rPr lang="en-US" dirty="0" smtClean="0" sz="2200" b="0">
                <a:solidFill>
                  <a:srgbClr val="243B53"/>
                </a:solidFill>
                <a:latin typeface="Arial" panose="02040602050305030304" pitchFamily="18" charset="0"/>
                <a:ea typeface="Arial"/>
                <a:cs typeface="Arial"/>
              </a:rPr>
              <a:t> </a:t>
            </a:r>
            <a:r>
              <a:rPr lang="en-US" dirty="0" sz="2200" b="0">
                <a:solidFill>
                  <a:srgbClr val="243B53"/>
                </a:solidFill>
                <a:latin typeface="Arial" panose="02040602050305030304" pitchFamily="18" charset="0"/>
                <a:ea typeface="Arial"/>
                <a:cs typeface="Arial"/>
              </a:rPr>
              <a:t>A</a:t>
            </a:r>
            <a:r>
              <a:rPr lang="en-US" dirty="0" smtClean="0" sz="2200" b="0">
                <a:solidFill>
                  <a:srgbClr val="243B53"/>
                </a:solidFill>
                <a:latin typeface="Arial" panose="02040602050305030304" pitchFamily="18" charset="0"/>
                <a:ea typeface="Arial"/>
                <a:cs typeface="Arial"/>
              </a:rPr>
              <a:t>ir </a:t>
            </a:r>
            <a:r>
              <a:rPr lang="en-US" dirty="0" sz="2200" b="0">
                <a:solidFill>
                  <a:srgbClr val="243B53"/>
                </a:solidFill>
                <a:latin typeface="Arial" panose="02040602050305030304" pitchFamily="18" charset="0"/>
                <a:ea typeface="Arial"/>
                <a:cs typeface="Arial"/>
              </a:rPr>
              <a:t>gap technique and shielding</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sz="3200" dirty="0" b="1">
                <a:solidFill>
                  <a:srgbClr val="0056D2"/>
                </a:solidFill>
                <a:latin typeface="Poppins SemiBold" panose="02040602050305030304" pitchFamily="18" charset="0"/>
                <a:ea typeface="Poppins SemiBold"/>
                <a:cs typeface="Poppins SemiBold"/>
              </a:rPr>
              <a:t>SECONDARY /SCATTERED RADIATION</a:t>
            </a:r>
            <a:br>
              <a:rPr lang="en-US" sz="3200" dirty="0">
                <a:latin typeface="Book Antiqua" panose="02040602050305030304" pitchFamily="18" charset="0"/>
              </a:rPr>
            </a:br>
            <a:endParaRPr lang="en-US" sz="3200" dirty="0" b="1">
              <a:solidFill>
                <a:srgbClr val="0056D2"/>
              </a:solidFill>
              <a:latin typeface="Poppins SemiBold"/>
              <a:ea typeface="Poppins SemiBold"/>
              <a:cs typeface="Poppins SemiBold"/>
            </a:endParaRPr>
          </a:p>
        </p:txBody>
      </p:sp>
    </p:spTree>
    <p:extLst>
      <p:ext uri="{BB962C8B-B14F-4D97-AF65-F5344CB8AC3E}">
        <p14:creationId val="1268876030"/>
      </p:ext>
    </p:extLst>
  </p:cSld>
  <p:clrMapOvr>
    <a:masterClrMapping/>
  </p:clrMapOvr>
</p:sld>
</file>

<file path=ppt/slides/slide24.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050" b="1">
                <a:solidFill>
                  <a:srgbClr val="243B53"/>
                </a:solidFill>
                <a:latin typeface="Arial"/>
                <a:ea typeface="Arial"/>
                <a:cs typeface="Arial"/>
              </a:defRPr>
            </a:pPr>
            <a:r>
              <a:rPr lang="en-US" sz="2050" b="1" dirty="0">
                <a:solidFill>
                  <a:srgbClr val="243B53"/>
                </a:solidFill>
                <a:latin typeface="Arial" panose="02040602050305030304" pitchFamily="18" charset="0"/>
                <a:ea typeface="Arial"/>
                <a:cs typeface="Arial"/>
              </a:rPr>
              <a:t>ANTI SCATTERED </a:t>
            </a:r>
            <a:r>
              <a:rPr lang="en-US" sz="2050" b="1" dirty="0" smtClean="0">
                <a:solidFill>
                  <a:srgbClr val="243B53"/>
                </a:solidFill>
                <a:latin typeface="Arial" panose="02040602050305030304" pitchFamily="18" charset="0"/>
                <a:ea typeface="Arial"/>
                <a:cs typeface="Arial"/>
              </a:rPr>
              <a:t>GRID</a:t>
            </a:r>
            <a:endParaRPr sz="2050" b="1">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b="0" dirty="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sz="2000" dirty="0" b="0">
                <a:solidFill>
                  <a:srgbClr val="243B53"/>
                </a:solidFill>
                <a:latin typeface="Arial" panose="02040602050305030304" pitchFamily="18" charset="0"/>
                <a:ea typeface="Arial"/>
                <a:cs typeface="Arial"/>
              </a:rPr>
              <a:t>This is a device place between the patient and the image receptor to absorbed scattered radiation from getting to the receptor while allowing the primary x ray beam  that traverse the patient to reach the detector. It </a:t>
            </a:r>
            <a:r>
              <a:rPr lang="en-US" sz="2000" dirty="0" smtClean="0" b="0">
                <a:solidFill>
                  <a:srgbClr val="243B53"/>
                </a:solidFill>
                <a:latin typeface="Arial" panose="02040602050305030304" pitchFamily="18" charset="0"/>
                <a:ea typeface="Arial"/>
                <a:cs typeface="Arial"/>
              </a:rPr>
              <a:t>comprise </a:t>
            </a:r>
            <a:r>
              <a:rPr lang="en-US" sz="2000" dirty="0" b="0">
                <a:solidFill>
                  <a:srgbClr val="243B53"/>
                </a:solidFill>
                <a:latin typeface="Arial" panose="02040602050305030304" pitchFamily="18" charset="0"/>
                <a:ea typeface="Arial"/>
                <a:cs typeface="Arial"/>
              </a:rPr>
              <a:t>of a thin strip of lead separated by some interspace radio parent   materials mostly made of organic compound or aluminum. It operates on the principle that scattered radiation are </a:t>
            </a:r>
            <a:r>
              <a:rPr lang="en-US" sz="2000" dirty="0" smtClean="0" b="0">
                <a:solidFill>
                  <a:srgbClr val="243B53"/>
                </a:solidFill>
                <a:latin typeface="Arial" panose="02040602050305030304" pitchFamily="18" charset="0"/>
                <a:ea typeface="Arial"/>
                <a:cs typeface="Arial"/>
              </a:rPr>
              <a:t>moving </a:t>
            </a:r>
            <a:r>
              <a:rPr lang="en-US" sz="2000" dirty="0" b="0">
                <a:solidFill>
                  <a:srgbClr val="243B53"/>
                </a:solidFill>
                <a:latin typeface="Arial" panose="02040602050305030304" pitchFamily="18" charset="0"/>
                <a:ea typeface="Arial"/>
                <a:cs typeface="Arial"/>
              </a:rPr>
              <a:t>perpendicular to the direction of  primary beam and  are absorbed  by the lead </a:t>
            </a:r>
            <a:r>
              <a:rPr lang="en-US" sz="2000" dirty="0" smtClean="0" b="0">
                <a:solidFill>
                  <a:srgbClr val="243B53"/>
                </a:solidFill>
                <a:latin typeface="Arial" panose="02040602050305030304" pitchFamily="18" charset="0"/>
                <a:ea typeface="Arial"/>
                <a:cs typeface="Arial"/>
              </a:rPr>
              <a:t>strip</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sz="2000" dirty="0" b="0">
                <a:solidFill>
                  <a:srgbClr val="243B53"/>
                </a:solidFill>
                <a:latin typeface="Arial" panose="02040602050305030304" pitchFamily="18" charset="0"/>
                <a:ea typeface="Arial"/>
                <a:cs typeface="Arial"/>
              </a:rPr>
              <a:t>Grid ratio is a statement of the height of the lead strip to the distance of the interspace materials. This tells more of the efficacy of the grid. There are different types of </a:t>
            </a:r>
            <a:r>
              <a:rPr lang="en-US" sz="2000" dirty="0" smtClean="0" b="0">
                <a:solidFill>
                  <a:srgbClr val="243B53"/>
                </a:solidFill>
                <a:latin typeface="Arial" panose="02040602050305030304" pitchFamily="18" charset="0"/>
                <a:ea typeface="Arial"/>
                <a:cs typeface="Arial"/>
              </a:rPr>
              <a:t>grid</a:t>
            </a:r>
            <a:endParaRPr sz="20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sz="2000" dirty="0" b="0">
                <a:solidFill>
                  <a:srgbClr val="243B53"/>
                </a:solidFill>
                <a:latin typeface="Arial" panose="02040602050305030304" pitchFamily="18" charset="0"/>
                <a:ea typeface="Arial"/>
                <a:cs typeface="Arial"/>
              </a:rPr>
              <a:t>Linear grid: The lead strip are parallel to each other in their longitudinal axis.</a:t>
            </a:r>
            <a:endParaRPr sz="20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panose="02040602050305030304" pitchFamily="18" charset="0"/>
              <a:ea typeface="Arial"/>
              <a:cs typeface="Arial"/>
            </a:endParaRPr>
          </a:p>
        </p:txBody>
      </p:sp>
    </p:spTree>
    <p:extLst>
      <p:ext uri="{BB962C8B-B14F-4D97-AF65-F5344CB8AC3E}">
        <p14:creationId val="2568296303"/>
      </p:ext>
    </p:extLst>
  </p:cSld>
  <p:clrMapOvr>
    <a:masterClrMapping/>
  </p:clrMapOvr>
</p:sld>
</file>

<file path=ppt/slides/slide25.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2250" b="1">
                <a:solidFill>
                  <a:srgbClr val="243B53"/>
                </a:solidFill>
                <a:latin typeface="Arial"/>
                <a:ea typeface="Arial"/>
                <a:cs typeface="Arial"/>
              </a:defRPr>
            </a:pPr>
            <a:r>
              <a:rPr lang="en-US" sz="2250" b="1" dirty="0">
                <a:solidFill>
                  <a:srgbClr val="243B53"/>
                </a:solidFill>
                <a:latin typeface="Arial" panose="02040602050305030304" pitchFamily="18" charset="0"/>
                <a:ea typeface="Arial"/>
                <a:cs typeface="Arial"/>
              </a:rPr>
              <a:t>ANTI SCATTERED </a:t>
            </a:r>
            <a:r>
              <a:rPr lang="en-US" sz="2250" b="1" dirty="0" smtClean="0">
                <a:solidFill>
                  <a:srgbClr val="243B53"/>
                </a:solidFill>
                <a:latin typeface="Arial" panose="02040602050305030304" pitchFamily="18" charset="0"/>
                <a:ea typeface="Arial"/>
                <a:cs typeface="Arial"/>
              </a:rPr>
              <a:t>GRID CONTD.</a:t>
            </a:r>
            <a:endParaRPr sz="2250" b="1">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b="0" dirty="0" smtClean="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smtClean="0" b="0">
                <a:solidFill>
                  <a:srgbClr val="243B53"/>
                </a:solidFill>
                <a:latin typeface="Arial" panose="02040602050305030304" pitchFamily="18" charset="0"/>
                <a:ea typeface="Arial"/>
                <a:cs typeface="Arial"/>
              </a:rPr>
              <a:t>Cross </a:t>
            </a:r>
            <a:r>
              <a:rPr lang="en-US" sz="2200" dirty="0" b="0">
                <a:solidFill>
                  <a:srgbClr val="243B53"/>
                </a:solidFill>
                <a:latin typeface="Arial" panose="02040602050305030304" pitchFamily="18" charset="0"/>
                <a:ea typeface="Arial"/>
                <a:cs typeface="Arial"/>
              </a:rPr>
              <a:t>grid: This is made of two linear </a:t>
            </a:r>
            <a:r>
              <a:rPr lang="en-US" sz="2200" dirty="0" smtClean="0" b="0">
                <a:solidFill>
                  <a:srgbClr val="243B53"/>
                </a:solidFill>
                <a:latin typeface="Arial" panose="02040602050305030304" pitchFamily="18" charset="0"/>
                <a:ea typeface="Arial"/>
                <a:cs typeface="Arial"/>
              </a:rPr>
              <a:t>grids </a:t>
            </a:r>
            <a:r>
              <a:rPr lang="en-US" sz="2200" dirty="0" b="0">
                <a:solidFill>
                  <a:srgbClr val="243B53"/>
                </a:solidFill>
                <a:latin typeface="Arial" panose="02040602050305030304" pitchFamily="18" charset="0"/>
                <a:ea typeface="Arial"/>
                <a:cs typeface="Arial"/>
              </a:rPr>
              <a:t>superimpose on each other</a:t>
            </a:r>
            <a:r>
              <a:rPr lang="en-US" sz="2200" dirty="0" smtClean="0" b="0">
                <a:solidFill>
                  <a:srgbClr val="243B53"/>
                </a:solidFill>
                <a:latin typeface="Arial" panose="02040602050305030304" pitchFamily="18" charset="0"/>
                <a:ea typeface="Arial"/>
                <a:cs typeface="Arial"/>
              </a:rPr>
              <a:t>.</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panose="02040602050305030304" pitchFamily="18" charset="0"/>
                <a:ea typeface="Arial"/>
                <a:cs typeface="Arial"/>
              </a:rPr>
              <a:t>Focus grid: This is ma.de up of lead strip slightly angle in space to form a convergent lines</a:t>
            </a:r>
            <a:r>
              <a:rPr lang="en-US" sz="2200" dirty="0" smtClean="0" b="0">
                <a:solidFill>
                  <a:srgbClr val="243B53"/>
                </a:solidFill>
                <a:latin typeface="Arial" panose="02040602050305030304" pitchFamily="18" charset="0"/>
                <a:ea typeface="Arial"/>
                <a:cs typeface="Arial"/>
              </a:rPr>
              <a:t>.</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panose="02040602050305030304" pitchFamily="18" charset="0"/>
                <a:ea typeface="Arial"/>
                <a:cs typeface="Arial"/>
              </a:rPr>
              <a:t>Parallel grid : The lead strip are parallel when view in cross section. Mostly used in </a:t>
            </a:r>
            <a:r>
              <a:rPr lang="en-US" sz="2200" dirty="0" smtClean="0" b="0">
                <a:solidFill>
                  <a:srgbClr val="243B53"/>
                </a:solidFill>
                <a:latin typeface="Arial" panose="02040602050305030304" pitchFamily="18" charset="0"/>
                <a:ea typeface="Arial"/>
                <a:cs typeface="Arial"/>
              </a:rPr>
              <a:t>fluoroscopy</a:t>
            </a:r>
            <a:endParaRPr sz="2200" b="0">
              <a:solidFill>
                <a:srgbClr val="243B53"/>
              </a:solidFill>
              <a:latin typeface="Arial"/>
              <a:ea typeface="Arial"/>
              <a:cs typeface="Arial"/>
            </a:endParaRPr>
          </a:p>
          <a:p>
            <a:pPr marL="0" indent="0" algn="l">
              <a:lnSpc>
                <a:spcPts val="100"/>
              </a:lnSpc>
              <a:spcBef>
                <a:spcPts val="0"/>
              </a:spcBef>
              <a:spcAft>
                <a:spcPts val="0"/>
              </a:spcAft>
              <a:buNone/>
              <a:defRPr sz="100" b="0">
                <a:solidFill>
                  <a:srgbClr val="243B53"/>
                </a:solidFill>
                <a:latin typeface="Arial"/>
                <a:ea typeface="Arial"/>
                <a:cs typeface="Arial"/>
              </a:defRPr>
            </a:pPr>
            <a:endParaRPr lang="en-US" sz="100" dirty="0" b="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2200" b="0">
                <a:solidFill>
                  <a:srgbClr val="243B53"/>
                </a:solidFill>
                <a:latin typeface="Arial"/>
                <a:ea typeface="Arial"/>
                <a:cs typeface="Arial"/>
              </a:defRPr>
            </a:pPr>
            <a:r>
              <a:rPr lang="en-US" sz="2200" dirty="0" b="0">
                <a:solidFill>
                  <a:srgbClr val="243B53"/>
                </a:solidFill>
                <a:latin typeface="Arial" panose="02040602050305030304" pitchFamily="18" charset="0"/>
                <a:ea typeface="Arial"/>
                <a:cs typeface="Arial"/>
              </a:rPr>
              <a:t>One of the disadvantage of grid is the appearance of grid lines on the image and this can be corrected by the use of moving grid called B</a:t>
            </a:r>
            <a:r>
              <a:rPr lang="en-US" sz="2200" dirty="0" smtClean="0" b="0">
                <a:solidFill>
                  <a:srgbClr val="243B53"/>
                </a:solidFill>
                <a:latin typeface="Arial" panose="02040602050305030304" pitchFamily="18" charset="0"/>
                <a:ea typeface="Arial"/>
                <a:cs typeface="Arial"/>
              </a:rPr>
              <a:t>ucky</a:t>
            </a:r>
            <a:r>
              <a:rPr lang="en-US" sz="2200" dirty="0" b="0">
                <a:solidFill>
                  <a:srgbClr val="243B53"/>
                </a:solidFill>
                <a:latin typeface="Arial" panose="02040602050305030304" pitchFamily="18" charset="0"/>
                <a:ea typeface="Arial"/>
                <a:cs typeface="Arial"/>
              </a:rPr>
              <a:t>.</a:t>
            </a:r>
            <a:endParaRPr sz="220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panose="02040602050305030304" pitchFamily="18" charset="0"/>
              <a:ea typeface="Arial"/>
              <a:cs typeface="Arial"/>
            </a:endParaRPr>
          </a:p>
        </p:txBody>
      </p:sp>
    </p:spTree>
    <p:extLst>
      <p:ext uri="{BB962C8B-B14F-4D97-AF65-F5344CB8AC3E}">
        <p14:creationId val="12330339"/>
      </p:ext>
    </p:extLst>
  </p:cSld>
  <p:clrMapOvr>
    <a:masterClrMapping/>
  </p:clrMapOvr>
</p:sld>
</file>

<file path=ppt/slides/slide26.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82930"/>
            <a:ext cx="8138160" cy="5589270"/>
          </a:xfrm>
        </p:spPr>
        <p:txBody>
          <a:bodyPr wrap="square" anchor="t" lIns="0" rIns="0" tIns="0" bIns="0">
            <a:normAutofit fontScale="100000" lnSpcReduction="0"/>
          </a:bodyPr>
          <a:lstStyle/>
          <a:p>
            <a:pPr marL="0" indent="0" algn="l">
              <a:lnSpc>
                <a:spcPct val="118000"/>
              </a:lnSpc>
              <a:spcBef>
                <a:spcPts val="0"/>
              </a:spcBef>
              <a:spcAft>
                <a:spcPts val="450"/>
              </a:spcAft>
              <a:buNone/>
              <a:defRPr sz="1800" b="1">
                <a:solidFill>
                  <a:srgbClr val="243B53"/>
                </a:solidFill>
                <a:latin typeface="Arial"/>
                <a:ea typeface="Arial"/>
                <a:cs typeface="Arial"/>
              </a:defRPr>
            </a:pPr>
            <a:r>
              <a:rPr lang="en-US" sz="1800" b="1" dirty="0">
                <a:solidFill>
                  <a:srgbClr val="243B53"/>
                </a:solidFill>
                <a:latin typeface="Arial" panose="02040602050305030304" pitchFamily="18" charset="0"/>
                <a:ea typeface="Arial"/>
                <a:cs typeface="Arial"/>
              </a:rPr>
              <a:t>BUCKY  ASSEMBLY</a:t>
            </a:r>
            <a:endParaRPr sz="1800" b="1">
              <a:solidFill>
                <a:srgbClr val="243B53"/>
              </a:solidFill>
              <a:latin typeface="Arial"/>
              <a:ea typeface="Arial"/>
              <a:cs typeface="Arial"/>
            </a:endParaRPr>
          </a:p>
          <a:p>
            <a:pPr algn="l" marL="0" indent="0">
              <a:lnSpc>
                <a:spcPct val="118000"/>
              </a:lnSpc>
              <a:spcBef>
                <a:spcPts val="0"/>
              </a:spcBef>
              <a:spcAft>
                <a:spcPts val="450"/>
              </a:spcAft>
              <a:defRPr sz="1750" b="0">
                <a:solidFill>
                  <a:srgbClr val="243B53"/>
                </a:solidFill>
                <a:latin typeface="Arial"/>
                <a:ea typeface="Arial"/>
                <a:cs typeface="Arial"/>
              </a:defRPr>
            </a:pPr>
            <a:r>
              <a:rPr lang="en-US" sz="1750" dirty="0" b="0">
                <a:solidFill>
                  <a:srgbClr val="243B53"/>
                </a:solidFill>
                <a:latin typeface="Arial" panose="02040602050305030304" pitchFamily="18" charset="0"/>
                <a:ea typeface="Arial"/>
                <a:cs typeface="Arial"/>
              </a:rPr>
              <a:t> The movement of grid during exposure is aim at removing the grid lines from the image.</a:t>
            </a:r>
            <a:endParaRPr sz="1750" b="0">
              <a:solidFill>
                <a:srgbClr val="243B53"/>
              </a:solidFill>
              <a:latin typeface="Arial"/>
              <a:ea typeface="Arial"/>
              <a:cs typeface="Arial"/>
            </a:endParaRPr>
          </a:p>
          <a:p>
            <a:pPr algn="l" marL="0" indent="0">
              <a:lnSpc>
                <a:spcPct val="118000"/>
              </a:lnSpc>
              <a:spcBef>
                <a:spcPts val="0"/>
              </a:spcBef>
              <a:spcAft>
                <a:spcPts val="450"/>
              </a:spcAft>
              <a:defRPr sz="1750" b="0">
                <a:solidFill>
                  <a:srgbClr val="243B53"/>
                </a:solidFill>
                <a:latin typeface="Arial"/>
                <a:ea typeface="Arial"/>
                <a:cs typeface="Arial"/>
              </a:defRPr>
            </a:pPr>
            <a:r>
              <a:rPr lang="en-US" sz="1750" dirty="0" b="0">
                <a:solidFill>
                  <a:srgbClr val="243B53"/>
                </a:solidFill>
                <a:latin typeface="Arial" panose="02040602050305030304" pitchFamily="18" charset="0"/>
                <a:ea typeface="Arial"/>
                <a:cs typeface="Arial"/>
              </a:rPr>
              <a:t>The main components are </a:t>
            </a:r>
            <a:r>
              <a:rPr lang="en-US" sz="1750" dirty="0" smtClean="0" b="0">
                <a:solidFill>
                  <a:srgbClr val="243B53"/>
                </a:solidFill>
                <a:latin typeface="Arial" panose="02040602050305030304" pitchFamily="18" charset="0"/>
                <a:ea typeface="Arial"/>
                <a:cs typeface="Arial"/>
              </a:rPr>
              <a:t>:- </a:t>
            </a:r>
            <a:r>
              <a:rPr lang="en-US" sz="1750" dirty="0" b="0">
                <a:solidFill>
                  <a:srgbClr val="243B53"/>
                </a:solidFill>
                <a:latin typeface="Arial" panose="02040602050305030304" pitchFamily="18" charset="0"/>
                <a:ea typeface="Arial"/>
                <a:cs typeface="Arial"/>
              </a:rPr>
              <a:t>Grid moving mechanism, grid drive mechanism, detector holding tray, </a:t>
            </a:r>
            <a:r>
              <a:rPr lang="en-US" sz="1750" dirty="0" smtClean="0" b="0">
                <a:solidFill>
                  <a:srgbClr val="243B53"/>
                </a:solidFill>
                <a:latin typeface="Arial" panose="02040602050305030304" pitchFamily="18" charset="0"/>
                <a:ea typeface="Arial"/>
                <a:cs typeface="Arial"/>
              </a:rPr>
              <a:t>Bucky </a:t>
            </a:r>
            <a:r>
              <a:rPr lang="en-US" sz="1750" dirty="0" b="0">
                <a:solidFill>
                  <a:srgbClr val="243B53"/>
                </a:solidFill>
                <a:latin typeface="Arial" panose="02040602050305030304" pitchFamily="18" charset="0"/>
                <a:ea typeface="Arial"/>
                <a:cs typeface="Arial"/>
              </a:rPr>
              <a:t>housing and grid</a:t>
            </a:r>
            <a:endParaRPr sz="1750" b="0">
              <a:solidFill>
                <a:srgbClr val="243B53"/>
              </a:solidFill>
              <a:latin typeface="Arial"/>
              <a:ea typeface="Arial"/>
              <a:cs typeface="Arial"/>
            </a:endParaRPr>
          </a:p>
          <a:p>
            <a:pPr algn="l" marL="0" indent="0">
              <a:lnSpc>
                <a:spcPct val="118000"/>
              </a:lnSpc>
              <a:spcBef>
                <a:spcPts val="0"/>
              </a:spcBef>
              <a:spcAft>
                <a:spcPts val="450"/>
              </a:spcAft>
              <a:defRPr sz="1750" b="0">
                <a:solidFill>
                  <a:srgbClr val="243B53"/>
                </a:solidFill>
                <a:latin typeface="Arial"/>
                <a:ea typeface="Arial"/>
                <a:cs typeface="Arial"/>
              </a:defRPr>
            </a:pPr>
            <a:r>
              <a:rPr lang="en-US" sz="1750" dirty="0" b="0">
                <a:solidFill>
                  <a:srgbClr val="243B53"/>
                </a:solidFill>
                <a:latin typeface="Arial" panose="02040602050305030304" pitchFamily="18" charset="0"/>
                <a:ea typeface="Arial"/>
                <a:cs typeface="Arial"/>
              </a:rPr>
              <a:t>The </a:t>
            </a:r>
            <a:r>
              <a:rPr lang="en-US" sz="1750" dirty="0" smtClean="0" b="0">
                <a:solidFill>
                  <a:srgbClr val="243B53"/>
                </a:solidFill>
                <a:latin typeface="Arial" panose="02040602050305030304" pitchFamily="18" charset="0"/>
                <a:ea typeface="Arial"/>
                <a:cs typeface="Arial"/>
              </a:rPr>
              <a:t>Bucky </a:t>
            </a:r>
            <a:r>
              <a:rPr lang="en-US" sz="1750" dirty="0" b="0">
                <a:solidFill>
                  <a:srgbClr val="243B53"/>
                </a:solidFill>
                <a:latin typeface="Arial" panose="02040602050305030304" pitchFamily="18" charset="0"/>
                <a:ea typeface="Arial"/>
                <a:cs typeface="Arial"/>
              </a:rPr>
              <a:t>assembly has its circuit that its energized during prep for exposure and this enable the grid to move until exposure is terminated.</a:t>
            </a:r>
            <a:endParaRPr sz="1750" b="0">
              <a:solidFill>
                <a:srgbClr val="243B53"/>
              </a:solidFill>
              <a:latin typeface="Arial"/>
              <a:ea typeface="Arial"/>
              <a:cs typeface="Arial"/>
            </a:endParaRPr>
          </a:p>
          <a:p>
            <a:pPr algn="l" marL="0" indent="0">
              <a:lnSpc>
                <a:spcPct val="118000"/>
              </a:lnSpc>
              <a:spcBef>
                <a:spcPts val="0"/>
              </a:spcBef>
              <a:spcAft>
                <a:spcPts val="450"/>
              </a:spcAft>
              <a:defRPr sz="1750" b="0">
                <a:solidFill>
                  <a:srgbClr val="243B53"/>
                </a:solidFill>
                <a:latin typeface="Arial"/>
                <a:ea typeface="Arial"/>
                <a:cs typeface="Arial"/>
              </a:defRPr>
            </a:pPr>
            <a:r>
              <a:rPr lang="en-US" sz="1750" dirty="0" b="0">
                <a:solidFill>
                  <a:srgbClr val="243B53"/>
                </a:solidFill>
                <a:latin typeface="Arial" panose="02040602050305030304" pitchFamily="18" charset="0"/>
                <a:ea typeface="Arial"/>
                <a:cs typeface="Arial"/>
              </a:rPr>
              <a:t>There </a:t>
            </a:r>
            <a:r>
              <a:rPr lang="en-US" sz="1750" dirty="0" smtClean="0" b="0">
                <a:solidFill>
                  <a:srgbClr val="243B53"/>
                </a:solidFill>
                <a:latin typeface="Arial" panose="02040602050305030304" pitchFamily="18" charset="0"/>
                <a:ea typeface="Arial"/>
                <a:cs typeface="Arial"/>
              </a:rPr>
              <a:t> are two </a:t>
            </a:r>
            <a:r>
              <a:rPr lang="en-US" sz="1750" dirty="0" b="0">
                <a:solidFill>
                  <a:srgbClr val="243B53"/>
                </a:solidFill>
                <a:latin typeface="Arial" panose="02040602050305030304" pitchFamily="18" charset="0"/>
                <a:ea typeface="Arial"/>
                <a:cs typeface="Arial"/>
              </a:rPr>
              <a:t>types: Vertical and </a:t>
            </a:r>
            <a:r>
              <a:rPr lang="en-US" sz="1750" dirty="0" smtClean="0" b="0">
                <a:solidFill>
                  <a:srgbClr val="243B53"/>
                </a:solidFill>
                <a:latin typeface="Arial" panose="02040602050305030304" pitchFamily="18" charset="0"/>
                <a:ea typeface="Arial"/>
                <a:cs typeface="Arial"/>
              </a:rPr>
              <a:t>horizontal or table Bucky.</a:t>
            </a:r>
            <a:endParaRPr sz="175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sz="100" dirty="0" b="0">
              <a:solidFill>
                <a:srgbClr val="243B53"/>
              </a:solidFill>
              <a:latin typeface="Arial" panose="02040602050305030304" pitchFamily="18" charset="0"/>
              <a:ea typeface="Arial"/>
              <a:cs typeface="Arial"/>
            </a:endParaRPr>
          </a:p>
          <a:p>
            <a:pPr marL="0" indent="0" algn="l">
              <a:lnSpc>
                <a:spcPct val="118000"/>
              </a:lnSpc>
              <a:spcBef>
                <a:spcPts val="0"/>
              </a:spcBef>
              <a:spcAft>
                <a:spcPts val="450"/>
              </a:spcAft>
              <a:buNone/>
              <a:defRPr sz="1800" b="1">
                <a:solidFill>
                  <a:srgbClr val="243B53"/>
                </a:solidFill>
                <a:latin typeface="Arial"/>
                <a:ea typeface="Arial"/>
                <a:cs typeface="Arial"/>
              </a:defRPr>
            </a:pPr>
            <a:r>
              <a:rPr lang="en-US" sz="1800" b="1" dirty="0">
                <a:solidFill>
                  <a:srgbClr val="243B53"/>
                </a:solidFill>
                <a:latin typeface="Arial" panose="02040602050305030304" pitchFamily="18" charset="0"/>
                <a:ea typeface="Arial"/>
                <a:cs typeface="Arial"/>
              </a:rPr>
              <a:t>FUNCTIONS OF GRID</a:t>
            </a:r>
            <a:endParaRPr sz="1800" b="1">
              <a:solidFill>
                <a:srgbClr val="243B53"/>
              </a:solidFill>
              <a:latin typeface="Arial"/>
              <a:ea typeface="Arial"/>
              <a:cs typeface="Arial"/>
            </a:endParaRPr>
          </a:p>
          <a:p>
            <a:pPr algn="l" marL="0" indent="0">
              <a:lnSpc>
                <a:spcPct val="118000"/>
              </a:lnSpc>
              <a:spcBef>
                <a:spcPts val="0"/>
              </a:spcBef>
              <a:spcAft>
                <a:spcPts val="450"/>
              </a:spcAft>
              <a:defRPr sz="1750" b="0">
                <a:solidFill>
                  <a:srgbClr val="243B53"/>
                </a:solidFill>
                <a:latin typeface="Arial"/>
                <a:ea typeface="Arial"/>
                <a:cs typeface="Arial"/>
              </a:defRPr>
            </a:pPr>
            <a:r>
              <a:rPr lang="en-US" sz="1750" dirty="0" smtClean="0" b="0">
                <a:solidFill>
                  <a:srgbClr val="243B53"/>
                </a:solidFill>
                <a:latin typeface="Arial" panose="02040602050305030304" pitchFamily="18" charset="0"/>
                <a:ea typeface="Arial"/>
                <a:cs typeface="Arial"/>
              </a:rPr>
              <a:t> </a:t>
            </a:r>
            <a:r>
              <a:rPr lang="en-US" sz="1750" dirty="0" b="0">
                <a:solidFill>
                  <a:srgbClr val="243B53"/>
                </a:solidFill>
                <a:latin typeface="Arial" panose="02040602050305030304" pitchFamily="18" charset="0"/>
                <a:ea typeface="Arial"/>
                <a:cs typeface="Arial"/>
              </a:rPr>
              <a:t>R</a:t>
            </a:r>
            <a:r>
              <a:rPr lang="en-US" sz="1750" dirty="0" smtClean="0" b="0">
                <a:solidFill>
                  <a:srgbClr val="243B53"/>
                </a:solidFill>
                <a:latin typeface="Arial" panose="02040602050305030304" pitchFamily="18" charset="0"/>
                <a:ea typeface="Arial"/>
                <a:cs typeface="Arial"/>
              </a:rPr>
              <a:t>educes </a:t>
            </a:r>
            <a:r>
              <a:rPr lang="en-US" sz="1750" dirty="0" b="0">
                <a:solidFill>
                  <a:srgbClr val="243B53"/>
                </a:solidFill>
                <a:latin typeface="Arial" panose="02040602050305030304" pitchFamily="18" charset="0"/>
                <a:ea typeface="Arial"/>
                <a:cs typeface="Arial"/>
              </a:rPr>
              <a:t>scattered radiation from the patients reaching the image receptor</a:t>
            </a:r>
            <a:endParaRPr sz="1750" b="0">
              <a:solidFill>
                <a:srgbClr val="243B53"/>
              </a:solidFill>
              <a:latin typeface="Arial"/>
              <a:ea typeface="Arial"/>
              <a:cs typeface="Arial"/>
            </a:endParaRPr>
          </a:p>
          <a:p>
            <a:pPr algn="l" marL="0" indent="0">
              <a:lnSpc>
                <a:spcPct val="118000"/>
              </a:lnSpc>
              <a:spcBef>
                <a:spcPts val="0"/>
              </a:spcBef>
              <a:spcAft>
                <a:spcPts val="450"/>
              </a:spcAft>
              <a:defRPr sz="1750" b="0">
                <a:solidFill>
                  <a:srgbClr val="243B53"/>
                </a:solidFill>
                <a:latin typeface="Arial"/>
                <a:ea typeface="Arial"/>
                <a:cs typeface="Arial"/>
              </a:defRPr>
            </a:pPr>
            <a:r>
              <a:rPr lang="en-US" sz="1750" dirty="0" smtClean="0" b="0">
                <a:solidFill>
                  <a:srgbClr val="243B53"/>
                </a:solidFill>
                <a:latin typeface="Arial" panose="02040602050305030304" pitchFamily="18" charset="0"/>
                <a:ea typeface="Arial"/>
                <a:cs typeface="Arial"/>
              </a:rPr>
              <a:t> </a:t>
            </a:r>
            <a:r>
              <a:rPr lang="en-US" sz="1750" dirty="0" b="0">
                <a:solidFill>
                  <a:srgbClr val="243B53"/>
                </a:solidFill>
                <a:latin typeface="Arial" panose="02040602050305030304" pitchFamily="18" charset="0"/>
                <a:ea typeface="Arial"/>
                <a:cs typeface="Arial"/>
              </a:rPr>
              <a:t>Improves image contrast</a:t>
            </a:r>
            <a:endParaRPr sz="1750" b="0">
              <a:solidFill>
                <a:srgbClr val="243B53"/>
              </a:solidFill>
              <a:latin typeface="Arial"/>
              <a:ea typeface="Arial"/>
              <a:cs typeface="Arial"/>
            </a:endParaRPr>
          </a:p>
          <a:p>
            <a:pPr algn="l" marL="0" indent="0">
              <a:lnSpc>
                <a:spcPct val="118000"/>
              </a:lnSpc>
              <a:spcBef>
                <a:spcPts val="0"/>
              </a:spcBef>
              <a:spcAft>
                <a:spcPts val="450"/>
              </a:spcAft>
              <a:defRPr sz="1750" b="0">
                <a:solidFill>
                  <a:srgbClr val="243B53"/>
                </a:solidFill>
                <a:latin typeface="Arial"/>
                <a:ea typeface="Arial"/>
                <a:cs typeface="Arial"/>
              </a:defRPr>
            </a:pPr>
            <a:r>
              <a:rPr lang="en-US" sz="1750" dirty="0" smtClean="0" b="0">
                <a:solidFill>
                  <a:srgbClr val="243B53"/>
                </a:solidFill>
                <a:latin typeface="Arial" panose="02040602050305030304" pitchFamily="18" charset="0"/>
                <a:ea typeface="Arial"/>
                <a:cs typeface="Arial"/>
              </a:rPr>
              <a:t> </a:t>
            </a:r>
            <a:r>
              <a:rPr lang="en-US" sz="1750" dirty="0" b="0">
                <a:solidFill>
                  <a:srgbClr val="243B53"/>
                </a:solidFill>
                <a:latin typeface="Arial" panose="02040602050305030304" pitchFamily="18" charset="0"/>
                <a:ea typeface="Arial"/>
                <a:cs typeface="Arial"/>
              </a:rPr>
              <a:t>I</a:t>
            </a:r>
            <a:r>
              <a:rPr lang="en-US" sz="1750" dirty="0" smtClean="0" b="0">
                <a:solidFill>
                  <a:srgbClr val="243B53"/>
                </a:solidFill>
                <a:latin typeface="Arial" panose="02040602050305030304" pitchFamily="18" charset="0"/>
                <a:ea typeface="Arial"/>
                <a:cs typeface="Arial"/>
              </a:rPr>
              <a:t>mproves </a:t>
            </a:r>
            <a:r>
              <a:rPr lang="en-US" sz="1750" dirty="0" b="0">
                <a:solidFill>
                  <a:srgbClr val="243B53"/>
                </a:solidFill>
                <a:latin typeface="Arial" panose="02040602050305030304" pitchFamily="18" charset="0"/>
                <a:ea typeface="Arial"/>
                <a:cs typeface="Arial"/>
              </a:rPr>
              <a:t>image quality</a:t>
            </a:r>
            <a:endParaRPr sz="1750" b="0">
              <a:solidFill>
                <a:srgbClr val="243B53"/>
              </a:solidFill>
              <a:latin typeface="Arial"/>
              <a:ea typeface="Arial"/>
              <a:cs typeface="Arial"/>
            </a:endParaRPr>
          </a:p>
          <a:p>
            <a:pPr algn="l" marL="0" indent="0">
              <a:lnSpc>
                <a:spcPct val="118000"/>
              </a:lnSpc>
              <a:spcBef>
                <a:spcPts val="0"/>
              </a:spcBef>
              <a:spcAft>
                <a:spcPts val="450"/>
              </a:spcAft>
              <a:defRPr sz="1750" b="0">
                <a:solidFill>
                  <a:srgbClr val="243B53"/>
                </a:solidFill>
                <a:latin typeface="Arial"/>
                <a:ea typeface="Arial"/>
                <a:cs typeface="Arial"/>
              </a:defRPr>
            </a:pPr>
            <a:r>
              <a:rPr lang="en-US" sz="1750" dirty="0" smtClean="0" b="0">
                <a:solidFill>
                  <a:srgbClr val="243B53"/>
                </a:solidFill>
                <a:latin typeface="Arial" panose="02040602050305030304" pitchFamily="18" charset="0"/>
                <a:ea typeface="Arial"/>
                <a:cs typeface="Arial"/>
              </a:rPr>
              <a:t> </a:t>
            </a:r>
            <a:r>
              <a:rPr lang="en-US" sz="1750" dirty="0" b="0">
                <a:solidFill>
                  <a:srgbClr val="243B53"/>
                </a:solidFill>
                <a:latin typeface="Arial" panose="02040602050305030304" pitchFamily="18" charset="0"/>
                <a:ea typeface="Arial"/>
                <a:cs typeface="Arial"/>
              </a:rPr>
              <a:t>Reduces background </a:t>
            </a:r>
            <a:r>
              <a:rPr lang="en-US" sz="1750" dirty="0" smtClean="0" b="0">
                <a:solidFill>
                  <a:srgbClr val="243B53"/>
                </a:solidFill>
                <a:latin typeface="Arial" panose="02040602050305030304" pitchFamily="18" charset="0"/>
                <a:ea typeface="Arial"/>
                <a:cs typeface="Arial"/>
              </a:rPr>
              <a:t>fog</a:t>
            </a:r>
            <a:endParaRPr lang="en-US" sz="1750" dirty="0" b="0">
              <a:solidFill>
                <a:srgbClr val="243B53"/>
              </a:solidFill>
              <a:latin typeface="Arial" panose="02040602050305030304" pitchFamily="18" charset="0"/>
              <a:ea typeface="Arial"/>
              <a:cs typeface="Arial"/>
            </a:endParaRPr>
          </a:p>
          <a:p>
            <a:pPr algn="l" marL="0" indent="0">
              <a:lnSpc>
                <a:spcPct val="118000"/>
              </a:lnSpc>
              <a:spcBef>
                <a:spcPts val="0"/>
              </a:spcBef>
              <a:spcAft>
                <a:spcPts val="450"/>
              </a:spcAft>
              <a:defRPr sz="1750" b="0">
                <a:solidFill>
                  <a:srgbClr val="243B53"/>
                </a:solidFill>
                <a:latin typeface="Arial"/>
                <a:ea typeface="Arial"/>
                <a:cs typeface="Arial"/>
              </a:defRPr>
            </a:pPr>
            <a:r>
              <a:rPr lang="en-US" sz="1750" dirty="0" smtClean="0" b="0">
                <a:solidFill>
                  <a:srgbClr val="243B53"/>
                </a:solidFill>
                <a:latin typeface="Arial" panose="02040602050305030304" pitchFamily="18" charset="0"/>
                <a:ea typeface="Arial"/>
                <a:cs typeface="Arial"/>
              </a:rPr>
              <a:t> </a:t>
            </a:r>
            <a:r>
              <a:rPr lang="en-US" sz="1750" dirty="0" b="0">
                <a:solidFill>
                  <a:srgbClr val="243B53"/>
                </a:solidFill>
                <a:latin typeface="Arial" panose="02040602050305030304" pitchFamily="18" charset="0"/>
                <a:ea typeface="Arial"/>
                <a:cs typeface="Arial"/>
              </a:rPr>
              <a:t>I</a:t>
            </a:r>
            <a:r>
              <a:rPr lang="en-US" sz="1750" dirty="0" smtClean="0" b="0">
                <a:solidFill>
                  <a:srgbClr val="243B53"/>
                </a:solidFill>
                <a:latin typeface="Arial" panose="02040602050305030304" pitchFamily="18" charset="0"/>
                <a:ea typeface="Arial"/>
                <a:cs typeface="Arial"/>
              </a:rPr>
              <a:t>mproves </a:t>
            </a:r>
            <a:r>
              <a:rPr lang="en-US" sz="1750" dirty="0" b="0">
                <a:solidFill>
                  <a:srgbClr val="243B53"/>
                </a:solidFill>
                <a:latin typeface="Arial" panose="02040602050305030304" pitchFamily="18" charset="0"/>
                <a:ea typeface="Arial"/>
                <a:cs typeface="Arial"/>
              </a:rPr>
              <a:t>diagnostic accuracy and visibility of thick body parts</a:t>
            </a:r>
            <a:endParaRPr sz="1750" b="0">
              <a:solidFill>
                <a:srgbClr val="243B53"/>
              </a:solidFill>
              <a:latin typeface="Arial"/>
              <a:ea typeface="Arial"/>
              <a:cs typeface="Arial"/>
            </a:endParaRPr>
          </a:p>
          <a:p>
            <a:pPr algn="l" marL="0" indent="0">
              <a:lnSpc>
                <a:spcPct val="118000"/>
              </a:lnSpc>
              <a:spcBef>
                <a:spcPts val="0"/>
              </a:spcBef>
              <a:spcAft>
                <a:spcPts val="450"/>
              </a:spcAft>
              <a:defRPr sz="1750" b="0">
                <a:solidFill>
                  <a:srgbClr val="243B53"/>
                </a:solidFill>
                <a:latin typeface="Arial"/>
                <a:ea typeface="Arial"/>
                <a:cs typeface="Arial"/>
              </a:defRPr>
            </a:pPr>
            <a:r>
              <a:rPr lang="en-US" sz="1750" dirty="0" b="0">
                <a:solidFill>
                  <a:srgbClr val="243B53"/>
                </a:solidFill>
                <a:latin typeface="Arial" panose="02040602050305030304" pitchFamily="18" charset="0"/>
                <a:ea typeface="Arial"/>
                <a:cs typeface="Arial"/>
              </a:rPr>
              <a:t>Its also important to note that grid increases patient radiation dose due to increase in exposure factors.</a:t>
            </a:r>
            <a:endParaRPr sz="1750" b="0">
              <a:solidFill>
                <a:srgbClr val="243B53"/>
              </a:solidFill>
              <a:latin typeface="Arial"/>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panose="02040602050305030304" pitchFamily="18" charset="0"/>
              <a:ea typeface="Arial"/>
              <a:cs typeface="Arial"/>
            </a:endParaRPr>
          </a:p>
        </p:txBody>
      </p:sp>
    </p:spTree>
    <p:extLst>
      <p:ext uri="{BB962C8B-B14F-4D97-AF65-F5344CB8AC3E}">
        <p14:creationId val="3718262585"/>
      </p:ext>
    </p:extLst>
  </p:cSld>
  <p:clrMapOvr>
    <a:masterClrMapping/>
  </p:clrMapOvr>
</p:sld>
</file>

<file path=ppt/slides/slide27.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3" name="Content Placeholder 2"/>
          <p:cNvSpPr>
            <a:spLocks noGrp="1"/>
          </p:cNvSpPr>
          <p:nvPr>
            <p:ph idx="1"/>
          </p:nvPr>
        </p:nvSpPr>
        <p:spPr>
          <a:xfrm>
            <a:off x="502920" y="1748790"/>
            <a:ext cx="8138160" cy="4423410"/>
          </a:xfrm>
        </p:spPr>
        <p:txBody>
          <a:bodyPr wrap="square" anchor="t" lIns="0" rIns="0" tIns="0" bIns="0">
            <a:normAutofit fontScale="100000" lnSpcReduction="0"/>
          </a:bodyPr>
          <a:lstStyle/>
          <a:p>
            <a:pPr lvl="0" algn="l" marL="0" indent="0">
              <a:lnSpc>
                <a:spcPct val="118000"/>
              </a:lnSpc>
              <a:spcBef>
                <a:spcPts val="0"/>
              </a:spcBef>
              <a:spcAft>
                <a:spcPts val="450"/>
              </a:spcAft>
              <a:defRPr sz="1850" b="0">
                <a:solidFill>
                  <a:srgbClr val="243B53"/>
                </a:solidFill>
                <a:latin typeface="Arial"/>
                <a:ea typeface="Arial"/>
                <a:cs typeface="Arial"/>
              </a:defRPr>
            </a:pPr>
            <a:r>
              <a:rPr lang="en-US" b="0" dirty="0" smtClean="0" sz="1850">
                <a:solidFill>
                  <a:srgbClr val="243B53"/>
                </a:solidFill>
                <a:latin typeface="Arial" panose="02040602050305030304" pitchFamily="18" charset="0"/>
                <a:ea typeface="Arial"/>
                <a:cs typeface="Arial"/>
              </a:rPr>
              <a:t>PORTABLE</a:t>
            </a:r>
            <a:r>
              <a:rPr lang="en-US" dirty="0" smtClean="0" sz="1850" b="0">
                <a:solidFill>
                  <a:srgbClr val="243B53"/>
                </a:solidFill>
                <a:latin typeface="Arial" panose="02040602050305030304" pitchFamily="18" charset="0"/>
                <a:ea typeface="Arial"/>
                <a:cs typeface="Arial"/>
              </a:rPr>
              <a:t> :- This has a stationary anode x ray tube, its power ranges from 40 -80kvp and 50- 100mA can only be used for extremities . More so it can be dismantled and easily carried to places </a:t>
            </a:r>
            <a:endParaRPr sz="1850" b="0">
              <a:solidFill>
                <a:srgbClr val="243B53"/>
              </a:solidFill>
              <a:latin typeface="Arial"/>
              <a:ea typeface="Arial"/>
              <a:cs typeface="Arial"/>
            </a:endParaRPr>
          </a:p>
          <a:p>
            <a:pPr lvl="0" algn="l" marL="0" indent="0">
              <a:lnSpc>
                <a:spcPct val="118000"/>
              </a:lnSpc>
              <a:spcBef>
                <a:spcPts val="0"/>
              </a:spcBef>
              <a:spcAft>
                <a:spcPts val="450"/>
              </a:spcAft>
              <a:defRPr sz="1850" b="0">
                <a:solidFill>
                  <a:srgbClr val="243B53"/>
                </a:solidFill>
                <a:latin typeface="Arial"/>
                <a:ea typeface="Arial"/>
                <a:cs typeface="Arial"/>
              </a:defRPr>
            </a:pPr>
            <a:r>
              <a:rPr lang="en-US" b="0" dirty="0" smtClean="0" sz="1850">
                <a:solidFill>
                  <a:srgbClr val="243B53"/>
                </a:solidFill>
                <a:latin typeface="Arial" panose="02040602050305030304" pitchFamily="18" charset="0"/>
                <a:ea typeface="Arial"/>
                <a:cs typeface="Arial"/>
              </a:rPr>
              <a:t>MOBILE</a:t>
            </a:r>
            <a:r>
              <a:rPr lang="en-US" dirty="0" smtClean="0" sz="1850" b="0">
                <a:solidFill>
                  <a:srgbClr val="243B53"/>
                </a:solidFill>
                <a:latin typeface="Arial" panose="02040602050305030304" pitchFamily="18" charset="0"/>
                <a:ea typeface="Arial"/>
                <a:cs typeface="Arial"/>
              </a:rPr>
              <a:t> :- This can be moved from one place to another within the department or hospital , it has low power rating 50-100kvp and 50-200mA, It has a HT generator within its assembly , it can be battery powered or plug into direct Ac supply of 240V. It has a rotational anode.</a:t>
            </a:r>
            <a:endParaRPr sz="1850" b="0">
              <a:solidFill>
                <a:srgbClr val="243B53"/>
              </a:solidFill>
              <a:latin typeface="Arial"/>
              <a:ea typeface="Arial"/>
              <a:cs typeface="Arial"/>
            </a:endParaRPr>
          </a:p>
          <a:p>
            <a:pPr lvl="0" algn="l" marL="0" indent="0">
              <a:lnSpc>
                <a:spcPct val="118000"/>
              </a:lnSpc>
              <a:spcBef>
                <a:spcPts val="0"/>
              </a:spcBef>
              <a:spcAft>
                <a:spcPts val="450"/>
              </a:spcAft>
              <a:defRPr sz="1850" b="0">
                <a:solidFill>
                  <a:srgbClr val="243B53"/>
                </a:solidFill>
                <a:latin typeface="Arial"/>
                <a:ea typeface="Arial"/>
                <a:cs typeface="Arial"/>
              </a:defRPr>
            </a:pPr>
            <a:r>
              <a:rPr lang="en-US" b="0" dirty="0" smtClean="0" sz="1850">
                <a:solidFill>
                  <a:srgbClr val="243B53"/>
                </a:solidFill>
                <a:latin typeface="Arial" panose="02040602050305030304" pitchFamily="18" charset="0"/>
                <a:ea typeface="Arial"/>
                <a:cs typeface="Arial"/>
              </a:rPr>
              <a:t>STATIC</a:t>
            </a:r>
            <a:r>
              <a:rPr lang="en-US" dirty="0" smtClean="0" sz="1850" b="0">
                <a:solidFill>
                  <a:srgbClr val="243B53"/>
                </a:solidFill>
                <a:latin typeface="Arial" panose="02040602050305030304" pitchFamily="18" charset="0"/>
                <a:ea typeface="Arial"/>
                <a:cs typeface="Arial"/>
              </a:rPr>
              <a:t> </a:t>
            </a:r>
            <a:r>
              <a:rPr lang="en-US" dirty="0" sz="1850" b="0">
                <a:solidFill>
                  <a:srgbClr val="243B53"/>
                </a:solidFill>
                <a:latin typeface="Arial" panose="02040602050305030304" pitchFamily="18" charset="0"/>
                <a:ea typeface="Arial"/>
                <a:cs typeface="Arial"/>
              </a:rPr>
              <a:t>:- This has a higher power rating (40-120kvp and 50-500mA) with a dual focus and a rotating anode assembly. It can be ceiling or floor mounted. Its suitable for a variety of examinations. Its limitation are required a large space , requires additional source of power 415V , expensive to </a:t>
            </a:r>
            <a:r>
              <a:rPr lang="en-US" dirty="0" smtClean="0" sz="1850" b="0">
                <a:solidFill>
                  <a:srgbClr val="243B53"/>
                </a:solidFill>
                <a:latin typeface="Arial" panose="02040602050305030304" pitchFamily="18" charset="0"/>
                <a:ea typeface="Arial"/>
                <a:cs typeface="Arial"/>
              </a:rPr>
              <a:t>purchase and installed </a:t>
            </a:r>
            <a:endParaRPr lang="en-US" dirty="0" sz="1850" b="0">
              <a:solidFill>
                <a:srgbClr val="243B53"/>
              </a:solidFill>
              <a:latin typeface="Arial" panose="02040602050305030304" pitchFamily="18" charset="0"/>
              <a:ea typeface="Arial"/>
              <a:cs typeface="Arial"/>
            </a:endParaRPr>
          </a:p>
          <a:p>
            <a:pPr algn="l" marL="0" indent="0">
              <a:lnSpc>
                <a:spcPts val="100"/>
              </a:lnSpc>
              <a:spcBef>
                <a:spcPts val="0"/>
              </a:spcBef>
              <a:spcAft>
                <a:spcPts val="0"/>
              </a:spcAft>
              <a:defRPr sz="100" b="0">
                <a:solidFill>
                  <a:srgbClr val="243B53"/>
                </a:solidFill>
                <a:latin typeface="Arial"/>
                <a:ea typeface="Arial"/>
                <a:cs typeface="Arial"/>
              </a:defRPr>
            </a:pPr>
            <a:endParaRPr lang="en-US" dirty="0" sz="100" b="0">
              <a:solidFill>
                <a:srgbClr val="243B53"/>
              </a:solidFill>
              <a:latin typeface="Arial"/>
              <a:ea typeface="Arial"/>
              <a:cs typeface="Arial"/>
            </a:endParaRPr>
          </a:p>
        </p:txBody>
      </p:sp>
      <p:sp>
        <p:nvSpPr>
          <p:cNvPr id="2" name="Title 1"/>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mtClean="0" sz="3200" b="1">
                <a:solidFill>
                  <a:srgbClr val="0056D2"/>
                </a:solidFill>
                <a:latin typeface="Poppins SemiBold"/>
                <a:ea typeface="Poppins SemiBold"/>
                <a:cs typeface="Poppins SemiBold"/>
              </a:rPr>
              <a:t>TYPES OF X RAY MACHINES</a:t>
            </a:r>
            <a:br>
              <a:rPr lang="en-US" dirty="0" smtClean="0"/>
            </a:br>
            <a:endParaRPr lang="en-US" dirty="0" sz="3200" b="1">
              <a:solidFill>
                <a:srgbClr val="0056D2"/>
              </a:solidFill>
              <a:latin typeface="Poppins SemiBold"/>
              <a:ea typeface="Poppins SemiBold"/>
              <a:cs typeface="Poppins SemiBold"/>
            </a:endParaRPr>
          </a:p>
        </p:txBody>
      </p:sp>
    </p:spTree>
    <p:extLst>
      <p:ext uri="{BB962C8B-B14F-4D97-AF65-F5344CB8AC3E}">
        <p14:creationId val="1079864364"/>
      </p:ext>
    </p:extLst>
  </p:cSld>
  <p:clrMapOvr>
    <a:masterClrMapping/>
  </p:clrMapOvr>
</p:sld>
</file>

<file path=ppt/slides/slide28.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2" name="Content Placeholder 1"/>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000" b="0">
                <a:solidFill>
                  <a:srgbClr val="243B53"/>
                </a:solidFill>
                <a:latin typeface="Arial"/>
                <a:ea typeface="Arial"/>
                <a:cs typeface="Arial"/>
              </a:defRPr>
            </a:pPr>
            <a:r>
              <a:rPr lang="en-US" sz="2000" b="0" dirty="0" smtClean="0">
                <a:solidFill>
                  <a:srgbClr val="243B53"/>
                </a:solidFill>
                <a:latin typeface="Arial"/>
                <a:ea typeface="Arial"/>
                <a:cs typeface="Arial"/>
              </a:rPr>
              <a:t>MAMMOGRAPHY</a:t>
            </a:r>
            <a:r>
              <a:rPr lang="en-US" sz="2000" dirty="0" smtClean="0" b="0">
                <a:solidFill>
                  <a:srgbClr val="243B53"/>
                </a:solidFill>
                <a:latin typeface="Arial"/>
                <a:ea typeface="Arial"/>
                <a:cs typeface="Arial"/>
              </a:rPr>
              <a:t>:-</a:t>
            </a:r>
            <a:r>
              <a:rPr lang="en-US" sz="2000" dirty="0" b="0">
                <a:solidFill>
                  <a:srgbClr val="243B53"/>
                </a:solidFill>
                <a:latin typeface="Arial"/>
                <a:ea typeface="Arial"/>
                <a:cs typeface="Arial"/>
              </a:rPr>
              <a:t>mammography machine is a specialized X-ray imaging equipment used to examine the breasts for the early detection and diagnosis of breast diseases, especially breast cancer</a:t>
            </a:r>
            <a:r>
              <a:rPr lang="en-US" sz="2000" dirty="0" smtClean="0" b="0">
                <a:solidFill>
                  <a:srgbClr val="243B53"/>
                </a:solidFill>
                <a:latin typeface="Arial"/>
                <a:ea typeface="Arial"/>
                <a:cs typeface="Arial"/>
              </a:rPr>
              <a:t>.</a:t>
            </a:r>
            <a:endParaRPr sz="200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sz="2000" b="0" dirty="0" smtClean="0">
                <a:solidFill>
                  <a:srgbClr val="243B53"/>
                </a:solidFill>
                <a:latin typeface="Arial"/>
                <a:ea typeface="Arial"/>
                <a:cs typeface="Arial"/>
              </a:rPr>
              <a:t>C ARM</a:t>
            </a:r>
            <a:r>
              <a:rPr lang="en-US" sz="2000" dirty="0" smtClean="0" b="0">
                <a:solidFill>
                  <a:srgbClr val="243B53"/>
                </a:solidFill>
                <a:latin typeface="Arial"/>
                <a:ea typeface="Arial"/>
                <a:cs typeface="Arial"/>
              </a:rPr>
              <a:t>:-</a:t>
            </a:r>
            <a:r>
              <a:rPr lang="en-US" sz="2000" dirty="0" b="0">
                <a:solidFill>
                  <a:srgbClr val="243B53"/>
                </a:solidFill>
                <a:latin typeface="Arial"/>
                <a:ea typeface="Arial"/>
                <a:cs typeface="Arial"/>
              </a:rPr>
              <a:t>A C-arm machine is a mobile medical X-ray imaging machine used to produce real-time images of internal body structures during surgical operations, diagnostic procedures and interventional treatments</a:t>
            </a:r>
            <a:r>
              <a:rPr lang="en-US" sz="2000" dirty="0" smtClean="0" b="0">
                <a:solidFill>
                  <a:srgbClr val="243B53"/>
                </a:solidFill>
                <a:latin typeface="Arial"/>
                <a:ea typeface="Arial"/>
                <a:cs typeface="Arial"/>
              </a:rPr>
              <a:t>. Is mostly used </a:t>
            </a:r>
            <a:r>
              <a:rPr lang="en-US" sz="2000" smtClean="0" b="0">
                <a:solidFill>
                  <a:srgbClr val="243B53"/>
                </a:solidFill>
                <a:latin typeface="Arial"/>
                <a:ea typeface="Arial"/>
                <a:cs typeface="Arial"/>
              </a:rPr>
              <a:t>in theaters.</a:t>
            </a:r>
            <a:endParaRPr lang="en-US" sz="2000" dirty="0" b="0">
              <a:solidFill>
                <a:srgbClr val="243B53"/>
              </a:solidFill>
              <a:latin typeface="Arial"/>
              <a:ea typeface="Arial"/>
              <a:cs typeface="Arial"/>
            </a:endParaRPr>
          </a:p>
          <a:p>
            <a:pPr algn="l" marL="0" indent="0">
              <a:lnSpc>
                <a:spcPct val="118000"/>
              </a:lnSpc>
              <a:spcBef>
                <a:spcPts val="0"/>
              </a:spcBef>
              <a:spcAft>
                <a:spcPts val="450"/>
              </a:spcAft>
              <a:defRPr sz="2000" b="0">
                <a:solidFill>
                  <a:srgbClr val="243B53"/>
                </a:solidFill>
                <a:latin typeface="Arial"/>
                <a:ea typeface="Arial"/>
                <a:cs typeface="Arial"/>
              </a:defRPr>
            </a:pPr>
            <a:r>
              <a:rPr lang="en-US" sz="2000" b="0" dirty="0" smtClean="0">
                <a:solidFill>
                  <a:srgbClr val="243B53"/>
                </a:solidFill>
                <a:latin typeface="Arial"/>
                <a:ea typeface="Arial"/>
                <a:cs typeface="Arial"/>
              </a:rPr>
              <a:t>FLUOROSCOPY</a:t>
            </a:r>
            <a:r>
              <a:rPr lang="en-US" sz="2000" dirty="0" smtClean="0" b="0">
                <a:solidFill>
                  <a:srgbClr val="243B53"/>
                </a:solidFill>
                <a:latin typeface="Arial"/>
                <a:ea typeface="Arial"/>
                <a:cs typeface="Arial"/>
              </a:rPr>
              <a:t>:-</a:t>
            </a:r>
            <a:r>
              <a:rPr lang="en-US" sz="2000" dirty="0" b="0">
                <a:solidFill>
                  <a:srgbClr val="243B53"/>
                </a:solidFill>
                <a:latin typeface="Arial"/>
                <a:ea typeface="Arial"/>
                <a:cs typeface="Arial"/>
              </a:rPr>
              <a:t>is a medical imaging device that uses X-rays to produce real-time moving images of the inside of the body.</a:t>
            </a:r>
            <a:endParaRPr sz="2000" b="0">
              <a:solidFill>
                <a:srgbClr val="243B53"/>
              </a:solidFill>
              <a:latin typeface="Arial"/>
              <a:ea typeface="Arial"/>
              <a:cs typeface="Arial"/>
            </a:endParaRPr>
          </a:p>
        </p:txBody>
      </p:sp>
      <p:sp>
        <p:nvSpPr>
          <p:cNvPr id="3" name="Title 2"/>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mtClean="0" sz="3200" b="1">
                <a:solidFill>
                  <a:srgbClr val="0056D2"/>
                </a:solidFill>
                <a:latin typeface="Poppins SemiBold"/>
                <a:ea typeface="Poppins SemiBold"/>
                <a:cs typeface="Poppins SemiBold"/>
              </a:rPr>
              <a:t>TYPES OF X RAY MACHINE CONTD</a:t>
            </a:r>
            <a:endParaRPr lang="en-US" dirty="0" sz="3200" b="1">
              <a:solidFill>
                <a:srgbClr val="0056D2"/>
              </a:solidFill>
              <a:latin typeface="Poppins SemiBold"/>
              <a:ea typeface="Poppins SemiBold"/>
              <a:cs typeface="Poppins SemiBold"/>
            </a:endParaRPr>
          </a:p>
        </p:txBody>
      </p:sp>
    </p:spTree>
    <p:extLst>
      <p:ext uri="{BB962C8B-B14F-4D97-AF65-F5344CB8AC3E}">
        <p14:creationId val="2709904557"/>
      </p:ext>
    </p:extLst>
  </p:cSld>
  <p:clrMapOvr>
    <a:masterClrMapping/>
  </p:clrMapOvr>
</p:sld>
</file>

<file path=ppt/slides/slide29.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4" name="Radia accent line"/>
          <p:cNvSpPr/>
          <p:nvPr/>
        </p:nvSpPr>
        <p:spPr>
          <a:xfrm>
            <a:off x="502920" y="1405890"/>
            <a:ext cx="594360" cy="41148"/>
          </a:xfrm>
          <a:prstGeom prst="rect">
            <a:avLst/>
          </a:prstGeom>
          <a:solidFill>
            <a:srgbClr val="0056D2"/>
          </a:solidFill>
          <a:ln>
            <a:noFill/>
          </a:ln>
        </p:spPr>
      </p:sp>
      <p:sp>
        <p:nvSpPr>
          <p:cNvPr id="2" name="Content Placeholder 1"/>
          <p:cNvSpPr>
            <a:spLocks noGrp="1"/>
          </p:cNvSpPr>
          <p:nvPr>
            <p:ph idx="1"/>
          </p:nvPr>
        </p:nvSpPr>
        <p:spPr>
          <a:xfrm>
            <a:off x="502920" y="1748790"/>
            <a:ext cx="8138160" cy="4423410"/>
          </a:xfrm>
        </p:spPr>
        <p:txBody>
          <a:bodyPr wrap="square" anchor="t" lIns="0" rIns="0" tIns="0" bIns="0">
            <a:normAutofit fontScale="100000" lnSpcReduction="0"/>
          </a:bodyPr>
          <a:lstStyle/>
          <a:p>
            <a:pPr algn="l" marL="0" indent="0">
              <a:lnSpc>
                <a:spcPct val="118000"/>
              </a:lnSpc>
              <a:spcBef>
                <a:spcPts val="0"/>
              </a:spcBef>
              <a:spcAft>
                <a:spcPts val="450"/>
              </a:spcAft>
              <a:defRPr sz="2250" b="1">
                <a:solidFill>
                  <a:srgbClr val="243B53"/>
                </a:solidFill>
                <a:latin typeface="Arial"/>
                <a:ea typeface="Arial"/>
                <a:cs typeface="Arial"/>
              </a:defRPr>
            </a:pPr>
            <a:r>
              <a:rPr lang="en-US" smtClean="0" sz="2250" b="1">
                <a:solidFill>
                  <a:srgbClr val="243B53"/>
                </a:solidFill>
                <a:latin typeface="Arial"/>
                <a:ea typeface="Arial"/>
                <a:cs typeface="Arial"/>
              </a:rPr>
              <a:t>ANY QUESTION FROM THE LECTURE ?</a:t>
            </a:r>
            <a:endParaRPr lang="en-US" sz="2250" b="1">
              <a:solidFill>
                <a:srgbClr val="243B53"/>
              </a:solidFill>
              <a:latin typeface="Arial"/>
              <a:ea typeface="Arial"/>
              <a:cs typeface="Arial"/>
            </a:endParaRPr>
          </a:p>
        </p:txBody>
      </p:sp>
      <p:sp>
        <p:nvSpPr>
          <p:cNvPr id="3" name="Title 2"/>
          <p:cNvSpPr>
            <a:spLocks noGrp="1"/>
          </p:cNvSpPr>
          <p:nvPr>
            <p:ph type="title"/>
          </p:nvPr>
        </p:nvSpPr>
        <p:spPr>
          <a:xfrm>
            <a:off x="502920" y="445770"/>
            <a:ext cx="8138160" cy="857250"/>
          </a:xfrm>
        </p:spPr>
        <p:txBody>
          <a:bodyPr wrap="square" anchor="t" lIns="0" rIns="0" tIns="0" bIns="0">
            <a:normAutofit fontScale="100000" lnSpcReduction="0"/>
          </a:bodyPr>
          <a:lstStyle/>
          <a:p>
            <a:pPr algn="l" marL="0" indent="0">
              <a:lnSpc>
                <a:spcPct val="108000"/>
              </a:lnSpc>
              <a:spcBef>
                <a:spcPts val="0"/>
              </a:spcBef>
              <a:spcAft>
                <a:spcPts val="0"/>
              </a:spcAft>
              <a:defRPr sz="3200" b="1">
                <a:solidFill>
                  <a:srgbClr val="0056D2"/>
                </a:solidFill>
                <a:latin typeface="Poppins SemiBold"/>
                <a:ea typeface="Poppins SemiBold"/>
                <a:cs typeface="Poppins SemiBold"/>
              </a:defRPr>
            </a:pPr>
            <a:r>
              <a:rPr lang="en-US" dirty="0" smtClean="0" sz="3200" b="1">
                <a:solidFill>
                  <a:srgbClr val="0056D2"/>
                </a:solidFill>
                <a:latin typeface="Poppins SemiBold"/>
                <a:ea typeface="Poppins SemiBold"/>
                <a:cs typeface="Poppins SemiBold"/>
              </a:rPr>
              <a:t>YOU ARE FREE TO ASK QUESTIONS</a:t>
            </a:r>
            <a:endParaRPr lang="en-US" dirty="0" sz="3200" b="1">
              <a:solidFill>
                <a:srgbClr val="0056D2"/>
              </a:solidFill>
              <a:latin typeface="Poppins SemiBold"/>
              <a:ea typeface="Poppins SemiBold"/>
              <a:cs typeface="Poppins SemiBold"/>
            </a:endParaRPr>
          </a:p>
        </p:txBody>
      </p:sp>
    </p:spTree>
    <p:extLst>
      <p:ext uri="{BB962C8B-B14F-4D97-AF65-F5344CB8AC3E}">
        <p14:creationId val="7661653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269</TotalTime>
  <Words>2710</Words>
  <Application>Microsoft Office PowerPoint</Application>
  <PresentationFormat>On-screen Show (4:3)</PresentationFormat>
  <Paragraphs>186</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Concourse</vt:lpstr>
      <vt:lpstr>PowerPoint Presentation</vt:lpstr>
      <vt:lpstr>INTRODUCTION TO BASIC RADIOGRAPHIC EQUIPMENT</vt:lpstr>
      <vt:lpstr>COURSE OUTLINE </vt:lpstr>
      <vt:lpstr>INTRODUCTION </vt:lpstr>
      <vt:lpstr>INTRODUCTION CONTD. </vt:lpstr>
      <vt:lpstr>INTRODUCTION CONTD.</vt:lpstr>
      <vt:lpstr>INTRODUCTION CONTD.</vt:lpstr>
      <vt:lpstr>X- RAY GENERATOR</vt:lpstr>
      <vt:lpstr>  MAIN COMPONENTS OF AN X-RAY GENERATOR </vt:lpstr>
      <vt:lpstr>  HIGH-VOLTAGE TRANSFORMER   </vt:lpstr>
      <vt:lpstr>PowerPoint Presentation</vt:lpstr>
      <vt:lpstr>HOW AN X-RAY GENERATOR WORKS </vt:lpstr>
      <vt:lpstr>STEP-BY-STEP EXPLANATION </vt:lpstr>
      <vt:lpstr>IMPORTANT EXPOSURE FACTORS CONTROLLED BY THE GENERATOR </vt:lpstr>
      <vt:lpstr>TYPES OF X-RAY GENERATORS</vt:lpstr>
      <vt:lpstr>TYPES OF GENERATOR CONTD. </vt:lpstr>
      <vt:lpstr>FUNCTIONS OF AN X-RAY GENERATOR </vt:lpstr>
      <vt:lpstr>BEAM LIMITING /CENTERING DEVICES</vt:lpstr>
      <vt:lpstr>OTHER EQUIPMENT ACCESSORIES IN THE X RAY CIRCUITRY </vt:lpstr>
      <vt:lpstr>OTHER EQUIPMENT ACCESSORIES IN THE X RAY CIRCUITRY</vt:lpstr>
      <vt:lpstr>CONCEPT OF X RAY PRODUCTION</vt:lpstr>
      <vt:lpstr>TYPES OF X-RAY PRODUCTION</vt:lpstr>
      <vt:lpstr>SECONDARY /SCATTERED RADIATION </vt:lpstr>
      <vt:lpstr>PowerPoint Presentation</vt:lpstr>
      <vt:lpstr>PowerPoint Presentation</vt:lpstr>
      <vt:lpstr>PowerPoint Presentation</vt:lpstr>
      <vt:lpstr>TYPES OF X RAY MACHINES </vt:lpstr>
      <vt:lpstr>TYPES OF X RAY MACHINE CONTD</vt:lpstr>
      <vt:lpstr>YOU ARE FREE TO ASK 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HELLO</dc:creator>
  <cp:lastModifiedBy>HELLO</cp:lastModifiedBy>
  <cp:revision>92</cp:revision>
  <dcterms:created xsi:type="dcterms:W3CDTF">2026-10-19T07:40:13Z</dcterms:created>
  <dcterms:modified xsi:type="dcterms:W3CDTF">2026-10-21T17:02:48Z</dcterms:modified>
</cp:coreProperties>
</file>