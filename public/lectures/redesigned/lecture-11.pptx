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4277D-8FB6-455C-A4DC-DD77056F0122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775B5-131B-4BC4-9694-374DE857E3D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4277D-8FB6-455C-A4DC-DD77056F0122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775B5-131B-4BC4-9694-374DE857E3D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4277D-8FB6-455C-A4DC-DD77056F0122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775B5-131B-4BC4-9694-374DE857E3D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4277D-8FB6-455C-A4DC-DD77056F0122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775B5-131B-4BC4-9694-374DE857E3D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4277D-8FB6-455C-A4DC-DD77056F0122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775B5-131B-4BC4-9694-374DE857E3D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4277D-8FB6-455C-A4DC-DD77056F0122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775B5-131B-4BC4-9694-374DE857E3D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4277D-8FB6-455C-A4DC-DD77056F0122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775B5-131B-4BC4-9694-374DE857E3D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4277D-8FB6-455C-A4DC-DD77056F0122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775B5-131B-4BC4-9694-374DE857E3D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4277D-8FB6-455C-A4DC-DD77056F0122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775B5-131B-4BC4-9694-374DE857E3D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4277D-8FB6-455C-A4DC-DD77056F0122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775B5-131B-4BC4-9694-374DE857E3D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4277D-8FB6-455C-A4DC-DD77056F0122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775B5-131B-4BC4-9694-374DE857E3D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4277D-8FB6-455C-A4DC-DD77056F0122}" type="datetimeFigureOut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775B5-131B-4BC4-9694-374DE857E3D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82930"/>
            <a:ext cx="8138160" cy="5589270"/>
          </a:xfrm>
          <a:prstGeom prst="rect">
            <a:avLst/>
          </a:prstGeom>
          <a:noFill/>
        </p:spPr>
        <p:txBody>
          <a:bodyPr wrap="square" rtlCol="0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b="1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MXT 209: RADIOGRAPHIC TECHNIQUE 1:UPPER LIMBS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b="0" dirty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b="1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BY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b="1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DR. M.P.OGOLODOM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b="1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THE RRBN RETRAINING COURSE FOR 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b="1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X-RAY TECHNICIANS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b="1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IN PORT HARCOURT</a:t>
            </a:r>
            <a:endParaRPr sz="22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22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2250" b="1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23</a:t>
            </a:r>
            <a:r>
              <a:rPr lang="en-US" sz="2250" b="1" baseline="3000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RD</a:t>
            </a:r>
            <a:r>
              <a:rPr lang="en-US" sz="2250" b="1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OCTOBER, 2026</a:t>
            </a:r>
            <a:endParaRPr lang="en-US" sz="2250" b="1" dirty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582930"/>
            <a:ext cx="8138160" cy="5589270"/>
          </a:xfrm>
          <a:prstGeom prst="rect">
            <a:avLst/>
          </a:prstGeom>
          <a:noFill/>
        </p:spPr>
        <p:txBody>
          <a:bodyPr wrap="square" rtlCol="0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q"/>
              <a:defRPr sz="15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50" b="1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FINGERS</a:t>
            </a:r>
            <a:endParaRPr sz="15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Ø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Indications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Fractures, dislocations, pain , swollen, pathologies, foreign bodies, RTA, trauma, assault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Ø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Patients’ Preparations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Proper identification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Explain the procedures to the patient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Reassure the patient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Remove materials around the fingers and hand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Ø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Projections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 err="1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Dorsipalmar</a:t>
            </a:r>
            <a:r>
              <a:rPr lang="en-US" sz="15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(</a:t>
            </a:r>
            <a:r>
              <a:rPr lang="en-US" sz="1500" dirty="0" err="1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posteroanterior</a:t>
            </a:r>
            <a:r>
              <a:rPr lang="en-US" sz="15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)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Lateral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Ø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Patient’s Positioning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 err="1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Dorsipalmar</a:t>
            </a:r>
            <a:r>
              <a:rPr lang="en-US" sz="150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(PA)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Patient seat alongside the X-ray couch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Place </a:t>
            </a:r>
            <a:r>
              <a:rPr lang="en-US" sz="1500" dirty="0" err="1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palmar</a:t>
            </a:r>
            <a:r>
              <a:rPr lang="en-US" sz="15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aspect of the fingers under examination on film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Separate fingers slightly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Immobilize hand and wrist joint with sandbag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5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Place anatomical marker (R or L)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b="0" dirty="0" smtClean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b="0" dirty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82930"/>
            <a:ext cx="8138160" cy="5589270"/>
          </a:xfrm>
          <a:prstGeom prst="rect">
            <a:avLst/>
          </a:prstGeom>
          <a:noFill/>
        </p:spPr>
        <p:txBody>
          <a:bodyPr wrap="square" rtlCol="0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Collimate beam properly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Apply protection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Ø"/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750">
                <a:solidFill>
                  <a:srgbClr val="243B53"/>
                </a:solidFill>
                <a:latin typeface="Arial"/>
                <a:ea typeface="Arial"/>
                <a:cs typeface="Arial"/>
              </a:rPr>
              <a:t>Cassette Size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7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13x18cm or 24x18cm split using lead rubber divider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Ø"/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750" dirty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</a:t>
            </a:r>
            <a:r>
              <a:rPr lang="en-US" sz="175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Direction of Central Ray and </a:t>
            </a:r>
            <a:r>
              <a:rPr lang="en-US" sz="1750" b="0" dirty="0" err="1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Centring</a:t>
            </a:r>
            <a:r>
              <a:rPr lang="en-US" sz="175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Point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7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DCR: Vertical 90 degree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7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CP: At the level of the proximal </a:t>
            </a:r>
            <a:r>
              <a:rPr lang="en-US" sz="1750" dirty="0" err="1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interphalangeal</a:t>
            </a:r>
            <a:r>
              <a:rPr lang="en-US" sz="17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joint of the fingers or finger under examination.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Ø"/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75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Exposure Factors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750" dirty="0" err="1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mAs</a:t>
            </a:r>
            <a:r>
              <a:rPr lang="en-US" sz="17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: 1.5-2.5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750" dirty="0" err="1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KvP</a:t>
            </a:r>
            <a:r>
              <a:rPr lang="en-US" sz="17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: 50-55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7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Film Focal Distance(FFD): 100cm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b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75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Lateral Projection for Ring and Little fingers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7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From the PA position, the medial border of the hand is place on the film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7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Extend and separate ring and little fingers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7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Support ring finger with foam pad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7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Flex other fingers</a:t>
            </a:r>
            <a:endParaRPr lang="en-US" sz="1750" dirty="0" b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82930"/>
            <a:ext cx="8138160" cy="5589270"/>
          </a:xfrm>
          <a:prstGeom prst="rect">
            <a:avLst/>
          </a:prstGeom>
          <a:noFill/>
        </p:spPr>
        <p:txBody>
          <a:bodyPr wrap="square" rtlCol="0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9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Immobilize the hand and wrist with sandbag</a:t>
            </a:r>
            <a:endParaRPr lang="en-US" dirty="0"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9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Place anatomical marker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9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Collimate beam properly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9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Apply protection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Ø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900">
                <a:solidFill>
                  <a:srgbClr val="243B53"/>
                </a:solidFill>
                <a:latin typeface="Arial"/>
                <a:ea typeface="Arial"/>
                <a:cs typeface="Arial"/>
              </a:rPr>
              <a:t>Cassette Size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9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13x18cm or 24x18cm split using lead rubber divider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Ø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900" dirty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</a:t>
            </a:r>
            <a:r>
              <a:rPr lang="en-US" sz="190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Direction of Central Ray and </a:t>
            </a:r>
            <a:r>
              <a:rPr lang="en-US" sz="1900" b="0" dirty="0" err="1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Centring</a:t>
            </a:r>
            <a:r>
              <a:rPr lang="en-US" sz="190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Point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9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DCR: Vertical 90 degree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9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CP: Proximal </a:t>
            </a:r>
            <a:r>
              <a:rPr lang="en-US" sz="1900" dirty="0" err="1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interphalangeal</a:t>
            </a:r>
            <a:r>
              <a:rPr lang="en-US" sz="19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joint of the fingers or finger under examination.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Ø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90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Exposure Factors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900" dirty="0" err="1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mAs</a:t>
            </a:r>
            <a:r>
              <a:rPr lang="en-US" sz="19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: 1.5-2.5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900" dirty="0" err="1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KvP</a:t>
            </a:r>
            <a:r>
              <a:rPr lang="en-US" sz="19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: 50-55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9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Film Focal Distance(FFD): </a:t>
            </a:r>
            <a:r>
              <a:rPr lang="en-US" sz="19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120cm</a:t>
            </a:r>
            <a:endParaRPr lang="en-US" sz="1900" dirty="0" smtClean="0" b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90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NOTE: </a:t>
            </a:r>
            <a:r>
              <a:rPr lang="en-US" sz="19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The image should include the tip of the finger and distal 3</a:t>
            </a:r>
            <a:r>
              <a:rPr lang="en-US" sz="1900" baseline="300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rd</a:t>
            </a:r>
            <a:r>
              <a:rPr lang="en-US" sz="190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of the metacarpal</a:t>
            </a:r>
            <a:endParaRPr lang="en-US" sz="1900" dirty="0" b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82930"/>
            <a:ext cx="8138160" cy="5589270"/>
          </a:xfrm>
          <a:prstGeom prst="rect">
            <a:avLst/>
          </a:prstGeom>
          <a:noFill/>
        </p:spPr>
        <p:txBody>
          <a:bodyPr wrap="square" rtlCol="0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q"/>
              <a:defRPr sz="180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1" dirty="0" smtClean="0" sz="1800">
                <a:solidFill>
                  <a:srgbClr val="243B53"/>
                </a:solidFill>
                <a:latin typeface="Arial"/>
                <a:ea typeface="Arial"/>
                <a:cs typeface="Arial"/>
              </a:rPr>
              <a:t>THUMB</a:t>
            </a:r>
            <a:endParaRPr sz="180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Ø"/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750">
                <a:solidFill>
                  <a:srgbClr val="243B53"/>
                </a:solidFill>
                <a:latin typeface="Arial"/>
                <a:ea typeface="Arial"/>
                <a:cs typeface="Arial"/>
              </a:rPr>
              <a:t>Projections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PA or AP and Lateral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Ø"/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750">
                <a:solidFill>
                  <a:srgbClr val="243B53"/>
                </a:solidFill>
                <a:latin typeface="Arial"/>
                <a:ea typeface="Arial"/>
                <a:cs typeface="Arial"/>
              </a:rPr>
              <a:t>Patient’s Positioning for PA Thumb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Seat patient alongside the X-ray couch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Extend arm, wrist and forearm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Place medial border of the hand on the film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Rotate hand medially until </a:t>
            </a:r>
            <a:r>
              <a:rPr lang="en-US" dirty="0" err="1" smtClean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palmar</a:t>
            </a:r>
            <a:r>
              <a:rPr lang="en-US" dirty="0" smtClean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aspect is 15 degree to film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Extend thumb and rest on a small </a:t>
            </a:r>
            <a:r>
              <a:rPr lang="en-US" dirty="0" err="1" smtClean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radiolucnt</a:t>
            </a:r>
            <a:r>
              <a:rPr lang="en-US" dirty="0" smtClean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pad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Avoid exerting pressure on </a:t>
            </a:r>
            <a:r>
              <a:rPr lang="en-US" dirty="0" err="1" smtClean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thenar</a:t>
            </a:r>
            <a:r>
              <a:rPr lang="en-US" dirty="0" smtClean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eminence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err="1" smtClean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Immobilze</a:t>
            </a:r>
            <a:r>
              <a:rPr lang="en-US" dirty="0" smtClean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hand with sandbag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Place anatomical marker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Collimate beam properly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Ø"/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750">
                <a:solidFill>
                  <a:srgbClr val="243B53"/>
                </a:solidFill>
                <a:latin typeface="Arial"/>
                <a:ea typeface="Arial"/>
                <a:cs typeface="Arial"/>
              </a:rPr>
              <a:t>Direction of Central Ray and </a:t>
            </a:r>
            <a:r>
              <a:rPr lang="en-US" b="0" dirty="0" err="1" smtClean="0" sz="1750">
                <a:solidFill>
                  <a:srgbClr val="243B53"/>
                </a:solidFill>
                <a:latin typeface="Arial"/>
                <a:ea typeface="Arial"/>
                <a:cs typeface="Arial"/>
              </a:rPr>
              <a:t>Centring</a:t>
            </a:r>
            <a:r>
              <a:rPr lang="en-US" b="0" dirty="0" smtClean="0" sz="1750">
                <a:solidFill>
                  <a:srgbClr val="243B53"/>
                </a:solidFill>
                <a:latin typeface="Arial"/>
                <a:ea typeface="Arial"/>
                <a:cs typeface="Arial"/>
              </a:rPr>
              <a:t> Point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750">
                <a:solidFill>
                  <a:srgbClr val="243B53"/>
                </a:solidFill>
                <a:latin typeface="Arial"/>
                <a:ea typeface="Arial"/>
                <a:cs typeface="Arial"/>
              </a:rPr>
              <a:t>DCR: </a:t>
            </a:r>
            <a:r>
              <a:rPr lang="en-US" dirty="0" smtClean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Vertical 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750">
                <a:solidFill>
                  <a:srgbClr val="243B53"/>
                </a:solidFill>
                <a:latin typeface="Arial"/>
                <a:ea typeface="Arial"/>
                <a:cs typeface="Arial"/>
              </a:rPr>
              <a:t>CP</a:t>
            </a:r>
            <a:r>
              <a:rPr lang="en-US" dirty="0" smtClean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: </a:t>
            </a:r>
            <a:r>
              <a:rPr lang="en-US" dirty="0" err="1" smtClean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Metacarpophalangeal</a:t>
            </a:r>
            <a:r>
              <a:rPr lang="en-US" dirty="0" smtClean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joint of the thumb</a:t>
            </a:r>
            <a:endParaRPr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7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750">
                <a:solidFill>
                  <a:srgbClr val="243B53"/>
                </a:solidFill>
                <a:latin typeface="Arial"/>
                <a:ea typeface="Arial"/>
                <a:cs typeface="Arial"/>
              </a:rPr>
              <a:t>NOTE: </a:t>
            </a:r>
            <a:r>
              <a:rPr lang="en-US" dirty="0" smtClean="0" sz="17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Increase the FFD to compensate for the large OFD</a:t>
            </a:r>
            <a:endParaRPr lang="en-US" dirty="0" sz="17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82930"/>
            <a:ext cx="8138160" cy="5589270"/>
          </a:xfrm>
          <a:prstGeom prst="rect">
            <a:avLst/>
          </a:prstGeom>
          <a:noFill/>
        </p:spPr>
        <p:txBody>
          <a:bodyPr wrap="square" rtlCol="0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Ø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err="1" smtClean="0" sz="1400">
                <a:solidFill>
                  <a:srgbClr val="243B53"/>
                </a:solidFill>
                <a:latin typeface="Arial"/>
                <a:ea typeface="Arial"/>
                <a:cs typeface="Arial"/>
              </a:rPr>
              <a:t>Mediolateral</a:t>
            </a:r>
            <a:r>
              <a:rPr lang="en-US" b="0" dirty="0" smtClean="0" sz="1400">
                <a:solidFill>
                  <a:srgbClr val="243B53"/>
                </a:solidFill>
                <a:latin typeface="Arial"/>
                <a:ea typeface="Arial"/>
                <a:cs typeface="Arial"/>
              </a:rPr>
              <a:t> Projection of Thumb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From the PA position, the palm of the hand is raised slightly with the fingers partially flexed and supported on foam pad.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lateral aspect of the thumb is in contact with the cassette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Ø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400">
                <a:solidFill>
                  <a:srgbClr val="243B53"/>
                </a:solidFill>
                <a:latin typeface="Arial"/>
                <a:ea typeface="Arial"/>
                <a:cs typeface="Arial"/>
              </a:rPr>
              <a:t>Direction of Central Ray and </a:t>
            </a:r>
            <a:r>
              <a:rPr lang="en-US" b="0" dirty="0" err="1" smtClean="0" sz="1400">
                <a:solidFill>
                  <a:srgbClr val="243B53"/>
                </a:solidFill>
                <a:latin typeface="Arial"/>
                <a:ea typeface="Arial"/>
                <a:cs typeface="Arial"/>
              </a:rPr>
              <a:t>Centring</a:t>
            </a:r>
            <a:r>
              <a:rPr lang="en-US" b="0" dirty="0" smtClean="0" sz="1400">
                <a:solidFill>
                  <a:srgbClr val="243B53"/>
                </a:solidFill>
                <a:latin typeface="Arial"/>
                <a:ea typeface="Arial"/>
                <a:cs typeface="Arial"/>
              </a:rPr>
              <a:t> Point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400">
                <a:solidFill>
                  <a:srgbClr val="243B53"/>
                </a:solidFill>
                <a:latin typeface="Arial"/>
                <a:ea typeface="Arial"/>
                <a:cs typeface="Arial"/>
              </a:rPr>
              <a:t>DCR:</a:t>
            </a:r>
            <a:r>
              <a:rPr lang="en-US" dirty="0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Vertical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CP: Head of </a:t>
            </a:r>
            <a:r>
              <a:rPr lang="en-US" b="0" dirty="0" smtClean="0" sz="1400">
                <a:solidFill>
                  <a:srgbClr val="243B53"/>
                </a:solidFill>
                <a:latin typeface="Arial"/>
                <a:ea typeface="Arial"/>
                <a:cs typeface="Arial"/>
              </a:rPr>
              <a:t>FIRST</a:t>
            </a:r>
            <a:r>
              <a:rPr lang="en-US" dirty="0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dirty="0" err="1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metacarpophalangeal</a:t>
            </a:r>
            <a:r>
              <a:rPr lang="en-US" dirty="0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joint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mtClean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q"/>
              <a:defRPr sz="14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1" dirty="0" smtClean="0" sz="1450">
                <a:solidFill>
                  <a:srgbClr val="243B53"/>
                </a:solidFill>
                <a:latin typeface="Arial"/>
                <a:ea typeface="Arial"/>
                <a:cs typeface="Arial"/>
              </a:rPr>
              <a:t>HAND</a:t>
            </a:r>
            <a:endParaRPr sz="14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Ø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400">
                <a:solidFill>
                  <a:srgbClr val="243B53"/>
                </a:solidFill>
                <a:latin typeface="Arial"/>
                <a:ea typeface="Arial"/>
                <a:cs typeface="Arial"/>
              </a:rPr>
              <a:t>Projections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err="1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Dorsipalmar</a:t>
            </a:r>
            <a:r>
              <a:rPr lang="en-US" dirty="0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(PA)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err="1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Dorsipalmar</a:t>
            </a:r>
            <a:r>
              <a:rPr lang="en-US" dirty="0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(PA) Oblique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Lateral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Ø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400">
                <a:solidFill>
                  <a:srgbClr val="243B53"/>
                </a:solidFill>
                <a:latin typeface="Arial"/>
                <a:ea typeface="Arial"/>
                <a:cs typeface="Arial"/>
              </a:rPr>
              <a:t>Patients’ Positioning for PA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Patient is seated alongside the X-ray couch with arm nearest to the table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forearm is </a:t>
            </a:r>
            <a:r>
              <a:rPr lang="en-US" dirty="0" err="1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pronated</a:t>
            </a:r>
            <a:r>
              <a:rPr lang="en-US" dirty="0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and placed on the table with palmer surface of the hand in contact with the cassette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fingers are </a:t>
            </a:r>
            <a:r>
              <a:rPr lang="en-US" dirty="0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separated </a:t>
            </a:r>
            <a:r>
              <a:rPr lang="en-US" dirty="0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and extended but relaxed to ensure that they remain in contact with the cassette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wrist is adjusted so that the </a:t>
            </a:r>
            <a:r>
              <a:rPr lang="en-US" dirty="0" err="1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ulnar</a:t>
            </a:r>
            <a:r>
              <a:rPr lang="en-US" dirty="0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and radius </a:t>
            </a:r>
            <a:r>
              <a:rPr lang="en-US" dirty="0" err="1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styloid</a:t>
            </a:r>
            <a:r>
              <a:rPr lang="en-US" dirty="0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processes are equidistant from the cassette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Immobilize hand with sandbag over the lower forearm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b="0" dirty="0" sz="10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82930"/>
            <a:ext cx="8138160" cy="5589270"/>
          </a:xfrm>
          <a:prstGeom prst="rect">
            <a:avLst/>
          </a:prstGeom>
          <a:noFill/>
        </p:spPr>
        <p:txBody>
          <a:bodyPr wrap="square" rtlCol="0" anchor="t" lIns="0" rIns="0" tIns="0" bIns="0">
            <a:normAutofit fontScale="100000" lnSpcReduction="0"/>
          </a:bodyPr>
          <a:lstStyle/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b="0" dirty="0" smtClean="0" sz="10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Place anatomical marker </a:t>
            </a:r>
            <a:endParaRPr sz="14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Collimate Beam and apply protection</a:t>
            </a:r>
            <a:endParaRPr lang="en-US" dirty="0" sz="14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4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450">
                <a:solidFill>
                  <a:srgbClr val="243B53"/>
                </a:solidFill>
                <a:latin typeface="Arial"/>
                <a:ea typeface="Arial"/>
                <a:cs typeface="Arial"/>
              </a:rPr>
              <a:t>Cassette Size</a:t>
            </a:r>
            <a:endParaRPr sz="14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24x30cm(12x10inch) or 24x18cm (10x8 inch)</a:t>
            </a:r>
            <a:endParaRPr sz="14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4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450">
                <a:solidFill>
                  <a:srgbClr val="243B53"/>
                </a:solidFill>
                <a:latin typeface="Arial"/>
                <a:ea typeface="Arial"/>
                <a:cs typeface="Arial"/>
              </a:rPr>
              <a:t>DCR</a:t>
            </a:r>
            <a:r>
              <a:rPr lang="en-US" dirty="0" smtClean="0" sz="14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: Vertical</a:t>
            </a:r>
            <a:endParaRPr sz="14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4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450">
                <a:solidFill>
                  <a:srgbClr val="243B53"/>
                </a:solidFill>
                <a:latin typeface="Arial"/>
                <a:ea typeface="Arial"/>
                <a:cs typeface="Arial"/>
              </a:rPr>
              <a:t>CP</a:t>
            </a:r>
            <a:r>
              <a:rPr lang="en-US" dirty="0" smtClean="0" sz="14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: Over the head of the </a:t>
            </a:r>
            <a:r>
              <a:rPr lang="en-US" b="0" dirty="0" smtClean="0" sz="1450">
                <a:solidFill>
                  <a:srgbClr val="243B53"/>
                </a:solidFill>
                <a:latin typeface="Arial"/>
                <a:ea typeface="Arial"/>
                <a:cs typeface="Arial"/>
              </a:rPr>
              <a:t>THIRD</a:t>
            </a:r>
            <a:r>
              <a:rPr lang="en-US" dirty="0" smtClean="0" sz="14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metacarpal</a:t>
            </a:r>
            <a:endParaRPr sz="14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4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450">
                <a:solidFill>
                  <a:srgbClr val="243B53"/>
                </a:solidFill>
                <a:latin typeface="Arial"/>
                <a:ea typeface="Arial"/>
                <a:cs typeface="Arial"/>
              </a:rPr>
              <a:t>Exposure factors</a:t>
            </a:r>
            <a:endParaRPr sz="14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err="1" smtClean="0" sz="1450">
                <a:solidFill>
                  <a:srgbClr val="243B53"/>
                </a:solidFill>
                <a:latin typeface="Arial"/>
                <a:ea typeface="Arial"/>
                <a:cs typeface="Arial"/>
              </a:rPr>
              <a:t>mAS</a:t>
            </a:r>
            <a:r>
              <a:rPr lang="en-US" b="0" dirty="0" smtClean="0" sz="1450">
                <a:solidFill>
                  <a:srgbClr val="243B53"/>
                </a:solidFill>
                <a:latin typeface="Arial"/>
                <a:ea typeface="Arial"/>
                <a:cs typeface="Arial"/>
              </a:rPr>
              <a:t>: </a:t>
            </a:r>
            <a:r>
              <a:rPr lang="en-US" dirty="0" smtClean="0" sz="14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2-4</a:t>
            </a:r>
            <a:endParaRPr sz="14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450">
                <a:solidFill>
                  <a:srgbClr val="243B53"/>
                </a:solidFill>
                <a:latin typeface="Arial"/>
                <a:ea typeface="Arial"/>
                <a:cs typeface="Arial"/>
              </a:rPr>
              <a:t>KvP:</a:t>
            </a:r>
            <a:r>
              <a:rPr lang="en-US" dirty="0" smtClean="0" sz="14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50-55</a:t>
            </a:r>
            <a:endParaRPr sz="14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450">
                <a:solidFill>
                  <a:srgbClr val="243B53"/>
                </a:solidFill>
                <a:latin typeface="Arial"/>
                <a:ea typeface="Arial"/>
                <a:cs typeface="Arial"/>
              </a:rPr>
              <a:t>FFD</a:t>
            </a:r>
            <a:r>
              <a:rPr lang="en-US" dirty="0" smtClean="0" sz="14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:100cm</a:t>
            </a:r>
            <a:endParaRPr sz="14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Ø"/>
              <a:defRPr sz="14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450">
                <a:solidFill>
                  <a:srgbClr val="243B53"/>
                </a:solidFill>
                <a:latin typeface="Arial"/>
                <a:ea typeface="Arial"/>
                <a:cs typeface="Arial"/>
              </a:rPr>
              <a:t>Patients’ Positioning for PA Oblique</a:t>
            </a:r>
            <a:endParaRPr sz="14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From the PA position, the hand is externally rotated 45 degrees with fingers extended</a:t>
            </a:r>
            <a:endParaRPr sz="14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fingers should be separated slightly and hand supported on 45 degree foam pad</a:t>
            </a:r>
            <a:endParaRPr sz="14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Immobilize hand with a sandbag placed over the lower end of the forearm</a:t>
            </a:r>
            <a:endParaRPr sz="14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Place anatomical marker (R or L) and collimate beam to area of interest.</a:t>
            </a:r>
            <a:endParaRPr sz="14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4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DCR: Vertical</a:t>
            </a:r>
            <a:endParaRPr sz="14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4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CP: Head of the FIFTH metacarpal</a:t>
            </a:r>
            <a:endParaRPr sz="14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defRPr sz="14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450">
                <a:solidFill>
                  <a:srgbClr val="243B53"/>
                </a:solidFill>
                <a:latin typeface="Arial"/>
                <a:ea typeface="Arial"/>
                <a:cs typeface="Arial"/>
              </a:rPr>
              <a:t>NOTE: </a:t>
            </a:r>
            <a:r>
              <a:rPr lang="en-US" dirty="0" smtClean="0" sz="14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This projection help to demonstrates joint spaces clearly.</a:t>
            </a:r>
            <a:endParaRPr sz="14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82930"/>
            <a:ext cx="8138160" cy="5589270"/>
          </a:xfrm>
          <a:prstGeom prst="rect">
            <a:avLst/>
          </a:prstGeom>
          <a:noFill/>
        </p:spPr>
        <p:txBody>
          <a:bodyPr wrap="square" rtlCol="0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b="0" dirty="0" smtClean="0" sz="1500">
                <a:solidFill>
                  <a:srgbClr val="243B53"/>
                </a:solidFill>
                <a:latin typeface="Arial"/>
                <a:ea typeface="Arial"/>
                <a:cs typeface="Arial"/>
              </a:rPr>
              <a:t>Patients’ Positioning for Lateral Hand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From the PA position, the hand is externally rotated 90 degrees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palm of the hand is perpendicular to the cassette with the fingers extended and thumb abducted and supported parallel to the film on radio-</a:t>
            </a:r>
            <a:r>
              <a:rPr lang="en-US" dirty="0" err="1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opaqe</a:t>
            </a:r>
            <a:r>
              <a:rPr lang="en-US" dirty="0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pad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radial and </a:t>
            </a:r>
            <a:r>
              <a:rPr lang="en-US" dirty="0" err="1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ulnar</a:t>
            </a:r>
            <a:r>
              <a:rPr lang="en-US" dirty="0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dirty="0" err="1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styloid</a:t>
            </a:r>
            <a:r>
              <a:rPr lang="en-US" dirty="0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dirty="0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processes </a:t>
            </a:r>
            <a:r>
              <a:rPr lang="en-US" dirty="0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are superimposed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500">
                <a:solidFill>
                  <a:srgbClr val="243B53"/>
                </a:solidFill>
                <a:latin typeface="Arial"/>
                <a:ea typeface="Arial"/>
                <a:cs typeface="Arial"/>
              </a:rPr>
              <a:t>DCR</a:t>
            </a:r>
            <a:r>
              <a:rPr lang="en-US" dirty="0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: Vertical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500">
                <a:solidFill>
                  <a:srgbClr val="243B53"/>
                </a:solidFill>
                <a:latin typeface="Arial"/>
                <a:ea typeface="Arial"/>
                <a:cs typeface="Arial"/>
              </a:rPr>
              <a:t>CP</a:t>
            </a:r>
            <a:r>
              <a:rPr lang="en-US" dirty="0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: Over the head of the SECOND metacarpal 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500">
                <a:solidFill>
                  <a:srgbClr val="243B53"/>
                </a:solidFill>
                <a:latin typeface="Arial"/>
                <a:ea typeface="Arial"/>
                <a:cs typeface="Arial"/>
              </a:rPr>
              <a:t>Note: </a:t>
            </a:r>
            <a:r>
              <a:rPr lang="en-US" dirty="0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This projection is commonly done to identify the foreign bodies.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mtClean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500">
                <a:solidFill>
                  <a:srgbClr val="243B53"/>
                </a:solidFill>
                <a:latin typeface="Arial"/>
                <a:ea typeface="Arial"/>
                <a:cs typeface="Arial"/>
              </a:rPr>
              <a:t>Patients’ Positioning for  </a:t>
            </a:r>
            <a:r>
              <a:rPr lang="en-US" b="0" dirty="0" err="1" smtClean="0" sz="1500">
                <a:solidFill>
                  <a:srgbClr val="243B53"/>
                </a:solidFill>
                <a:latin typeface="Arial"/>
                <a:ea typeface="Arial"/>
                <a:cs typeface="Arial"/>
              </a:rPr>
              <a:t>Anteroposterior</a:t>
            </a:r>
            <a:r>
              <a:rPr lang="en-US" b="0" dirty="0" smtClean="0" sz="1500">
                <a:solidFill>
                  <a:srgbClr val="243B53"/>
                </a:solidFill>
                <a:latin typeface="Arial"/>
                <a:ea typeface="Arial"/>
                <a:cs typeface="Arial"/>
              </a:rPr>
              <a:t> (AP) both Hands(Ball Catcher)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patient may seat facing the table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Both forearms are </a:t>
            </a:r>
            <a:r>
              <a:rPr lang="en-US" dirty="0" err="1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supinated</a:t>
            </a:r>
            <a:r>
              <a:rPr lang="en-US" dirty="0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and placed on the table with the dorsal surface of the hands in contact with the cassette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From this position, both hands are rotated medially 45 degree into a Ball-catching position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fingers and thumb are </a:t>
            </a:r>
            <a:r>
              <a:rPr lang="en-US" dirty="0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separated</a:t>
            </a:r>
            <a:endParaRPr lang="en-US" dirty="0" smtClean="0"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Immobilized the lower forearms with sandbag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Place anatomical marker and collimate beam, and apply protection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500">
                <a:solidFill>
                  <a:srgbClr val="243B53"/>
                </a:solidFill>
                <a:latin typeface="Arial"/>
                <a:ea typeface="Arial"/>
                <a:cs typeface="Arial"/>
              </a:rPr>
              <a:t>DCR: Vertical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500">
                <a:solidFill>
                  <a:srgbClr val="243B53"/>
                </a:solidFill>
                <a:latin typeface="Arial"/>
                <a:ea typeface="Arial"/>
                <a:cs typeface="Arial"/>
              </a:rPr>
              <a:t>CP: </a:t>
            </a:r>
            <a:r>
              <a:rPr lang="en-US" dirty="0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 point midway between the hands at the level of the FIFTH </a:t>
            </a:r>
            <a:r>
              <a:rPr lang="en-US" dirty="0" err="1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metacarpophalangeal</a:t>
            </a:r>
            <a:r>
              <a:rPr lang="en-US" dirty="0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joint.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82930"/>
            <a:ext cx="8138160" cy="5589270"/>
          </a:xfrm>
          <a:prstGeom prst="rect">
            <a:avLst/>
          </a:prstGeom>
          <a:noFill/>
        </p:spPr>
        <p:txBody>
          <a:bodyPr wrap="square" rtlCol="0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q"/>
              <a:defRPr sz="14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1" dirty="0" smtClean="0" sz="1450">
                <a:solidFill>
                  <a:srgbClr val="243B53"/>
                </a:solidFill>
                <a:latin typeface="Arial"/>
                <a:ea typeface="Arial"/>
                <a:cs typeface="Arial"/>
              </a:rPr>
              <a:t>WRIST</a:t>
            </a:r>
            <a:endParaRPr sz="14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Ø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400">
                <a:solidFill>
                  <a:srgbClr val="243B53"/>
                </a:solidFill>
                <a:latin typeface="Arial"/>
                <a:ea typeface="Arial"/>
                <a:cs typeface="Arial"/>
              </a:rPr>
              <a:t>Projections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err="1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Posteroanterior</a:t>
            </a:r>
            <a:r>
              <a:rPr lang="en-US" dirty="0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(PA)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Lateral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PA </a:t>
            </a:r>
            <a:r>
              <a:rPr lang="en-US" dirty="0" err="1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Ulnar</a:t>
            </a:r>
            <a:r>
              <a:rPr lang="en-US" dirty="0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deviation for </a:t>
            </a:r>
            <a:r>
              <a:rPr lang="en-US" dirty="0" err="1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Scaphod</a:t>
            </a:r>
            <a:endParaRPr lang="en-US" dirty="0" smtClean="0"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err="1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Superoinferior</a:t>
            </a:r>
            <a:r>
              <a:rPr lang="en-US" dirty="0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(axial) projection for carpal tunnel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400">
                <a:solidFill>
                  <a:srgbClr val="243B53"/>
                </a:solidFill>
                <a:latin typeface="Arial"/>
                <a:ea typeface="Arial"/>
                <a:cs typeface="Arial"/>
              </a:rPr>
              <a:t>Patient’s Positioning for PA 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Seat patient alongside the X-ray couch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Rest palm, wrist and lower forearm in a straight line on film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Place small pad under </a:t>
            </a:r>
            <a:r>
              <a:rPr lang="en-US" dirty="0" err="1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metacarpophalangeal</a:t>
            </a:r>
            <a:r>
              <a:rPr lang="en-US" dirty="0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joints of hand to maintain wrist in close contact with film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Immobilize the wrist and forearm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Place anatomical marker(R or L)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Collimate beam and apply protection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400">
                <a:solidFill>
                  <a:srgbClr val="243B53"/>
                </a:solidFill>
                <a:latin typeface="Arial"/>
                <a:ea typeface="Arial"/>
                <a:cs typeface="Arial"/>
              </a:rPr>
              <a:t>DCR</a:t>
            </a:r>
            <a:r>
              <a:rPr lang="en-US" dirty="0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: Vertical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400">
                <a:solidFill>
                  <a:srgbClr val="243B53"/>
                </a:solidFill>
                <a:latin typeface="Arial"/>
                <a:ea typeface="Arial"/>
                <a:cs typeface="Arial"/>
              </a:rPr>
              <a:t>CP</a:t>
            </a:r>
            <a:r>
              <a:rPr lang="en-US" dirty="0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: Midway between the </a:t>
            </a:r>
            <a:r>
              <a:rPr lang="en-US" dirty="0" err="1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ulnar</a:t>
            </a:r>
            <a:r>
              <a:rPr lang="en-US" dirty="0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and radial </a:t>
            </a:r>
            <a:r>
              <a:rPr lang="en-US" dirty="0" err="1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styloid</a:t>
            </a:r>
            <a:r>
              <a:rPr lang="en-US" dirty="0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processes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400">
                <a:solidFill>
                  <a:srgbClr val="243B53"/>
                </a:solidFill>
                <a:latin typeface="Arial"/>
                <a:ea typeface="Arial"/>
                <a:cs typeface="Arial"/>
              </a:rPr>
              <a:t>Cassette Size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4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24x30cm or 24x18cm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400">
                <a:solidFill>
                  <a:srgbClr val="243B53"/>
                </a:solidFill>
                <a:latin typeface="Arial"/>
                <a:ea typeface="Arial"/>
                <a:cs typeface="Arial"/>
              </a:rPr>
              <a:t>Exposure factors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4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err="1" smtClean="0" sz="1400">
                <a:solidFill>
                  <a:srgbClr val="243B53"/>
                </a:solidFill>
                <a:latin typeface="Arial"/>
                <a:ea typeface="Arial"/>
                <a:cs typeface="Arial"/>
              </a:rPr>
              <a:t>Kvp</a:t>
            </a:r>
            <a:r>
              <a:rPr lang="en-US" b="0" dirty="0" smtClean="0" sz="1400">
                <a:solidFill>
                  <a:srgbClr val="243B53"/>
                </a:solidFill>
                <a:latin typeface="Arial"/>
                <a:ea typeface="Arial"/>
                <a:cs typeface="Arial"/>
              </a:rPr>
              <a:t>: 50-60, mAs:3-5 and FFD: 100cm</a:t>
            </a:r>
            <a:endParaRPr sz="14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b="0" dirty="0" sz="10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82930"/>
            <a:ext cx="8138160" cy="5589270"/>
          </a:xfrm>
          <a:prstGeom prst="rect">
            <a:avLst/>
          </a:prstGeom>
          <a:noFill/>
        </p:spPr>
        <p:txBody>
          <a:bodyPr wrap="square" rtlCol="0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900">
                <a:solidFill>
                  <a:srgbClr val="243B53"/>
                </a:solidFill>
                <a:latin typeface="Arial"/>
                <a:ea typeface="Arial"/>
                <a:cs typeface="Arial"/>
              </a:rPr>
              <a:t>Patient’s Positioning for Lateral Wrist Joint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9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Seat patient alongside the X-ray couch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9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Extend hand, wrist and  forearm in a straight line on film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9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Rotate the forearm into the lateral position and rest the 5</a:t>
            </a:r>
            <a:r>
              <a:rPr lang="en-US" baseline="30000" dirty="0" smtClean="0" sz="19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</a:t>
            </a:r>
            <a:r>
              <a:rPr lang="en-US" dirty="0" smtClean="0" sz="19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finger and medial aspect of the hand and lower forearm in a straight line on film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9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Ensure </a:t>
            </a:r>
            <a:r>
              <a:rPr lang="en-US" dirty="0" err="1" smtClean="0" sz="19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ulnar</a:t>
            </a:r>
            <a:r>
              <a:rPr lang="en-US" dirty="0" smtClean="0" sz="19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and radial </a:t>
            </a:r>
            <a:r>
              <a:rPr lang="en-US" dirty="0" err="1" smtClean="0" sz="19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styloid</a:t>
            </a:r>
            <a:r>
              <a:rPr lang="en-US" dirty="0" smtClean="0" sz="19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processes are superimposed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9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Immobilize the forearm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9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Place anatomical marker(R or L)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9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Collimate beam and apply protection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900">
                <a:solidFill>
                  <a:srgbClr val="243B53"/>
                </a:solidFill>
                <a:latin typeface="Arial"/>
                <a:ea typeface="Arial"/>
                <a:cs typeface="Arial"/>
              </a:rPr>
              <a:t>DCR</a:t>
            </a:r>
            <a:r>
              <a:rPr lang="en-US" dirty="0" smtClean="0" sz="19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: Vertical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900">
                <a:solidFill>
                  <a:srgbClr val="243B53"/>
                </a:solidFill>
                <a:latin typeface="Arial"/>
                <a:ea typeface="Arial"/>
                <a:cs typeface="Arial"/>
              </a:rPr>
              <a:t>CP</a:t>
            </a:r>
            <a:r>
              <a:rPr lang="en-US" dirty="0" smtClean="0" sz="19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:  </a:t>
            </a:r>
            <a:r>
              <a:rPr lang="en-US" dirty="0" sz="19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</a:t>
            </a:r>
            <a:r>
              <a:rPr lang="en-US" dirty="0" smtClean="0" sz="19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adial </a:t>
            </a:r>
            <a:r>
              <a:rPr lang="en-US" dirty="0" err="1" smtClean="0" sz="19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styloid</a:t>
            </a:r>
            <a:r>
              <a:rPr lang="en-US" dirty="0" smtClean="0" sz="19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processes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900">
                <a:solidFill>
                  <a:srgbClr val="243B53"/>
                </a:solidFill>
                <a:latin typeface="Arial"/>
                <a:ea typeface="Arial"/>
                <a:cs typeface="Arial"/>
              </a:rPr>
              <a:t>Cassette Size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9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24x30cm or 24x18cm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900">
                <a:solidFill>
                  <a:srgbClr val="243B53"/>
                </a:solidFill>
                <a:latin typeface="Arial"/>
                <a:ea typeface="Arial"/>
                <a:cs typeface="Arial"/>
              </a:rPr>
              <a:t>Exposure factors</a:t>
            </a:r>
            <a:endParaRPr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9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err="1" smtClean="0" sz="1900">
                <a:solidFill>
                  <a:srgbClr val="243B53"/>
                </a:solidFill>
                <a:latin typeface="Arial"/>
                <a:ea typeface="Arial"/>
                <a:cs typeface="Arial"/>
              </a:rPr>
              <a:t>Kvp</a:t>
            </a:r>
            <a:r>
              <a:rPr lang="en-US" b="0" dirty="0" smtClean="0" sz="1900">
                <a:solidFill>
                  <a:srgbClr val="243B53"/>
                </a:solidFill>
                <a:latin typeface="Arial"/>
                <a:ea typeface="Arial"/>
                <a:cs typeface="Arial"/>
              </a:rPr>
              <a:t>: 55-65, mAs:3-5 and FFD: 100cm</a:t>
            </a:r>
            <a:endParaRPr lang="en-US" dirty="0" sz="19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82930"/>
            <a:ext cx="8138160" cy="5589270"/>
          </a:xfrm>
          <a:prstGeom prst="rect">
            <a:avLst/>
          </a:prstGeom>
          <a:noFill/>
        </p:spPr>
        <p:txBody>
          <a:bodyPr wrap="square" rtlCol="0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800">
                <a:solidFill>
                  <a:srgbClr val="243B53"/>
                </a:solidFill>
                <a:latin typeface="Arial"/>
                <a:ea typeface="Arial"/>
                <a:cs typeface="Arial"/>
              </a:rPr>
              <a:t>Patient’s Positioning for PA </a:t>
            </a:r>
            <a:r>
              <a:rPr lang="en-US" b="0" dirty="0" err="1" smtClean="0" sz="1800">
                <a:solidFill>
                  <a:srgbClr val="243B53"/>
                </a:solidFill>
                <a:latin typeface="Arial"/>
                <a:ea typeface="Arial"/>
                <a:cs typeface="Arial"/>
              </a:rPr>
              <a:t>Ulnar</a:t>
            </a:r>
            <a:r>
              <a:rPr lang="en-US" b="0" dirty="0" smtClean="0" sz="1800">
                <a:solidFill>
                  <a:srgbClr val="243B53"/>
                </a:solidFill>
                <a:latin typeface="Arial"/>
                <a:ea typeface="Arial"/>
                <a:cs typeface="Arial"/>
              </a:rPr>
              <a:t> deviation for </a:t>
            </a:r>
            <a:r>
              <a:rPr lang="en-US" b="0" dirty="0" err="1" smtClean="0" sz="1800">
                <a:solidFill>
                  <a:srgbClr val="243B53"/>
                </a:solidFill>
                <a:latin typeface="Arial"/>
                <a:ea typeface="Arial"/>
                <a:cs typeface="Arial"/>
              </a:rPr>
              <a:t>Scaphoid</a:t>
            </a:r>
            <a:endParaRPr lang="en-US" b="0" dirty="0" smtClean="0" sz="180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Seat patient alongside the X-ray couch</a:t>
            </a:r>
            <a:endParaRPr sz="18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Rest palm, wrist and lower forearm on the film with </a:t>
            </a:r>
            <a:r>
              <a:rPr lang="en-US" dirty="0" err="1" smtClean="0"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ulnar</a:t>
            </a:r>
            <a:r>
              <a:rPr lang="en-US" dirty="0" smtClean="0"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deviation of hand</a:t>
            </a:r>
            <a:endParaRPr sz="18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Ensure </a:t>
            </a:r>
            <a:r>
              <a:rPr lang="en-US" dirty="0" err="1" smtClean="0"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ulnar</a:t>
            </a:r>
            <a:r>
              <a:rPr lang="en-US" dirty="0" smtClean="0"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and radial </a:t>
            </a:r>
            <a:r>
              <a:rPr lang="en-US" dirty="0" err="1" smtClean="0"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styloid</a:t>
            </a:r>
            <a:r>
              <a:rPr lang="en-US" dirty="0" smtClean="0"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processes are equidistant</a:t>
            </a:r>
            <a:endParaRPr sz="18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Immobilize the forearm</a:t>
            </a:r>
            <a:endParaRPr sz="18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Place anatomical marker(R or L)</a:t>
            </a:r>
            <a:endParaRPr sz="18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Collimate beam and apply protection</a:t>
            </a:r>
            <a:endParaRPr sz="18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800">
                <a:solidFill>
                  <a:srgbClr val="243B53"/>
                </a:solidFill>
                <a:latin typeface="Arial"/>
                <a:ea typeface="Arial"/>
                <a:cs typeface="Arial"/>
              </a:rPr>
              <a:t>DCR</a:t>
            </a:r>
            <a:r>
              <a:rPr lang="en-US" dirty="0" smtClean="0"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: Vertical</a:t>
            </a:r>
            <a:endParaRPr sz="18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800">
                <a:solidFill>
                  <a:srgbClr val="243B53"/>
                </a:solidFill>
                <a:latin typeface="Arial"/>
                <a:ea typeface="Arial"/>
                <a:cs typeface="Arial"/>
              </a:rPr>
              <a:t>CP</a:t>
            </a:r>
            <a:r>
              <a:rPr lang="en-US" dirty="0" smtClean="0"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: Midway between the </a:t>
            </a:r>
            <a:r>
              <a:rPr lang="en-US" dirty="0" err="1" smtClean="0"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ulnar</a:t>
            </a:r>
            <a:r>
              <a:rPr lang="en-US" dirty="0" smtClean="0"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and radial </a:t>
            </a:r>
            <a:r>
              <a:rPr lang="en-US" dirty="0" err="1" smtClean="0"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styloid</a:t>
            </a:r>
            <a:r>
              <a:rPr lang="en-US" dirty="0" smtClean="0"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processes</a:t>
            </a:r>
            <a:endParaRPr sz="18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800">
                <a:solidFill>
                  <a:srgbClr val="243B53"/>
                </a:solidFill>
                <a:latin typeface="Arial"/>
                <a:ea typeface="Arial"/>
                <a:cs typeface="Arial"/>
              </a:rPr>
              <a:t>Cassette Size</a:t>
            </a:r>
            <a:endParaRPr sz="18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24x30cm or 24x18cm</a:t>
            </a:r>
            <a:endParaRPr sz="18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800">
                <a:solidFill>
                  <a:srgbClr val="243B53"/>
                </a:solidFill>
                <a:latin typeface="Arial"/>
                <a:ea typeface="Arial"/>
                <a:cs typeface="Arial"/>
              </a:rPr>
              <a:t>Exposure factors</a:t>
            </a:r>
            <a:endParaRPr sz="18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err="1" smtClean="0" sz="1800">
                <a:solidFill>
                  <a:srgbClr val="243B53"/>
                </a:solidFill>
                <a:latin typeface="Arial"/>
                <a:ea typeface="Arial"/>
                <a:cs typeface="Arial"/>
              </a:rPr>
              <a:t>Kvp</a:t>
            </a:r>
            <a:r>
              <a:rPr lang="en-US" b="0" dirty="0" smtClean="0" sz="1800">
                <a:solidFill>
                  <a:srgbClr val="243B53"/>
                </a:solidFill>
                <a:latin typeface="Arial"/>
                <a:ea typeface="Arial"/>
                <a:cs typeface="Arial"/>
              </a:rPr>
              <a:t>: 50-60, mAs:3-5 and FFD: 100cm</a:t>
            </a:r>
            <a:endParaRPr sz="18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8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800">
                <a:solidFill>
                  <a:srgbClr val="243B53"/>
                </a:solidFill>
                <a:latin typeface="Arial"/>
                <a:ea typeface="Arial"/>
                <a:cs typeface="Arial"/>
              </a:rPr>
              <a:t>NOTE</a:t>
            </a:r>
            <a:r>
              <a:rPr lang="en-US" dirty="0" smtClean="0"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: It is important to examine the patient again at least 14 days after the initial examination to properly demonstrates fracture </a:t>
            </a:r>
            <a:r>
              <a:rPr lang="en-US" dirty="0" err="1" smtClean="0"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scaphoid</a:t>
            </a:r>
            <a:r>
              <a:rPr lang="en-US" dirty="0" smtClean="0"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dirty="0" err="1" smtClean="0"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radiographically</a:t>
            </a:r>
            <a:r>
              <a:rPr lang="en-US" dirty="0" smtClean="0" sz="18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.</a:t>
            </a:r>
            <a:endParaRPr sz="18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582930"/>
            <a:ext cx="8138160" cy="5589270"/>
          </a:xfrm>
          <a:prstGeom prst="rect">
            <a:avLst/>
          </a:prstGeom>
          <a:noFill/>
        </p:spPr>
        <p:txBody>
          <a:bodyPr wrap="square" rtlCol="0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350">
                <a:solidFill>
                  <a:srgbClr val="243B53"/>
                </a:solidFill>
                <a:latin typeface="Arial"/>
                <a:ea typeface="Arial"/>
                <a:cs typeface="Arial"/>
              </a:rPr>
              <a:t>Patient’s Positioning for </a:t>
            </a:r>
            <a:r>
              <a:rPr lang="en-US" b="0" dirty="0" err="1" smtClean="0" sz="1350">
                <a:solidFill>
                  <a:srgbClr val="243B53"/>
                </a:solidFill>
                <a:latin typeface="Arial"/>
                <a:ea typeface="Arial"/>
                <a:cs typeface="Arial"/>
              </a:rPr>
              <a:t>Superoinferior</a:t>
            </a:r>
            <a:r>
              <a:rPr lang="en-US" b="0" dirty="0" smtClean="0" sz="1350">
                <a:solidFill>
                  <a:srgbClr val="243B53"/>
                </a:solidFill>
                <a:latin typeface="Arial"/>
                <a:ea typeface="Arial"/>
                <a:cs typeface="Arial"/>
              </a:rPr>
              <a:t> (Axial) projection for carpal tunnel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3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Stand the patient with the back to the X-ray table and extend arm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3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Flex elbow and wrist, and with the fingers and thumb well separated press the hand palm down on to a film near the edge of the couch.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3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Ensure that the carpal region is in profile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3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Immobilize the hand with a foam pad if necessary 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3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Place anatomical marker(R or L)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3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Collimate beam and apply protection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35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DCR</a:t>
            </a:r>
            <a:r>
              <a:rPr lang="en-US" sz="13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: Vertical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35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CP: </a:t>
            </a:r>
            <a:r>
              <a:rPr lang="en-US" sz="1350" dirty="0" err="1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Midcarpal</a:t>
            </a:r>
            <a:r>
              <a:rPr lang="en-US" sz="13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region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35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Cassette size: </a:t>
            </a:r>
            <a:r>
              <a:rPr lang="en-US" sz="13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24x18cm</a:t>
            </a:r>
            <a:endParaRPr lang="en-US" sz="1350" dirty="0" b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q"/>
              <a:defRPr sz="140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400" b="1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FOREARM</a:t>
            </a:r>
            <a:endParaRPr sz="140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Ø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350" b="0" dirty="0" smtClean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Projections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350" dirty="0" err="1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Anteroposterior</a:t>
            </a:r>
            <a:r>
              <a:rPr lang="en-US" sz="13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(AP)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3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Lateral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350" b="0" dirty="0" smtClean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Patient’s Positioning for AP Forearm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350" dirty="0" smtClean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Seat the patient alongside the X-ray couch with shoulder at the couch level.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350" dirty="0" smtClean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Place forearm fully </a:t>
            </a:r>
            <a:r>
              <a:rPr lang="en-US" sz="1350" dirty="0" err="1" smtClean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supinated</a:t>
            </a:r>
            <a:r>
              <a:rPr lang="en-US" sz="1350" dirty="0" smtClean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with elbow extended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350" dirty="0" smtClean="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Include wrist and elbow if possible using long cassette size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3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Place anatomical marker(R or L)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sz="1350" dirty="0" smtClean="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Collimate beam and apply protection</a:t>
            </a:r>
            <a:endParaRPr sz="13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dirty="0" smtClean="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sz="100" b="0" dirty="0" smtClean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582930"/>
            <a:ext cx="8138160" cy="5589270"/>
          </a:xfrm>
          <a:prstGeom prst="rect">
            <a:avLst/>
          </a:prstGeom>
          <a:noFill/>
        </p:spPr>
        <p:txBody>
          <a:bodyPr wrap="square" rtlCol="0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3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300">
                <a:solidFill>
                  <a:srgbClr val="243B53"/>
                </a:solidFill>
                <a:latin typeface="Arial"/>
                <a:ea typeface="Arial"/>
                <a:cs typeface="Arial"/>
              </a:rPr>
              <a:t>DCR</a:t>
            </a:r>
            <a:r>
              <a:rPr lang="en-US" dirty="0" smtClean="0" sz="13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: Vertical</a:t>
            </a:r>
            <a:endParaRPr sz="13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3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300">
                <a:solidFill>
                  <a:srgbClr val="243B53"/>
                </a:solidFill>
                <a:latin typeface="Arial"/>
                <a:ea typeface="Arial"/>
                <a:cs typeface="Arial"/>
              </a:rPr>
              <a:t>CP</a:t>
            </a:r>
            <a:r>
              <a:rPr lang="en-US" dirty="0" smtClean="0" sz="13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: Anterior aspect of the middle of the forearm, midway between the wrist and elbow joints.</a:t>
            </a:r>
            <a:endParaRPr sz="13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3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300">
                <a:solidFill>
                  <a:srgbClr val="243B53"/>
                </a:solidFill>
                <a:latin typeface="Arial"/>
                <a:ea typeface="Arial"/>
                <a:cs typeface="Arial"/>
              </a:rPr>
              <a:t>Cassette Size</a:t>
            </a:r>
            <a:endParaRPr sz="13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3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43x35cm(17x14inch) or 35x35cm(14x14inch)</a:t>
            </a:r>
            <a:endParaRPr sz="13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3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300">
                <a:solidFill>
                  <a:srgbClr val="243B53"/>
                </a:solidFill>
                <a:latin typeface="Arial"/>
                <a:ea typeface="Arial"/>
                <a:cs typeface="Arial"/>
              </a:rPr>
              <a:t>Exposure factors</a:t>
            </a:r>
            <a:endParaRPr sz="13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300">
                <a:solidFill>
                  <a:srgbClr val="243B53"/>
                </a:solidFill>
                <a:latin typeface="Arial"/>
                <a:ea typeface="Arial"/>
                <a:cs typeface="Arial"/>
              </a:rPr>
              <a:t>Kvp: 50-60, mAs:3-5 and FFD: 100cm</a:t>
            </a:r>
            <a:endParaRPr sz="13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b="0" dirty="0" sz="10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3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300">
                <a:solidFill>
                  <a:srgbClr val="243B53"/>
                </a:solidFill>
                <a:latin typeface="Arial"/>
                <a:ea typeface="Arial"/>
                <a:cs typeface="Arial"/>
              </a:rPr>
              <a:t>Patient’s Positioning for Lateral Forearm</a:t>
            </a:r>
            <a:endParaRPr sz="13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3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Seat the patient alongside the X-ray couch </a:t>
            </a:r>
            <a:endParaRPr sz="13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3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Lower shoulder of affected side to same level as forearm.</a:t>
            </a:r>
            <a:endParaRPr sz="13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3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Flex elbow at 90 degrees</a:t>
            </a:r>
            <a:endParaRPr sz="13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3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Place medial border of forearm on film.</a:t>
            </a:r>
            <a:endParaRPr sz="13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3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Include wrist and elbow if possible using long cassette size</a:t>
            </a:r>
            <a:endParaRPr sz="13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3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Place anatomical marker(R or L)</a:t>
            </a:r>
            <a:endParaRPr sz="13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3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Immobilize hand with sandbag</a:t>
            </a:r>
            <a:endParaRPr sz="13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3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Collimate beam and apply protection</a:t>
            </a:r>
            <a:endParaRPr sz="13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30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DCR</a:t>
            </a:r>
            <a:r>
              <a:rPr lang="en-US" dirty="0" smtClean="0" sz="13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: </a:t>
            </a:r>
            <a:r>
              <a:rPr lang="en-US" dirty="0" smtClean="0" sz="13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Vertical</a:t>
            </a:r>
            <a:endParaRPr lang="en-US" dirty="0" smtClean="0" sz="1300" b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30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CP</a:t>
            </a:r>
            <a:r>
              <a:rPr lang="en-US" dirty="0" smtClean="0" sz="13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: Lateral aspect of the forearm, midway between wrist and elbow joints </a:t>
            </a:r>
            <a:endParaRPr sz="13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3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300">
                <a:solidFill>
                  <a:srgbClr val="243B53"/>
                </a:solidFill>
                <a:latin typeface="Arial"/>
                <a:ea typeface="Arial"/>
                <a:cs typeface="Arial"/>
              </a:rPr>
              <a:t>Cassette Size</a:t>
            </a:r>
            <a:endParaRPr sz="13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3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43x35cm(17x14inch) or 35x35cm(14x14inch)</a:t>
            </a:r>
            <a:endParaRPr sz="13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3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300">
                <a:solidFill>
                  <a:srgbClr val="243B53"/>
                </a:solidFill>
                <a:latin typeface="Arial"/>
                <a:ea typeface="Arial"/>
                <a:cs typeface="Arial"/>
              </a:rPr>
              <a:t>Exposure factors</a:t>
            </a:r>
            <a:endParaRPr sz="13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3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err="1" smtClean="0" sz="1300">
                <a:solidFill>
                  <a:srgbClr val="243B53"/>
                </a:solidFill>
                <a:latin typeface="Arial"/>
                <a:ea typeface="Arial"/>
                <a:cs typeface="Arial"/>
              </a:rPr>
              <a:t>Kvp</a:t>
            </a:r>
            <a:r>
              <a:rPr lang="en-US" b="0" dirty="0" smtClean="0" sz="1300">
                <a:solidFill>
                  <a:srgbClr val="243B53"/>
                </a:solidFill>
                <a:latin typeface="Arial"/>
                <a:ea typeface="Arial"/>
                <a:cs typeface="Arial"/>
              </a:rPr>
              <a:t>: 55-65, mAs:3-5 and FFD: 100cm</a:t>
            </a:r>
            <a:endParaRPr sz="13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mtClean="0" sz="100" b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b="0" dirty="0" smtClean="0" sz="10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82930"/>
            <a:ext cx="8138160" cy="5589270"/>
          </a:xfrm>
          <a:prstGeom prst="rect">
            <a:avLst/>
          </a:prstGeom>
          <a:noFill/>
        </p:spPr>
        <p:txBody>
          <a:bodyPr wrap="square" rtlCol="0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q"/>
              <a:defRPr sz="15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1" dirty="0" smtClean="0" sz="15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ELBOW JOINT</a:t>
            </a:r>
            <a:endParaRPr sz="15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Ø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50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Projections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err="1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Anteroposterior</a:t>
            </a:r>
            <a:r>
              <a:rPr lang="en-US" dirty="0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(AP)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Lateral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Axial </a:t>
            </a:r>
            <a:endParaRPr lang="en-US" dirty="0" smtClean="0" sz="1500" b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500">
                <a:solidFill>
                  <a:srgbClr val="243B53"/>
                </a:solidFill>
                <a:latin typeface="Arial"/>
                <a:ea typeface="Arial"/>
                <a:cs typeface="Arial"/>
              </a:rPr>
              <a:t>Patient’s Positioning for AP Elbow Joint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Seat the patient alongside the X-ray couch with shoulder at the couch level.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Place forearm fully </a:t>
            </a:r>
            <a:r>
              <a:rPr lang="en-US" dirty="0" err="1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supinated</a:t>
            </a:r>
            <a:r>
              <a:rPr lang="en-US" dirty="0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with elbow extended on a film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Ensure that the patients’ thumb is touching the couch top if possible.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Place anatomical marker(R or L)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Immobilize the hand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Collimate beam and apply protection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50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DCR: </a:t>
            </a:r>
            <a:r>
              <a:rPr lang="en-US" dirty="0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Vertical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CP: In the midline 2.5cm distal to a line joining the lateral and medial </a:t>
            </a:r>
            <a:r>
              <a:rPr lang="en-US" dirty="0" err="1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epicondyles</a:t>
            </a:r>
            <a:r>
              <a:rPr lang="en-US" dirty="0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of the </a:t>
            </a:r>
            <a:r>
              <a:rPr lang="en-US" dirty="0" err="1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humerus</a:t>
            </a:r>
            <a:endParaRPr lang="en-US" dirty="0" smtClean="0" sz="1500" b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500">
                <a:solidFill>
                  <a:srgbClr val="243B53"/>
                </a:solidFill>
                <a:latin typeface="Arial"/>
                <a:ea typeface="Arial"/>
                <a:cs typeface="Arial"/>
              </a:rPr>
              <a:t>Cassette Size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24x18cm(10x8inch) or 30x24cm(12x10inch)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500">
                <a:solidFill>
                  <a:srgbClr val="243B53"/>
                </a:solidFill>
                <a:latin typeface="Arial"/>
                <a:ea typeface="Arial"/>
                <a:cs typeface="Arial"/>
              </a:rPr>
              <a:t>Exposure factors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err="1" smtClean="0" sz="1500">
                <a:solidFill>
                  <a:srgbClr val="243B53"/>
                </a:solidFill>
                <a:latin typeface="Arial"/>
                <a:ea typeface="Arial"/>
                <a:cs typeface="Arial"/>
              </a:rPr>
              <a:t>Kvp</a:t>
            </a:r>
            <a:r>
              <a:rPr lang="en-US" b="0" dirty="0" smtClean="0" sz="1500">
                <a:solidFill>
                  <a:srgbClr val="243B53"/>
                </a:solidFill>
                <a:latin typeface="Arial"/>
                <a:ea typeface="Arial"/>
                <a:cs typeface="Arial"/>
              </a:rPr>
              <a:t>: </a:t>
            </a:r>
            <a:r>
              <a:rPr lang="en-US" dirty="0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55-65, mAs:3-5 and FFD: 100cm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582930"/>
            <a:ext cx="8138160" cy="5589270"/>
          </a:xfrm>
          <a:prstGeom prst="rect">
            <a:avLst/>
          </a:prstGeom>
          <a:noFill/>
        </p:spPr>
        <p:txBody>
          <a:bodyPr wrap="square" rtlCol="0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2000">
                <a:solidFill>
                  <a:srgbClr val="243B53"/>
                </a:solidFill>
                <a:latin typeface="Arial"/>
                <a:ea typeface="Arial"/>
                <a:cs typeface="Arial"/>
              </a:rPr>
              <a:t>Patient’s Positioning for Lateral Elbow Joint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20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Seat the patient alongside the X-ray couch with shoulder, elbow and hand at the same level.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20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Flex elbow 90 degrees and rotate forearm into true lateral position with thumb uppermost.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20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Rest medial border of elbow on film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20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Place anatomical marker(R or L)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20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Immobilize the hand and wrist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20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Collimate beam and apply protection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200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DCR: </a:t>
            </a:r>
            <a:r>
              <a:rPr lang="en-US" dirty="0" smtClean="0" sz="20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Vertical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200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CP: </a:t>
            </a:r>
            <a:r>
              <a:rPr lang="en-US" dirty="0" smtClean="0" sz="20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Lateral </a:t>
            </a:r>
            <a:r>
              <a:rPr lang="en-US" dirty="0" err="1" smtClean="0" sz="20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epicondyle</a:t>
            </a:r>
            <a:r>
              <a:rPr lang="en-US" dirty="0" smtClean="0" sz="20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of the </a:t>
            </a:r>
            <a:r>
              <a:rPr lang="en-US" dirty="0" err="1" smtClean="0" sz="20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humerus</a:t>
            </a:r>
            <a:endParaRPr lang="en-US" dirty="0" smtClean="0" sz="2000" b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2000">
                <a:solidFill>
                  <a:srgbClr val="243B53"/>
                </a:solidFill>
                <a:latin typeface="Arial"/>
                <a:ea typeface="Arial"/>
                <a:cs typeface="Arial"/>
              </a:rPr>
              <a:t>Cassette Size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20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24x18cm(10x8inch) or 30x24cm(12x10inch)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2000">
                <a:solidFill>
                  <a:srgbClr val="243B53"/>
                </a:solidFill>
                <a:latin typeface="Arial"/>
                <a:ea typeface="Arial"/>
                <a:cs typeface="Arial"/>
              </a:rPr>
              <a:t>Exposure factors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20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err="1" smtClean="0" sz="2000">
                <a:solidFill>
                  <a:srgbClr val="243B53"/>
                </a:solidFill>
                <a:latin typeface="Arial"/>
                <a:ea typeface="Arial"/>
                <a:cs typeface="Arial"/>
              </a:rPr>
              <a:t>Kvp</a:t>
            </a:r>
            <a:r>
              <a:rPr lang="en-US" b="0" dirty="0" smtClean="0" sz="2000">
                <a:solidFill>
                  <a:srgbClr val="243B53"/>
                </a:solidFill>
                <a:latin typeface="Arial"/>
                <a:ea typeface="Arial"/>
                <a:cs typeface="Arial"/>
              </a:rPr>
              <a:t>: </a:t>
            </a:r>
            <a:r>
              <a:rPr lang="en-US" dirty="0" smtClean="0" sz="20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55-65, mAs:3-5 and FFD: 100cm</a:t>
            </a:r>
            <a:endParaRPr sz="20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82930"/>
            <a:ext cx="8138160" cy="5589270"/>
          </a:xfrm>
          <a:prstGeom prst="rect">
            <a:avLst/>
          </a:prstGeom>
          <a:noFill/>
        </p:spPr>
        <p:txBody>
          <a:bodyPr wrap="square" rtlCol="0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650">
                <a:solidFill>
                  <a:srgbClr val="243B53"/>
                </a:solidFill>
                <a:latin typeface="Arial"/>
                <a:ea typeface="Arial"/>
                <a:cs typeface="Arial"/>
              </a:rPr>
              <a:t>Patient’s Positioning for Axial Elbow Joint</a:t>
            </a:r>
            <a:endParaRPr sz="16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Seat the patient alongside the X-ray couch with shoulder at the same level.</a:t>
            </a:r>
            <a:endParaRPr sz="16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Flex elbow so that the hand is in contact with the shoulder</a:t>
            </a:r>
            <a:endParaRPr sz="16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Rest  elbow on film with upper arm at couch level</a:t>
            </a:r>
            <a:endParaRPr sz="16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6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Place anatomical marker(R or L)</a:t>
            </a:r>
            <a:endParaRPr sz="16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6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Immobilize the hand and wrist</a:t>
            </a:r>
            <a:endParaRPr sz="16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6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Collimate beam and apply protection</a:t>
            </a:r>
            <a:endParaRPr sz="16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6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DCR: </a:t>
            </a:r>
            <a:r>
              <a:rPr lang="en-US" dirty="0" smtClean="0" sz="16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Vertical or 30 degree towards the shoulder</a:t>
            </a:r>
            <a:endParaRPr sz="16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6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CP: </a:t>
            </a:r>
            <a:r>
              <a:rPr lang="en-US" dirty="0" smtClean="0" sz="16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In the midline 5cm distal to the </a:t>
            </a:r>
            <a:r>
              <a:rPr lang="en-US" dirty="0" err="1" smtClean="0" sz="16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oleranon</a:t>
            </a:r>
            <a:r>
              <a:rPr lang="en-US" dirty="0" smtClean="0" sz="16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process</a:t>
            </a:r>
            <a:endParaRPr sz="16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650">
                <a:solidFill>
                  <a:srgbClr val="243B53"/>
                </a:solidFill>
                <a:latin typeface="Arial"/>
                <a:ea typeface="Arial"/>
                <a:cs typeface="Arial"/>
              </a:rPr>
              <a:t>Cassette Size</a:t>
            </a:r>
            <a:endParaRPr sz="16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24x18cm(10x8inch) or 30x24cm(12x10inch)</a:t>
            </a:r>
            <a:endParaRPr sz="16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650">
                <a:solidFill>
                  <a:srgbClr val="243B53"/>
                </a:solidFill>
                <a:latin typeface="Arial"/>
                <a:ea typeface="Arial"/>
                <a:cs typeface="Arial"/>
              </a:rPr>
              <a:t>Exposure factors</a:t>
            </a:r>
            <a:endParaRPr sz="16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err="1" smtClean="0" sz="1650">
                <a:solidFill>
                  <a:srgbClr val="243B53"/>
                </a:solidFill>
                <a:latin typeface="Arial"/>
                <a:ea typeface="Arial"/>
                <a:cs typeface="Arial"/>
              </a:rPr>
              <a:t>Kvp</a:t>
            </a:r>
            <a:r>
              <a:rPr lang="en-US" b="0" dirty="0" smtClean="0" sz="1650">
                <a:solidFill>
                  <a:srgbClr val="243B53"/>
                </a:solidFill>
                <a:latin typeface="Arial"/>
                <a:ea typeface="Arial"/>
                <a:cs typeface="Arial"/>
              </a:rPr>
              <a:t>: </a:t>
            </a:r>
            <a:r>
              <a:rPr lang="en-US" dirty="0" smtClean="0"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55-65, mAs:3-5 and FFD: 100cm</a:t>
            </a:r>
            <a:endParaRPr sz="16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650">
                <a:solidFill>
                  <a:srgbClr val="243B53"/>
                </a:solidFill>
                <a:latin typeface="Arial"/>
                <a:ea typeface="Arial"/>
                <a:cs typeface="Arial"/>
              </a:rPr>
              <a:t>NOTE: </a:t>
            </a:r>
            <a:r>
              <a:rPr lang="en-US" dirty="0" smtClean="0"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choice of exposure factors depends on</a:t>
            </a:r>
            <a:endParaRPr sz="16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Anatomical structure</a:t>
            </a:r>
            <a:endParaRPr sz="16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Type of film material use</a:t>
            </a:r>
            <a:endParaRPr sz="16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6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65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Energy of the beam</a:t>
            </a:r>
            <a:endParaRPr sz="16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82930"/>
            <a:ext cx="8138160" cy="5589270"/>
          </a:xfrm>
          <a:prstGeom prst="rect">
            <a:avLst/>
          </a:prstGeom>
          <a:noFill/>
        </p:spPr>
        <p:txBody>
          <a:bodyPr wrap="square" rtlCol="0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q"/>
              <a:defRPr sz="15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1" dirty="0" smtClean="0" sz="15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ARM (HUMERUS)</a:t>
            </a:r>
            <a:endParaRPr sz="1550" b="1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Ø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50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Projections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err="1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Anteroposterior</a:t>
            </a:r>
            <a:r>
              <a:rPr lang="en-US" dirty="0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(AP)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Lateral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err="1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Inferiosuperior</a:t>
            </a:r>
            <a:r>
              <a:rPr lang="en-US" dirty="0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for surgical neck 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500">
                <a:solidFill>
                  <a:srgbClr val="243B53"/>
                </a:solidFill>
                <a:latin typeface="Arial"/>
                <a:ea typeface="Arial"/>
                <a:cs typeface="Arial"/>
              </a:rPr>
              <a:t>Patient’s Positioning for AP Elbow Joint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Stand or sit the patient facing towards the X-ray tube.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Rotate the body slightly towards affected side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Place the arm in the anatomical position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Rest the </a:t>
            </a:r>
            <a:r>
              <a:rPr lang="en-US" dirty="0" err="1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hmerus</a:t>
            </a:r>
            <a:r>
              <a:rPr lang="en-US" dirty="0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 against the film to include shoulder and elbow.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Place anatomical marker(R or L)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Collimate beam and apply protection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50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DCR: </a:t>
            </a:r>
            <a:r>
              <a:rPr lang="en-US" dirty="0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Horizontal or Vertical(If patient lying down supine)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50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CP: </a:t>
            </a:r>
            <a:r>
              <a:rPr lang="en-US" dirty="0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Anterior aspect of the </a:t>
            </a:r>
            <a:r>
              <a:rPr lang="en-US" dirty="0" err="1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humerus</a:t>
            </a:r>
            <a:r>
              <a:rPr lang="en-US" dirty="0" smtClean="0" sz="150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midway between the shoulder and elbow joints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500">
                <a:solidFill>
                  <a:srgbClr val="243B53"/>
                </a:solidFill>
                <a:latin typeface="Arial"/>
                <a:ea typeface="Arial"/>
                <a:cs typeface="Arial"/>
              </a:rPr>
              <a:t>Cassette Size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24x18cm(10x8inch) or 30x24cm(12x10inch), 43x35cm(17x14inch)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500">
                <a:solidFill>
                  <a:srgbClr val="243B53"/>
                </a:solidFill>
                <a:latin typeface="Arial"/>
                <a:ea typeface="Arial"/>
                <a:cs typeface="Arial"/>
              </a:rPr>
              <a:t>Exposure factors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err="1" smtClean="0" sz="1500">
                <a:solidFill>
                  <a:srgbClr val="243B53"/>
                </a:solidFill>
                <a:latin typeface="Arial"/>
                <a:ea typeface="Arial"/>
                <a:cs typeface="Arial"/>
              </a:rPr>
              <a:t>Kvp</a:t>
            </a:r>
            <a:r>
              <a:rPr lang="en-US" b="0" dirty="0" smtClean="0" sz="1500">
                <a:solidFill>
                  <a:srgbClr val="243B53"/>
                </a:solidFill>
                <a:latin typeface="Arial"/>
                <a:ea typeface="Arial"/>
                <a:cs typeface="Arial"/>
              </a:rPr>
              <a:t>: </a:t>
            </a:r>
            <a:r>
              <a:rPr lang="en-US" dirty="0" smtClean="0" sz="1500" b="0">
                <a:solidFill>
                  <a:srgbClr val="243B53"/>
                </a:solidFill>
                <a:latin typeface="Arial"/>
                <a:ea typeface="Arial"/>
                <a:cs typeface="Arial"/>
              </a:rPr>
              <a:t>55-70, mAs:10-12 and FFD: 100cm</a:t>
            </a:r>
            <a:endParaRPr sz="150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82930"/>
            <a:ext cx="8138160" cy="5589270"/>
          </a:xfrm>
          <a:prstGeom prst="rect">
            <a:avLst/>
          </a:prstGeom>
          <a:noFill/>
        </p:spPr>
        <p:txBody>
          <a:bodyPr wrap="square" rtlCol="0" anchor="t" lIns="0" rIns="0" tIns="0" bIns="0">
            <a:normAutofit fontScale="100000" lnSpcReduction="0"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2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2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Patient’s Positioning for Lateral Arm</a:t>
            </a:r>
            <a:endParaRPr sz="12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2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2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Stand or sit the patient facing towards the chest stand or upright cassette holder.</a:t>
            </a:r>
            <a:endParaRPr sz="12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2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2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Slightly  abduct and extend the arm and flex elbow</a:t>
            </a:r>
            <a:endParaRPr sz="12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2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2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Rotate trunk away from the affected side until lateral aspect of the </a:t>
            </a:r>
            <a:r>
              <a:rPr lang="en-US" dirty="0" err="1" smtClean="0" sz="12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humerus</a:t>
            </a:r>
            <a:r>
              <a:rPr lang="en-US" dirty="0" smtClean="0" sz="12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rest on the film</a:t>
            </a:r>
            <a:endParaRPr sz="12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2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2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Include shoulder and elbow.</a:t>
            </a:r>
            <a:endParaRPr sz="12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2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2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Place anatomical marker(R or L)</a:t>
            </a:r>
            <a:endParaRPr sz="12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2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2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Collimate beam and apply protection</a:t>
            </a:r>
            <a:endParaRPr sz="12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2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2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DCR: </a:t>
            </a:r>
            <a:r>
              <a:rPr lang="en-US" dirty="0" smtClean="0" sz="12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Horizontal or Vertical(If patient lying down supine)</a:t>
            </a:r>
            <a:endParaRPr sz="12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2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2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CP: </a:t>
            </a:r>
            <a:r>
              <a:rPr lang="en-US" dirty="0" smtClean="0" sz="12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Medial aspect of the </a:t>
            </a:r>
            <a:r>
              <a:rPr lang="en-US" dirty="0" err="1" smtClean="0" sz="12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humerus</a:t>
            </a:r>
            <a:r>
              <a:rPr lang="en-US" dirty="0" smtClean="0" sz="12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midway between the shoulder and elbow joints</a:t>
            </a:r>
            <a:endParaRPr sz="12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2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2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Cassette Size</a:t>
            </a:r>
            <a:endParaRPr sz="12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2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2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24x18cm(10x8inch) or 30x24cm(12x10inch), 43x35cm(17x14inch)</a:t>
            </a:r>
            <a:endParaRPr sz="12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2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2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Exposure factors</a:t>
            </a:r>
            <a:endParaRPr sz="12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2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err="1" smtClean="0" sz="12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Kvp</a:t>
            </a:r>
            <a:r>
              <a:rPr lang="en-US" b="0" dirty="0" smtClean="0" sz="12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: </a:t>
            </a:r>
            <a:r>
              <a:rPr lang="en-US" dirty="0" smtClean="0" sz="12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55-70, mAs:10-12 and FFD: 100cm</a:t>
            </a:r>
            <a:endParaRPr sz="12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2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2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Patient’s Positioning for  </a:t>
            </a:r>
            <a:r>
              <a:rPr lang="en-US" b="0" dirty="0" err="1" smtClean="0" sz="12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Inferosuperior</a:t>
            </a:r>
            <a:r>
              <a:rPr lang="en-US" b="0" dirty="0" smtClean="0" sz="12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Projection of Arm</a:t>
            </a:r>
            <a:endParaRPr sz="12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2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2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Patient lie supine on the couch and turn head away from the affected side.</a:t>
            </a:r>
            <a:endParaRPr sz="12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2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2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Fully abduct arm if possible and support in a comfortable position</a:t>
            </a:r>
            <a:endParaRPr sz="12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2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2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Vertically support cassette above the shoulder include upper </a:t>
            </a:r>
            <a:r>
              <a:rPr lang="en-US" dirty="0" err="1" smtClean="0" sz="12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humerus</a:t>
            </a:r>
            <a:endParaRPr lang="en-US" dirty="0" smtClean="0" sz="1250" b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2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2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Immobilize the arm</a:t>
            </a:r>
            <a:endParaRPr sz="12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2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2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Place anatomical marker(R or L)</a:t>
            </a:r>
            <a:endParaRPr sz="12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•"/>
              <a:defRPr sz="12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dirty="0" smtClean="0" sz="12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Collimate beam and apply protection</a:t>
            </a:r>
            <a:endParaRPr sz="12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2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2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DCR: </a:t>
            </a:r>
            <a:r>
              <a:rPr lang="en-US" dirty="0" smtClean="0" sz="12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Horizontal or Vertical(If patient lying down supine)</a:t>
            </a:r>
            <a:endParaRPr sz="12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Font typeface="Wingdings" pitchFamily="2" charset="2"/>
              <a:buChar char="§"/>
              <a:defRPr sz="125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lang="en-US" b="0" dirty="0" smtClean="0" sz="125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CP: </a:t>
            </a:r>
            <a:r>
              <a:rPr lang="en-US" dirty="0" smtClean="0" sz="12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Head of </a:t>
            </a:r>
            <a:r>
              <a:rPr lang="en-US" dirty="0" err="1" smtClean="0" sz="12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humerus</a:t>
            </a:r>
            <a:r>
              <a:rPr lang="en-US" dirty="0" smtClean="0" sz="1250" b="0">
                <a:solidFill>
                  <a:srgbClr val="243B53"/>
                </a:solidFill>
                <a:latin typeface="Arial" pitchFamily="18" charset="0"/>
                <a:ea typeface="Arial"/>
                <a:cs typeface="Arial" pitchFamily="18" charset="0"/>
              </a:rPr>
              <a:t> through the axial</a:t>
            </a:r>
            <a:endParaRPr sz="1250" b="0">
              <a:solidFill>
                <a:srgbClr val="243B53"/>
              </a:solidFill>
              <a:latin typeface="Arial"/>
              <a:ea typeface="Arial"/>
              <a:cs typeface="Arial"/>
            </a:endParaRPr>
          </a:p>
          <a:p>
            <a:pPr algn="l" marL="0" indent="0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 sz="100" b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endParaRPr lang="en-US" dirty="0" sz="100" b="0">
              <a:solidFill>
                <a:srgbClr val="243B53"/>
              </a:solidFill>
              <a:latin typeface="Arial" pitchFamily="18" charset="0"/>
              <a:ea typeface="Arial"/>
              <a:cs typeface="Arial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2020</Words>
  <Application>Microsoft Office PowerPoint</Application>
  <PresentationFormat>On-screen Show (4:3)</PresentationFormat>
  <Paragraphs>306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63</cp:revision>
  <dcterms:created xsi:type="dcterms:W3CDTF">2026-10-23T00:47:42Z</dcterms:created>
  <dcterms:modified xsi:type="dcterms:W3CDTF">2026-10-23T09:35:37Z</dcterms:modified>
</cp:coreProperties>
</file>