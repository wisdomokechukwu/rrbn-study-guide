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410743749"/>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01899554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51473018"/>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AB48476-3B37-4561-88DA-CBBE3B6F2195}"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71033720"/>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AB48476-3B37-4561-88DA-CBBE3B6F2195}"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246807894"/>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AB48476-3B37-4561-88DA-CBBE3B6F2195}"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72985801"/>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B48476-3B37-4561-88DA-CBBE3B6F2195}"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8433332"/>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B48476-3B37-4561-88DA-CBBE3B6F2195}"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868987407"/>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B48476-3B37-4561-88DA-CBBE3B6F2195}"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3982732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879525267"/>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307768658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B48476-3B37-4561-88DA-CBBE3B6F2195}"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1C770E-7A1D-4500-A6D9-3C0735C73B23}" type="slidenum">
              <a:rPr lang="en-US" smtClean="0"/>
              <a:t>‹#›</a:t>
            </a:fld>
            <a:endParaRPr lang="en-US"/>
          </a:p>
        </p:txBody>
      </p:sp>
    </p:spTree>
    <p:extLst>
      <p:ext uri="{BB962C8B-B14F-4D97-AF65-F5344CB8AC3E}">
        <p14:creationId xmlns:p14="http://schemas.microsoft.com/office/powerpoint/2010/main" val="1470108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sp>
        <p:nvSpPr>
          <p:cNvPr id="2" name="Title 1"/>
          <p:cNvSpPr>
            <a:spLocks noGrp="1"/>
          </p:cNvSpPr>
          <p:nvPr>
            <p:ph type="ctr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150" b="1">
                <a:solidFill>
                  <a:srgbClr val="0056D2"/>
                </a:solidFill>
                <a:latin typeface="Poppins SemiBold"/>
                <a:ea typeface="Poppins SemiBold"/>
                <a:cs typeface="Poppins SemiBold"/>
              </a:defRPr>
            </a:pPr>
            <a:r>
              <a:rPr lang="en-US" sz="2150" b="1" dirty="0">
                <a:solidFill>
                  <a:srgbClr val="0056D2"/>
                </a:solidFill>
                <a:latin typeface="Poppins SemiBold" pitchFamily="18" charset="0"/>
                <a:ea typeface="Poppins SemiBold"/>
                <a:cs typeface="Poppins SemiBold" pitchFamily="18" charset="0"/>
              </a:rPr>
              <a:t>INTRODUCTION TO AUTOMATIC FILM PROCESSING: EQUIPMENT AND </a:t>
            </a:r>
            <a:r>
              <a:rPr lang="en-US" sz="2150" b="1" dirty="0" smtClean="0">
                <a:solidFill>
                  <a:srgbClr val="0056D2"/>
                </a:solidFill>
                <a:latin typeface="Poppins SemiBold" pitchFamily="18" charset="0"/>
                <a:ea typeface="Poppins SemiBold"/>
                <a:cs typeface="Poppins SemiBold" pitchFamily="18" charset="0"/>
              </a:rPr>
              <a:t>TECHNIQUES</a:t>
            </a:r>
            <a:r>
              <a:rPr lang="en-US" sz="2150" b="1" dirty="0">
                <a:solidFill>
                  <a:srgbClr val="0056D2"/>
                </a:solidFill>
                <a:latin typeface="Poppins SemiBold" pitchFamily="18" charset="0"/>
                <a:ea typeface="Poppins SemiBold"/>
                <a:cs typeface="Poppins SemiBold" pitchFamily="18" charset="0"/>
              </a:rPr>
              <a:t/>
            </a:r>
            <a:br>
              <a:rPr lang="en-US" sz="3600" b="1" dirty="0">
                <a:latin typeface="Times New Roman" pitchFamily="18" charset="0"/>
                <a:cs typeface="Times New Roman" pitchFamily="18" charset="0"/>
              </a:rPr>
            </a:br>
            <a:endParaRPr lang="en-US" sz="2150" b="1" dirty="0">
              <a:solidFill>
                <a:srgbClr val="0056D2"/>
              </a:solidFill>
              <a:latin typeface="Poppins SemiBold" pitchFamily="18" charset="0"/>
              <a:ea typeface="Poppins SemiBold"/>
              <a:cs typeface="Poppins SemiBold" pitchFamily="18" charset="0"/>
            </a:endParaRPr>
          </a:p>
        </p:txBody>
      </p:sp>
      <p:sp>
        <p:nvSpPr>
          <p:cNvPr id="3" name="Subtitle 2"/>
          <p:cNvSpPr>
            <a:spLocks noGrp="1"/>
          </p:cNvSpPr>
          <p:nvPr>
            <p:ph type="subTitle" idx="1"/>
          </p:nvPr>
        </p:nvSpPr>
        <p:spPr>
          <a:xfrm>
            <a:off x="502920" y="1748790"/>
            <a:ext cx="3922776" cy="4423410"/>
          </a:xfrm>
        </p:spPr>
        <p:txBody>
          <a:bodyPr wrap="square" anchor="t" lIns="0" rIns="0" tIns="0" bIns="0">
            <a:normAutofit fontScale="100000" lnSpcReduction="0"/>
          </a:bodyPr>
          <a:lstStyle/>
          <a:p>
            <a:pPr algn="l" marL="0" indent="0">
              <a:lnSpc>
                <a:spcPct val="118000"/>
              </a:lnSpc>
              <a:spcBef>
                <a:spcPts val="0"/>
              </a:spcBef>
              <a:spcAft>
                <a:spcPts val="450"/>
              </a:spcAft>
              <a:defRPr sz="2250" b="1">
                <a:solidFill>
                  <a:srgbClr val="243B53"/>
                </a:solidFill>
                <a:latin typeface="Arial"/>
                <a:ea typeface="Arial"/>
                <a:cs typeface="Arial"/>
              </a:defRPr>
            </a:pPr>
            <a:r>
              <a:rPr lang="en-US" b="1" i="1" dirty="0" smtClean="0" sz="2250">
                <a:solidFill>
                  <a:srgbClr val="243B53"/>
                </a:solidFill>
                <a:latin typeface="Arial"/>
                <a:ea typeface="Arial"/>
                <a:cs typeface="Arial"/>
              </a:rPr>
              <a:t>RAD. PATRICK </a:t>
            </a:r>
            <a:r>
              <a:rPr lang="en-US" b="1" i="1" dirty="0" smtClean="0" sz="2250">
                <a:solidFill>
                  <a:srgbClr val="243B53"/>
                </a:solidFill>
                <a:latin typeface="Arial"/>
                <a:ea typeface="Arial"/>
                <a:cs typeface="Arial"/>
              </a:rPr>
              <a:t>COLLINS</a:t>
            </a:r>
            <a:endParaRPr lang="en-US" b="1" i="1" dirty="0" sz="2250">
              <a:solidFill>
                <a:srgbClr val="243B53"/>
              </a:solidFill>
              <a:latin typeface="Arial"/>
              <a:ea typeface="Arial"/>
              <a:cs typeface="Arial"/>
            </a:endParaRPr>
          </a:p>
        </p:txBody>
      </p:sp>
      <p:sp>
        <p:nvSpPr>
          <p:cNvPr id="4" name="Subtitle 2"/>
          <p:cNvSpPr txBox="1">
            <a:spLocks/>
          </p:cNvSpPr>
          <p:nvPr/>
        </p:nvSpPr>
        <p:spPr>
          <a:xfrm>
            <a:off x="4718304" y="1748790"/>
            <a:ext cx="3922776" cy="4423410"/>
          </a:xfrm>
          <a:prstGeom prst="rect">
            <a:avLst/>
          </a:prstGeom>
        </p:spPr>
        <p:txBody>
          <a:bodyPr vert="horz" lIns="0" tIns="0" rIns="0" bIns="0" rtlCol="0" wrap="square" anchor="t">
            <a:normAutofit fontScale="100000" lnSpcReduction="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marL="0" indent="0">
              <a:lnSpc>
                <a:spcPct val="118000"/>
              </a:lnSpc>
              <a:spcBef>
                <a:spcPts val="0"/>
              </a:spcBef>
              <a:spcAft>
                <a:spcPts val="450"/>
              </a:spcAft>
              <a:defRPr sz="2250" b="1">
                <a:solidFill>
                  <a:srgbClr val="243B53"/>
                </a:solidFill>
                <a:latin typeface="Arial"/>
                <a:ea typeface="Arial"/>
                <a:cs typeface="Arial"/>
              </a:defRPr>
            </a:pPr>
            <a:r>
              <a:rPr lang="en-US" b="1" i="1" dirty="0" smtClean="0" sz="2250">
                <a:solidFill>
                  <a:srgbClr val="243B53"/>
                </a:solidFill>
                <a:latin typeface="Arial"/>
                <a:ea typeface="Arial"/>
                <a:cs typeface="Arial"/>
              </a:rPr>
              <a:t>MXT205</a:t>
            </a:r>
            <a:endParaRPr lang="en-US" b="1" i="1" dirty="0" sz="2250">
              <a:solidFill>
                <a:srgbClr val="243B53"/>
              </a:solidFill>
              <a:latin typeface="Arial"/>
              <a:ea typeface="Arial"/>
              <a:cs typeface="Arial"/>
            </a:endParaRPr>
          </a:p>
        </p:txBody>
      </p:sp>
    </p:spTree>
    <p:extLst>
      <p:ext uri="{BB962C8B-B14F-4D97-AF65-F5344CB8AC3E}">
        <p14:creationId val="1284346856"/>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Automatic film processing uses specialized machinery to quickly and uniformly convert a latent image on exposed film into a dry , visible radiograph or photograph.</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smtClean="0" b="0">
              <a:solidFill>
                <a:srgbClr val="243B53"/>
              </a:solidFill>
              <a:latin typeface="Arial" pitchFamily="18" charset="0"/>
              <a:ea typeface="Arial"/>
              <a:cs typeface="Arial" pitchFamily="18" charset="0"/>
            </a:endParaRPr>
          </a:p>
          <a:p>
            <a:pPr mar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a:solidFill>
                  <a:srgbClr val="243B53"/>
                </a:solidFill>
                <a:latin typeface="Arial" pitchFamily="18" charset="0"/>
                <a:ea typeface="Arial"/>
                <a:cs typeface="Arial" pitchFamily="18" charset="0"/>
              </a:rPr>
              <a:t>KEY EQUIPMENT</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Film feed section: The entry slot where the film is inserted, which activates the transport motor and replenishment system via a microswitch.</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Roller transport system : A series of racks, crossover turn-</a:t>
            </a:r>
            <a:r>
              <a:rPr lang="en-US" sz="2000" dirty="0" err="1" b="0">
                <a:solidFill>
                  <a:srgbClr val="243B53"/>
                </a:solidFill>
                <a:latin typeface="Arial" pitchFamily="18" charset="0"/>
                <a:ea typeface="Arial"/>
                <a:cs typeface="Arial" pitchFamily="18" charset="0"/>
              </a:rPr>
              <a:t>arounds</a:t>
            </a:r>
            <a:r>
              <a:rPr lang="en-US" sz="2000" dirty="0" b="0">
                <a:solidFill>
                  <a:srgbClr val="243B53"/>
                </a:solidFill>
                <a:latin typeface="Arial" pitchFamily="18" charset="0"/>
                <a:ea typeface="Arial"/>
                <a:cs typeface="Arial" pitchFamily="18" charset="0"/>
              </a:rPr>
              <a:t>, and guide shoes that physically pull and push the film through each chemical tank at a constant speed.</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1330800281"/>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Processing tanks:  Compartments holding temperature – controlled solutions for developing , fixing , and washing:</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Developer Tank:  converts exposed silver halide crystals into black metallic silver ( typically maintained around 33 C / 96 F ).</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Fixer Tank : Dissolves unexposed / underdeveloped silver halide and hardens the gelatin emulsion.</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Wash Tank: Uses circulating water to flush away residual processing chemicals.</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Recirculation and filtration system: continuously agitates, mixes ,  filters , and maintains even temperatures across the chemical baths.</a:t>
            </a:r>
            <a:endParaRPr sz="2000" b="0">
              <a:solidFill>
                <a:srgbClr val="243B53"/>
              </a:solidFill>
              <a:latin typeface="Arial"/>
              <a:ea typeface="Arial"/>
              <a:cs typeface="Arial"/>
            </a:endParaRPr>
          </a:p>
          <a:p>
            <a:pPr lvl="0" algn="l" marL="0" indent="0">
              <a:lnSpc>
                <a:spcPts val="100"/>
              </a:lnSpc>
              <a:spcBef>
                <a:spcPts val="0"/>
              </a:spcBef>
              <a:spcAft>
                <a:spcPts val="0"/>
              </a:spcAft>
              <a:defRPr sz="100" b="0">
                <a:solidFill>
                  <a:srgbClr val="243B53"/>
                </a:solidFill>
                <a:latin typeface="Arial"/>
                <a:ea typeface="Arial"/>
                <a:cs typeface="Arial"/>
              </a:defRPr>
            </a:pPr>
            <a:r>
              <a:rPr lang="en-US" sz="100" dirty="0" b="0">
                <a:solidFill>
                  <a:srgbClr val="243B53"/>
                </a:solidFill>
                <a:latin typeface="Arial"/>
                <a:ea typeface="Arial"/>
                <a:cs typeface="Arial"/>
              </a:rPr>
              <a:t> </a:t>
            </a: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3049733334"/>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lvl="0" algn="l" marL="0" indent="0">
              <a:lnSpc>
                <a:spcPct val="118000"/>
              </a:lnSpc>
              <a:spcBef>
                <a:spcPts val="0"/>
              </a:spcBef>
              <a:spcAft>
                <a:spcPts val="450"/>
              </a:spcAft>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Replenishment system: Automatically pumps fresh chemical solution ( or replenisher ) into the developer and fixer tanks based on the size or running time of the processed film to maintain chemical activity.</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Drying system: uses heated air  ( around 50 C to 55C / 120F to 130F ) blown across the film surface via squeegee rollers to yield a completely dry film upon exit.</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2457204682"/>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pitchFamily="18" charset="0"/>
                <a:ea typeface="Arial"/>
                <a:cs typeface="Arial" pitchFamily="18" charset="0"/>
              </a:rPr>
              <a:t>STANDARD TECHNIQUES AND WORKFLOW</a:t>
            </a:r>
            <a:endParaRPr sz="2250" b="1">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Total cycle Time : Modern automated medical or industrial processors complete the entire dry – to –drop sequence in roughly 50 seconds ( compared to an hour or more in manual processing ):</a:t>
            </a:r>
            <a:endParaRPr sz="2200" b="0">
              <a:solidFill>
                <a:srgbClr val="243B53"/>
              </a:solidFill>
              <a:latin typeface="Arial"/>
              <a:ea typeface="Arial"/>
              <a:cs typeface="Arial"/>
            </a:endParaRPr>
          </a:p>
          <a:p>
            <a:pPr marL="0" lv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Developing – 22 seconds</a:t>
            </a:r>
            <a:endParaRPr sz="2200" b="0">
              <a:solidFill>
                <a:srgbClr val="243B53"/>
              </a:solidFill>
              <a:latin typeface="Arial"/>
              <a:ea typeface="Arial"/>
              <a:cs typeface="Arial"/>
            </a:endParaRPr>
          </a:p>
          <a:p>
            <a:pPr marL="0" lv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Fixing – 22 seconds</a:t>
            </a:r>
            <a:endParaRPr sz="2200" b="0">
              <a:solidFill>
                <a:srgbClr val="243B53"/>
              </a:solidFill>
              <a:latin typeface="Arial"/>
              <a:ea typeface="Arial"/>
              <a:cs typeface="Arial"/>
            </a:endParaRPr>
          </a:p>
          <a:p>
            <a:pPr marL="0" lv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Washing – 20 -  26 seconds</a:t>
            </a:r>
            <a:endParaRPr sz="2200" b="0">
              <a:solidFill>
                <a:srgbClr val="243B53"/>
              </a:solidFill>
              <a:latin typeface="Arial"/>
              <a:ea typeface="Arial"/>
              <a:cs typeface="Arial"/>
            </a:endParaRPr>
          </a:p>
          <a:p>
            <a:pPr marL="0" lv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Drying – 20 </a:t>
            </a:r>
            <a:r>
              <a:rPr lang="en-US" sz="2200" dirty="0" smtClean="0" b="0">
                <a:solidFill>
                  <a:srgbClr val="243B53"/>
                </a:solidFill>
                <a:latin typeface="Arial" pitchFamily="18" charset="0"/>
                <a:ea typeface="Arial"/>
                <a:cs typeface="Arial" pitchFamily="18" charset="0"/>
              </a:rPr>
              <a:t>seconds</a:t>
            </a:r>
            <a:endParaRPr lang="en-US" sz="2200" dirty="0" b="0">
              <a:solidFill>
                <a:srgbClr val="243B53"/>
              </a:solidFill>
              <a:latin typeface="Arial" pitchFamily="18" charset="0"/>
              <a:ea typeface="Arial"/>
              <a:cs typeface="Arial" pitchFamily="18" charset="0"/>
            </a:endParaRPr>
          </a:p>
        </p:txBody>
      </p:sp>
    </p:spTree>
    <p:extLst>
      <p:ext uri="{BB962C8B-B14F-4D97-AF65-F5344CB8AC3E}">
        <p14:creationId val="2441725775"/>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sz="2200" b="0" dirty="0" smtClean="0">
                <a:solidFill>
                  <a:srgbClr val="243B53"/>
                </a:solidFill>
                <a:latin typeface="Arial" pitchFamily="18" charset="0"/>
                <a:ea typeface="Arial"/>
                <a:cs typeface="Arial" pitchFamily="18" charset="0"/>
              </a:rPr>
              <a:t>Feeding Technique : </a:t>
            </a:r>
            <a:r>
              <a:rPr lang="en-US" sz="2200" dirty="0" smtClean="0" b="0">
                <a:solidFill>
                  <a:srgbClr val="243B53"/>
                </a:solidFill>
                <a:latin typeface="Arial" pitchFamily="18" charset="0"/>
                <a:ea typeface="Arial"/>
                <a:cs typeface="Arial" pitchFamily="18" charset="0"/>
              </a:rPr>
              <a:t>Films are fed straight into the entry tray in a staggered pattern ( rather than overlapping side – by –side ) to prevent roller jams , overlapping , or chemical contamination .</a:t>
            </a:r>
            <a:endParaRPr sz="2200" b="0">
              <a:solidFill>
                <a:srgbClr val="243B53"/>
              </a:solidFill>
              <a:latin typeface="Arial"/>
              <a:ea typeface="Arial"/>
              <a:cs typeface="Arial"/>
            </a:endParaRPr>
          </a:p>
          <a:p>
            <a:pPr lvl="0"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sz="100" dirty="0" smtClean="0" b="0">
              <a:solidFill>
                <a:srgbClr val="243B53"/>
              </a:solidFill>
              <a:latin typeface="Arial" pitchFamily="18" charset="0"/>
              <a:ea typeface="Arial"/>
              <a:cs typeface="Arial" pitchFamily="18" charset="0"/>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Standby mode:  When idle, the machine drops into a low – power standby state where the roller drive stops or slows down to conserve water and electricity until a new film triggers the sensor.</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2091636448"/>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a:solidFill>
                  <a:srgbClr val="243B53"/>
                </a:solidFill>
                <a:latin typeface="Arial" pitchFamily="18" charset="0"/>
                <a:ea typeface="Arial"/>
                <a:cs typeface="Arial" pitchFamily="18" charset="0"/>
              </a:rPr>
              <a:t>DAILY AND MONTHLY MAINTENANCE</a:t>
            </a:r>
            <a:endParaRPr sz="2050" b="1">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This requires routine cleaning of crossover rollers to prevent “” pi lines “ or guide – shoe marks, alongside periodic tank draining , rack scrubbing, and sensitometric testing </a:t>
            </a:r>
            <a:endParaRPr sz="2000" b="0">
              <a:solidFill>
                <a:srgbClr val="243B53"/>
              </a:solidFill>
              <a:latin typeface="Arial"/>
              <a:ea typeface="Arial"/>
              <a:cs typeface="Arial"/>
            </a:endParaRPr>
          </a:p>
          <a:p>
            <a:pPr mar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a:solidFill>
                  <a:srgbClr val="243B53"/>
                </a:solidFill>
                <a:latin typeface="Arial" pitchFamily="18" charset="0"/>
                <a:ea typeface="Arial"/>
                <a:cs typeface="Arial" pitchFamily="18" charset="0"/>
              </a:rPr>
              <a:t>MEDICAL X-RAY AUTOMATIC PROCESSING</a:t>
            </a:r>
            <a:endParaRPr sz="2050" b="1">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A medical x-ray automatic processor is an electrochemical device designed to automate and standardize the chemical processing of radiographic films. It converts a latent ( invisible ) image on an exposed x-ray film into a permanent , manifest ( visible ) radiograph in a matter of seconds.</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3281969162"/>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smtClean="0">
                <a:solidFill>
                  <a:srgbClr val="243B53"/>
                </a:solidFill>
                <a:latin typeface="Arial"/>
                <a:ea typeface="Arial"/>
                <a:cs typeface="Arial"/>
              </a:rPr>
              <a:t>1. PRINCIPLES </a:t>
            </a:r>
            <a:r>
              <a:rPr lang="en-US" sz="2050" b="1" dirty="0">
                <a:solidFill>
                  <a:srgbClr val="243B53"/>
                </a:solidFill>
                <a:latin typeface="Arial"/>
                <a:ea typeface="Arial"/>
                <a:cs typeface="Arial"/>
              </a:rPr>
              <a:t>OF AUTOMATIC PROCESSING:</a:t>
            </a:r>
            <a:endParaRPr sz="2050" b="1">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The core principle of automatic processing is standardization of time , temperature , and chemical activity. It operates on the same chemical sequence as manual processing – developing, fixing , washing, and drying – but compresses the entire </a:t>
            </a:r>
            <a:r>
              <a:rPr lang="en-US" sz="2000" dirty="0" smtClean="0" b="0">
                <a:solidFill>
                  <a:srgbClr val="243B53"/>
                </a:solidFill>
                <a:latin typeface="Arial" pitchFamily="18" charset="0"/>
                <a:ea typeface="Arial"/>
                <a:cs typeface="Arial" pitchFamily="18" charset="0"/>
              </a:rPr>
              <a:t>timeline </a:t>
            </a:r>
            <a:r>
              <a:rPr lang="en-US" sz="2000" dirty="0" b="0">
                <a:solidFill>
                  <a:srgbClr val="243B53"/>
                </a:solidFill>
                <a:latin typeface="Arial" pitchFamily="18" charset="0"/>
                <a:ea typeface="Arial"/>
                <a:cs typeface="Arial" pitchFamily="18" charset="0"/>
              </a:rPr>
              <a:t>( typically down to 90 seconds ) by utilizing:</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High chemical concentration:  Formulated specifically to handle aggressive development speed.</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Elevated temperature:  Processing solution are heated to maximize chemical activity.</a:t>
            </a:r>
            <a:endParaRPr sz="2000" b="0">
              <a:solidFill>
                <a:srgbClr val="243B53"/>
              </a:solidFill>
              <a:latin typeface="Arial"/>
              <a:ea typeface="Arial"/>
              <a:cs typeface="Arial"/>
            </a:endParaRPr>
          </a:p>
          <a:p>
            <a:pPr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3939541090"/>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smtClean="0" b="0">
                <a:solidFill>
                  <a:srgbClr val="243B53"/>
                </a:solidFill>
                <a:latin typeface="Arial" pitchFamily="18" charset="0"/>
                <a:ea typeface="Arial"/>
                <a:cs typeface="Arial" pitchFamily="18" charset="0"/>
              </a:rPr>
              <a:t>Continuous mechanical agitation:  Constant contact between the rollers and the film emulsion forces fresh chemicals into the film surface while squeezing out exhausted solutions.</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smtClean="0" b="0">
              <a:solidFill>
                <a:srgbClr val="243B53"/>
              </a:solidFill>
              <a:latin typeface="Arial" pitchFamily="18" charset="0"/>
              <a:ea typeface="Arial"/>
              <a:cs typeface="Arial" pitchFamily="18" charset="0"/>
            </a:endParaRPr>
          </a:p>
          <a:p>
            <a:pPr marL="0" lv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smtClean="0">
                <a:solidFill>
                  <a:srgbClr val="243B53"/>
                </a:solidFill>
                <a:latin typeface="Arial" pitchFamily="18" charset="0"/>
                <a:ea typeface="Arial"/>
                <a:cs typeface="Arial" pitchFamily="18" charset="0"/>
              </a:rPr>
              <a:t>2. CONSTRUCTION </a:t>
            </a:r>
            <a:r>
              <a:rPr lang="en-US" sz="2050" b="1" dirty="0">
                <a:solidFill>
                  <a:srgbClr val="243B53"/>
                </a:solidFill>
                <a:latin typeface="Arial" pitchFamily="18" charset="0"/>
                <a:ea typeface="Arial"/>
                <a:cs typeface="Arial" pitchFamily="18" charset="0"/>
              </a:rPr>
              <a:t>AND DESIGN MECHANISM:</a:t>
            </a:r>
            <a:endParaRPr sz="2050" b="1">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050" b="1">
                <a:solidFill>
                  <a:srgbClr val="243B53"/>
                </a:solidFill>
                <a:latin typeface="Arial"/>
                <a:ea typeface="Arial"/>
                <a:cs typeface="Arial"/>
              </a:defRPr>
            </a:pPr>
            <a:r>
              <a:rPr lang="en-US" sz="2050" dirty="0" smtClean="0" b="1">
                <a:solidFill>
                  <a:srgbClr val="243B53"/>
                </a:solidFill>
                <a:latin typeface="Arial" pitchFamily="18" charset="0"/>
                <a:ea typeface="Arial"/>
                <a:cs typeface="Arial" pitchFamily="18" charset="0"/>
              </a:rPr>
              <a:t>The processor consists of several independent but integrated sub-system:</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smtClean="0" b="0">
                <a:solidFill>
                  <a:srgbClr val="243B53"/>
                </a:solidFill>
                <a:latin typeface="Arial" pitchFamily="18" charset="0"/>
                <a:ea typeface="Arial"/>
                <a:cs typeface="Arial" pitchFamily="18" charset="0"/>
              </a:rPr>
              <a:t>Transport system:  A network of gears, chains, a drive motor, and precision roller racks designed to pull the film along a serpentine path through the liquid tanks and the drying chamber at a fixed speed.</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2518805827"/>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Temperature control system:  Uses immersion heaters, thermostats, and heat exchangers to precisely regulate and maintain the developer solution at 33C to 35C ( 92C to 96C ).</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Circulation / recirculation system:  Continuously pumps and agitates the developer and fixer solution to prevent thermal stratification, filter out gelatin particles, and maintain chemical homogeneity .</a:t>
            </a:r>
            <a:endParaRPr sz="2200" b="0">
              <a:solidFill>
                <a:srgbClr val="243B53"/>
              </a:solidFill>
              <a:latin typeface="Arial"/>
              <a:ea typeface="Arial"/>
              <a:cs typeface="Arial"/>
            </a:endParaRPr>
          </a:p>
          <a:p>
            <a:pPr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1193155385"/>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Water system:  Supplies fresh , flowing water to rinse chemical residues from the film, preventing  archival degradation ( hypo-retention strains  ).</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Dryer system:  Uses a high – velocity blower, heating elements ( 40C to 65C ), and air tubs to evaporate remaining surface moisture from the film.</a:t>
            </a:r>
            <a:endParaRPr sz="2200" b="0">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 feed tray ] &gt; [ developer Tank ] &gt; [ Fixer Tank] &gt; [ Wash Tank ] &gt; [ Dryer Chamber ] &gt; [ Receiving Bin ].</a:t>
            </a:r>
            <a:endParaRPr sz="2200" b="0">
              <a:solidFill>
                <a:srgbClr val="243B53"/>
              </a:solidFill>
              <a:latin typeface="Arial"/>
              <a:ea typeface="Arial"/>
              <a:cs typeface="Arial"/>
            </a:endParaRPr>
          </a:p>
          <a:p>
            <a:pPr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43901815"/>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smtClean="0">
                <a:solidFill>
                  <a:srgbClr val="243B53"/>
                </a:solidFill>
                <a:latin typeface="Arial" pitchFamily="18" charset="0"/>
                <a:ea typeface="Arial"/>
                <a:cs typeface="Arial" pitchFamily="18" charset="0"/>
              </a:rPr>
              <a:t>3. FEED </a:t>
            </a:r>
            <a:r>
              <a:rPr lang="en-US" sz="2250" b="1" dirty="0">
                <a:solidFill>
                  <a:srgbClr val="243B53"/>
                </a:solidFill>
                <a:latin typeface="Arial" pitchFamily="18" charset="0"/>
                <a:ea typeface="Arial"/>
                <a:cs typeface="Arial" pitchFamily="18" charset="0"/>
              </a:rPr>
              <a:t>TRAY AND FEEDTRAY TYPES</a:t>
            </a:r>
            <a:endParaRPr sz="2250" b="1">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The feed tray is the entry platform where the exposed radiographic film is introduced into the unit.</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Mechanism:  It contains micro switches or infrared optical sensors that detect the physical presence, size ,and orientation of the inserted film. This detection signal activates the drive motor , the dryer, and calculates the required volume of replenisher chemicals.</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1143587286"/>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smtClean="0">
                <a:solidFill>
                  <a:srgbClr val="243B53"/>
                </a:solidFill>
                <a:latin typeface="Arial" pitchFamily="18" charset="0"/>
                <a:ea typeface="Arial"/>
                <a:cs typeface="Arial" pitchFamily="18" charset="0"/>
              </a:rPr>
              <a:t>Feed tray types:  </a:t>
            </a:r>
            <a:endParaRPr sz="2050" b="1">
              <a:solidFill>
                <a:srgbClr val="243B53"/>
              </a:solidFill>
              <a:latin typeface="Arial"/>
              <a:ea typeface="Arial"/>
              <a:cs typeface="Arial"/>
            </a:endParaRPr>
          </a:p>
          <a:p>
            <a:pPr marL="0" lvl="0" indent="0" algn="l">
              <a:lnSpc>
                <a:spcPct val="118000"/>
              </a:lnSpc>
              <a:spcBef>
                <a:spcPts val="0"/>
              </a:spcBef>
              <a:spcAft>
                <a:spcPts val="450"/>
              </a:spcAft>
              <a:buFont typeface="+mj-lt"/>
              <a:buAutoNum type="alphaLcPeriod"/>
              <a:defRPr sz="2000" b="0">
                <a:solidFill>
                  <a:srgbClr val="243B53"/>
                </a:solidFill>
                <a:latin typeface="Arial"/>
                <a:ea typeface="Arial"/>
                <a:cs typeface="Arial"/>
              </a:defRPr>
            </a:pPr>
            <a:r>
              <a:rPr lang="en-US" sz="2000" b="0" dirty="0" smtClean="0">
                <a:solidFill>
                  <a:srgbClr val="243B53"/>
                </a:solidFill>
                <a:latin typeface="Arial" pitchFamily="18" charset="0"/>
                <a:ea typeface="Arial"/>
                <a:cs typeface="Arial" pitchFamily="18" charset="0"/>
              </a:rPr>
              <a:t>Darkroom feed tray:  </a:t>
            </a:r>
            <a:r>
              <a:rPr lang="en-US" sz="2000" dirty="0" smtClean="0" b="0">
                <a:solidFill>
                  <a:srgbClr val="243B53"/>
                </a:solidFill>
                <a:latin typeface="Arial" pitchFamily="18" charset="0"/>
                <a:ea typeface="Arial"/>
                <a:cs typeface="Arial" pitchFamily="18" charset="0"/>
              </a:rPr>
              <a:t>A standard tray located completely inside a darkroom under safelight condition where the operator manually feeds exposed films extracted from cassettes.</a:t>
            </a:r>
            <a:endParaRPr sz="2000" b="0">
              <a:solidFill>
                <a:srgbClr val="243B53"/>
              </a:solidFill>
              <a:latin typeface="Arial"/>
              <a:ea typeface="Arial"/>
              <a:cs typeface="Arial"/>
            </a:endParaRPr>
          </a:p>
          <a:p>
            <a:pPr marL="0" indent="0" algn="l">
              <a:lnSpc>
                <a:spcPct val="118000"/>
              </a:lnSpc>
              <a:spcBef>
                <a:spcPts val="0"/>
              </a:spcBef>
              <a:spcAft>
                <a:spcPts val="450"/>
              </a:spcAft>
              <a:buFont typeface="+mj-lt"/>
              <a:buAutoNum type="alphaLcPeriod"/>
              <a:defRPr sz="2000" b="0">
                <a:solidFill>
                  <a:srgbClr val="243B53"/>
                </a:solidFill>
                <a:latin typeface="Arial"/>
                <a:ea typeface="Arial"/>
                <a:cs typeface="Arial"/>
              </a:defRPr>
            </a:pPr>
            <a:r>
              <a:rPr lang="en-US" sz="2000" b="0" dirty="0">
                <a:solidFill>
                  <a:srgbClr val="243B53"/>
                </a:solidFill>
                <a:latin typeface="Arial" pitchFamily="18" charset="0"/>
                <a:ea typeface="Arial"/>
                <a:cs typeface="Arial" pitchFamily="18" charset="0"/>
              </a:rPr>
              <a:t>Daylight loader ( daylight feed tray ) :  </a:t>
            </a:r>
            <a:r>
              <a:rPr lang="en-US" sz="2000" dirty="0" b="0">
                <a:solidFill>
                  <a:srgbClr val="243B53"/>
                </a:solidFill>
                <a:latin typeface="Arial" pitchFamily="18" charset="0"/>
                <a:ea typeface="Arial"/>
                <a:cs typeface="Arial" pitchFamily="18" charset="0"/>
              </a:rPr>
              <a:t>A light – tight, enclosed chamber attachment fitted with sleeves or an automated cassette – unloading mechanism. This setup allows the operator to insert their hands and feed the film in normal room light without exposing the film emulsion.</a:t>
            </a:r>
            <a:endParaRPr sz="2000" b="0">
              <a:solidFill>
                <a:srgbClr val="243B53"/>
              </a:solidFill>
              <a:latin typeface="Arial"/>
              <a:ea typeface="Arial"/>
              <a:cs typeface="Arial"/>
            </a:endParaRPr>
          </a:p>
          <a:p>
            <a:pPr lvl="0"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sz="100" dirty="0" smtClean="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1615147263"/>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smtClean="0">
                <a:solidFill>
                  <a:srgbClr val="243B53"/>
                </a:solidFill>
                <a:latin typeface="Arial" pitchFamily="18" charset="0"/>
                <a:ea typeface="Arial"/>
                <a:cs typeface="Arial" pitchFamily="18" charset="0"/>
              </a:rPr>
              <a:t>4. ROLLERS </a:t>
            </a:r>
            <a:r>
              <a:rPr lang="en-US" sz="2250" b="1" dirty="0">
                <a:solidFill>
                  <a:srgbClr val="243B53"/>
                </a:solidFill>
                <a:latin typeface="Arial" pitchFamily="18" charset="0"/>
                <a:ea typeface="Arial"/>
                <a:cs typeface="Arial" pitchFamily="18" charset="0"/>
              </a:rPr>
              <a:t>( TRANSPORT COMPONENTS )</a:t>
            </a:r>
            <a:endParaRPr sz="2250" b="1">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The mechanical movement relies heavily on specialized rollers clustered into functional racks:</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Entrance Rollers:  Located immediately past the feed tray, they grab the film and trigger the processing cycle.</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Transport / Deep- Tank Rollers:  Positioned inside the liquid tanks, these planetary rollers guide the film downward and upward along the rack assembly</a:t>
            </a:r>
            <a:r>
              <a:rPr lang="en-US" sz="2200" dirty="0" smtClean="0" b="0">
                <a:solidFill>
                  <a:srgbClr val="243B53"/>
                </a:solidFill>
                <a:latin typeface="Arial" pitchFamily="18" charset="0"/>
                <a:ea typeface="Arial"/>
                <a:cs typeface="Arial" pitchFamily="18" charset="0"/>
              </a:rPr>
              <a:t>.</a:t>
            </a:r>
            <a:endParaRPr lang="en-US" sz="2200" dirty="0" b="0">
              <a:solidFill>
                <a:srgbClr val="243B53"/>
              </a:solidFill>
              <a:latin typeface="Arial" pitchFamily="18" charset="0"/>
              <a:ea typeface="Arial"/>
              <a:cs typeface="Arial" pitchFamily="18" charset="0"/>
            </a:endParaRPr>
          </a:p>
        </p:txBody>
      </p:sp>
    </p:spTree>
    <p:extLst>
      <p:ext uri="{BB962C8B-B14F-4D97-AF65-F5344CB8AC3E}">
        <p14:creationId val="3450033260"/>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Cross- over Rollers:  Situated above the solution levels between adjacent tanks ( e.g., developer to fixer). They feature miniature guide shoes to redirect the film from one path to the next.</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Squeegee Rollers:  Located at the exit of the wash tank. They apply physical pressure to strip excess water from both sides of the film emulsion before it enters the drying chamber, reducing the energy needed for thermal drying.</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smtClean="0" b="0">
              <a:solidFill>
                <a:srgbClr val="243B53"/>
              </a:solidFill>
              <a:latin typeface="Arial" pitchFamily="18" charset="0"/>
              <a:ea typeface="Arial"/>
              <a:cs typeface="Arial" pitchFamily="18" charset="0"/>
            </a:endParaRPr>
          </a:p>
          <a:p>
            <a:pPr marL="0" lv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2144691710"/>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050" b="1">
                <a:solidFill>
                  <a:srgbClr val="243B53"/>
                </a:solidFill>
                <a:latin typeface="Arial"/>
                <a:ea typeface="Arial"/>
                <a:cs typeface="Arial"/>
              </a:defRPr>
            </a:pPr>
            <a:r>
              <a:rPr lang="en-US" sz="2050" dirty="0" smtClean="0" b="1">
                <a:solidFill>
                  <a:srgbClr val="243B53"/>
                </a:solidFill>
                <a:latin typeface="Arial" pitchFamily="18" charset="0"/>
                <a:ea typeface="Arial"/>
                <a:cs typeface="Arial" pitchFamily="18" charset="0"/>
              </a:rPr>
              <a:t>5. </a:t>
            </a:r>
            <a:r>
              <a:rPr lang="en-US" sz="2050" b="1" dirty="0" smtClean="0">
                <a:solidFill>
                  <a:srgbClr val="243B53"/>
                </a:solidFill>
                <a:latin typeface="Arial" pitchFamily="18" charset="0"/>
                <a:ea typeface="Arial"/>
                <a:cs typeface="Arial" pitchFamily="18" charset="0"/>
              </a:rPr>
              <a:t>REPLENISHMENT </a:t>
            </a:r>
            <a:r>
              <a:rPr lang="en-US" sz="2050" b="1" dirty="0">
                <a:solidFill>
                  <a:srgbClr val="243B53"/>
                </a:solidFill>
                <a:latin typeface="Arial" pitchFamily="18" charset="0"/>
                <a:ea typeface="Arial"/>
                <a:cs typeface="Arial" pitchFamily="18" charset="0"/>
              </a:rPr>
              <a:t>SYSTEM</a:t>
            </a:r>
            <a:endParaRPr sz="2050" b="1">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As films pass through the chemistry ,solutions wear out ( developer oxidizes and loses electron. Fixers accumulates silver ions and dilutes ). The replenishment system injects exact doses of fresh chemicals from storage reservoirs into the active processor tanks to maintain stable chemical potency.</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Volume ( pulse ) replenishment :  Triggered dynamically  whenever a film crosses the entry sensors . The pump inject a specified amount based on the length or surface area of the processed film</a:t>
            </a:r>
            <a:r>
              <a:rPr lang="en-US" sz="2000" dirty="0" smtClean="0" b="0">
                <a:solidFill>
                  <a:srgbClr val="243B53"/>
                </a:solidFill>
                <a:latin typeface="Arial" pitchFamily="18" charset="0"/>
                <a:ea typeface="Arial"/>
                <a:cs typeface="Arial" pitchFamily="18" charset="0"/>
              </a:rPr>
              <a:t>.</a:t>
            </a:r>
            <a:endParaRPr lang="en-US" sz="2000" dirty="0" b="0">
              <a:solidFill>
                <a:srgbClr val="243B53"/>
              </a:solidFill>
              <a:latin typeface="Arial" pitchFamily="18" charset="0"/>
              <a:ea typeface="Arial"/>
              <a:cs typeface="Arial" pitchFamily="18" charset="0"/>
            </a:endParaRPr>
          </a:p>
        </p:txBody>
      </p:sp>
    </p:spTree>
    <p:extLst>
      <p:ext uri="{BB962C8B-B14F-4D97-AF65-F5344CB8AC3E}">
        <p14:creationId val="1324250521"/>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smtClean="0" b="0">
                <a:solidFill>
                  <a:srgbClr val="243B53"/>
                </a:solidFill>
                <a:latin typeface="Arial" pitchFamily="18" charset="0"/>
                <a:ea typeface="Arial"/>
                <a:cs typeface="Arial" pitchFamily="18" charset="0"/>
              </a:rPr>
              <a:t>Flood ( timed ) Replenishment:   Configured for low- volume clinics . The processor automatically pulses fresh chemistry at a fixed time interval ( regardless of film throughout ) the combat natural aerial  oxidation.</a:t>
            </a:r>
            <a:endParaRPr sz="2000" b="0">
              <a:solidFill>
                <a:srgbClr val="243B53"/>
              </a:solidFill>
              <a:latin typeface="Arial"/>
              <a:ea typeface="Arial"/>
              <a:cs typeface="Arial"/>
            </a:endParaRPr>
          </a:p>
          <a:p>
            <a:pPr lvl="0"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sz="100" dirty="0" smtClean="0" b="0">
              <a:solidFill>
                <a:srgbClr val="243B53"/>
              </a:solidFill>
              <a:latin typeface="Arial" pitchFamily="18" charset="0"/>
              <a:ea typeface="Arial"/>
              <a:cs typeface="Arial" pitchFamily="18" charset="0"/>
            </a:endParaRPr>
          </a:p>
          <a:p>
            <a:pPr marL="0" lv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a:solidFill>
                  <a:srgbClr val="243B53"/>
                </a:solidFill>
                <a:latin typeface="Arial" pitchFamily="18" charset="0"/>
                <a:ea typeface="Arial"/>
                <a:cs typeface="Arial" pitchFamily="18" charset="0"/>
              </a:rPr>
              <a:t>FORMULATING CHEMICALS FOR AUTOMIC PROCESSORS</a:t>
            </a:r>
            <a:endParaRPr sz="2050" b="1">
              <a:solidFill>
                <a:srgbClr val="243B53"/>
              </a:solidFill>
              <a:latin typeface="Arial"/>
              <a:ea typeface="Arial"/>
              <a:cs typeface="Arial"/>
            </a:endParaRPr>
          </a:p>
          <a:p>
            <a:pPr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Because automatic processing occurs at high speed and elevated temperatures , standard manual chemistry cannot be used. The chemistry must contain specialized hardening compounds to protect the film from swelling or melting.</a:t>
            </a:r>
            <a:endParaRPr sz="2000" b="0">
              <a:solidFill>
                <a:srgbClr val="243B53"/>
              </a:solidFill>
              <a:latin typeface="Arial"/>
              <a:ea typeface="Arial"/>
              <a:cs typeface="Arial"/>
            </a:endParaRPr>
          </a:p>
          <a:p>
            <a:pPr lvl="0"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sz="100" dirty="0" b="0">
              <a:solidFill>
                <a:srgbClr val="243B53"/>
              </a:solidFill>
              <a:latin typeface="Arial" pitchFamily="18" charset="0"/>
              <a:ea typeface="Arial"/>
              <a:cs typeface="Arial" pitchFamily="18" charset="0"/>
            </a:endParaRPr>
          </a:p>
        </p:txBody>
      </p:sp>
    </p:spTree>
    <p:extLst>
      <p:ext uri="{BB962C8B-B14F-4D97-AF65-F5344CB8AC3E}">
        <p14:creationId val="476457602"/>
      </p:ext>
    </p:extLst>
  </p:cSld>
  <p:clrMapOvr>
    <a:masterClrMapping/>
  </p:clrMapOvr>
  <p:transition spd="slow">
    <p:push dir="u"/>
  </p:transition>
</p:sld>
</file>

<file path=ppt/slides/slide1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val="1744589361"/>
              </p:ext>
            </p:extLst>
          </p:nvPr>
        </p:nvGraphicFramePr>
        <p:xfrm>
          <a:off x="502920" y="582930"/>
          <a:ext cx="8138160" cy="5589270"/>
        </p:xfrm>
        <a:graphic>
          <a:graphicData uri="http://schemas.openxmlformats.org/drawingml/2006/table">
            <a:tbl>
              <a:tblPr firstRow="1" firstCol="1" bandRow="1">
                <a:tableStyleId>{5C22544A-7EE6-4342-B048-85BDC9FD1C3A}</a:tableStyleId>
              </a:tblPr>
              <a:tblGrid>
                <a:gridCol w="245788"/>
                <a:gridCol w="2311566"/>
                <a:gridCol w="3227315"/>
                <a:gridCol w="2353490"/>
              </a:tblGrid>
              <a:tr h="562539">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dirty="0" b="1">
                          <a:solidFill>
                            <a:srgbClr val="FFFFFF"/>
                          </a:solidFill>
                          <a:effectLst/>
                          <a:latin typeface="Arial"/>
                          <a:ea typeface="Arial"/>
                          <a:cs typeface="Arial"/>
                        </a:rPr>
                        <a:t>S/N</a:t>
                      </a:r>
                      <a:endParaRPr lang="en-US" sz="1350" kern="100" dirty="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dirty="0" b="1">
                          <a:solidFill>
                            <a:srgbClr val="FFFFFF"/>
                          </a:solidFill>
                          <a:effectLst/>
                          <a:latin typeface="Arial"/>
                          <a:ea typeface="Arial"/>
                          <a:cs typeface="Arial"/>
                        </a:rPr>
                        <a:t>SOLUTION   COMPONENT</a:t>
                      </a:r>
                      <a:endParaRPr lang="en-US" sz="1350" kern="100" dirty="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b="1">
                          <a:solidFill>
                            <a:srgbClr val="FFFFFF"/>
                          </a:solidFill>
                          <a:effectLst/>
                          <a:latin typeface="Arial"/>
                          <a:ea typeface="Arial"/>
                          <a:cs typeface="Arial"/>
                        </a:rPr>
                        <a:t>ACTIVE CHEMICAL AGENTS</a:t>
                      </a:r>
                      <a:endParaRPr lang="en-US" sz="1350" kern="10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b="1">
                          <a:solidFill>
                            <a:srgbClr val="FFFFFF"/>
                          </a:solidFill>
                          <a:effectLst/>
                          <a:latin typeface="Arial"/>
                          <a:ea typeface="Arial"/>
                          <a:cs typeface="Arial"/>
                        </a:rPr>
                        <a:t>PRIMARY FUNCTION</a:t>
                      </a:r>
                      <a:endParaRPr sz="1350" b="1">
                        <a:solidFill>
                          <a:srgbClr val="FFFFFF"/>
                        </a:solidFill>
                        <a:latin typeface="Arial"/>
                        <a:ea typeface="Arial"/>
                        <a:cs typeface="Arial"/>
                      </a:endParaRPr>
                    </a:p>
                    <a:p>
                      <a:pPr marL="0" marR="0" algn="l">
                        <a:lnSpc>
                          <a:spcPct val="107000"/>
                        </a:lnSpc>
                        <a:spcBef>
                          <a:spcPts val="0"/>
                        </a:spcBef>
                        <a:spcAft>
                          <a:spcPts val="0"/>
                        </a:spcAft>
                        <a:defRPr sz="1350" b="1">
                          <a:solidFill>
                            <a:srgbClr val="FFFFFF"/>
                          </a:solidFill>
                          <a:latin typeface="Arial"/>
                          <a:ea typeface="Arial"/>
                          <a:cs typeface="Arial"/>
                        </a:defRPr>
                      </a:pPr>
                      <a:r>
                        <a:rPr lang="en-US" sz="1350" kern="100" b="1">
                          <a:solidFill>
                            <a:srgbClr val="FFFFFF"/>
                          </a:solidFill>
                          <a:effectLst/>
                          <a:latin typeface="Arial"/>
                          <a:ea typeface="Arial"/>
                          <a:cs typeface="Arial"/>
                        </a:rPr>
                        <a:t> </a:t>
                      </a:r>
                      <a:endParaRPr lang="en-US" sz="1350" kern="100" b="1">
                        <a:solidFill>
                          <a:srgbClr val="FFFFFF"/>
                        </a:solidFill>
                        <a:effectLst/>
                        <a:latin typeface="Arial"/>
                        <a:ea typeface="Arial"/>
                        <a:cs typeface="Arial"/>
                      </a:endParaRPr>
                    </a:p>
                  </a:txBody>
                  <a:tcPr marL="63500" marR="63500" marT="50800" marB="50800">
                    <a:solidFill>
                      <a:srgbClr val="243B53"/>
                    </a:solidFill>
                  </a:tcPr>
                </a:tc>
              </a:tr>
              <a:tr h="2513365">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1  </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Developer</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Hydroquinone and phenidone   Sodium sulfite, potassium bromide                                      Glutaraldehyde                                                               </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Converts exposed silver crystals to black metallic</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silver , preservative against</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Aerial oxidation, hardiner –( prevents excessive emulsion swelling) Restrainer ( pre</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vents unexposed crystals</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from developing )</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 </a:t>
                      </a:r>
                      <a:endParaRPr lang="en-US" sz="1350" kern="100" b="0">
                        <a:solidFill>
                          <a:srgbClr val="243B53"/>
                        </a:solidFill>
                        <a:effectLst/>
                        <a:latin typeface="Arial"/>
                        <a:ea typeface="Arial"/>
                        <a:cs typeface="Arial"/>
                      </a:endParaRPr>
                    </a:p>
                  </a:txBody>
                  <a:tcPr marL="63500" marR="63500" marT="50800" marB="50800">
                    <a:solidFill>
                      <a:srgbClr val="F1F5FB"/>
                    </a:solidFill>
                  </a:tcPr>
                </a:tc>
              </a:tr>
              <a:tr h="2513365">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2</a:t>
                      </a:r>
                      <a:endParaRPr lang="en-US" sz="135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Fixer</a:t>
                      </a:r>
                      <a:endParaRPr lang="en-US" sz="1350" kern="100" dirty="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smtClean="0" b="0">
                          <a:solidFill>
                            <a:srgbClr val="243B53"/>
                          </a:solidFill>
                          <a:effectLst/>
                          <a:latin typeface="Arial"/>
                          <a:ea typeface="Arial"/>
                          <a:cs typeface="Arial"/>
                        </a:rPr>
                        <a:t> </a:t>
                      </a:r>
                      <a:r>
                        <a:rPr lang="en-US" sz="1350" kern="100" dirty="0" b="0">
                          <a:solidFill>
                            <a:srgbClr val="243B53"/>
                          </a:solidFill>
                          <a:effectLst/>
                          <a:latin typeface="Arial"/>
                          <a:ea typeface="Arial"/>
                          <a:cs typeface="Arial"/>
                        </a:rPr>
                        <a:t>Ammonium thiosulfate, Acetic Acid,   Potassium, Alum, sodium sulfite            </a:t>
                      </a:r>
                      <a:endParaRPr lang="en-US" sz="1350" kern="100" dirty="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cleaving agent ( dissolves </a:t>
                      </a:r>
                      <a:r>
                        <a:rPr lang="en-US" sz="1350" kern="100" dirty="0" smtClean="0" b="0">
                          <a:solidFill>
                            <a:srgbClr val="243B53"/>
                          </a:solidFill>
                          <a:effectLst/>
                          <a:latin typeface="Arial"/>
                          <a:ea typeface="Arial"/>
                          <a:cs typeface="Arial"/>
                        </a:rPr>
                        <a:t> </a:t>
                      </a:r>
                      <a:r>
                        <a:rPr lang="en-US" sz="1350" kern="100" dirty="0" b="0">
                          <a:solidFill>
                            <a:srgbClr val="243B53"/>
                          </a:solidFill>
                          <a:effectLst/>
                          <a:latin typeface="Arial"/>
                          <a:ea typeface="Arial"/>
                          <a:cs typeface="Arial"/>
                        </a:rPr>
                        <a:t>unexposed silver halide </a:t>
                      </a:r>
                      <a:r>
                        <a:rPr lang="en-US" sz="1350" kern="100" dirty="0" smtClean="0" b="0">
                          <a:solidFill>
                            <a:srgbClr val="243B53"/>
                          </a:solidFill>
                          <a:effectLst/>
                          <a:latin typeface="Arial"/>
                          <a:ea typeface="Arial"/>
                          <a:cs typeface="Arial"/>
                        </a:rPr>
                        <a:t>crystals ).</a:t>
                      </a:r>
                      <a:endParaRPr lang="en-US" sz="1350" kern="100" dirty="0" b="0">
                        <a:solidFill>
                          <a:srgbClr val="243B53"/>
                        </a:solidFill>
                        <a:effectLst/>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smtClean="0" b="0">
                          <a:solidFill>
                            <a:srgbClr val="243B53"/>
                          </a:solidFill>
                          <a:effectLst/>
                          <a:latin typeface="Arial"/>
                          <a:ea typeface="Arial"/>
                          <a:cs typeface="Arial"/>
                        </a:rPr>
                        <a:t> </a:t>
                      </a:r>
                      <a:r>
                        <a:rPr lang="en-US" sz="1350" kern="100" dirty="0" err="1" b="0">
                          <a:solidFill>
                            <a:srgbClr val="243B53"/>
                          </a:solidFill>
                          <a:effectLst/>
                          <a:latin typeface="Arial"/>
                          <a:ea typeface="Arial"/>
                          <a:cs typeface="Arial"/>
                        </a:rPr>
                        <a:t>Acidifieis</a:t>
                      </a:r>
                      <a:r>
                        <a:rPr lang="en-US" sz="1350" kern="100" dirty="0" b="0">
                          <a:solidFill>
                            <a:srgbClr val="243B53"/>
                          </a:solidFill>
                          <a:effectLst/>
                          <a:latin typeface="Arial"/>
                          <a:ea typeface="Arial"/>
                          <a:cs typeface="Arial"/>
                        </a:rPr>
                        <a:t>/buffer( </a:t>
                      </a:r>
                      <a:r>
                        <a:rPr lang="en-US" sz="1350" kern="100" dirty="0" smtClean="0" b="0">
                          <a:solidFill>
                            <a:srgbClr val="243B53"/>
                          </a:solidFill>
                          <a:effectLst/>
                          <a:latin typeface="Arial"/>
                          <a:ea typeface="Arial"/>
                          <a:cs typeface="Arial"/>
                        </a:rPr>
                        <a:t>neutralizes residual alkaline developer).</a:t>
                      </a:r>
                      <a:r>
                        <a:rPr lang="en-US" sz="1350" kern="100" baseline="0" dirty="0" smtClean="0" b="0">
                          <a:solidFill>
                            <a:srgbClr val="243B53"/>
                          </a:solidFill>
                          <a:effectLst/>
                          <a:latin typeface="Arial"/>
                          <a:ea typeface="Arial"/>
                          <a:cs typeface="Arial"/>
                        </a:rPr>
                        <a:t> </a:t>
                      </a:r>
                      <a:r>
                        <a:rPr lang="en-US" sz="1350" kern="100" dirty="0" smtClean="0" b="0">
                          <a:solidFill>
                            <a:srgbClr val="243B53"/>
                          </a:solidFill>
                          <a:effectLst/>
                          <a:latin typeface="Arial"/>
                          <a:ea typeface="Arial"/>
                          <a:cs typeface="Arial"/>
                        </a:rPr>
                        <a:t>Hardener</a:t>
                      </a:r>
                      <a:r>
                        <a:rPr lang="en-US" sz="1350" kern="100" dirty="0" b="0">
                          <a:solidFill>
                            <a:srgbClr val="243B53"/>
                          </a:solidFill>
                          <a:effectLst/>
                          <a:latin typeface="Arial"/>
                          <a:ea typeface="Arial"/>
                          <a:cs typeface="Arial"/>
                        </a:rPr>
                        <a:t>( shrinks </a:t>
                      </a:r>
                      <a:r>
                        <a:rPr lang="en-US" sz="1350" kern="100" dirty="0" smtClean="0" b="0">
                          <a:solidFill>
                            <a:srgbClr val="243B53"/>
                          </a:solidFill>
                          <a:effectLst/>
                          <a:latin typeface="Arial"/>
                          <a:ea typeface="Arial"/>
                          <a:cs typeface="Arial"/>
                        </a:rPr>
                        <a:t>and  </a:t>
                      </a:r>
                      <a:endParaRPr lang="en-US" sz="1350" kern="100" dirty="0" b="0">
                        <a:solidFill>
                          <a:srgbClr val="243B53"/>
                        </a:solidFill>
                        <a:effectLst/>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permanently hardens the </a:t>
                      </a:r>
                      <a:r>
                        <a:rPr lang="en-US" sz="1350" kern="100" dirty="0" err="1" b="0">
                          <a:solidFill>
                            <a:srgbClr val="243B53"/>
                          </a:solidFill>
                          <a:effectLst/>
                          <a:latin typeface="Arial"/>
                          <a:ea typeface="Arial"/>
                          <a:cs typeface="Arial"/>
                        </a:rPr>
                        <a:t>gelatine</a:t>
                      </a:r>
                      <a:r>
                        <a:rPr lang="en-US" sz="1350" kern="100" dirty="0" b="0">
                          <a:solidFill>
                            <a:srgbClr val="243B53"/>
                          </a:solidFill>
                          <a:effectLst/>
                          <a:latin typeface="Arial"/>
                          <a:ea typeface="Arial"/>
                          <a:cs typeface="Arial"/>
                        </a:rPr>
                        <a:t>). Preservative.</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 </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 </a:t>
                      </a:r>
                      <a:endParaRPr lang="en-US" sz="1350" kern="100" dirty="0" b="0">
                        <a:solidFill>
                          <a:srgbClr val="243B53"/>
                        </a:solidFill>
                        <a:effectLst/>
                        <a:latin typeface="Arial"/>
                        <a:ea typeface="Arial"/>
                        <a:cs typeface="Arial"/>
                      </a:endParaRPr>
                    </a:p>
                  </a:txBody>
                  <a:tcPr marL="63500" marR="63500" marT="50800" marB="50800">
                    <a:solidFill>
                      <a:srgbClr val="FFFFFF"/>
                    </a:solidFill>
                  </a:tcPr>
                </a:tc>
              </a:tr>
            </a:tbl>
          </a:graphicData>
        </a:graphic>
      </p:graphicFrame>
    </p:spTree>
    <p:extLst>
      <p:ext uri="{BB962C8B-B14F-4D97-AF65-F5344CB8AC3E}">
        <p14:creationId val="2287816811"/>
      </p:ext>
    </p:extLst>
  </p:cSld>
  <p:clrMapOvr>
    <a:masterClrMapping/>
  </p:clrMapOvr>
  <p:transition spd="slow">
    <p:push dir="u"/>
  </p:transition>
</p:sld>
</file>

<file path=ppt/slides/slide1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lvl="0" indent="0" algn="l">
              <a:lnSpc>
                <a:spcPct val="118000"/>
              </a:lnSpc>
              <a:spcBef>
                <a:spcPts val="0"/>
              </a:spcBef>
              <a:spcAft>
                <a:spcPts val="450"/>
              </a:spcAft>
              <a:buAutoNum type="arabicPeriod" startAt="7"/>
              <a:defRPr sz="2250" b="1">
                <a:solidFill>
                  <a:srgbClr val="243B53"/>
                </a:solidFill>
                <a:latin typeface="Arial"/>
                <a:ea typeface="Arial"/>
                <a:cs typeface="Arial"/>
              </a:defRPr>
            </a:pPr>
            <a:r>
              <a:rPr lang="en-US" sz="2250" b="1" dirty="0" smtClean="0">
                <a:solidFill>
                  <a:srgbClr val="243B53"/>
                </a:solidFill>
                <a:latin typeface="Arial" pitchFamily="18" charset="0"/>
                <a:ea typeface="Arial"/>
                <a:cs typeface="Arial" pitchFamily="18" charset="0"/>
              </a:rPr>
              <a:t>ROUTING </a:t>
            </a:r>
            <a:r>
              <a:rPr lang="en-US" sz="2250" b="1" dirty="0">
                <a:solidFill>
                  <a:srgbClr val="243B53"/>
                </a:solidFill>
                <a:latin typeface="Arial" pitchFamily="18" charset="0"/>
                <a:ea typeface="Arial"/>
                <a:cs typeface="Arial" pitchFamily="18" charset="0"/>
              </a:rPr>
              <a:t>OPERATING </a:t>
            </a:r>
            <a:r>
              <a:rPr lang="en-US" sz="2250" b="1" dirty="0" smtClean="0">
                <a:solidFill>
                  <a:srgbClr val="243B53"/>
                </a:solidFill>
                <a:latin typeface="Arial" pitchFamily="18" charset="0"/>
                <a:ea typeface="Arial"/>
                <a:cs typeface="Arial" pitchFamily="18" charset="0"/>
              </a:rPr>
              <a:t>PROTOCOLS </a:t>
            </a:r>
            <a:endParaRPr sz="2250" b="1">
              <a:solidFill>
                <a:srgbClr val="243B53"/>
              </a:solidFill>
              <a:latin typeface="Arial"/>
              <a:ea typeface="Arial"/>
              <a:cs typeface="Arial"/>
            </a:endParaRPr>
          </a:p>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smtClean="0">
                <a:solidFill>
                  <a:srgbClr val="243B53"/>
                </a:solidFill>
                <a:latin typeface="Arial" pitchFamily="18" charset="0"/>
                <a:ea typeface="Arial"/>
                <a:cs typeface="Arial" pitchFamily="18" charset="0"/>
              </a:rPr>
              <a:t>A. STARTING </a:t>
            </a:r>
            <a:r>
              <a:rPr lang="en-US" sz="2250" b="1" dirty="0">
                <a:solidFill>
                  <a:srgbClr val="243B53"/>
                </a:solidFill>
                <a:latin typeface="Arial" pitchFamily="18" charset="0"/>
                <a:ea typeface="Arial"/>
                <a:cs typeface="Arial" pitchFamily="18" charset="0"/>
              </a:rPr>
              <a:t>ROUTINE</a:t>
            </a:r>
            <a:endParaRPr sz="2250" b="1">
              <a:solidFill>
                <a:srgbClr val="243B53"/>
              </a:solidFill>
              <a:latin typeface="Arial"/>
              <a:ea typeface="Arial"/>
              <a:cs typeface="Arial"/>
            </a:endParaRPr>
          </a:p>
          <a:p>
            <a:pPr mar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 </a:t>
            </a:r>
            <a:r>
              <a:rPr lang="en-US" sz="2200" dirty="0" b="0">
                <a:solidFill>
                  <a:srgbClr val="243B53"/>
                </a:solidFill>
                <a:latin typeface="Arial" pitchFamily="18" charset="0"/>
                <a:ea typeface="Arial"/>
                <a:cs typeface="Arial" pitchFamily="18" charset="0"/>
              </a:rPr>
              <a:t>Check the chemical volumes in the external replenishment tanks</a:t>
            </a:r>
            <a:endParaRPr sz="2200" b="0">
              <a:solidFill>
                <a:srgbClr val="243B53"/>
              </a:solidFill>
              <a:latin typeface="Arial"/>
              <a:ea typeface="Arial"/>
              <a:cs typeface="Arial"/>
            </a:endParaRPr>
          </a:p>
          <a:p>
            <a:pPr mar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  </a:t>
            </a:r>
            <a:r>
              <a:rPr lang="en-US" sz="2200" dirty="0" b="0">
                <a:solidFill>
                  <a:srgbClr val="243B53"/>
                </a:solidFill>
                <a:latin typeface="Arial" pitchFamily="18" charset="0"/>
                <a:ea typeface="Arial"/>
                <a:cs typeface="Arial" pitchFamily="18" charset="0"/>
              </a:rPr>
              <a:t>open the main water supply valve to initiate flow into the wash tank</a:t>
            </a:r>
            <a:endParaRPr sz="2200" b="0">
              <a:solidFill>
                <a:srgbClr val="243B53"/>
              </a:solidFill>
              <a:latin typeface="Arial"/>
              <a:ea typeface="Arial"/>
              <a:cs typeface="Arial"/>
            </a:endParaRPr>
          </a:p>
          <a:p>
            <a:pPr mar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b="0">
                <a:solidFill>
                  <a:srgbClr val="243B53"/>
                </a:solidFill>
                <a:latin typeface="Arial" pitchFamily="18" charset="0"/>
                <a:ea typeface="Arial"/>
                <a:cs typeface="Arial" pitchFamily="18" charset="0"/>
              </a:rPr>
              <a:t> </a:t>
            </a:r>
            <a:r>
              <a:rPr lang="en-US" sz="2200" dirty="0" smtClean="0" b="0">
                <a:solidFill>
                  <a:srgbClr val="243B53"/>
                </a:solidFill>
                <a:latin typeface="Arial" pitchFamily="18" charset="0"/>
                <a:ea typeface="Arial"/>
                <a:cs typeface="Arial" pitchFamily="18" charset="0"/>
              </a:rPr>
              <a:t>Ensure </a:t>
            </a:r>
            <a:r>
              <a:rPr lang="en-US" sz="2200" dirty="0" b="0">
                <a:solidFill>
                  <a:srgbClr val="243B53"/>
                </a:solidFill>
                <a:latin typeface="Arial" pitchFamily="18" charset="0"/>
                <a:ea typeface="Arial"/>
                <a:cs typeface="Arial" pitchFamily="18" charset="0"/>
              </a:rPr>
              <a:t>the active  tank drain valve are tightly closed.</a:t>
            </a:r>
            <a:endParaRPr sz="2200" b="0">
              <a:solidFill>
                <a:srgbClr val="243B53"/>
              </a:solidFill>
              <a:latin typeface="Arial"/>
              <a:ea typeface="Arial"/>
              <a:cs typeface="Arial"/>
            </a:endParaRPr>
          </a:p>
          <a:p>
            <a:pPr mar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Turn </a:t>
            </a:r>
            <a:r>
              <a:rPr lang="en-US" sz="2200" dirty="0" b="0">
                <a:solidFill>
                  <a:srgbClr val="243B53"/>
                </a:solidFill>
                <a:latin typeface="Arial" pitchFamily="18" charset="0"/>
                <a:ea typeface="Arial"/>
                <a:cs typeface="Arial" pitchFamily="18" charset="0"/>
              </a:rPr>
              <a:t>on the main electrical power toggle</a:t>
            </a:r>
            <a:endParaRPr sz="2200" b="0">
              <a:solidFill>
                <a:srgbClr val="243B53"/>
              </a:solidFill>
              <a:latin typeface="Arial"/>
              <a:ea typeface="Arial"/>
              <a:cs typeface="Arial"/>
            </a:endParaRPr>
          </a:p>
          <a:p>
            <a:pPr marL="0" indent="0" algn="l">
              <a:lnSpc>
                <a:spcPct val="118000"/>
              </a:lnSpc>
              <a:spcBef>
                <a:spcPts val="0"/>
              </a:spcBef>
              <a:spcAft>
                <a:spcPts val="450"/>
              </a:spcAft>
              <a:buFont typeface="+mj-lt"/>
              <a:buAutoNum type="romanLcPeriod"/>
              <a:defRPr sz="2200" b="0">
                <a:solidFill>
                  <a:srgbClr val="243B53"/>
                </a:solidFill>
                <a:latin typeface="Arial"/>
                <a:ea typeface="Arial"/>
                <a:cs typeface="Arial"/>
              </a:defRPr>
            </a:pPr>
            <a:r>
              <a:rPr lang="en-US" sz="2200" dirty="0" smtClean="0" b="0">
                <a:solidFill>
                  <a:srgbClr val="243B53"/>
                </a:solidFill>
                <a:latin typeface="Arial" pitchFamily="18" charset="0"/>
                <a:ea typeface="Arial"/>
                <a:cs typeface="Arial" pitchFamily="18" charset="0"/>
              </a:rPr>
              <a:t>Allow </a:t>
            </a:r>
            <a:r>
              <a:rPr lang="en-US" sz="2200" dirty="0" b="0">
                <a:solidFill>
                  <a:srgbClr val="243B53"/>
                </a:solidFill>
                <a:latin typeface="Arial" pitchFamily="18" charset="0"/>
                <a:ea typeface="Arial"/>
                <a:cs typeface="Arial" pitchFamily="18" charset="0"/>
              </a:rPr>
              <a:t>15 – 20 minutes for the chemical heaters to reach stable operating temperature ( indicated by a ready light </a:t>
            </a:r>
            <a:r>
              <a:rPr lang="en-US" sz="2200" dirty="0" smtClean="0" b="0">
                <a:solidFill>
                  <a:srgbClr val="243B53"/>
                </a:solidFill>
                <a:latin typeface="Arial" pitchFamily="18" charset="0"/>
                <a:ea typeface="Arial"/>
                <a:cs typeface="Arial" pitchFamily="18" charset="0"/>
              </a:rPr>
              <a:t>).</a:t>
            </a:r>
            <a:endParaRPr lang="en-US" sz="2200" dirty="0" b="0">
              <a:solidFill>
                <a:srgbClr val="243B53"/>
              </a:solidFill>
              <a:latin typeface="Arial" pitchFamily="18" charset="0"/>
              <a:ea typeface="Arial"/>
              <a:cs typeface="Arial" pitchFamily="18" charset="0"/>
            </a:endParaRPr>
          </a:p>
        </p:txBody>
      </p:sp>
    </p:spTree>
    <p:extLst>
      <p:ext uri="{BB962C8B-B14F-4D97-AF65-F5344CB8AC3E}">
        <p14:creationId val="3034418723"/>
      </p:ext>
    </p:extLst>
  </p:cSld>
  <p:clrMapOvr>
    <a:masterClrMapping/>
  </p:clrMapOvr>
  <p:transition spd="slow">
    <p:push dir="u"/>
  </p:transition>
</p:sld>
</file>

<file path=ppt/slides/slide2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sz="2000" dirty="0" smtClean="0" b="0">
                <a:solidFill>
                  <a:srgbClr val="243B53"/>
                </a:solidFill>
                <a:latin typeface="Arial" pitchFamily="18" charset="0"/>
                <a:ea typeface="Arial"/>
                <a:cs typeface="Arial" pitchFamily="18" charset="0"/>
              </a:rPr>
              <a:t>vi.	feed a clean “cleaner film” ( dummy film ) through 	the processor to lift any dried chemical crust 0r 	debris off the roller pathways before processing 	patient films.</a:t>
            </a:r>
            <a:endParaRPr sz="2000" b="0">
              <a:solidFill>
                <a:srgbClr val="243B53"/>
              </a:solidFill>
              <a:latin typeface="Arial"/>
              <a:ea typeface="Arial"/>
              <a:cs typeface="Arial"/>
            </a:endParaRPr>
          </a:p>
          <a:p>
            <a:pPr marL="0" lv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smtClean="0">
                <a:solidFill>
                  <a:srgbClr val="243B53"/>
                </a:solidFill>
                <a:latin typeface="Arial" pitchFamily="18" charset="0"/>
                <a:ea typeface="Arial"/>
                <a:cs typeface="Arial" pitchFamily="18" charset="0"/>
              </a:rPr>
              <a:t>B. SHUTDOWN </a:t>
            </a:r>
            <a:r>
              <a:rPr lang="en-US" sz="2050" b="1" dirty="0">
                <a:solidFill>
                  <a:srgbClr val="243B53"/>
                </a:solidFill>
                <a:latin typeface="Arial" pitchFamily="18" charset="0"/>
                <a:ea typeface="Arial"/>
                <a:cs typeface="Arial" pitchFamily="18" charset="0"/>
              </a:rPr>
              <a:t>ROUTINE</a:t>
            </a:r>
            <a:endParaRPr sz="2050" b="1">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Turn off the main electrical power button</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Turn off the main water valve to prevent waste or flooding.</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Remove the top processor splash cover to reduce condensation and prevent chemical crystals from dripping back into opening tank</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itchFamily="18" charset="0"/>
                <a:ea typeface="Arial"/>
                <a:cs typeface="Arial" pitchFamily="18" charset="0"/>
              </a:rPr>
              <a:t>Leave the main  top lid slightly propped open to vent residual humidity overnight.</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r>
              <a:rPr lang="en-US" sz="100" dirty="0" b="0">
                <a:solidFill>
                  <a:srgbClr val="243B53"/>
                </a:solidFill>
                <a:latin typeface="Arial" pitchFamily="18" charset="0"/>
                <a:ea typeface="Arial"/>
                <a:cs typeface="Arial" pitchFamily="18" charset="0"/>
              </a:rPr>
              <a:t> </a:t>
            </a:r>
            <a:endParaRPr sz="1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smtClean="0" b="0">
              <a:solidFill>
                <a:srgbClr val="243B53"/>
              </a:solidFill>
              <a:latin typeface="Arial" pitchFamily="18" charset="0"/>
              <a:ea typeface="Arial"/>
              <a:cs typeface="Arial" pitchFamily="18" charset="0"/>
            </a:endParaRPr>
          </a:p>
        </p:txBody>
      </p:sp>
    </p:spTree>
    <p:extLst>
      <p:ext uri="{BB962C8B-B14F-4D97-AF65-F5344CB8AC3E}">
        <p14:creationId val="2059409515"/>
      </p:ext>
    </p:extLst>
  </p:cSld>
  <p:clrMapOvr>
    <a:masterClrMapping/>
  </p:clrMapOvr>
  <p:transition spd="slow">
    <p:push dir="u"/>
  </p:transition>
</p:sld>
</file>

<file path=ppt/slides/slide21.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graphicFrame>
        <p:nvGraphicFramePr>
          <p:cNvPr id="2" name="Content Placeholder 1"/>
          <p:cNvGraphicFramePr>
            <a:graphicFrameLocks noGrp="1"/>
          </p:cNvGraphicFramePr>
          <p:nvPr>
            <p:ph idx="1"/>
            <p:extLst>
              <p:ext uri="{D42A27DB-BD31-4B8C-83A1-F6EECF244321}">
                <p14:modId val="2481565441"/>
              </p:ext>
            </p:extLst>
          </p:nvPr>
        </p:nvGraphicFramePr>
        <p:xfrm>
          <a:off x="502920" y="1748790"/>
          <a:ext cx="8138160" cy="4423410"/>
        </p:xfrm>
        <a:graphic>
          <a:graphicData uri="http://schemas.openxmlformats.org/drawingml/2006/table">
            <a:tbl>
              <a:tblPr firstRow="1" firstCol="1" bandRow="1">
                <a:tableStyleId>{5C22544A-7EE6-4342-B048-85BDC9FD1C3A}</a:tableStyleId>
              </a:tblPr>
              <a:tblGrid>
                <a:gridCol w="663944"/>
                <a:gridCol w="2227823"/>
                <a:gridCol w="2246314"/>
                <a:gridCol w="3000076"/>
              </a:tblGrid>
              <a:tr h="327117">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dirty="0" b="1">
                          <a:solidFill>
                            <a:srgbClr val="FFFFFF"/>
                          </a:solidFill>
                          <a:effectLst/>
                          <a:latin typeface="Arial"/>
                          <a:ea typeface="Arial"/>
                          <a:cs typeface="Arial"/>
                        </a:rPr>
                        <a:t>S/N</a:t>
                      </a:r>
                      <a:endParaRPr lang="en-US" sz="1350" kern="100" dirty="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b="1">
                          <a:solidFill>
                            <a:srgbClr val="FFFFFF"/>
                          </a:solidFill>
                          <a:effectLst/>
                          <a:latin typeface="Arial"/>
                          <a:ea typeface="Arial"/>
                          <a:cs typeface="Arial"/>
                        </a:rPr>
                        <a:t>PROBLEM/ ARTIFACT</a:t>
                      </a:r>
                      <a:endParaRPr lang="en-US" sz="1350" kern="10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b="1">
                          <a:solidFill>
                            <a:srgbClr val="FFFFFF"/>
                          </a:solidFill>
                          <a:effectLst/>
                          <a:latin typeface="Arial"/>
                          <a:ea typeface="Arial"/>
                          <a:cs typeface="Arial"/>
                        </a:rPr>
                        <a:t>LIKELY CAUSE</a:t>
                      </a:r>
                      <a:endParaRPr lang="en-US" sz="1350" kern="100" b="1">
                        <a:solidFill>
                          <a:srgbClr val="FFFFFF"/>
                        </a:solidFill>
                        <a:effectLst/>
                        <a:latin typeface="Arial"/>
                        <a:ea typeface="Arial"/>
                        <a:cs typeface="Arial"/>
                      </a:endParaRPr>
                    </a:p>
                  </a:txBody>
                  <a:tcPr marL="63500" marR="63500" marT="50800" marB="50800">
                    <a:solidFill>
                      <a:srgbClr val="243B53"/>
                    </a:solidFill>
                  </a:tcPr>
                </a:tc>
                <a:tc>
                  <a:txBody>
                    <a:bodyPr/>
                    <a:lstStyle/>
                    <a:p>
                      <a:pPr marL="0" marR="0" algn="l">
                        <a:lnSpc>
                          <a:spcPct val="107000"/>
                        </a:lnSpc>
                        <a:spcBef>
                          <a:spcPts val="0"/>
                        </a:spcBef>
                        <a:spcAft>
                          <a:spcPts val="0"/>
                        </a:spcAft>
                        <a:defRPr sz="1350" b="1">
                          <a:solidFill>
                            <a:srgbClr val="FFFFFF"/>
                          </a:solidFill>
                          <a:latin typeface="Arial"/>
                          <a:ea typeface="Arial"/>
                          <a:cs typeface="Arial"/>
                        </a:defRPr>
                      </a:pPr>
                      <a:r>
                        <a:rPr lang="en-US" sz="1350" kern="100" b="1">
                          <a:solidFill>
                            <a:srgbClr val="FFFFFF"/>
                          </a:solidFill>
                          <a:effectLst/>
                          <a:latin typeface="Arial"/>
                          <a:ea typeface="Arial"/>
                          <a:cs typeface="Arial"/>
                        </a:rPr>
                        <a:t>SOLUTION</a:t>
                      </a:r>
                      <a:endParaRPr lang="en-US" sz="1350" kern="100" b="1">
                        <a:solidFill>
                          <a:srgbClr val="FFFFFF"/>
                        </a:solidFill>
                        <a:effectLst/>
                        <a:latin typeface="Arial"/>
                        <a:ea typeface="Arial"/>
                        <a:cs typeface="Arial"/>
                      </a:endParaRPr>
                    </a:p>
                  </a:txBody>
                  <a:tcPr marL="63500" marR="63500" marT="50800" marB="50800">
                    <a:solidFill>
                      <a:srgbClr val="243B53"/>
                    </a:solidFill>
                  </a:tcPr>
                </a:tc>
              </a:tr>
              <a:tr h="1147352">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1</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Damp or wet film</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Dryer temperature too Low , exhausted fixer,                                             Hardener; high room                                Humidity                                                                                      </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    </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check dryer heating element; verify fixer strength</a:t>
                      </a:r>
                      <a:endParaRPr lang="en-US" sz="1350" kern="100" dirty="0" b="0">
                        <a:solidFill>
                          <a:srgbClr val="243B53"/>
                        </a:solidFill>
                        <a:effectLst/>
                        <a:latin typeface="Arial"/>
                        <a:ea typeface="Arial"/>
                        <a:cs typeface="Arial"/>
                      </a:endParaRPr>
                    </a:p>
                  </a:txBody>
                  <a:tcPr marL="63500" marR="63500" marT="50800" marB="50800">
                    <a:solidFill>
                      <a:srgbClr val="F1F5FB"/>
                    </a:solidFill>
                  </a:tcPr>
                </a:tc>
              </a:tr>
              <a:tr h="737235">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2</a:t>
                      </a:r>
                      <a:endParaRPr lang="en-US" sz="135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Guide shoe marks/ Scratches</a:t>
                      </a:r>
                      <a:endParaRPr lang="en-US" sz="135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Misaligned or dirty roller guide shoes scratching The emulsion          </a:t>
                      </a:r>
                      <a:endParaRPr lang="en-US" sz="135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clean the racks, adjust guide shoe alignment</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 </a:t>
                      </a:r>
                      <a:endParaRPr lang="en-US" sz="1350" kern="100" b="0">
                        <a:solidFill>
                          <a:srgbClr val="243B53"/>
                        </a:solidFill>
                        <a:effectLst/>
                        <a:latin typeface="Arial"/>
                        <a:ea typeface="Arial"/>
                        <a:cs typeface="Arial"/>
                      </a:endParaRPr>
                    </a:p>
                  </a:txBody>
                  <a:tcPr marL="63500" marR="63500" marT="50800" marB="50800">
                    <a:solidFill>
                      <a:srgbClr val="FFFFFF"/>
                    </a:solidFill>
                  </a:tcPr>
                </a:tc>
              </a:tr>
              <a:tr h="737235">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3</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Pi lines ( 3.14-inches Repeats)                             </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Dirt, chemical crust, or a physical dent on a specific rollers</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clean thoroughly, replace damaged rollers</a:t>
                      </a:r>
                      <a:endParaRPr lang="en-US" sz="1350" kern="100" b="0">
                        <a:solidFill>
                          <a:srgbClr val="243B53"/>
                        </a:solidFill>
                        <a:effectLst/>
                        <a:latin typeface="Arial"/>
                        <a:ea typeface="Arial"/>
                        <a:cs typeface="Arial"/>
                      </a:endParaRPr>
                    </a:p>
                  </a:txBody>
                  <a:tcPr marL="63500" marR="63500" marT="50800" marB="50800">
                    <a:solidFill>
                      <a:srgbClr val="F1F5FB"/>
                    </a:solidFill>
                  </a:tcPr>
                </a:tc>
              </a:tr>
              <a:tr h="737235">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4</a:t>
                      </a:r>
                      <a:endParaRPr lang="en-US" sz="135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Chemical fog/dark film    </a:t>
                      </a:r>
                      <a:endParaRPr lang="en-US" sz="135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developer temperature too High, over replenishment    </a:t>
                      </a:r>
                      <a:endParaRPr lang="en-US" sz="1350" kern="100" b="0">
                        <a:solidFill>
                          <a:srgbClr val="243B53"/>
                        </a:solidFill>
                        <a:effectLst/>
                        <a:latin typeface="Arial"/>
                        <a:ea typeface="Arial"/>
                        <a:cs typeface="Arial"/>
                      </a:endParaRPr>
                    </a:p>
                  </a:txBody>
                  <a:tcPr marL="63500" marR="63500" marT="50800" marB="50800">
                    <a:solidFill>
                      <a:srgbClr val="FFFFFF"/>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calibrate thermostat Down, adjust replenishment rates                                              </a:t>
                      </a:r>
                      <a:endParaRPr lang="en-US" sz="1350" kern="100" b="0">
                        <a:solidFill>
                          <a:srgbClr val="243B53"/>
                        </a:solidFill>
                        <a:effectLst/>
                        <a:latin typeface="Arial"/>
                        <a:ea typeface="Arial"/>
                        <a:cs typeface="Arial"/>
                      </a:endParaRPr>
                    </a:p>
                  </a:txBody>
                  <a:tcPr marL="63500" marR="63500" marT="50800" marB="50800">
                    <a:solidFill>
                      <a:srgbClr val="FFFFFF"/>
                    </a:solidFill>
                  </a:tcPr>
                </a:tc>
              </a:tr>
              <a:tr h="737235">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5</a:t>
                      </a:r>
                      <a:endParaRPr lang="en-US" sz="1350" kern="100" dirty="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Film jamming</a:t>
                      </a:r>
                      <a:endParaRPr lang="en-US" sz="1350" kern="100" dirty="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b="0">
                          <a:solidFill>
                            <a:srgbClr val="243B53"/>
                          </a:solidFill>
                          <a:effectLst/>
                          <a:latin typeface="Arial"/>
                          <a:ea typeface="Arial"/>
                          <a:cs typeface="Arial"/>
                        </a:rPr>
                        <a:t>misaligned rollers; feeding Films too close together or Crookedly.</a:t>
                      </a:r>
                      <a:endParaRPr lang="en-US" sz="1350" kern="100" b="0">
                        <a:solidFill>
                          <a:srgbClr val="243B53"/>
                        </a:solidFill>
                        <a:effectLst/>
                        <a:latin typeface="Arial"/>
                        <a:ea typeface="Arial"/>
                        <a:cs typeface="Arial"/>
                      </a:endParaRPr>
                    </a:p>
                  </a:txBody>
                  <a:tcPr marL="63500" marR="63500" marT="50800" marB="50800">
                    <a:solidFill>
                      <a:srgbClr val="F1F5FB"/>
                    </a:solidFill>
                  </a:tcPr>
                </a:tc>
                <a:tc>
                  <a:txBody>
                    <a:bodyPr/>
                    <a:lstStyle/>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stagger film feeds; Inspect chain alignment.</a:t>
                      </a:r>
                      <a:endParaRPr sz="1350" b="0">
                        <a:solidFill>
                          <a:srgbClr val="243B53"/>
                        </a:solidFill>
                        <a:latin typeface="Arial"/>
                        <a:ea typeface="Arial"/>
                        <a:cs typeface="Arial"/>
                      </a:endParaRPr>
                    </a:p>
                    <a:p>
                      <a:pPr marL="0" marR="0" algn="l">
                        <a:lnSpc>
                          <a:spcPct val="107000"/>
                        </a:lnSpc>
                        <a:spcBef>
                          <a:spcPts val="0"/>
                        </a:spcBef>
                        <a:spcAft>
                          <a:spcPts val="0"/>
                        </a:spcAft>
                        <a:defRPr sz="1350" b="0">
                          <a:solidFill>
                            <a:srgbClr val="243B53"/>
                          </a:solidFill>
                          <a:latin typeface="Arial"/>
                          <a:ea typeface="Arial"/>
                          <a:cs typeface="Arial"/>
                        </a:defRPr>
                      </a:pPr>
                      <a:r>
                        <a:rPr lang="en-US" sz="1350" kern="100" dirty="0" b="0">
                          <a:solidFill>
                            <a:srgbClr val="243B53"/>
                          </a:solidFill>
                          <a:effectLst/>
                          <a:latin typeface="Arial"/>
                          <a:ea typeface="Arial"/>
                          <a:cs typeface="Arial"/>
                        </a:rPr>
                        <a:t> </a:t>
                      </a:r>
                      <a:endParaRPr lang="en-US" sz="1350" kern="100" dirty="0" b="0">
                        <a:solidFill>
                          <a:srgbClr val="243B53"/>
                        </a:solidFill>
                        <a:effectLst/>
                        <a:latin typeface="Arial"/>
                        <a:ea typeface="Arial"/>
                        <a:cs typeface="Arial"/>
                      </a:endParaRPr>
                    </a:p>
                  </a:txBody>
                  <a:tcPr marL="63500" marR="63500" marT="50800" marB="50800">
                    <a:solidFill>
                      <a:srgbClr val="F1F5FB"/>
                    </a:solidFill>
                  </a:tcPr>
                </a:tc>
              </a:tr>
            </a:tbl>
          </a:graphicData>
        </a:graphic>
      </p:graphicFrame>
      <p:sp>
        <p:nvSpPr>
          <p:cNvPr id="4" name="Rectangle 1"/>
          <p:cNvSpPr>
            <a:spLocks noChangeArrowheads="1"/>
          </p:cNvSpPr>
          <p:nvPr/>
        </p:nvSpPr>
        <p:spPr bwMode="auto">
          <a:xfrm>
            <a:off x="502920" y="445770"/>
            <a:ext cx="8138160" cy="85725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fontScale="100000" lnSpcReduction="0"/>
          </a:bodyPr>
          <a:lstStyle/>
          <a:p>
            <a:pPr marL="0" marR="0" lvl="0" indent="0" algn="l" defTabSz="914400" rtl="0" eaLnBrk="1" fontAlgn="base" latinLnBrk="0" hangingPunct="1">
              <a:lnSpc>
                <a:spcPct val="108000"/>
              </a:lnSpc>
              <a:spcBef>
                <a:spcPts val="0"/>
              </a:spcBef>
              <a:spcAft>
                <a:spcPts val="0"/>
              </a:spcAft>
              <a:buClrTx/>
              <a:buSzTx/>
              <a:buFontTx/>
              <a:buNone/>
              <a:tabLst/>
              <a:defRPr sz="3200" b="1">
                <a:solidFill>
                  <a:srgbClr val="0056D2"/>
                </a:solidFill>
                <a:latin typeface="Poppins SemiBold"/>
                <a:ea typeface="Poppins SemiBold"/>
                <a:cs typeface="Poppins SemiBold"/>
              </a:defRPr>
            </a:pPr>
            <a:r>
              <a:rPr kumimoji="0" lang="en-US" sz="3200" b="1" i="0" u="none" strike="noStrike" cap="none" normalizeH="0" baseline="0" dirty="0" smtClean="0">
                <a:ln>
                  <a:noFill/>
                </a:ln>
                <a:solidFill>
                  <a:srgbClr val="0056D2"/>
                </a:solidFill>
                <a:effectLst/>
                <a:latin typeface="Poppins SemiBold" pitchFamily="18" charset="0"/>
                <a:ea typeface="Poppins SemiBold" pitchFamily="34" charset="0"/>
                <a:cs typeface="Poppins SemiBold" pitchFamily="18" charset="0"/>
              </a:rPr>
              <a:t>8. TROUBLESHOOTING GUIDELINES</a:t>
            </a:r>
            <a:endParaRPr kumimoji="0" lang="en-US" sz="3200" b="1" i="0" u="none" strike="noStrike" cap="none" normalizeH="0" baseline="0" dirty="0" smtClean="0">
              <a:ln>
                <a:noFill/>
              </a:ln>
              <a:solidFill>
                <a:srgbClr val="0056D2"/>
              </a:solidFill>
              <a:effectLst/>
              <a:latin typeface="Poppins SemiBold" pitchFamily="34" charset="0"/>
              <a:ea typeface="Poppins SemiBold"/>
              <a:cs typeface="Poppins SemiBold" pitchFamily="34" charset="0"/>
            </a:endParaRPr>
          </a:p>
        </p:txBody>
      </p:sp>
    </p:spTree>
    <p:extLst>
      <p:ext uri="{BB962C8B-B14F-4D97-AF65-F5344CB8AC3E}">
        <p14:creationId val="2483920509"/>
      </p:ext>
    </p:extLst>
  </p:cSld>
  <p:clrMapOvr>
    <a:masterClrMapping/>
  </p:clrMapOvr>
  <p:transition spd="slow">
    <p:push dir="u"/>
  </p:transition>
</p:sld>
</file>

<file path=ppt/slides/slide2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b="1" dirty="0" smtClean="0" sz="2050">
                <a:solidFill>
                  <a:srgbClr val="243B53"/>
                </a:solidFill>
                <a:latin typeface="Arial" pitchFamily="18" charset="0"/>
                <a:ea typeface="Arial"/>
                <a:cs typeface="Arial" pitchFamily="18" charset="0"/>
              </a:rPr>
              <a:t>9. QUALITY </a:t>
            </a:r>
            <a:r>
              <a:rPr lang="en-US" b="1" dirty="0" sz="2050">
                <a:solidFill>
                  <a:srgbClr val="243B53"/>
                </a:solidFill>
                <a:latin typeface="Arial" pitchFamily="18" charset="0"/>
                <a:ea typeface="Arial"/>
                <a:cs typeface="Arial" pitchFamily="18" charset="0"/>
              </a:rPr>
              <a:t>ASSURANCE ( Q A )</a:t>
            </a:r>
            <a:endParaRPr sz="2050" b="1">
              <a:solidFill>
                <a:srgbClr val="243B53"/>
              </a:solidFill>
              <a:latin typeface="Arial"/>
              <a:ea typeface="Arial"/>
              <a:cs typeface="Arial"/>
            </a:endParaRPr>
          </a:p>
          <a:p>
            <a:pPr marL="0" lvl="0" indent="0" algn="l">
              <a:lnSpc>
                <a:spcPct val="118000"/>
              </a:lnSpc>
              <a:spcBef>
                <a:spcPts val="0"/>
              </a:spcBef>
              <a:spcAft>
                <a:spcPts val="450"/>
              </a:spcAft>
              <a:buNone/>
              <a:defRPr sz="2050" b="1">
                <a:solidFill>
                  <a:srgbClr val="243B53"/>
                </a:solidFill>
                <a:latin typeface="Arial"/>
                <a:ea typeface="Arial"/>
                <a:cs typeface="Arial"/>
              </a:defRPr>
            </a:pPr>
            <a:r>
              <a:rPr lang="en-US" b="1" dirty="0" smtClean="0" sz="2050">
                <a:solidFill>
                  <a:srgbClr val="243B53"/>
                </a:solidFill>
                <a:latin typeface="Arial" pitchFamily="18" charset="0"/>
                <a:ea typeface="Arial"/>
                <a:cs typeface="Arial" pitchFamily="18" charset="0"/>
              </a:rPr>
              <a:t>A. DAILY </a:t>
            </a:r>
            <a:r>
              <a:rPr lang="en-US" b="1" dirty="0" sz="2050">
                <a:solidFill>
                  <a:srgbClr val="243B53"/>
                </a:solidFill>
                <a:latin typeface="Arial" pitchFamily="18" charset="0"/>
                <a:ea typeface="Arial"/>
                <a:cs typeface="Arial" pitchFamily="18" charset="0"/>
              </a:rPr>
              <a:t>Q A PROTOCOLS:</a:t>
            </a:r>
            <a:endParaRPr sz="2050" b="1">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dirty="0" err="1" sz="2000" b="0">
                <a:solidFill>
                  <a:srgbClr val="243B53"/>
                </a:solidFill>
                <a:latin typeface="Arial" pitchFamily="18" charset="0"/>
                <a:ea typeface="Arial"/>
                <a:cs typeface="Arial" pitchFamily="18" charset="0"/>
              </a:rPr>
              <a:t>Sensitometry</a:t>
            </a:r>
            <a:r>
              <a:rPr lang="en-US" dirty="0" sz="2000" b="0">
                <a:solidFill>
                  <a:srgbClr val="243B53"/>
                </a:solidFill>
                <a:latin typeface="Arial" pitchFamily="18" charset="0"/>
                <a:ea typeface="Arial"/>
                <a:cs typeface="Arial" pitchFamily="18" charset="0"/>
              </a:rPr>
              <a:t> and Densitometry:  Expose a control film using a </a:t>
            </a:r>
            <a:r>
              <a:rPr lang="en-US" dirty="0" err="1" sz="2000" b="0">
                <a:solidFill>
                  <a:srgbClr val="243B53"/>
                </a:solidFill>
                <a:latin typeface="Arial" pitchFamily="18" charset="0"/>
                <a:ea typeface="Arial"/>
                <a:cs typeface="Arial" pitchFamily="18" charset="0"/>
              </a:rPr>
              <a:t>sensitometry</a:t>
            </a:r>
            <a:r>
              <a:rPr lang="en-US" dirty="0" sz="2000" b="0">
                <a:solidFill>
                  <a:srgbClr val="243B53"/>
                </a:solidFill>
                <a:latin typeface="Arial" pitchFamily="18" charset="0"/>
                <a:ea typeface="Arial"/>
                <a:cs typeface="Arial" pitchFamily="18" charset="0"/>
              </a:rPr>
              <a:t>, process it , and measure the optical density steps ( Base + fog , speed index , contrast index ) using a densitometer to confirm chemical stability.</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Temperature verification:  manually check that the developer temperature matches the digital readout.</a:t>
            </a:r>
            <a:endParaRPr sz="20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000" b="0">
                <a:solidFill>
                  <a:srgbClr val="243B53"/>
                </a:solidFill>
                <a:latin typeface="Arial"/>
                <a:ea typeface="Arial"/>
                <a:cs typeface="Arial"/>
              </a:defRPr>
            </a:pPr>
            <a:r>
              <a:rPr lang="en-US" dirty="0" sz="2000" b="0">
                <a:solidFill>
                  <a:srgbClr val="243B53"/>
                </a:solidFill>
                <a:latin typeface="Arial" pitchFamily="18" charset="0"/>
                <a:ea typeface="Arial"/>
                <a:cs typeface="Arial" pitchFamily="18" charset="0"/>
              </a:rPr>
              <a:t>Crossover Roller Cleaning: Wipe down the crossover assembles first thing in the morning.</a:t>
            </a:r>
            <a:endParaRPr sz="2000" b="0">
              <a:solidFill>
                <a:srgbClr val="243B53"/>
              </a:solidFill>
              <a:latin typeface="Arial"/>
              <a:ea typeface="Arial"/>
              <a:cs typeface="Arial"/>
            </a:endParaRPr>
          </a:p>
          <a:p>
            <a:pPr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2375535684"/>
      </p:ext>
    </p:extLst>
  </p:cSld>
  <p:clrMapOvr>
    <a:masterClrMapping/>
  </p:clrMapOvr>
  <p:transition spd="slow">
    <p:push dir="u"/>
  </p:transition>
</p:sld>
</file>

<file path=ppt/slides/slide2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lvl="0" indent="0" algn="l">
              <a:lnSpc>
                <a:spcPct val="118000"/>
              </a:lnSpc>
              <a:spcBef>
                <a:spcPts val="0"/>
              </a:spcBef>
              <a:spcAft>
                <a:spcPts val="450"/>
              </a:spcAft>
              <a:buNone/>
              <a:defRPr sz="2250" b="1">
                <a:solidFill>
                  <a:srgbClr val="243B53"/>
                </a:solidFill>
                <a:latin typeface="Arial"/>
                <a:ea typeface="Arial"/>
                <a:cs typeface="Arial"/>
              </a:defRPr>
            </a:pPr>
            <a:r>
              <a:rPr lang="en-US" b="1" dirty="0" smtClean="0" sz="2250">
                <a:solidFill>
                  <a:srgbClr val="243B53"/>
                </a:solidFill>
                <a:latin typeface="Arial" pitchFamily="18" charset="0"/>
                <a:ea typeface="Arial"/>
                <a:cs typeface="Arial" pitchFamily="18" charset="0"/>
              </a:rPr>
              <a:t>B. WEEKLY </a:t>
            </a:r>
            <a:r>
              <a:rPr lang="en-US" b="1" dirty="0" sz="2250">
                <a:solidFill>
                  <a:srgbClr val="243B53"/>
                </a:solidFill>
                <a:latin typeface="Arial" pitchFamily="18" charset="0"/>
                <a:ea typeface="Arial"/>
                <a:cs typeface="Arial" pitchFamily="18" charset="0"/>
              </a:rPr>
              <a:t>Q A  PROTOCOLS</a:t>
            </a:r>
            <a:endParaRPr sz="2250" b="1">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Replenishment Rate Verification:  Measure the actual volume of developer and fixer pumped per 14* 17 inch film to ensure accurate delivery.</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Deep Clean Racks:  Remove the main developer  and fixer racks , rinse them with warm water , and scrub away any gelatin build up or chemical scales.</a:t>
            </a:r>
            <a:endParaRPr sz="2200" b="0">
              <a:solidFill>
                <a:srgbClr val="243B53"/>
              </a:solidFill>
              <a:latin typeface="Arial"/>
              <a:ea typeface="Arial"/>
              <a:cs typeface="Arial"/>
            </a:endParaRPr>
          </a:p>
          <a:p>
            <a:pPr lvl="0" algn="l" marL="0" indent="0">
              <a:lnSpc>
                <a:spcPct val="118000"/>
              </a:lnSpc>
              <a:spcBef>
                <a:spcPts val="0"/>
              </a:spcBef>
              <a:spcAft>
                <a:spcPts val="450"/>
              </a:spcAft>
              <a:buFont typeface="Courier New" pitchFamily="49" charset="0"/>
              <a:buChar char="o"/>
              <a:defRPr sz="2200" b="0">
                <a:solidFill>
                  <a:srgbClr val="243B53"/>
                </a:solidFill>
                <a:latin typeface="Arial"/>
                <a:ea typeface="Arial"/>
                <a:cs typeface="Arial"/>
              </a:defRPr>
            </a:pPr>
            <a:r>
              <a:rPr lang="en-US" dirty="0" sz="2200" b="0">
                <a:solidFill>
                  <a:srgbClr val="243B53"/>
                </a:solidFill>
                <a:latin typeface="Arial" pitchFamily="18" charset="0"/>
                <a:ea typeface="Arial"/>
                <a:cs typeface="Arial" pitchFamily="18" charset="0"/>
              </a:rPr>
              <a:t>Water Filter Inspection:  Inspect and replace the water supply system filter if a drop in water pressure or flow rate is observed.  </a:t>
            </a:r>
            <a:endParaRPr sz="2200" b="0">
              <a:solidFill>
                <a:srgbClr val="243B53"/>
              </a:solidFill>
              <a:latin typeface="Arial"/>
              <a:ea typeface="Arial"/>
              <a:cs typeface="Arial"/>
            </a:endParaRPr>
          </a:p>
          <a:p>
            <a:pPr algn="l" marL="0" indent="0">
              <a:lnSpc>
                <a:spcPts val="100"/>
              </a:lnSpc>
              <a:spcBef>
                <a:spcPts val="0"/>
              </a:spcBef>
              <a:spcAft>
                <a:spcPts val="0"/>
              </a:spcAft>
              <a:buFont typeface="Courier New" pitchFamily="49" charset="0"/>
              <a:buChar char="o"/>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itchFamily="18" charset="0"/>
              <a:ea typeface="Arial"/>
              <a:cs typeface="Arial" pitchFamily="18" charset="0"/>
            </a:endParaRPr>
          </a:p>
        </p:txBody>
      </p:sp>
    </p:spTree>
    <p:extLst>
      <p:ext uri="{BB962C8B-B14F-4D97-AF65-F5344CB8AC3E}">
        <p14:creationId val="819194881"/>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445770"/>
            <a:ext cx="8138160" cy="857250"/>
          </a:xfrm>
        </p:spPr>
        <p:txBody>
          <a:bodyPr wrap="square" anchor="t" lIns="0" rIns="0" tIns="0" bIns="0">
            <a:normAutofit fontScale="100000" lnSpcReduction="0"/>
          </a:bodyPr>
          <a:lstStyle/>
          <a:p>
            <a:pPr marL="0" lvl="0" indent="0" algn="l">
              <a:lnSpc>
                <a:spcPct val="108000"/>
              </a:lnSpc>
              <a:spcBef>
                <a:spcPts val="0"/>
              </a:spcBef>
              <a:spcAft>
                <a:spcPts val="0"/>
              </a:spcAft>
              <a:buNone/>
              <a:defRPr sz="3200" b="1">
                <a:solidFill>
                  <a:srgbClr val="0056D2"/>
                </a:solidFill>
                <a:latin typeface="Poppins SemiBold"/>
                <a:ea typeface="Poppins SemiBold"/>
                <a:cs typeface="Poppins SemiBold"/>
              </a:defRPr>
            </a:pPr>
            <a:r>
              <a:rPr lang="en-US" sz="3200" b="1" dirty="0" smtClean="0">
                <a:solidFill>
                  <a:srgbClr val="0056D2"/>
                </a:solidFill>
                <a:latin typeface="Poppins SemiBold" pitchFamily="18" charset="0"/>
                <a:ea typeface="Poppins SemiBold"/>
                <a:cs typeface="Poppins SemiBold" pitchFamily="18" charset="0"/>
              </a:rPr>
              <a:t>THANK YOU</a:t>
            </a:r>
            <a:endParaRPr lang="en-US" sz="3200" dirty="0" b="1">
              <a:solidFill>
                <a:srgbClr val="0056D2"/>
              </a:solidFill>
              <a:latin typeface="Poppins SemiBold" pitchFamily="18" charset="0"/>
              <a:ea typeface="Poppins SemiBold"/>
              <a:cs typeface="Poppins SemiBold" pitchFamily="18" charset="0"/>
            </a:endParaRPr>
          </a:p>
        </p:txBody>
      </p:sp>
    </p:spTree>
    <p:extLst>
      <p:ext uri="{BB962C8B-B14F-4D97-AF65-F5344CB8AC3E}">
        <p14:creationId val="4052262704"/>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1689</Words>
  <Application>Microsoft Office PowerPoint</Application>
  <PresentationFormat>On-screen Show (4:3)</PresentationFormat>
  <Paragraphs>137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INTRODUCTION TO AUTOMATIC FILM PROCESSING: EQUIPMENT AND TECHNIQUES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AUTOMATIC FILM PROCESSING: EQUIPMENT AND TECHNIQUES </dc:title>
  <dc:creator>USER</dc:creator>
  <cp:lastModifiedBy>USER</cp:lastModifiedBy>
  <cp:revision>37</cp:revision>
  <dcterms:created xsi:type="dcterms:W3CDTF">2026-10-21T07:46:10Z</dcterms:created>
  <dcterms:modified xsi:type="dcterms:W3CDTF">2026-10-21T10:24:22Z</dcterms:modified>
</cp:coreProperties>
</file>