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60"/>
  </p:normalViewPr>
  <p:slideViewPr>
    <p:cSldViewPr snapToGrid="0">
      <p:cViewPr varScale="1">
        <p:scale>
          <a:sx n="67" d="100"/>
          <a:sy n="67" d="100"/>
        </p:scale>
        <p:origin x="-780"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A445E3-9051-4474-BECF-6379D8CE1637}" type="datetimeFigureOut">
              <a:rPr lang="en-US" smtClean="0"/>
              <a:t>10/20/2026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D28A99-6B95-45CE-B9B3-6462DFDFD2E0}" type="slidenum">
              <a:rPr lang="en-US" smtClean="0"/>
              <a:t>‹#›</a:t>
            </a:fld>
            <a:endParaRPr lang="en-US"/>
          </a:p>
        </p:txBody>
      </p:sp>
    </p:spTree>
    <p:extLst>
      <p:ext uri="{BB962C8B-B14F-4D97-AF65-F5344CB8AC3E}">
        <p14:creationId xmlns:p14="http://schemas.microsoft.com/office/powerpoint/2010/main" val="646826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25</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26</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27</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28</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29</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30</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31</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32</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33</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34</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35</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36</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37</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38</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39</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40</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41</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42</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43</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44</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45</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46</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47</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48</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49</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50</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51</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52</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53</a:t>
            </a:fld>
            <a:endParaRPr lang="en-US"/>
          </a:p>
        </p:txBody>
      </p:sp>
    </p:spTree>
    <p:extLst>
      <p:ext uri="{BB962C8B-B14F-4D97-AF65-F5344CB8AC3E}">
        <p14:creationId xmlns:p14="http://schemas.microsoft.com/office/powerpoint/2010/main" val="48916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95A447-0516-8A1A-50FA-E5294764B0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xmlns="" id="{D74FBE28-2207-62BB-B447-50A7B45F23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xmlns="" id="{0B8CA130-A0D0-55D3-8251-5CD759FAA379}"/>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5" name="Footer Placeholder 4">
            <a:extLst>
              <a:ext uri="{FF2B5EF4-FFF2-40B4-BE49-F238E27FC236}">
                <a16:creationId xmlns:a16="http://schemas.microsoft.com/office/drawing/2014/main" xmlns="" id="{B438CA01-50B1-71C8-31EC-07281D21E1AC}"/>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F435DA81-3329-01B1-65D8-91D50A533B9B}"/>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3820692835"/>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BF64F1-9E0A-51EC-33DE-4F23B0ECFA33}"/>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0D9E297D-9044-141A-286B-F6B5B18FA9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FAEBD9DA-8A1B-892B-F11A-20536397A7B8}"/>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5" name="Footer Placeholder 4">
            <a:extLst>
              <a:ext uri="{FF2B5EF4-FFF2-40B4-BE49-F238E27FC236}">
                <a16:creationId xmlns:a16="http://schemas.microsoft.com/office/drawing/2014/main" xmlns="" id="{5707A927-02D8-E7E5-7BFF-303BF8FC330B}"/>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324984E2-7F7E-CE16-72F0-0AF36F66AB2C}"/>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274059271"/>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A6C636-D1BF-F893-2E77-A2ABC69E75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63659E39-2FA0-813E-90D3-0E55CE9179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E7434958-7FDE-E133-7A1B-A21CC5432F8F}"/>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5" name="Footer Placeholder 4">
            <a:extLst>
              <a:ext uri="{FF2B5EF4-FFF2-40B4-BE49-F238E27FC236}">
                <a16:creationId xmlns:a16="http://schemas.microsoft.com/office/drawing/2014/main" xmlns="" id="{4ED274C4-35B3-E4AC-7A2D-1337D9C6E75F}"/>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C7C9D92B-DF49-CE2E-8375-4C3288474769}"/>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2281762017"/>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E9BB52-20EE-F362-755D-1E48D7DA0D1D}"/>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E51A136D-B8F3-0401-E7C6-D644C97F1F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xmlns="" id="{F07F2DE4-29BF-F443-32F0-2005C6B8FF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xmlns="" id="{02CC6017-8D90-E676-BBD7-4BF3CD083FD5}"/>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6" name="Footer Placeholder 5">
            <a:extLst>
              <a:ext uri="{FF2B5EF4-FFF2-40B4-BE49-F238E27FC236}">
                <a16:creationId xmlns:a16="http://schemas.microsoft.com/office/drawing/2014/main" xmlns="" id="{A5D299A2-E3F3-B839-259E-74D5856D6F91}"/>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070C00B2-0D17-33FD-44EB-AB55ED34F9A3}"/>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3948579946"/>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DC7E4A-7891-77FF-C2B7-BFD8FA46E311}"/>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CD422A8E-1A2C-8CD2-0213-02B02ABA07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146E723-210D-28E5-2634-24025CF00F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xmlns="" id="{7C5AE788-C9A2-E883-2634-9094383ADC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DF89DA6-470D-7211-9797-E44AA7FA92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xmlns="" id="{25331A7A-19A3-8F4D-E2C0-8684B2067C73}"/>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8" name="Footer Placeholder 7">
            <a:extLst>
              <a:ext uri="{FF2B5EF4-FFF2-40B4-BE49-F238E27FC236}">
                <a16:creationId xmlns:a16="http://schemas.microsoft.com/office/drawing/2014/main" xmlns="" id="{985ABC95-FC11-D31C-4A14-317B4305D4A4}"/>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xmlns="" id="{7D921731-CA88-5792-7A61-40D5580829D4}"/>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1892500601"/>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1DD466-6735-7E42-83D3-C40FEFCC0FC2}"/>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xmlns="" id="{C10BB170-6717-2962-D874-3A3B231DD541}"/>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4" name="Footer Placeholder 3">
            <a:extLst>
              <a:ext uri="{FF2B5EF4-FFF2-40B4-BE49-F238E27FC236}">
                <a16:creationId xmlns:a16="http://schemas.microsoft.com/office/drawing/2014/main" xmlns="" id="{97BB47EE-F219-0C7E-CB14-1306970E8227}"/>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xmlns="" id="{C100FF26-CD1F-FDA1-12ED-E05CC0AC82A6}"/>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90618358"/>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5CA9A5E-1AC2-B9F4-4DA1-A4AAC59FBEEE}"/>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3" name="Footer Placeholder 2">
            <a:extLst>
              <a:ext uri="{FF2B5EF4-FFF2-40B4-BE49-F238E27FC236}">
                <a16:creationId xmlns:a16="http://schemas.microsoft.com/office/drawing/2014/main" xmlns="" id="{70A0E66B-05DD-327A-A630-703E8ECDDAD2}"/>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xmlns="" id="{C8755FC9-0241-1F16-02C3-1C4B21793359}"/>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3663760671"/>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A4A781-3C8F-AA72-7CDE-15B9D7C169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E0653FF5-4984-55BC-8B6E-4A35D12764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xmlns="" id="{8959C11A-E80A-D30E-3B96-1A571C0826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B1E8B45-593F-07BB-6F4E-9F4EC707A0B0}"/>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6" name="Footer Placeholder 5">
            <a:extLst>
              <a:ext uri="{FF2B5EF4-FFF2-40B4-BE49-F238E27FC236}">
                <a16:creationId xmlns:a16="http://schemas.microsoft.com/office/drawing/2014/main" xmlns="" id="{295CB1AF-F269-C3AD-3422-9DA015E420D6}"/>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CF6CAF11-977E-78C7-505C-2367FD09D677}"/>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4247868624"/>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9B9FF4-B395-0D8A-3DFB-C1B45A3AF3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xmlns="" id="{2F2BAF1D-C384-4A56-C941-C4824A9DC8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xmlns="" id="{01AD6E10-F42A-C84F-CBBE-F57317C51D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9BE7B77-BF22-8F4A-58C7-56FA7A112F90}"/>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6" name="Footer Placeholder 5">
            <a:extLst>
              <a:ext uri="{FF2B5EF4-FFF2-40B4-BE49-F238E27FC236}">
                <a16:creationId xmlns:a16="http://schemas.microsoft.com/office/drawing/2014/main" xmlns="" id="{B46FE963-9FF3-A6C7-B67B-62A5EF11EDD9}"/>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45CF0A6E-E390-D0A3-6B8F-870E1076E9B7}"/>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346811896"/>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E00298-B7C6-AE58-3C74-F4BC396CB92B}"/>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18588963-FC8D-6E90-8E33-D26E398BBF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5F025AB2-3DC3-C6C3-F526-2DA907329178}"/>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5" name="Footer Placeholder 4">
            <a:extLst>
              <a:ext uri="{FF2B5EF4-FFF2-40B4-BE49-F238E27FC236}">
                <a16:creationId xmlns:a16="http://schemas.microsoft.com/office/drawing/2014/main" xmlns="" id="{36AFFB23-5B33-25FF-8134-322B08105F3D}"/>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2F87B2FA-8D6F-8ECC-F3FB-381F8F73DE59}"/>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1493524134"/>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AB00E33-A6B3-B278-003C-35C609BA92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55D960B9-3EDE-FEE0-9B4D-180D68BA48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804045B9-ACC5-00C5-5C9E-CCF283A0D477}"/>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5" name="Footer Placeholder 4">
            <a:extLst>
              <a:ext uri="{FF2B5EF4-FFF2-40B4-BE49-F238E27FC236}">
                <a16:creationId xmlns:a16="http://schemas.microsoft.com/office/drawing/2014/main" xmlns="" id="{DF10ECC3-AD2A-35D5-2884-74D71624F05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4A381DA8-B185-68A9-A3A1-430B32766854}"/>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352699028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608F05CF-59C6-9583-17AE-B549305E2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C058F04F-76D4-F2B6-4ED5-126B77E279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AA9DA97F-7F2B-FA5E-9D7D-C55C0717E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23C798-488E-4910-8F24-F71D0E0C4770}" type="datetimeFigureOut">
              <a:rPr lang="x-none" smtClean="0"/>
              <a:t>10/20/2026</a:t>
            </a:fld>
            <a:endParaRPr lang="x-none"/>
          </a:p>
        </p:txBody>
      </p:sp>
      <p:sp>
        <p:nvSpPr>
          <p:cNvPr id="5" name="Footer Placeholder 4">
            <a:extLst>
              <a:ext uri="{FF2B5EF4-FFF2-40B4-BE49-F238E27FC236}">
                <a16:creationId xmlns:a16="http://schemas.microsoft.com/office/drawing/2014/main" xmlns="" id="{D1010509-CCF3-9244-2BD0-533A8030F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xmlns="" id="{934437BA-9B65-77A7-2C7E-B9C91C7CD5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AD94E9-DB8A-4FE5-AE37-694D08137CDF}" type="slidenum">
              <a:rPr lang="x-none" smtClean="0"/>
              <a:t>‹#›</a:t>
            </a:fld>
            <a:endParaRPr lang="x-none"/>
          </a:p>
        </p:txBody>
      </p:sp>
    </p:spTree>
    <p:extLst>
      <p:ext uri="{BB962C8B-B14F-4D97-AF65-F5344CB8AC3E}">
        <p14:creationId xmlns:p14="http://schemas.microsoft.com/office/powerpoint/2010/main" val="3357734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8D8E2450-B875-2EAB-A94F-6EDB91932739}"/>
              </a:ext>
            </a:extLst>
          </p:cNvPr>
          <p:cNvSpPr>
            <a:spLocks noGrp="1"/>
          </p:cNvSpPr>
          <p:nvPr>
            <p:ph type="ctr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MXT112: ATOMIC AND RADIATION PHYSICS</a:t>
            </a:r>
            <a:r>
              <a:rPr lang="x-none" dirty="0" sz="3200" b="1">
                <a:solidFill>
                  <a:srgbClr val="0056D2"/>
                </a:solidFill>
                <a:latin typeface="Poppins SemiBold"/>
                <a:ea typeface="Poppins SemiBold"/>
                <a:cs typeface="Poppins SemiBold"/>
              </a:rPr>
              <a:t/>
            </a:r>
            <a:br>
              <a:rPr lang="x-none" dirty="0"/>
            </a:br>
            <a:endParaRPr lang="x-none" sz="3200" b="1" dirty="0">
              <a:solidFill>
                <a:srgbClr val="0056D2"/>
              </a:solidFill>
              <a:latin typeface="Poppins SemiBold"/>
              <a:ea typeface="Poppins SemiBold"/>
              <a:cs typeface="Poppins SemiBold"/>
            </a:endParaRPr>
          </a:p>
        </p:txBody>
      </p:sp>
      <p:sp>
        <p:nvSpPr>
          <p:cNvPr id="3" name="Subtitle 2">
            <a:extLst>
              <a:ext uri="{FF2B5EF4-FFF2-40B4-BE49-F238E27FC236}">
                <a16:creationId id="{A605FC69-A361-3D84-0B44-009179890FA9}"/>
              </a:ext>
            </a:extLst>
          </p:cNvPr>
          <p:cNvSpPr>
            <a:spLocks noGrp="1"/>
          </p:cNvSpPr>
          <p:nvPr>
            <p:ph type="subTitle" idx="1"/>
          </p:nvPr>
        </p:nvSpPr>
        <p:spPr>
          <a:xfrm>
            <a:off x="670560" y="1748790"/>
            <a:ext cx="5230368"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RAD. Patrick Collins</a:t>
            </a:r>
            <a:endParaRPr lang="x-none" dirty="0" sz="2200" b="0">
              <a:solidFill>
                <a:srgbClr val="243B53"/>
              </a:solidFill>
              <a:latin typeface="Arial"/>
              <a:ea typeface="Arial"/>
              <a:cs typeface="Arial"/>
            </a:endParaRPr>
          </a:p>
        </p:txBody>
      </p:sp>
      <p:sp>
        <p:nvSpPr>
          <p:cNvPr id="4" name="TextBox 3">
            <a:extLst>
              <a:ext uri="{FF2B5EF4-FFF2-40B4-BE49-F238E27FC236}">
                <a16:creationId id="{B0BC35AE-C7CA-F935-65F1-CB0D8D9EC256}"/>
              </a:ext>
            </a:extLst>
          </p:cNvPr>
          <p:cNvSpPr txBox="1"/>
          <p:nvPr/>
        </p:nvSpPr>
        <p:spPr>
          <a:xfrm>
            <a:off x="6291072" y="1748790"/>
            <a:ext cx="5230368" cy="4423410"/>
          </a:xfrm>
          <a:prstGeom prst="rect">
            <a:avLst/>
          </a:prstGeom>
          <a:noFill/>
        </p:spPr>
        <p:txBody>
          <a:bodyPr wrap="square" rtlCol="0"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	Tuesday 20</a:t>
            </a:r>
            <a:r>
              <a:rPr lang="en-US" baseline="30000" dirty="0" sz="2200" b="0">
                <a:solidFill>
                  <a:srgbClr val="243B53"/>
                </a:solidFill>
                <a:latin typeface="Arial"/>
                <a:ea typeface="Arial"/>
                <a:cs typeface="Arial"/>
              </a:rPr>
              <a:t>th</a:t>
            </a:r>
            <a:r>
              <a:rPr lang="en-US" dirty="0" sz="2200" b="0">
                <a:solidFill>
                  <a:srgbClr val="243B53"/>
                </a:solidFill>
                <a:latin typeface="Arial"/>
                <a:ea typeface="Arial"/>
                <a:cs typeface="Arial"/>
              </a:rPr>
              <a:t> October, 2026</a:t>
            </a:r>
            <a:endParaRPr lang="x-none" dirty="0" sz="2200" b="0">
              <a:solidFill>
                <a:srgbClr val="243B53"/>
              </a:solidFill>
              <a:latin typeface="Arial"/>
              <a:ea typeface="Arial"/>
              <a:cs typeface="Arial"/>
            </a:endParaRPr>
          </a:p>
        </p:txBody>
      </p:sp>
    </p:spTree>
    <p:extLst>
      <p:ext uri="{BB962C8B-B14F-4D97-AF65-F5344CB8AC3E}">
        <p14:creationId val="2513339185"/>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a:extLst>
              <a:ext uri="{FF2B5EF4-FFF2-40B4-BE49-F238E27FC236}">
                <a16:creationId id="{68B7196A-6096-CB30-E915-125F5DFB2743}"/>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sz="2050" b="1" dirty="0">
                <a:solidFill>
                  <a:srgbClr val="243B53"/>
                </a:solidFill>
                <a:latin typeface="Arial"/>
                <a:ea typeface="Arial"/>
                <a:cs typeface="Arial"/>
              </a:rPr>
              <a:t>INTRODUCTION:</a:t>
            </a:r>
            <a:endParaRPr lang="x-none" sz="2050" b="1" dirty="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dirty="0" b="0">
                <a:solidFill>
                  <a:srgbClr val="243B53"/>
                </a:solidFill>
                <a:latin typeface="Arial"/>
                <a:ea typeface="Arial"/>
                <a:cs typeface="Arial"/>
              </a:rPr>
              <a:t>Atomic and radiation physics is the branch of science dedicated to understanding the fundamental structure of matter at the subatomic level and how atoms interact with, emit, and absorb energy in the form of radiation.</a:t>
            </a:r>
            <a:endParaRPr lang="x-none" sz="20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dirty="0" b="0">
                <a:solidFill>
                  <a:srgbClr val="243B53"/>
                </a:solidFill>
                <a:latin typeface="Arial"/>
                <a:ea typeface="Arial"/>
                <a:cs typeface="Arial"/>
              </a:rPr>
              <a:t>At its core, atomic physics explores the structure of the atom- primarily focusing on the arrangement, behavior and quantum transition of electrons orbiting the atomic nucleus.  Radiation Physis extends this study to the emissions produced by these atonic and nuclear processes, covering the full</a:t>
            </a:r>
            <a:endParaRPr lang="x-none" sz="20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sz="100" dirty="0" b="0">
              <a:solidFill>
                <a:srgbClr val="243B53"/>
              </a:solidFill>
              <a:latin typeface="Arial"/>
              <a:ea typeface="Arial"/>
              <a:cs typeface="Arial"/>
            </a:endParaRPr>
          </a:p>
        </p:txBody>
      </p:sp>
    </p:spTree>
    <p:extLst>
      <p:ext uri="{BB962C8B-B14F-4D97-AF65-F5344CB8AC3E}">
        <p14:creationId val="2552064601"/>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9F8AD718-C055-F49D-7425-EDAEFCA88464}"/>
            </a:ext>
          </a:extLst>
        </p:cNvPr>
        <p:cNvGrpSpPr/>
        <p:nvPr/>
      </p:nvGrpSpPr>
      <p:grpSpPr>
        <a:xfrm>
          <a:off x="0" y="0"/>
          <a:ext cx="0" cy="0"/>
          <a:chOff x="0" y="0"/>
          <a:chExt cx="0" cy="0"/>
        </a:xfrm>
      </p:grpSpPr>
      <p:sp>
        <p:nvSpPr>
          <p:cNvPr id="3" name="Content Placeholder 2">
            <a:extLst>
              <a:ext uri="{FF2B5EF4-FFF2-40B4-BE49-F238E27FC236}">
                <a16:creationId id="{7EA09504-CD55-CB84-C24F-08E0C7038008}"/>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dirty="0" b="0">
                <a:solidFill>
                  <a:srgbClr val="243B53"/>
                </a:solidFill>
                <a:latin typeface="Arial"/>
                <a:ea typeface="Arial"/>
                <a:cs typeface="Arial"/>
              </a:rPr>
              <a:t>spectrum of electromagnetic waves (such as X-ray and Gamma rays) as well as energetic particles (like Alpha and beta particles).  Together, these fields form the physical foundation for modern quantum mechanics, nuclear energy, medical imaging, radiation therapy and advanced spectroscopy.</a:t>
            </a:r>
            <a:endParaRPr lang="x-none"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sz="100" dirty="0" b="0">
              <a:solidFill>
                <a:srgbClr val="243B53"/>
              </a:solidFill>
              <a:latin typeface="Arial"/>
              <a:ea typeface="Arial"/>
              <a:cs typeface="Arial"/>
            </a:endParaRPr>
          </a:p>
        </p:txBody>
      </p:sp>
    </p:spTree>
    <p:extLst>
      <p:ext uri="{BB962C8B-B14F-4D97-AF65-F5344CB8AC3E}">
        <p14:creationId val="2093119774"/>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F303BA0C-AAF9-95EA-3129-EACBAD7E978C}"/>
            </a:ext>
          </a:extLst>
        </p:cNvPr>
        <p:cNvGrpSpPr/>
        <p:nvPr/>
      </p:nvGrpSpPr>
      <p:grpSpPr>
        <a:xfrm>
          <a:off x="0" y="0"/>
          <a:ext cx="0" cy="0"/>
          <a:chOff x="0" y="0"/>
          <a:chExt cx="0" cy="0"/>
        </a:xfrm>
      </p:grpSpPr>
      <p:sp>
        <p:nvSpPr>
          <p:cNvPr id="3" name="Content Placeholder 2">
            <a:extLst>
              <a:ext uri="{FF2B5EF4-FFF2-40B4-BE49-F238E27FC236}">
                <a16:creationId id="{EF86831F-2A7A-B458-8D7F-800627BDB2CA}"/>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250" b="1">
                <a:solidFill>
                  <a:srgbClr val="243B53"/>
                </a:solidFill>
                <a:latin typeface="Arial"/>
                <a:ea typeface="Arial"/>
                <a:cs typeface="Arial"/>
              </a:defRPr>
            </a:pPr>
            <a:r>
              <a:rPr lang="en-US" b="1" dirty="0" sz="2250">
                <a:solidFill>
                  <a:srgbClr val="243B53"/>
                </a:solidFill>
                <a:latin typeface="Arial" panose="02020603050405020304" pitchFamily="18" charset="0"/>
                <a:ea typeface="Arial"/>
                <a:cs typeface="Arial" panose="02020603050405020304" pitchFamily="18" charset="0"/>
              </a:rPr>
              <a:t>THE MEASUREMENT AND UNIT IN ATOMIC AND RADIATION PHYSICS </a:t>
            </a:r>
            <a:r>
              <a:rPr lang="en-US" dirty="0" sz="2250" b="1">
                <a:solidFill>
                  <a:srgbClr val="243B53"/>
                </a:solidFill>
                <a:latin typeface="Arial" panose="02020603050405020304" pitchFamily="18" charset="0"/>
                <a:ea typeface="Arial"/>
                <a:cs typeface="Arial" panose="02020603050405020304" pitchFamily="18" charset="0"/>
              </a:rPr>
              <a:t> </a:t>
            </a:r>
            <a:endParaRPr lang="x-none" dirty="0" sz="2250" b="1">
              <a:solidFill>
                <a:srgbClr val="243B53"/>
              </a:solidFill>
              <a:latin typeface="Arial" panose="02020603050405020304" pitchFamily="18" charset="0"/>
              <a:ea typeface="Arial"/>
              <a:cs typeface="Arial" panose="02020603050405020304"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panose="02020603050405020304" pitchFamily="18" charset="0"/>
                <a:ea typeface="Arial"/>
                <a:cs typeface="Arial" panose="02020603050405020304" pitchFamily="18" charset="0"/>
              </a:rPr>
              <a:t>In Atomic and Radiation Physics, physical properties are measured across microscopic length scales, extremely high energy levels, and Radioactive decay process. Because standard SI Units like meters, Joules, and Kilograms are inconveniently large at the atomic level, specialized atomic and nuclear units are used alongside standard SI definitions. </a:t>
            </a:r>
            <a:endParaRPr lang="x-none" dirty="0" sz="2200" b="0">
              <a:solidFill>
                <a:srgbClr val="243B53"/>
              </a:solidFill>
              <a:latin typeface="Arial" panose="02020603050405020304" pitchFamily="18" charset="0"/>
              <a:ea typeface="Arial"/>
              <a:cs typeface="Arial" panose="02020603050405020304"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sz="100" dirty="0" b="0">
              <a:solidFill>
                <a:srgbClr val="243B53"/>
              </a:solidFill>
              <a:latin typeface="Arial" panose="02020603050405020304" pitchFamily="18" charset="0"/>
              <a:ea typeface="Arial"/>
              <a:cs typeface="Arial" panose="02020603050405020304" pitchFamily="18" charset="0"/>
            </a:endParaRPr>
          </a:p>
        </p:txBody>
      </p:sp>
    </p:spTree>
    <p:extLst>
      <p:ext uri="{BB962C8B-B14F-4D97-AF65-F5344CB8AC3E}">
        <p14:creationId val="3586511707"/>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85A298B-EB60-0CAF-AB88-7FD5B7A8C1D4}"/>
            </a:ext>
          </a:extLst>
        </p:cNvPr>
        <p:cNvGrpSpPr/>
        <p:nvPr/>
      </p:nvGrpSpPr>
      <p:grpSpPr>
        <a:xfrm>
          <a:off x="0" y="0"/>
          <a:ext cx="0" cy="0"/>
          <a:chOff x="0" y="0"/>
          <a:chExt cx="0" cy="0"/>
        </a:xfrm>
      </p:grpSpPr>
      <p:graphicFrame>
        <p:nvGraphicFramePr>
          <p:cNvPr id="2" name="Content Placeholder 1">
            <a:extLst>
              <a:ext uri="{FF2B5EF4-FFF2-40B4-BE49-F238E27FC236}">
                <a16:creationId id="{F4737BB5-5426-4D6E-3478-3DE2799B08F3}"/>
              </a:ext>
            </a:extLst>
          </p:cNvPr>
          <p:cNvGraphicFramePr>
            <a:graphicFrameLocks noGrp="1"/>
          </p:cNvGraphicFramePr>
          <p:nvPr>
            <p:ph idx="1"/>
            <p:extLst>
              <p:ext uri="{D42A27DB-BD31-4B8C-83A1-F6EECF244321}">
                <p14:modId val="724066902"/>
              </p:ext>
            </p:extLst>
          </p:nvPr>
        </p:nvGraphicFramePr>
        <p:xfrm>
          <a:off x="670560" y="1474470"/>
          <a:ext cx="10850880" cy="4697730"/>
        </p:xfrm>
        <a:graphic>
          <a:graphicData uri="http://schemas.openxmlformats.org/drawingml/2006/table">
            <a:tbl>
              <a:tblPr firstRow="1" firstCol="1" bandRow="1">
                <a:tableStyleId>{5C22544A-7EE6-4342-B048-85BDC9FD1C3A}</a:tableStyleId>
              </a:tblPr>
              <a:tblGrid>
                <a:gridCol w="2712720">
                  <a:extLst>
                    <a:ext uri="{9D8B030D-6E8A-4147-A177-3AD203B41FA5}">
                      <a16:colId val="332296493"/>
                    </a:ext>
                  </a:extLst>
                </a:gridCol>
                <a:gridCol w="2712720">
                  <a:extLst>
                    <a:ext uri="{9D8B030D-6E8A-4147-A177-3AD203B41FA5}">
                      <a16:colId val="4261598267"/>
                    </a:ext>
                  </a:extLst>
                </a:gridCol>
                <a:gridCol w="2712720">
                  <a:extLst>
                    <a:ext uri="{9D8B030D-6E8A-4147-A177-3AD203B41FA5}">
                      <a16:colId val="700207067"/>
                    </a:ext>
                  </a:extLst>
                </a:gridCol>
                <a:gridCol w="2712720">
                  <a:extLst>
                    <a:ext uri="{9D8B030D-6E8A-4147-A177-3AD203B41FA5}">
                      <a16:colId val="2441376778"/>
                    </a:ext>
                  </a:extLst>
                </a:gridCol>
              </a:tblGrid>
              <a:tr h="1809894">
                <a:tc>
                  <a:txBody>
                    <a:bodyPr/>
                    <a:lstStyle/>
                    <a:p>
                      <a:pPr algn="l">
                        <a:lnSpc>
                          <a:spcPct val="107000"/>
                        </a:lnSpc>
                        <a:spcAft>
                          <a:spcPts val="800"/>
                        </a:spcAft>
                        <a:buNone/>
                        <a:defRPr sz="1700" b="1">
                          <a:solidFill>
                            <a:srgbClr val="FFFFFF"/>
                          </a:solidFill>
                          <a:latin typeface="Arial"/>
                          <a:ea typeface="Arial"/>
                          <a:cs typeface="Arial"/>
                        </a:defRPr>
                      </a:pPr>
                      <a:r>
                        <a:rPr lang="en-US" sz="1700" kern="100" dirty="0" b="1">
                          <a:solidFill>
                            <a:srgbClr val="FFFFFF"/>
                          </a:solidFill>
                          <a:effectLst/>
                          <a:latin typeface="Arial"/>
                          <a:ea typeface="Arial"/>
                          <a:cs typeface="Arial"/>
                        </a:rPr>
                        <a:t>Physical Quantity</a:t>
                      </a:r>
                      <a:endParaRPr lang="x-none" sz="1700" kern="100" dirty="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algn="l">
                        <a:lnSpc>
                          <a:spcPct val="107000"/>
                        </a:lnSpc>
                        <a:spcAft>
                          <a:spcPts val="800"/>
                        </a:spcAft>
                        <a:buNone/>
                        <a:defRPr sz="1700" b="1">
                          <a:solidFill>
                            <a:srgbClr val="FFFFFF"/>
                          </a:solidFill>
                          <a:latin typeface="Arial"/>
                          <a:ea typeface="Arial"/>
                          <a:cs typeface="Arial"/>
                        </a:defRPr>
                      </a:pPr>
                      <a:r>
                        <a:rPr lang="en-US" sz="1700" kern="100" dirty="0" b="1">
                          <a:solidFill>
                            <a:srgbClr val="FFFFFF"/>
                          </a:solidFill>
                          <a:effectLst/>
                          <a:latin typeface="Arial"/>
                          <a:ea typeface="Arial"/>
                          <a:cs typeface="Arial"/>
                        </a:rPr>
                        <a:t>Symbol</a:t>
                      </a:r>
                      <a:endParaRPr lang="x-none" sz="1700" kern="100" dirty="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algn="l">
                        <a:lnSpc>
                          <a:spcPct val="107000"/>
                        </a:lnSpc>
                        <a:spcAft>
                          <a:spcPts val="800"/>
                        </a:spcAft>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Common non-SI/atomic unit</a:t>
                      </a:r>
                      <a:endParaRPr lang="x-none"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algn="l">
                        <a:lnSpc>
                          <a:spcPct val="107000"/>
                        </a:lnSpc>
                        <a:spcAft>
                          <a:spcPts val="800"/>
                        </a:spcAft>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Standard Unit</a:t>
                      </a:r>
                      <a:endParaRPr lang="x-none"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extLst>
                  <a:ext uri="{0D108BD9-81ED-4DB2-BD59-A6C34878D82A}">
                    <a16:rowId val="3493582859"/>
                  </a:ext>
                </a:extLst>
              </a:tr>
              <a:tr h="1077940">
                <a:tc>
                  <a:txBody>
                    <a:bodyPr/>
                    <a:lstStyle/>
                    <a:p>
                      <a:pPr algn="l">
                        <a:lnSpc>
                          <a:spcPct val="107000"/>
                        </a:lnSpc>
                        <a:spcAft>
                          <a:spcPts val="800"/>
                        </a:spcAft>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Energy </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algn="l">
                        <a:lnSpc>
                          <a:spcPct val="107000"/>
                        </a:lnSpc>
                        <a:spcAft>
                          <a:spcPts val="800"/>
                        </a:spcAft>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algn="l">
                        <a:lnSpc>
                          <a:spcPct val="107000"/>
                        </a:lnSpc>
                        <a:spcAft>
                          <a:spcPts val="800"/>
                        </a:spcAft>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Electron volt (eV)</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algn="l">
                        <a:lnSpc>
                          <a:spcPct val="107000"/>
                        </a:lnSpc>
                        <a:spcAft>
                          <a:spcPts val="800"/>
                        </a:spcAft>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Joule (J)</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extLst>
                  <a:ext uri="{0D108BD9-81ED-4DB2-BD59-A6C34878D82A}">
                    <a16:rowId val="628894021"/>
                  </a:ext>
                </a:extLst>
              </a:tr>
              <a:tr h="1809894">
                <a:tc>
                  <a:txBody>
                    <a:bodyPr/>
                    <a:lstStyle/>
                    <a:p>
                      <a:pPr algn="l">
                        <a:lnSpc>
                          <a:spcPct val="107000"/>
                        </a:lnSpc>
                        <a:spcAft>
                          <a:spcPts val="800"/>
                        </a:spcAft>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Mass </a:t>
                      </a:r>
                      <a:endParaRPr lang="x-none"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algn="l">
                        <a:lnSpc>
                          <a:spcPct val="107000"/>
                        </a:lnSpc>
                        <a:spcAft>
                          <a:spcPts val="800"/>
                        </a:spcAft>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M</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algn="l">
                        <a:lnSpc>
                          <a:spcPct val="107000"/>
                        </a:lnSpc>
                        <a:spcAft>
                          <a:spcPts val="800"/>
                        </a:spcAft>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Atomic mass unit (u/Da)</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algn="l">
                        <a:lnSpc>
                          <a:spcPct val="107000"/>
                        </a:lnSpc>
                        <a:spcAft>
                          <a:spcPts val="800"/>
                        </a:spcAft>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 </a:t>
                      </a:r>
                      <a:endParaRPr lang="x-none"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extLst>
                  <a:ext uri="{0D108BD9-81ED-4DB2-BD59-A6C34878D82A}">
                    <a16:rowId val="2821386932"/>
                  </a:ext>
                </a:extLst>
              </a:tr>
            </a:tbl>
          </a:graphicData>
        </a:graphic>
      </p:graphicFrame>
      <p:sp>
        <p:nvSpPr>
          <p:cNvPr id="4" name="Rectangle 1">
            <a:extLst>
              <a:ext uri="{FF2B5EF4-FFF2-40B4-BE49-F238E27FC236}">
                <a16:creationId id="{7CA95829-B757-EB29-4C44-C087DFE2D44D}"/>
              </a:ext>
            </a:extLst>
          </p:cNvPr>
          <p:cNvSpPr>
            <a:spLocks noChangeArrowheads="1"/>
          </p:cNvSpPr>
          <p:nvPr/>
        </p:nvSpPr>
        <p:spPr bwMode="auto">
          <a:xfrm>
            <a:off x="670560" y="582930"/>
            <a:ext cx="10850880" cy="72009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fontScale="100000" lnSpcReduction="0"/>
          </a:bodyPr>
          <a:lstStyle/>
          <a:p>
            <a:pPr marL="0" marR="0" lvl="0" indent="0" algn="l" defTabSz="914400" rtl="0" eaLnBrk="0" fontAlgn="base" latinLnBrk="0" hangingPunct="0">
              <a:lnSpc>
                <a:spcPct val="118000"/>
              </a:lnSpc>
              <a:spcBef>
                <a:spcPts val="0"/>
              </a:spcBef>
              <a:spcAft>
                <a:spcPts val="450"/>
              </a:spcAft>
              <a:buClrTx/>
              <a:buSzTx/>
              <a:buFontTx/>
              <a:buChar char="•"/>
              <a:tabLst/>
              <a:defRPr sz="1850" b="1">
                <a:solidFill>
                  <a:srgbClr val="243B53"/>
                </a:solidFill>
                <a:latin typeface="Arial"/>
                <a:ea typeface="Arial"/>
                <a:cs typeface="Arial"/>
              </a:defRPr>
            </a:pPr>
            <a:r>
              <a:rPr kumimoji="0" lang="en-US" altLang="x-none" sz="1850" b="1" i="0" u="none" strike="noStrike" cap="none" normalizeH="0" baseline="0">
                <a:ln>
                  <a:noFill/>
                </a:ln>
                <a:solidFill>
                  <a:srgbClr val="243B53"/>
                </a:solidFill>
                <a:effectLst/>
                <a:latin typeface="Arial" panose="020F0502020204030204" pitchFamily="34" charset="0"/>
                <a:ea typeface="Arial" panose="020F0502020204030204" pitchFamily="34" charset="0"/>
                <a:cs typeface="Arial" panose="02020603050405020304" pitchFamily="18" charset="0"/>
              </a:rPr>
              <a:t>FUNDAMENTAL PHYSICAL QUANTITIES AND BASE UNITS:</a:t>
            </a:r>
            <a:endParaRPr kumimoji="0" lang="en-US" altLang="x-none" sz="1850" b="1" i="0" u="none" strike="noStrike" cap="none" normalizeH="0" baseline="0">
              <a:ln>
                <a:noFill/>
              </a:ln>
              <a:solidFill>
                <a:srgbClr val="243B53"/>
              </a:solidFill>
              <a:effectLst/>
              <a:latin typeface="Arial"/>
              <a:ea typeface="Arial"/>
              <a:cs typeface="Arial"/>
            </a:endParaRPr>
          </a:p>
          <a:p>
            <a:pPr marL="0" marR="0" lvl="0" indent="0" algn="l" defTabSz="914400" rtl="0" eaLnBrk="0" fontAlgn="base" latinLnBrk="0" hangingPunct="0">
              <a:lnSpc>
                <a:spcPts val="100"/>
              </a:lnSpc>
              <a:spcBef>
                <a:spcPts val="0"/>
              </a:spcBef>
              <a:spcAft>
                <a:spcPts val="0"/>
              </a:spcAft>
              <a:buClrTx/>
              <a:buSzTx/>
              <a:buFontTx/>
              <a:buNone/>
              <a:tabLst/>
              <a:defRPr sz="100" b="0">
                <a:solidFill>
                  <a:srgbClr val="243B53"/>
                </a:solidFill>
                <a:latin typeface="Arial"/>
                <a:ea typeface="Arial"/>
                <a:cs typeface="Arial"/>
              </a:defRPr>
            </a:pPr>
            <a:endParaRPr kumimoji="0" lang="en-US" altLang="x-none" sz="100" b="0" i="0" u="none" strike="noStrike" cap="none" normalizeH="0" baseline="0">
              <a:ln>
                <a:noFill/>
              </a:ln>
              <a:solidFill>
                <a:srgbClr val="243B53"/>
              </a:solidFill>
              <a:effectLst/>
              <a:latin typeface="Arial" panose="020B0604020202020204" pitchFamily="34" charset="0"/>
              <a:ea typeface="Arial"/>
              <a:cs typeface="Arial"/>
            </a:endParaRPr>
          </a:p>
        </p:txBody>
      </p:sp>
      <p:sp>
        <p:nvSpPr>
          <p:cNvPr id="5" name="TextBox 4">
            <a:extLst>
              <a:ext uri="{FF2B5EF4-FFF2-40B4-BE49-F238E27FC236}">
                <a16:creationId id="{4D7E0A9C-4488-BB29-12DB-E059124AF227}"/>
              </a:ext>
            </a:extLst>
          </p:cNvPr>
          <p:cNvSpPr txBox="1"/>
          <p:nvPr/>
        </p:nvSpPr>
        <p:spPr>
          <a:xfrm>
            <a:off x="670560" y="582930"/>
            <a:ext cx="10850880" cy="720090"/>
          </a:xfrm>
          <a:prstGeom prst="rect">
            <a:avLst/>
          </a:prstGeom>
          <a:noFill/>
        </p:spPr>
        <p:txBody>
          <a:bodyPr wrap="square" rtlCol="0" anchor="t" lIns="0" rIns="0" tIns="0" bIns="0">
            <a:normAutofit fontScale="100000" lnSpcReduction="0"/>
          </a:bodyPr>
          <a:lstStyle/>
          <a:p>
            <a:pPr algn="l" marL="0" indent="0">
              <a:lnSpc>
                <a:spcPct val="118000"/>
              </a:lnSpc>
              <a:spcBef>
                <a:spcPts val="0"/>
              </a:spcBef>
              <a:spcAft>
                <a:spcPts val="450"/>
              </a:spcAft>
              <a:defRPr sz="1850" b="1">
                <a:solidFill>
                  <a:srgbClr val="243B53"/>
                </a:solidFill>
                <a:latin typeface="Arial"/>
                <a:ea typeface="Arial"/>
                <a:cs typeface="Arial"/>
              </a:defRPr>
            </a:pPr>
            <a:r>
              <a:rPr lang="en-US" b="1" dirty="0" sz="1850">
                <a:solidFill>
                  <a:srgbClr val="243B53"/>
                </a:solidFill>
                <a:latin typeface="Arial"/>
                <a:ea typeface="Arial"/>
                <a:cs typeface="Arial"/>
              </a:rPr>
              <a:t>1. FUNDAMENTAL PHYSICAL QUANTITIES AND BASE UNITS:</a:t>
            </a:r>
            <a:endParaRPr lang="x-none" b="1" dirty="0" sz="185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x-none" dirty="0" sz="100" b="0">
              <a:solidFill>
                <a:srgbClr val="243B53"/>
              </a:solidFill>
              <a:latin typeface="Arial"/>
              <a:ea typeface="Arial"/>
              <a:cs typeface="Arial"/>
            </a:endParaRPr>
          </a:p>
        </p:txBody>
      </p:sp>
    </p:spTree>
    <p:extLst>
      <p:ext uri="{BB962C8B-B14F-4D97-AF65-F5344CB8AC3E}">
        <p14:creationId val="1412430932"/>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a14="http://schemas.microsoft.com/office/drawing/2010/main" xmlns:a16="http://schemas.microsoft.com/office/drawing/2014/main" xmlns:m="http://schemas.openxmlformats.org/officeDocument/2006/math" xmlns:mc="http://schemas.openxmlformats.org/markup-compatibility/2006"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mc:AlternateContent>
        <mc:Choice Requires="a14">
          <p:graphicFrame>
            <p:nvGraphicFramePr>
              <p:cNvPr id="4" name="Content Placeholder 3">
                <a:extLst>
                  <a:ext uri="{FF2B5EF4-FFF2-40B4-BE49-F238E27FC236}">
                    <a16:creationId id="{E356751D-0A48-E827-7C0F-2709C29891E3}"/>
                  </a:ext>
                </a:extLst>
              </p:cNvPr>
              <p:cNvGraphicFramePr>
                <a:graphicFrameLocks noGrp="1"/>
              </p:cNvGraphicFramePr>
              <p:nvPr>
                <p:ph idx="1"/>
                <p:extLst>
                  <p:ext uri="{D42A27DB-BD31-4B8C-83A1-F6EECF244321}">
                    <p14:modId val="3307545932"/>
                  </p:ext>
                </p:extLst>
              </p:nvPr>
            </p:nvGraphicFramePr>
            <p:xfrm>
              <a:off x="855785" y="1137139"/>
              <a:ext cx="10292861" cy="4583722"/>
            </p:xfrm>
            <a:graphic>
              <a:graphicData uri="http://schemas.openxmlformats.org/drawingml/2006/table">
                <a:tbl>
                  <a:tblPr firstRow="1" firstCol="1" bandRow="1">
                    <a:tableStyleId>{5C22544A-7EE6-4342-B048-85BDC9FD1C3A}</a:tableStyleId>
                  </a:tblPr>
                  <a:tblGrid>
                    <a:gridCol w="1932989">
                      <a:extLst>
                        <a:ext uri="{9D8B030D-6E8A-4147-A177-3AD203B41FA5}">
                          <a16:colId val="1358837769"/>
                        </a:ext>
                      </a:extLst>
                    </a:gridCol>
                    <a:gridCol w="1194267">
                      <a:extLst>
                        <a:ext uri="{9D8B030D-6E8A-4147-A177-3AD203B41FA5}">
                          <a16:colId val="2313522261"/>
                        </a:ext>
                      </a:extLst>
                    </a:gridCol>
                    <a:gridCol w="2856392">
                      <a:extLst>
                        <a:ext uri="{9D8B030D-6E8A-4147-A177-3AD203B41FA5}">
                          <a16:colId val="456723420"/>
                        </a:ext>
                      </a:extLst>
                    </a:gridCol>
                    <a:gridCol w="1994550">
                      <a:extLst>
                        <a:ext uri="{9D8B030D-6E8A-4147-A177-3AD203B41FA5}">
                          <a16:colId val="3945053086"/>
                        </a:ext>
                      </a:extLst>
                    </a:gridCol>
                    <a:gridCol w="2314663">
                      <a:extLst>
                        <a:ext uri="{9D8B030D-6E8A-4147-A177-3AD203B41FA5}">
                          <a16:colId val="1550545992"/>
                        </a:ext>
                      </a:extLst>
                    </a:gridCol>
                  </a:tblGrid>
                  <a:tr h="882985">
                    <a:tc>
                      <a:txBody>
                        <a:bodyPr/>
                        <a:lstStyle/>
                        <a:p>
                          <a:pPr marL="457200" algn="l">
                            <a:lnSpc>
                              <a:spcPct val="107000"/>
                            </a:lnSpc>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DOSE CATEGORY  </a:t>
                          </a:r>
                          <a:endParaRPr lang="x-none"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buNone/>
                            <a:defRPr sz="1700" b="1">
                              <a:solidFill>
                                <a:srgbClr val="FFFFFF"/>
                              </a:solidFill>
                              <a:latin typeface="Arial"/>
                              <a:ea typeface="Arial"/>
                              <a:cs typeface="Arial"/>
                            </a:defRPr>
                          </a:pPr>
                          <a:r>
                            <a:rPr lang="en-US" sz="1700" kern="100" dirty="0" b="1">
                              <a:solidFill>
                                <a:srgbClr val="FFFFFF"/>
                              </a:solidFill>
                              <a:effectLst/>
                              <a:latin typeface="Arial"/>
                              <a:ea typeface="Arial"/>
                              <a:cs typeface="Arial"/>
                            </a:rPr>
                            <a:t>SYMBOL</a:t>
                          </a:r>
                          <a:endParaRPr lang="x-none" sz="1700" kern="100" dirty="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buNone/>
                            <a:defRPr sz="1700" b="1">
                              <a:solidFill>
                                <a:srgbClr val="FFFFFF"/>
                              </a:solidFill>
                              <a:latin typeface="Arial"/>
                              <a:ea typeface="Arial"/>
                              <a:cs typeface="Arial"/>
                            </a:defRPr>
                          </a:pPr>
                          <a:r>
                            <a:rPr lang="en-US" sz="1700" kern="100" dirty="0" b="1">
                              <a:solidFill>
                                <a:srgbClr val="FFFFFF"/>
                              </a:solidFill>
                              <a:effectLst/>
                              <a:latin typeface="Arial"/>
                              <a:ea typeface="Arial"/>
                              <a:cs typeface="Arial"/>
                            </a:rPr>
                            <a:t>COMMON NON-SI ATOMIC UNIT </a:t>
                          </a:r>
                          <a:endParaRPr lang="x-none" sz="1700" kern="100" dirty="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STANDARED SI UNIT</a:t>
                          </a:r>
                          <a:endParaRPr lang="x-none"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spcAft>
                              <a:spcPts val="800"/>
                            </a:spcAft>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RELATIONSHIP/CONVERSION</a:t>
                          </a:r>
                          <a:endParaRPr lang="x-none"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extLst>
                      <a:ext uri="{0D108BD9-81ED-4DB2-BD59-A6C34878D82A}">
                        <a16:rowId val="3028048324"/>
                      </a:ext>
                    </a:extLst>
                  </a:tr>
                  <a:tr h="525890">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Energy </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Electron volt (eV)</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Joule (J)</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spcAft>
                              <a:spcPts val="800"/>
                            </a:spcAft>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1 eV = 1.6022 x</a:t>
                          </a:r>
                          <a14:m>
                            <m:oMath>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−19</m:t>
                                  </m:r>
                                </m:sup>
                              </m:sSup>
                            </m:oMath>
                          </a14:m>
                          <a:r>
                            <a:rPr lang="en-US" sz="1700" kern="100" dirty="0" b="0">
                              <a:solidFill>
                                <a:srgbClr val="243B53"/>
                              </a:solidFill>
                              <a:effectLst/>
                              <a:latin typeface="Arial"/>
                              <a:ea typeface="Arial"/>
                              <a:cs typeface="Arial"/>
                            </a:rPr>
                            <a:t>J</a:t>
                          </a:r>
                          <a:endParaRPr lang="x-none"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extLst>
                      <a:ext uri="{0D108BD9-81ED-4DB2-BD59-A6C34878D82A}">
                        <a16:rowId val="2594099194"/>
                      </a:ext>
                    </a:extLst>
                  </a:tr>
                  <a:tr h="882985">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Mass</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m</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Atomic mass unit (u/Da)</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Kilogram (kg)</a:t>
                          </a:r>
                          <a:endParaRPr lang="x-none" sz="1700" kern="100" b="0">
                            <a:solidFill>
                              <a:srgbClr val="243B53"/>
                            </a:solidFill>
                            <a:effectLst/>
                            <a:latin typeface="Arial"/>
                            <a:ea typeface="Arial"/>
                            <a:cs typeface="Arial"/>
                          </a:endParaRPr>
                        </a:p>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 </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spcAft>
                              <a:spcPts val="800"/>
                            </a:spcAft>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1 u =  1.6605 x </a:t>
                          </a:r>
                          <a14:m>
                            <m:oMath>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−27</m:t>
                                  </m:r>
                                </m:sup>
                              </m:sSup>
                              <m:r>
                                <a:rPr lang="en-US" sz="1100" kern="100">
                                  <a:effectLst/>
                                  <a:latin typeface="Cambria Math"/>
                                </a:rPr>
                                <m:t>𝑘𝑔</m:t>
                              </m:r>
                            </m:oMath>
                          </a14:m>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extLst>
                      <a:ext uri="{0D108BD9-81ED-4DB2-BD59-A6C34878D82A}">
                        <a16:rowId val="1258128323"/>
                      </a:ext>
                    </a:extLst>
                  </a:tr>
                  <a:tr h="882985">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Length / Distance</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ɤ.ʎ</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Angstrom (Å)/ fermi (</a:t>
                          </a:r>
                          <a:r>
                            <a:rPr lang="en-US" sz="1700" kern="100" dirty="0" err="1" b="0">
                              <a:solidFill>
                                <a:srgbClr val="243B53"/>
                              </a:solidFill>
                              <a:effectLst/>
                              <a:latin typeface="Arial"/>
                              <a:ea typeface="Arial"/>
                              <a:cs typeface="Arial"/>
                            </a:rPr>
                            <a:t>fm</a:t>
                          </a:r>
                          <a:r>
                            <a:rPr lang="en-US" sz="1700" kern="100" dirty="0" b="0">
                              <a:solidFill>
                                <a:srgbClr val="243B53"/>
                              </a:solidFill>
                              <a:effectLst/>
                              <a:latin typeface="Arial"/>
                              <a:ea typeface="Arial"/>
                              <a:cs typeface="Arial"/>
                            </a:rPr>
                            <a:t>)</a:t>
                          </a:r>
                          <a:endParaRPr lang="x-none"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Meter (m)</a:t>
                          </a:r>
                          <a:endParaRPr lang="x-none" sz="1700" kern="100" b="0">
                            <a:solidFill>
                              <a:srgbClr val="243B53"/>
                            </a:solidFill>
                            <a:effectLst/>
                            <a:latin typeface="Arial"/>
                            <a:ea typeface="Arial"/>
                            <a:cs typeface="Arial"/>
                          </a:endParaRPr>
                        </a:p>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 </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spcAft>
                              <a:spcPts val="800"/>
                            </a:spcAft>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1 Å= </a:t>
                          </a:r>
                          <a14:m>
                            <m:oMath>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−10</m:t>
                                  </m:r>
                                </m:sup>
                              </m:sSup>
                              <m:r>
                                <a:rPr lang="en-US" sz="1100" kern="100">
                                  <a:effectLst/>
                                  <a:latin typeface="Cambria Math"/>
                                </a:rPr>
                                <m:t>𝑚</m:t>
                              </m:r>
                              <m:r>
                                <a:rPr lang="en-US" sz="1100" kern="100">
                                  <a:effectLst/>
                                  <a:latin typeface="Cambria Math"/>
                                </a:rPr>
                                <m:t>;1</m:t>
                              </m:r>
                              <m:r>
                                <a:rPr lang="en-US" sz="1100" kern="100">
                                  <a:effectLst/>
                                  <a:latin typeface="Cambria Math"/>
                                </a:rPr>
                                <m:t>𝑓𝑚</m:t>
                              </m:r>
                              <m:r>
                                <a:rPr lang="en-US" sz="1100" kern="100">
                                  <a:effectLst/>
                                  <a:latin typeface="Cambria Math"/>
                                </a:rPr>
                                <m:t>= </m:t>
                              </m:r>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−15</m:t>
                                  </m:r>
                                </m:sup>
                              </m:sSup>
                              <m:r>
                                <a:rPr lang="en-US" sz="1100" kern="100">
                                  <a:effectLst/>
                                  <a:latin typeface="Cambria Math"/>
                                </a:rPr>
                                <m:t>𝑚</m:t>
                              </m:r>
                            </m:oMath>
                          </a14:m>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extLst>
                      <a:ext uri="{0D108BD9-81ED-4DB2-BD59-A6C34878D82A}">
                        <a16:rowId val="1131587818"/>
                      </a:ext>
                    </a:extLst>
                  </a:tr>
                  <a:tr h="525890">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Electric Charge </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q,e</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Elementary charge (e)</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Coulomb (c)</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spcAft>
                              <a:spcPts val="800"/>
                            </a:spcAft>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1e = 1.6022 x </a:t>
                          </a:r>
                          <a14:m>
                            <m:oMath>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−19</m:t>
                                  </m:r>
                                </m:sup>
                              </m:sSup>
                              <m:r>
                                <a:rPr lang="en-US" sz="1100" kern="100">
                                  <a:effectLst/>
                                  <a:latin typeface="Cambria Math"/>
                                </a:rPr>
                                <m:t>𝐶</m:t>
                              </m:r>
                            </m:oMath>
                          </a14:m>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extLst>
                      <a:ext uri="{0D108BD9-81ED-4DB2-BD59-A6C34878D82A}">
                        <a16:rowId val="3665504887"/>
                      </a:ext>
                    </a:extLst>
                  </a:tr>
                  <a:tr h="882985">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Coss section &amp; (area)</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σ</a:t>
                          </a:r>
                          <a:endParaRPr lang="x-none"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Barn (b)</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Square meter (</a:t>
                          </a:r>
                          <a14:m>
                            <m:oMath>
                              <m:sSup>
                                <m:sSupPr>
                                  <m:ctrlPr>
                                    <a:rPr lang="x-none" sz="1100" i="1" kern="100">
                                      <a:effectLst/>
                                      <a:latin typeface="Cambria Math"/>
                                    </a:rPr>
                                  </m:ctrlPr>
                                </m:sSupPr>
                                <m:e>
                                  <m:r>
                                    <a:rPr lang="en-US" sz="1100" kern="100">
                                      <a:effectLst/>
                                      <a:latin typeface="Cambria Math"/>
                                    </a:rPr>
                                    <m:t>𝑚</m:t>
                                  </m:r>
                                </m:e>
                                <m:sup>
                                  <m:r>
                                    <a:rPr lang="en-US" sz="1100" kern="100">
                                      <a:effectLst/>
                                      <a:latin typeface="Cambria Math"/>
                                    </a:rPr>
                                    <m:t>2</m:t>
                                  </m:r>
                                </m:sup>
                              </m:sSup>
                            </m:oMath>
                          </a14:m>
                          <a:r>
                            <a:rPr lang="en-US" sz="1700" kern="100" b="0">
                              <a:solidFill>
                                <a:srgbClr val="243B53"/>
                              </a:solidFill>
                              <a:effectLst/>
                              <a:latin typeface="Arial"/>
                              <a:ea typeface="Arial"/>
                              <a:cs typeface="Arial"/>
                            </a:rPr>
                            <a:t>)</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spcAft>
                              <a:spcPts val="800"/>
                            </a:spcAft>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1b=</a:t>
                          </a:r>
                          <a14:m>
                            <m:oMath>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−28</m:t>
                                  </m:r>
                                </m:sup>
                              </m:sSup>
                              <m:r>
                                <a:rPr lang="en-US" sz="1100" kern="100">
                                  <a:effectLst/>
                                  <a:latin typeface="Cambria Math"/>
                                </a:rPr>
                                <m:t> </m:t>
                              </m:r>
                            </m:oMath>
                          </a14:m>
                          <a:r>
                            <a:rPr lang="en-US" sz="1700" kern="100" dirty="0" b="0">
                              <a:solidFill>
                                <a:srgbClr val="243B53"/>
                              </a:solidFill>
                              <a:effectLst/>
                              <a:latin typeface="Arial"/>
                              <a:ea typeface="Arial"/>
                              <a:cs typeface="Arial"/>
                            </a:rPr>
                            <a:t>  </a:t>
                          </a:r>
                          <a14:m>
                            <m:oMath>
                              <m:sSup>
                                <m:sSupPr>
                                  <m:ctrlPr>
                                    <a:rPr lang="x-none" sz="1100" i="1" kern="100">
                                      <a:effectLst/>
                                      <a:latin typeface="Cambria Math"/>
                                    </a:rPr>
                                  </m:ctrlPr>
                                </m:sSupPr>
                                <m:e>
                                  <m:r>
                                    <a:rPr lang="en-US" sz="1100" kern="100">
                                      <a:effectLst/>
                                      <a:latin typeface="Cambria Math"/>
                                    </a:rPr>
                                    <m:t>𝑚</m:t>
                                  </m:r>
                                </m:e>
                                <m:sup>
                                  <m:r>
                                    <a:rPr lang="en-US" sz="1100" kern="100">
                                      <a:effectLst/>
                                      <a:latin typeface="Cambria Math"/>
                                    </a:rPr>
                                    <m:t>2</m:t>
                                  </m:r>
                                </m:sup>
                              </m:sSup>
                            </m:oMath>
                          </a14:m>
                          <a:r>
                            <a:rPr lang="en-US" sz="1700" kern="100" dirty="0" b="0">
                              <a:solidFill>
                                <a:srgbClr val="243B53"/>
                              </a:solidFill>
                              <a:effectLst/>
                              <a:latin typeface="Arial"/>
                              <a:ea typeface="Arial"/>
                              <a:cs typeface="Arial"/>
                            </a:rPr>
                            <a:t>= 100f</a:t>
                          </a:r>
                          <a:endParaRPr lang="x-none"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extLst>
                      <a:ext uri="{0D108BD9-81ED-4DB2-BD59-A6C34878D82A}">
                        <a16:rowId val="1059532402"/>
                      </a:ext>
                    </a:extLst>
                  </a:tr>
                </a:tbl>
              </a:graphicData>
            </a:graphic>
          </p:graphicFrame>
        </mc:Choice>
        <mc:Fallback>
          <p:graphicFrame>
            <p:nvGraphicFramePr>
              <p:cNvPr id="4" name="Content Placeholder 3">
                <a:extLst>
                  <a:ext uri="{FF2B5EF4-FFF2-40B4-BE49-F238E27FC236}">
                    <a16:creationId id="{E356751D-0A48-E827-7C0F-2709C29891E3}"/>
                  </a:ext>
                </a:extLst>
              </p:cNvPr>
              <p:cNvGraphicFramePr>
                <a:graphicFrameLocks noGrp="1"/>
              </p:cNvGraphicFramePr>
              <p:nvPr>
                <p:ph idx="1"/>
                <p:extLst>
                  <p:ext uri="{D42A27DB-BD31-4B8C-83A1-F6EECF244321}">
                    <p14:modId val="3307545932"/>
                  </p:ext>
                </p:extLst>
              </p:nvPr>
            </p:nvGraphicFramePr>
            <p:xfrm>
              <a:off x="855785" y="1137139"/>
              <a:ext cx="10292861" cy="4583722"/>
            </p:xfrm>
            <a:graphic>
              <a:graphicData uri="http://schemas.openxmlformats.org/drawingml/2006/table">
                <a:tbl>
                  <a:tblPr firstRow="1" firstCol="1" bandRow="1">
                    <a:tableStyleId>{5C22544A-7EE6-4342-B048-85BDC9FD1C3A}</a:tableStyleId>
                  </a:tblPr>
                  <a:tblGrid>
                    <a:gridCol w="1932989">
                      <a:extLst>
                        <a:ext uri="{9D8B030D-6E8A-4147-A177-3AD203B41FA5}">
                          <a16:colId val="1358837769"/>
                        </a:ext>
                      </a:extLst>
                    </a:gridCol>
                    <a:gridCol w="1194267">
                      <a:extLst>
                        <a:ext uri="{9D8B030D-6E8A-4147-A177-3AD203B41FA5}">
                          <a16:colId val="2313522261"/>
                        </a:ext>
                      </a:extLst>
                    </a:gridCol>
                    <a:gridCol w="2856392">
                      <a:extLst>
                        <a:ext uri="{9D8B030D-6E8A-4147-A177-3AD203B41FA5}">
                          <a16:colId val="456723420"/>
                        </a:ext>
                      </a:extLst>
                    </a:gridCol>
                    <a:gridCol w="1994550">
                      <a:extLst>
                        <a:ext uri="{9D8B030D-6E8A-4147-A177-3AD203B41FA5}">
                          <a16:colId val="3945053086"/>
                        </a:ext>
                      </a:extLst>
                    </a:gridCol>
                    <a:gridCol w="2314663">
                      <a:extLst>
                        <a:ext uri="{9D8B030D-6E8A-4147-A177-3AD203B41FA5}">
                          <a16:colId val="1550545992"/>
                        </a:ext>
                      </a:extLst>
                    </a:gridCol>
                  </a:tblGrid>
                  <a:tr h="882985">
                    <a:tc>
                      <a:txBody>
                        <a:bodyPr/>
                        <a:lstStyle/>
                        <a:p>
                          <a:pPr marL="457200" algn="l">
                            <a:lnSpc>
                              <a:spcPct val="107000"/>
                            </a:lnSpc>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DOSE CATEGORY  </a:t>
                          </a:r>
                          <a:endParaRPr lang="en-NG"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buNone/>
                            <a:defRPr sz="1700" b="1">
                              <a:solidFill>
                                <a:srgbClr val="FFFFFF"/>
                              </a:solidFill>
                              <a:latin typeface="Arial"/>
                              <a:ea typeface="Arial"/>
                              <a:cs typeface="Arial"/>
                            </a:defRPr>
                          </a:pPr>
                          <a:r>
                            <a:rPr lang="en-US" sz="1700" kern="100" dirty="0" b="1">
                              <a:solidFill>
                                <a:srgbClr val="FFFFFF"/>
                              </a:solidFill>
                              <a:effectLst/>
                              <a:latin typeface="Arial"/>
                              <a:ea typeface="Arial"/>
                              <a:cs typeface="Arial"/>
                            </a:rPr>
                            <a:t>SYMBOL</a:t>
                          </a:r>
                          <a:endParaRPr lang="en-NG" sz="1700" kern="100" dirty="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buNone/>
                            <a:defRPr sz="1700" b="1">
                              <a:solidFill>
                                <a:srgbClr val="FFFFFF"/>
                              </a:solidFill>
                              <a:latin typeface="Arial"/>
                              <a:ea typeface="Arial"/>
                              <a:cs typeface="Arial"/>
                            </a:defRPr>
                          </a:pPr>
                          <a:r>
                            <a:rPr lang="en-US" sz="1700" kern="100" dirty="0" b="1">
                              <a:solidFill>
                                <a:srgbClr val="FFFFFF"/>
                              </a:solidFill>
                              <a:effectLst/>
                              <a:latin typeface="Arial"/>
                              <a:ea typeface="Arial"/>
                              <a:cs typeface="Arial"/>
                            </a:rPr>
                            <a:t>COMMON NON-SI ATOMIC UNIT </a:t>
                          </a:r>
                          <a:endParaRPr lang="en-NG" sz="1700" kern="100" dirty="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STANDARED SI UNIT</a:t>
                          </a:r>
                          <a:endParaRPr lang="en-NG"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spcAft>
                              <a:spcPts val="800"/>
                            </a:spcAft>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RELATIONSHIP/CONVERSION</a:t>
                          </a:r>
                          <a:endParaRPr lang="en-NG"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extLst>
                      <a:ext uri="{0D108BD9-81ED-4DB2-BD59-A6C34878D82A}">
                        <a16:rowId val="3028048324"/>
                      </a:ext>
                    </a:extLst>
                  </a:tr>
                  <a:tr h="525890">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Energy </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Electron volt (eV)</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Joule (J)</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algn="l">
                            <a:defRPr sz="1700" b="0">
                              <a:solidFill>
                                <a:srgbClr val="243B53"/>
                              </a:solidFill>
                              <a:latin typeface="Arial"/>
                              <a:ea typeface="Arial"/>
                              <a:cs typeface="Arial"/>
                            </a:defRPr>
                          </a:pPr>
                          <a:endParaRPr lang="en-NG" sz="1700" b="0">
                            <a:solidFill>
                              <a:srgbClr val="243B53"/>
                            </a:solidFill>
                            <a:latin typeface="Arial"/>
                            <a:ea typeface="Arial"/>
                            <a:cs typeface="Arial"/>
                          </a:endParaRPr>
                        </a:p>
                      </a:txBody>
                      <a:tcPr marL="63500" marR="63500" marT="50800" marB="50800">
                        <a:solidFill>
                          <a:srgbClr val="F1F5FB"/>
                        </a:solidFill>
                      </a:tcPr>
                    </a:tc>
                    <a:extLst>
                      <a:ext uri="{0D108BD9-81ED-4DB2-BD59-A6C34878D82A}">
                        <a16:rowId val="2594099194"/>
                      </a:ext>
                    </a:extLst>
                  </a:tr>
                  <a:tr h="882985">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Mass</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m</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Atomic mass unit (u/Da)</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Kilogram (kg)</a:t>
                          </a:r>
                          <a:endParaRPr lang="en-NG" sz="1700" kern="100" b="0">
                            <a:solidFill>
                              <a:srgbClr val="243B53"/>
                            </a:solidFill>
                            <a:effectLst/>
                            <a:latin typeface="Arial"/>
                            <a:ea typeface="Arial"/>
                            <a:cs typeface="Arial"/>
                          </a:endParaRPr>
                        </a:p>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 </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algn="l">
                            <a:defRPr sz="1700" b="0">
                              <a:solidFill>
                                <a:srgbClr val="243B53"/>
                              </a:solidFill>
                              <a:latin typeface="Arial"/>
                              <a:ea typeface="Arial"/>
                              <a:cs typeface="Arial"/>
                            </a:defRPr>
                          </a:pPr>
                          <a:endParaRPr lang="en-NG" sz="1700" b="0">
                            <a:solidFill>
                              <a:srgbClr val="243B53"/>
                            </a:solidFill>
                            <a:latin typeface="Arial"/>
                            <a:ea typeface="Arial"/>
                            <a:cs typeface="Arial"/>
                          </a:endParaRPr>
                        </a:p>
                      </a:txBody>
                      <a:tcPr marL="63500" marR="63500" marT="50800" marB="50800">
                        <a:solidFill>
                          <a:srgbClr val="FFFFFF"/>
                        </a:solidFill>
                      </a:tcPr>
                    </a:tc>
                    <a:extLst>
                      <a:ext uri="{0D108BD9-81ED-4DB2-BD59-A6C34878D82A}">
                        <a16:rowId val="1258128323"/>
                      </a:ext>
                    </a:extLst>
                  </a:tr>
                  <a:tr h="882985">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Length / Distance</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ɤ.ʎ</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Angstrom (Å)/ fermi (</a:t>
                          </a:r>
                          <a:r>
                            <a:rPr lang="en-US" sz="1700" kern="100" dirty="0" err="1" b="0">
                              <a:solidFill>
                                <a:srgbClr val="243B53"/>
                              </a:solidFill>
                              <a:effectLst/>
                              <a:latin typeface="Arial"/>
                              <a:ea typeface="Arial"/>
                              <a:cs typeface="Arial"/>
                            </a:rPr>
                            <a:t>fm</a:t>
                          </a:r>
                          <a:r>
                            <a:rPr lang="en-US" sz="1700" kern="100" dirty="0" b="0">
                              <a:solidFill>
                                <a:srgbClr val="243B53"/>
                              </a:solidFill>
                              <a:effectLst/>
                              <a:latin typeface="Arial"/>
                              <a:ea typeface="Arial"/>
                              <a:cs typeface="Arial"/>
                            </a:rPr>
                            <a:t>)</a:t>
                          </a:r>
                          <a:endParaRPr lang="en-NG"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Meter (m)</a:t>
                          </a:r>
                          <a:endParaRPr lang="en-NG" sz="1700" kern="100" b="0">
                            <a:solidFill>
                              <a:srgbClr val="243B53"/>
                            </a:solidFill>
                            <a:effectLst/>
                            <a:latin typeface="Arial"/>
                            <a:ea typeface="Arial"/>
                            <a:cs typeface="Arial"/>
                          </a:endParaRPr>
                        </a:p>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 </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algn="l">
                            <a:defRPr sz="1700" b="0">
                              <a:solidFill>
                                <a:srgbClr val="243B53"/>
                              </a:solidFill>
                              <a:latin typeface="Arial"/>
                              <a:ea typeface="Arial"/>
                              <a:cs typeface="Arial"/>
                            </a:defRPr>
                          </a:pPr>
                          <a:endParaRPr lang="en-NG" sz="1700" b="0">
                            <a:solidFill>
                              <a:srgbClr val="243B53"/>
                            </a:solidFill>
                            <a:latin typeface="Arial"/>
                            <a:ea typeface="Arial"/>
                            <a:cs typeface="Arial"/>
                          </a:endParaRPr>
                        </a:p>
                      </a:txBody>
                      <a:tcPr marL="63500" marR="63500" marT="50800" marB="50800">
                        <a:solidFill>
                          <a:srgbClr val="F1F5FB"/>
                        </a:solidFill>
                      </a:tcPr>
                    </a:tc>
                    <a:extLst>
                      <a:ext uri="{0D108BD9-81ED-4DB2-BD59-A6C34878D82A}">
                        <a16:rowId val="1131587818"/>
                      </a:ext>
                    </a:extLst>
                  </a:tr>
                  <a:tr h="525890">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Electric Charge </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q,e</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Elementary charge (e)</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Coulomb (c)</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algn="l">
                            <a:defRPr sz="1700" b="0">
                              <a:solidFill>
                                <a:srgbClr val="243B53"/>
                              </a:solidFill>
                              <a:latin typeface="Arial"/>
                              <a:ea typeface="Arial"/>
                              <a:cs typeface="Arial"/>
                            </a:defRPr>
                          </a:pPr>
                          <a:endParaRPr lang="en-NG" sz="1700" b="0">
                            <a:solidFill>
                              <a:srgbClr val="243B53"/>
                            </a:solidFill>
                            <a:latin typeface="Arial"/>
                            <a:ea typeface="Arial"/>
                            <a:cs typeface="Arial"/>
                          </a:endParaRPr>
                        </a:p>
                      </a:txBody>
                      <a:tcPr marL="63500" marR="63500" marT="50800" marB="50800">
                        <a:solidFill>
                          <a:srgbClr val="FFFFFF"/>
                        </a:solidFill>
                      </a:tcPr>
                    </a:tc>
                    <a:extLst>
                      <a:ext uri="{0D108BD9-81ED-4DB2-BD59-A6C34878D82A}">
                        <a16:rowId val="3665504887"/>
                      </a:ext>
                    </a:extLst>
                  </a:tr>
                  <a:tr h="882985">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Coss section &amp; (area)</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σ</a:t>
                          </a:r>
                          <a:endParaRPr lang="en-NG"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Barn (b)</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algn="l">
                            <a:defRPr sz="1700" b="0">
                              <a:solidFill>
                                <a:srgbClr val="243B53"/>
                              </a:solidFill>
                              <a:latin typeface="Arial"/>
                              <a:ea typeface="Arial"/>
                              <a:cs typeface="Arial"/>
                            </a:defRPr>
                          </a:pPr>
                          <a:endParaRPr lang="en-NG" sz="1700" b="0">
                            <a:solidFill>
                              <a:srgbClr val="243B53"/>
                            </a:solidFill>
                            <a:latin typeface="Arial"/>
                            <a:ea typeface="Arial"/>
                            <a:cs typeface="Arial"/>
                          </a:endParaRPr>
                        </a:p>
                      </a:txBody>
                      <a:tcPr marL="63500" marR="63500" marT="50800" marB="50800">
                        <a:solidFill>
                          <a:srgbClr val="F1F5FB"/>
                        </a:solidFill>
                      </a:tcPr>
                    </a:tc>
                    <a:tc>
                      <a:txBody>
                        <a:bodyPr/>
                        <a:lstStyle/>
                        <a:p>
                          <a:pPr algn="l">
                            <a:defRPr sz="1700" b="0">
                              <a:solidFill>
                                <a:srgbClr val="243B53"/>
                              </a:solidFill>
                              <a:latin typeface="Arial"/>
                              <a:ea typeface="Arial"/>
                              <a:cs typeface="Arial"/>
                            </a:defRPr>
                          </a:pPr>
                          <a:endParaRPr lang="en-NG" sz="1700" b="0">
                            <a:solidFill>
                              <a:srgbClr val="243B53"/>
                            </a:solidFill>
                            <a:latin typeface="Arial"/>
                            <a:ea typeface="Arial"/>
                            <a:cs typeface="Arial"/>
                          </a:endParaRPr>
                        </a:p>
                      </a:txBody>
                      <a:tcPr marL="63500" marR="63500" marT="50800" marB="50800">
                        <a:solidFill>
                          <a:srgbClr val="F1F5FB"/>
                        </a:solidFill>
                      </a:tcPr>
                    </a:tc>
                    <a:extLst>
                      <a:ext uri="{0D108BD9-81ED-4DB2-BD59-A6C34878D82A}">
                        <a16:rowId val="1059532402"/>
                      </a:ext>
                    </a:extLst>
                  </a:tr>
                </a:tbl>
              </a:graphicData>
            </a:graphic>
          </p:graphicFrame>
        </mc:Fallback>
      </mc:AlternateContent>
    </p:spTree>
    <p:extLst>
      <p:ext uri="{BB962C8B-B14F-4D97-AF65-F5344CB8AC3E}">
        <p14:creationId val="3795014896"/>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a14="http://schemas.microsoft.com/office/drawing/2010/main" xmlns:a16="http://schemas.microsoft.com/office/drawing/2014/main" xmlns:m="http://schemas.openxmlformats.org/officeDocument/2006/math" xmlns:mc="http://schemas.openxmlformats.org/markup-compatibility/2006"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mc:AlternateContent>
        <mc:Choice Requires="a14">
          <p:sp>
            <p:nvSpPr>
              <p:cNvPr id="3" name="Content Placeholder 2">
                <a:extLst>
                  <a:ext uri="{FF2B5EF4-FFF2-40B4-BE49-F238E27FC236}">
                    <a16:creationId id="{056A454D-0C1A-D2C6-EE87-A2E1F31DB076}"/>
                  </a:ext>
                </a:extLst>
              </p:cNvPr>
              <p:cNvSpPr>
                <a:spLocks noGrp="1"/>
              </p:cNvSpPr>
              <p:nvPr>
                <p:ph idx="1"/>
              </p:nvPr>
            </p:nvSpPr>
            <p:spPr>
              <a:xfrm>
                <a:off x="838200" y="844062"/>
                <a:ext cx="10515600" cy="5332901"/>
              </a:xfrm>
            </p:spPr>
            <p:txBody>
              <a:bodyPr wrap="square" anchor="t" lIns="0" rIns="0" tIns="0" bIns="0">
                <a:normAutofit fontScale="100000" lnSpcReduction="0"/>
              </a:bodyPr>
              <a:lstStyle/>
              <a:p>
                <a:pPr marL="0" indent="0" algn="l">
                  <a:lnSpc>
                    <a:spcPct val="118000"/>
                  </a:lnSpc>
                  <a:spcBef>
                    <a:spcPts val="0"/>
                  </a:spcBef>
                  <a:spcAft>
                    <a:spcPts val="450"/>
                  </a:spcAft>
                  <a:buNone/>
                  <a:defRPr sz="1950" b="1">
                    <a:solidFill>
                      <a:srgbClr val="243B53"/>
                    </a:solidFill>
                    <a:latin typeface="Arial"/>
                    <a:ea typeface="Arial"/>
                    <a:cs typeface="Arial"/>
                  </a:defRPr>
                </a:pPr>
                <a:r>
                  <a:rPr lang="en-US" dirty="0" sz="1950" b="1">
                    <a:solidFill>
                      <a:srgbClr val="243B53"/>
                    </a:solidFill>
                    <a:latin typeface="Arial"/>
                    <a:ea typeface="Arial"/>
                    <a:cs typeface="Arial"/>
                  </a:rPr>
                  <a:t> </a:t>
                </a:r>
                <a:r>
                  <a:rPr lang="en-US" b="1" dirty="0" sz="1950">
                    <a:solidFill>
                      <a:srgbClr val="243B53"/>
                    </a:solidFill>
                    <a:latin typeface="Arial"/>
                    <a:ea typeface="Arial"/>
                    <a:cs typeface="Arial"/>
                  </a:rPr>
                  <a:t>2. RADIOACTIVE DECAY AND ACTIVITY </a:t>
                </a:r>
                <a:endParaRPr lang="x-none" b="1" dirty="0" sz="195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1900" b="0">
                    <a:solidFill>
                      <a:srgbClr val="243B53"/>
                    </a:solidFill>
                    <a:latin typeface="Arial"/>
                    <a:ea typeface="Arial"/>
                    <a:cs typeface="Arial"/>
                  </a:defRPr>
                </a:pPr>
                <a:r>
                  <a:rPr lang="en-US" dirty="0" sz="1900" b="0">
                    <a:solidFill>
                      <a:srgbClr val="243B53"/>
                    </a:solidFill>
                    <a:latin typeface="Arial"/>
                    <a:ea typeface="Arial"/>
                    <a:cs typeface="Arial"/>
                  </a:rPr>
                  <a:t>These units quantify the rate at which radioactive nuclei transform or decay over time </a:t>
                </a:r>
                <a:endParaRPr lang="x-none" dirty="0" sz="1900" b="0">
                  <a:solidFill>
                    <a:srgbClr val="243B53"/>
                  </a:solidFill>
                  <a:latin typeface="Arial"/>
                  <a:ea typeface="Arial"/>
                  <a:cs typeface="Arial"/>
                </a:endParaRPr>
              </a:p>
              <a:p>
                <a:pPr lvl="0" algn="l" marL="0" indent="0">
                  <a:lnSpc>
                    <a:spcPct val="118000"/>
                  </a:lnSpc>
                  <a:spcBef>
                    <a:spcPts val="0"/>
                  </a:spcBef>
                  <a:spcAft>
                    <a:spcPts val="450"/>
                  </a:spcAft>
                  <a:buFont typeface="Wingdings" panose="05000000000000000000" pitchFamily="2" charset="2"/>
                  <a:buChar char="ü"/>
                  <a:defRPr sz="1900" b="0">
                    <a:solidFill>
                      <a:srgbClr val="243B53"/>
                    </a:solidFill>
                    <a:latin typeface="Arial"/>
                    <a:ea typeface="Arial"/>
                    <a:cs typeface="Arial"/>
                  </a:defRPr>
                </a:pPr>
                <a:r>
                  <a:rPr lang="en-US" dirty="0" sz="1900" b="0">
                    <a:solidFill>
                      <a:srgbClr val="243B53"/>
                    </a:solidFill>
                    <a:latin typeface="Arial"/>
                    <a:ea typeface="Arial"/>
                    <a:cs typeface="Arial"/>
                  </a:rPr>
                  <a:t>Activity (A): the rate of nuclear decays per unit time (A= </a:t>
                </a:r>
                <a14:m>
                  <m:oMath>
                    <m:r>
                      <a:rPr lang="en-US" i="1">
                        <a:latin typeface="Cambria Math"/>
                      </a:rPr>
                      <m:t> </m:t>
                    </m:r>
                    <m:f>
                      <m:fPr>
                        <m:ctrlPr>
                          <a:rPr lang="x-none" i="1">
                            <a:latin typeface="Cambria Math"/>
                          </a:rPr>
                        </m:ctrlPr>
                      </m:fPr>
                      <m:num>
                        <m:r>
                          <a:rPr lang="en-US" i="1">
                            <a:latin typeface="Cambria Math"/>
                          </a:rPr>
                          <m:t>𝑑𝑁</m:t>
                        </m:r>
                      </m:num>
                      <m:den>
                        <m:r>
                          <a:rPr lang="en-US" i="1">
                            <a:latin typeface="Cambria Math"/>
                          </a:rPr>
                          <m:t>𝐼</m:t>
                        </m:r>
                      </m:den>
                    </m:f>
                  </m:oMath>
                </a14:m>
                <a:r>
                  <a:rPr lang="en-US" dirty="0" sz="1900" b="0">
                    <a:solidFill>
                      <a:srgbClr val="243B53"/>
                    </a:solidFill>
                    <a:latin typeface="Arial"/>
                    <a:ea typeface="Arial"/>
                    <a:cs typeface="Arial"/>
                  </a:rPr>
                  <a:t> ).</a:t>
                </a:r>
                <a:endParaRPr lang="x-none" dirty="0" sz="1900" b="0">
                  <a:solidFill>
                    <a:srgbClr val="243B53"/>
                  </a:solidFill>
                  <a:latin typeface="Arial"/>
                  <a:ea typeface="Arial"/>
                  <a:cs typeface="Arial"/>
                </a:endParaRPr>
              </a:p>
              <a:p>
                <a:pPr lvl="0" algn="l" marL="0" indent="0">
                  <a:lnSpc>
                    <a:spcPct val="118000"/>
                  </a:lnSpc>
                  <a:spcBef>
                    <a:spcPts val="0"/>
                  </a:spcBef>
                  <a:spcAft>
                    <a:spcPts val="450"/>
                  </a:spcAft>
                  <a:buFont typeface="Wingdings" panose="05000000000000000000" pitchFamily="2" charset="2"/>
                  <a:buChar char="ü"/>
                  <a:defRPr sz="1900" b="0">
                    <a:solidFill>
                      <a:srgbClr val="243B53"/>
                    </a:solidFill>
                    <a:latin typeface="Arial"/>
                    <a:ea typeface="Arial"/>
                    <a:cs typeface="Arial"/>
                  </a:defRPr>
                </a:pPr>
                <a:r>
                  <a:rPr lang="en-US" dirty="0" sz="1900" b="0">
                    <a:solidFill>
                      <a:srgbClr val="243B53"/>
                    </a:solidFill>
                    <a:latin typeface="Arial"/>
                    <a:ea typeface="Arial"/>
                    <a:cs typeface="Arial"/>
                  </a:rPr>
                  <a:t>SI Unit: becquerel (Bq) – defined as 1 decay per second (</a:t>
                </a:r>
                <a:r>
                  <a:rPr lang="en-US" dirty="0" err="1" sz="1900" b="0">
                    <a:solidFill>
                      <a:srgbClr val="243B53"/>
                    </a:solidFill>
                    <a:latin typeface="Arial"/>
                    <a:ea typeface="Arial"/>
                    <a:cs typeface="Arial"/>
                  </a:rPr>
                  <a:t>dps</a:t>
                </a:r>
                <a:r>
                  <a:rPr lang="en-US" dirty="0" sz="1900" b="0">
                    <a:solidFill>
                      <a:srgbClr val="243B53"/>
                    </a:solidFill>
                    <a:latin typeface="Arial"/>
                    <a:ea typeface="Arial"/>
                    <a:cs typeface="Arial"/>
                  </a:rPr>
                  <a:t>).</a:t>
                </a:r>
                <a:endParaRPr lang="x-none" dirty="0" sz="1900" b="0">
                  <a:solidFill>
                    <a:srgbClr val="243B53"/>
                  </a:solidFill>
                  <a:latin typeface="Arial"/>
                  <a:ea typeface="Arial"/>
                  <a:cs typeface="Arial"/>
                </a:endParaRPr>
              </a:p>
              <a:p>
                <a:pPr lvl="0" algn="l" marL="0" indent="0">
                  <a:lnSpc>
                    <a:spcPct val="118000"/>
                  </a:lnSpc>
                  <a:spcBef>
                    <a:spcPts val="0"/>
                  </a:spcBef>
                  <a:spcAft>
                    <a:spcPts val="450"/>
                  </a:spcAft>
                  <a:buFont typeface="Wingdings" panose="05000000000000000000" pitchFamily="2" charset="2"/>
                  <a:buChar char="ü"/>
                  <a:defRPr sz="1900" b="0">
                    <a:solidFill>
                      <a:srgbClr val="243B53"/>
                    </a:solidFill>
                    <a:latin typeface="Arial"/>
                    <a:ea typeface="Arial"/>
                    <a:cs typeface="Arial"/>
                  </a:defRPr>
                </a:pPr>
                <a:r>
                  <a:rPr lang="en-US" dirty="0" sz="1900" b="0">
                    <a:solidFill>
                      <a:srgbClr val="243B53"/>
                    </a:solidFill>
                    <a:latin typeface="Arial"/>
                    <a:ea typeface="Arial"/>
                    <a:cs typeface="Arial"/>
                  </a:rPr>
                  <a:t>Traditional unit:  curie (ci) Originally based on 1 gram of radium – 226 </a:t>
                </a:r>
                <a:endParaRPr lang="x-none" dirty="0" sz="19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1900" b="0">
                    <a:solidFill>
                      <a:srgbClr val="243B53"/>
                    </a:solidFill>
                    <a:latin typeface="Arial"/>
                    <a:ea typeface="Arial"/>
                    <a:cs typeface="Arial"/>
                  </a:defRPr>
                </a:pPr>
                <a:r>
                  <a:rPr lang="en-US" dirty="0" sz="1900" b="0">
                    <a:solidFill>
                      <a:srgbClr val="243B53"/>
                    </a:solidFill>
                    <a:latin typeface="Arial"/>
                    <a:ea typeface="Arial"/>
                    <a:cs typeface="Arial"/>
                  </a:rPr>
                  <a:t>1Ci =3.7 x </a:t>
                </a:r>
                <a14:m>
                  <m:oMath>
                    <m:sSup>
                      <m:sSupPr>
                        <m:ctrlPr>
                          <a:rPr lang="x-none" i="1">
                            <a:latin typeface="Cambria Math"/>
                          </a:rPr>
                        </m:ctrlPr>
                      </m:sSupPr>
                      <m:e>
                        <m:r>
                          <a:rPr lang="en-US" i="1">
                            <a:latin typeface="Cambria Math"/>
                          </a:rPr>
                          <m:t>10</m:t>
                        </m:r>
                      </m:e>
                      <m:sup>
                        <m:r>
                          <a:rPr lang="en-US" i="1">
                            <a:latin typeface="Cambria Math"/>
                          </a:rPr>
                          <m:t>10</m:t>
                        </m:r>
                      </m:sup>
                    </m:sSup>
                  </m:oMath>
                </a14:m>
                <a:r>
                  <a:rPr lang="en-US" dirty="0" sz="1900" b="0">
                    <a:solidFill>
                      <a:srgbClr val="243B53"/>
                    </a:solidFill>
                    <a:latin typeface="Arial"/>
                    <a:ea typeface="Arial"/>
                    <a:cs typeface="Arial"/>
                  </a:rPr>
                  <a:t> Bq = 37GBq</a:t>
                </a:r>
                <a:endParaRPr lang="x-none" dirty="0" sz="1900" b="0">
                  <a:solidFill>
                    <a:srgbClr val="243B53"/>
                  </a:solidFill>
                  <a:latin typeface="Arial"/>
                  <a:ea typeface="Arial"/>
                  <a:cs typeface="Arial"/>
                </a:endParaRPr>
              </a:p>
              <a:p>
                <a:pPr lvl="0" algn="l" marL="0" indent="0">
                  <a:lnSpc>
                    <a:spcPct val="118000"/>
                  </a:lnSpc>
                  <a:spcBef>
                    <a:spcPts val="0"/>
                  </a:spcBef>
                  <a:spcAft>
                    <a:spcPts val="450"/>
                  </a:spcAft>
                  <a:buFont typeface="Wingdings" panose="05000000000000000000" pitchFamily="2" charset="2"/>
                  <a:buChar char="ü"/>
                  <a:defRPr sz="1900" b="0">
                    <a:solidFill>
                      <a:srgbClr val="243B53"/>
                    </a:solidFill>
                    <a:latin typeface="Arial"/>
                    <a:ea typeface="Arial"/>
                    <a:cs typeface="Arial"/>
                  </a:defRPr>
                </a:pPr>
                <a:r>
                  <a:rPr lang="en-US" dirty="0" sz="1900" b="0">
                    <a:solidFill>
                      <a:srgbClr val="243B53"/>
                    </a:solidFill>
                    <a:latin typeface="Arial"/>
                    <a:ea typeface="Arial"/>
                    <a:cs typeface="Arial"/>
                  </a:rPr>
                  <a:t>Half-life (T ½  ) : The time required for half of the radioactive atoms in a sample to decay.  Measured in seconds (s), minutes, hours, or years.  </a:t>
                </a:r>
                <a:endParaRPr lang="x-none" dirty="0" sz="1900" b="0">
                  <a:solidFill>
                    <a:srgbClr val="243B53"/>
                  </a:solidFill>
                  <a:latin typeface="Arial"/>
                  <a:ea typeface="Arial"/>
                  <a:cs typeface="Arial"/>
                </a:endParaRPr>
              </a:p>
              <a:p>
                <a:pPr lvl="0" algn="l" marL="0" indent="0">
                  <a:lnSpc>
                    <a:spcPct val="118000"/>
                  </a:lnSpc>
                  <a:spcBef>
                    <a:spcPts val="0"/>
                  </a:spcBef>
                  <a:spcAft>
                    <a:spcPts val="450"/>
                  </a:spcAft>
                  <a:buFont typeface="Wingdings" panose="05000000000000000000" pitchFamily="2" charset="2"/>
                  <a:buChar char="ü"/>
                  <a:defRPr sz="1900" b="0">
                    <a:solidFill>
                      <a:srgbClr val="243B53"/>
                    </a:solidFill>
                    <a:latin typeface="Arial"/>
                    <a:ea typeface="Arial"/>
                    <a:cs typeface="Arial"/>
                  </a:defRPr>
                </a:pPr>
                <a:r>
                  <a:rPr lang="en-US" dirty="0" sz="1900" b="0">
                    <a:solidFill>
                      <a:srgbClr val="243B53"/>
                    </a:solidFill>
                    <a:latin typeface="Arial"/>
                    <a:ea typeface="Arial"/>
                    <a:cs typeface="Arial"/>
                  </a:rPr>
                  <a:t>Decay constant (ʎ):  the probability of decay per unit time (ʎ=</a:t>
                </a:r>
                <a14:m>
                  <m:oMath>
                    <m:r>
                      <a:rPr lang="en-US" i="1">
                        <a:latin typeface="Cambria Math"/>
                      </a:rPr>
                      <m:t> </m:t>
                    </m:r>
                    <m:f>
                      <m:fPr>
                        <m:ctrlPr>
                          <a:rPr lang="x-none" i="1">
                            <a:latin typeface="Cambria Math"/>
                          </a:rPr>
                        </m:ctrlPr>
                      </m:fPr>
                      <m:num>
                        <m:r>
                          <a:rPr lang="en-US" i="1">
                            <a:latin typeface="Cambria Math"/>
                          </a:rPr>
                          <m:t>𝐼𝑛</m:t>
                        </m:r>
                        <m:r>
                          <a:rPr lang="en-US" i="1">
                            <a:latin typeface="Cambria Math"/>
                          </a:rPr>
                          <m:t>2</m:t>
                        </m:r>
                      </m:num>
                      <m:den>
                        <m:r>
                          <m:rPr>
                            <m:sty m:val="p"/>
                          </m:rPr>
                          <a:rPr lang="en-US">
                            <a:latin typeface="Cambria Math"/>
                          </a:rPr>
                          <m:t>T</m:t>
                        </m:r>
                        <m:r>
                          <a:rPr lang="en-US">
                            <a:latin typeface="Cambria Math"/>
                          </a:rPr>
                          <m:t> ½  </m:t>
                        </m:r>
                      </m:den>
                    </m:f>
                  </m:oMath>
                </a14:m>
                <a:r>
                  <a:rPr lang="en-US" dirty="0" sz="1900" b="0">
                    <a:solidFill>
                      <a:srgbClr val="243B53"/>
                    </a:solidFill>
                    <a:latin typeface="Arial"/>
                    <a:ea typeface="Arial"/>
                    <a:cs typeface="Arial"/>
                  </a:rPr>
                  <a:t>). Measured in seconds in </a:t>
                </a:r>
                <a14:m>
                  <m:oMath>
                    <m:sSup>
                      <m:sSupPr>
                        <m:ctrlPr>
                          <a:rPr lang="x-none" i="1">
                            <a:latin typeface="Cambria Math"/>
                          </a:rPr>
                        </m:ctrlPr>
                      </m:sSupPr>
                      <m:e>
                        <m:r>
                          <a:rPr lang="en-US" i="1">
                            <a:latin typeface="Cambria Math"/>
                          </a:rPr>
                          <m:t>𝑆</m:t>
                        </m:r>
                      </m:e>
                      <m:sup>
                        <m:r>
                          <a:rPr lang="en-US" i="1">
                            <a:latin typeface="Cambria Math"/>
                          </a:rPr>
                          <m:t>−1</m:t>
                        </m:r>
                      </m:sup>
                    </m:sSup>
                  </m:oMath>
                </a14:m>
                <a:endParaRPr lang="x-none" dirty="0" sz="19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a:ea typeface="Arial"/>
                  <a:cs typeface="Arial"/>
                </a:endParaRPr>
              </a:p>
            </p:txBody>
          </p:sp>
        </mc:Choice>
        <mc:Fallback>
          <p:sp>
            <p:nvSpPr>
              <p:cNvPr id="3" name="Content Placeholder 2">
                <a:extLst>
                  <a:ext uri="{FF2B5EF4-FFF2-40B4-BE49-F238E27FC236}">
                    <a16:creationId id="{056A454D-0C1A-D2C6-EE87-A2E1F31DB076}"/>
                  </a:ext>
                </a:extLst>
              </p:cNvPr>
              <p:cNvSpPr>
                <a:spLocks noGrp="1" noRot="1" noChangeAspect="1" noMove="1" noResize="1" noEditPoints="1" noAdjustHandles="1" noChangeArrowheads="1" noChangeShapeType="1" noTextEdit="1"/>
              </p:cNvSpPr>
              <p:nvPr>
                <p:ph idx="1"/>
              </p:nvPr>
            </p:nvSpPr>
            <p:spPr>
              <a:xfrm>
                <a:off x="838200" y="844062"/>
                <a:ext cx="10515600" cy="5332901"/>
              </a:xfrm>
              <a:blipFill>
                <a:blip r:embed="rId2"/>
                <a:stretch>
                  <a:fillRect l="-928" t="-1714" b="-1486"/>
                </a:stretch>
              </a:blipFill>
            </p:spPr>
            <p:txBody>
              <a:bodyPr wrap="square" anchor="t" lIns="0" rIns="0" tIns="0" bIns="0">
                <a:normAutofit fontScale="100000" lnSpcReduction="0"/>
              </a:bodyPr>
              <a:lstStyle/>
              <a:p>
                <a:pPr algn="l" marL="0" indent="0">
                  <a:lnSpc>
                    <a:spcPts val="100"/>
                  </a:lnSpc>
                  <a:spcBef>
                    <a:spcPts val="0"/>
                  </a:spcBef>
                  <a:spcAft>
                    <a:spcPts val="0"/>
                  </a:spcAft>
                  <a:defRPr sz="100" b="0">
                    <a:solidFill>
                      <a:srgbClr val="243B53"/>
                    </a:solidFill>
                    <a:latin typeface="Arial"/>
                    <a:ea typeface="Arial"/>
                    <a:cs typeface="Arial"/>
                  </a:defRPr>
                </a:pPr>
                <a:r>
                  <a:rPr lang="en-NG" sz="100" b="0">
                    <a:solidFill>
                      <a:srgbClr val="243B53"/>
                    </a:solidFill>
                    <a:latin typeface="Arial"/>
                    <a:ea typeface="Arial"/>
                    <a:cs typeface="Arial"/>
                  </a:rPr>
                  <a:t> </a:t>
                </a:r>
                <a:endParaRPr sz="100" b="0">
                  <a:solidFill>
                    <a:srgbClr val="243B53"/>
                  </a:solidFill>
                  <a:latin typeface="Arial"/>
                  <a:ea typeface="Arial"/>
                  <a:cs typeface="Arial"/>
                </a:endParaRPr>
              </a:p>
            </p:txBody>
          </p:sp>
        </mc:Fallback>
      </mc:AlternateContent>
    </p:spTree>
    <p:extLst>
      <p:ext uri="{BB962C8B-B14F-4D97-AF65-F5344CB8AC3E}">
        <p14:creationId val="2813208945"/>
      </p:ext>
    </p:extLst>
  </p:cSld>
  <p:clrMapOvr>
    <a:masterClrMapping/>
  </p:clrMapOvr>
  <p:transition spd="slow">
    <p:push dir="u"/>
  </p:transition>
</p:sld>
</file>

<file path=ppt/slides/slide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2AF49A33-9B60-922A-45DF-A926AC50805C}"/>
            </a:ext>
          </a:extLst>
        </p:cNvPr>
        <p:cNvGrpSpPr/>
        <p:nvPr/>
      </p:nvGrpSpPr>
      <p:grpSpPr>
        <a:xfrm>
          <a:off x="0" y="0"/>
          <a:ext cx="0" cy="0"/>
          <a:chOff x="0" y="0"/>
          <a:chExt cx="0" cy="0"/>
        </a:xfrm>
      </p:grpSpPr>
      <p:sp>
        <p:nvSpPr>
          <p:cNvPr id="3" name="Content Placeholder 2">
            <a:extLst>
              <a:ext uri="{FF2B5EF4-FFF2-40B4-BE49-F238E27FC236}">
                <a16:creationId id="{B1398312-92DB-052C-5603-01729C60CE0F}"/>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lvl="0" indent="0" algn="l">
              <a:lnSpc>
                <a:spcPct val="118000"/>
              </a:lnSpc>
              <a:spcBef>
                <a:spcPts val="0"/>
              </a:spcBef>
              <a:spcAft>
                <a:spcPts val="450"/>
              </a:spcAft>
              <a:buNone/>
              <a:defRPr sz="2250" b="1">
                <a:solidFill>
                  <a:srgbClr val="243B53"/>
                </a:solidFill>
                <a:latin typeface="Arial"/>
                <a:ea typeface="Arial"/>
                <a:cs typeface="Arial"/>
              </a:defRPr>
            </a:pPr>
            <a:r>
              <a:rPr lang="en-US" b="1" dirty="0" sz="2250">
                <a:solidFill>
                  <a:srgbClr val="243B53"/>
                </a:solidFill>
                <a:latin typeface="Arial" panose="02020603050405020304" pitchFamily="18" charset="0"/>
                <a:ea typeface="Arial"/>
                <a:cs typeface="Arial" panose="02020603050405020304" pitchFamily="18" charset="0"/>
              </a:rPr>
              <a:t>3. RADIATION EXPOSURE, ABSORBED DOSE, &amp; DOSIMENTERY </a:t>
            </a:r>
            <a:endParaRPr lang="x-none" b="1" dirty="0" sz="2250">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panose="02020603050405020304" pitchFamily="18" charset="0"/>
                <a:ea typeface="Arial"/>
                <a:cs typeface="Arial" panose="02020603050405020304" pitchFamily="18" charset="0"/>
              </a:rPr>
              <a:t>Radiation measurement distinguishes between the energy present in the environment, the energy absorbed by matter, and the biological harm caused to biological tissue.  </a:t>
            </a:r>
            <a:endParaRPr lang="x-none" dirty="0" sz="2200" b="0">
              <a:solidFill>
                <a:srgbClr val="243B53"/>
              </a:solidFill>
              <a:latin typeface="Arial" panose="02020603050405020304" pitchFamily="18" charset="0"/>
              <a:ea typeface="Arial"/>
              <a:cs typeface="Arial" panose="02020603050405020304"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p:txBody>
      </p:sp>
    </p:spTree>
    <p:extLst>
      <p:ext uri="{BB962C8B-B14F-4D97-AF65-F5344CB8AC3E}">
        <p14:creationId val="4244799430"/>
      </p:ext>
    </p:extLst>
  </p:cSld>
  <p:clrMapOvr>
    <a:masterClrMapping/>
  </p:clrMapOvr>
  <p:transition spd="slow">
    <p:push dir="u"/>
  </p:transition>
</p:sld>
</file>

<file path=ppt/slides/slide9.xml><?xml version="1.0" encoding="utf-8"?>
<p:sld xmlns:a="http://schemas.openxmlformats.org/drawingml/2006/main" xmlns:a14="http://schemas.microsoft.com/office/drawing/2010/main" xmlns:a16="http://schemas.microsoft.com/office/drawing/2014/main" xmlns:m="http://schemas.openxmlformats.org/officeDocument/2006/math" xmlns:mc="http://schemas.openxmlformats.org/markup-compatibility/2006"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mc:AlternateContent>
        <mc:Choice Requires="a14">
          <p:graphicFrame>
            <p:nvGraphicFramePr>
              <p:cNvPr id="4" name="Content Placeholder 3">
                <a:extLst>
                  <a:ext uri="{FF2B5EF4-FFF2-40B4-BE49-F238E27FC236}">
                    <a16:creationId id="{D238D64A-EC82-5405-DDA5-07B0058CA317}"/>
                  </a:ext>
                </a:extLst>
              </p:cNvPr>
              <p:cNvGraphicFramePr>
                <a:graphicFrameLocks noGrp="1"/>
              </p:cNvGraphicFramePr>
              <p:nvPr>
                <p:ph idx="1"/>
                <p:extLst>
                  <p:ext uri="{D42A27DB-BD31-4B8C-83A1-F6EECF244321}">
                    <p14:modId val="893525211"/>
                  </p:ext>
                </p:extLst>
              </p:nvPr>
            </p:nvGraphicFramePr>
            <p:xfrm>
              <a:off x="668215" y="633046"/>
              <a:ext cx="10773509" cy="5498123"/>
            </p:xfrm>
            <a:graphic>
              <a:graphicData uri="http://schemas.openxmlformats.org/drawingml/2006/table">
                <a:tbl>
                  <a:tblPr firstRow="1" firstCol="1" bandRow="1">
                    <a:tableStyleId>{5C22544A-7EE6-4342-B048-85BDC9FD1C3A}</a:tableStyleId>
                  </a:tblPr>
                  <a:tblGrid>
                    <a:gridCol w="2306249">
                      <a:extLst>
                        <a:ext uri="{9D8B030D-6E8A-4147-A177-3AD203B41FA5}">
                          <a16:colId val="538891981"/>
                        </a:ext>
                      </a:extLst>
                    </a:gridCol>
                    <a:gridCol w="2181795">
                      <a:extLst>
                        <a:ext uri="{9D8B030D-6E8A-4147-A177-3AD203B41FA5}">
                          <a16:colId val="269011205"/>
                        </a:ext>
                      </a:extLst>
                    </a:gridCol>
                    <a:gridCol w="2310654">
                      <a:extLst>
                        <a:ext uri="{9D8B030D-6E8A-4147-A177-3AD203B41FA5}">
                          <a16:colId val="2639555213"/>
                        </a:ext>
                      </a:extLst>
                    </a:gridCol>
                    <a:gridCol w="1788610">
                      <a:extLst>
                        <a:ext uri="{9D8B030D-6E8A-4147-A177-3AD203B41FA5}">
                          <a16:colId val="4084497551"/>
                        </a:ext>
                      </a:extLst>
                    </a:gridCol>
                    <a:gridCol w="2186201">
                      <a:extLst>
                        <a:ext uri="{9D8B030D-6E8A-4147-A177-3AD203B41FA5}">
                          <a16:colId val="1811870346"/>
                        </a:ext>
                      </a:extLst>
                    </a:gridCol>
                  </a:tblGrid>
                  <a:tr h="702103">
                    <a:tc>
                      <a:txBody>
                        <a:bodyPr/>
                        <a:lstStyle/>
                        <a:p>
                          <a:pPr marL="457200" algn="l">
                            <a:lnSpc>
                              <a:spcPct val="107000"/>
                            </a:lnSpc>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DOSE CATEGORY  </a:t>
                          </a:r>
                          <a:endParaRPr lang="x-none"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WHAT IT MEASURES</a:t>
                          </a:r>
                          <a:endParaRPr lang="x-none"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SI UNIT</a:t>
                          </a:r>
                          <a:endParaRPr lang="x-none"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buNone/>
                            <a:defRPr sz="1700" b="1">
                              <a:solidFill>
                                <a:srgbClr val="FFFFFF"/>
                              </a:solidFill>
                              <a:latin typeface="Arial"/>
                              <a:ea typeface="Arial"/>
                              <a:cs typeface="Arial"/>
                            </a:defRPr>
                          </a:pPr>
                          <a:r>
                            <a:rPr lang="en-US" sz="1700" kern="100" dirty="0" b="1">
                              <a:solidFill>
                                <a:srgbClr val="FFFFFF"/>
                              </a:solidFill>
                              <a:effectLst/>
                              <a:latin typeface="Arial"/>
                              <a:ea typeface="Arial"/>
                              <a:cs typeface="Arial"/>
                            </a:rPr>
                            <a:t>TRADITIONAL/NON-SI UNIT</a:t>
                          </a:r>
                          <a:endParaRPr lang="x-none" sz="1700" kern="100" dirty="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spcAft>
                              <a:spcPts val="800"/>
                            </a:spcAft>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CONVERSION</a:t>
                          </a:r>
                          <a:endParaRPr lang="x-none"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extLst>
                      <a:ext uri="{0D108BD9-81ED-4DB2-BD59-A6C34878D82A}">
                        <a16:rowId val="3607158774"/>
                      </a:ext>
                    </a:extLst>
                  </a:tr>
                  <a:tr h="1269990">
                    <a:tc>
                      <a:txBody>
                        <a:bodyPr/>
                        <a:lstStyle/>
                        <a:p>
                          <a:pPr marL="457200" algn="l">
                            <a:lnSpc>
                              <a:spcPct val="107000"/>
                            </a:lnSpc>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Exposure (X)</a:t>
                          </a:r>
                          <a:endParaRPr lang="x-none"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Ionization produced by X-rays /gamma rays in air </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Coulomb per kilogram (C/kg)</a:t>
                          </a:r>
                          <a:endParaRPr lang="x-none"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Roentgen (R)</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spcAft>
                              <a:spcPts val="800"/>
                            </a:spcAft>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1 R =2.58x</a:t>
                          </a:r>
                          <a14:m>
                            <m:oMath>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−4</m:t>
                                  </m:r>
                                </m:sup>
                              </m:sSup>
                            </m:oMath>
                          </a14:m>
                          <a:r>
                            <a:rPr lang="en-US" sz="1700" kern="100" dirty="0" b="0">
                              <a:solidFill>
                                <a:srgbClr val="243B53"/>
                              </a:solidFill>
                              <a:effectLst/>
                              <a:latin typeface="Arial"/>
                              <a:ea typeface="Arial"/>
                              <a:cs typeface="Arial"/>
                            </a:rPr>
                            <a:t> c/kg</a:t>
                          </a:r>
                          <a:endParaRPr lang="x-none"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extLst>
                      <a:ext uri="{0D108BD9-81ED-4DB2-BD59-A6C34878D82A}">
                        <a16:rowId val="2735038593"/>
                      </a:ext>
                    </a:extLst>
                  </a:tr>
                  <a:tr h="986047">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Absorbed Dose (D)</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Radiation Energy deposited per unit mass of material</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Gray (Gy), (1Gy= 1J/kg)</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Rad (rad)</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spcAft>
                              <a:spcPts val="800"/>
                            </a:spcAft>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1Gy = 100 rad</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extLst>
                      <a:ext uri="{0D108BD9-81ED-4DB2-BD59-A6C34878D82A}">
                        <a16:rowId val="1953913565"/>
                      </a:ext>
                    </a:extLst>
                  </a:tr>
                  <a:tr h="1269990">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Equivalent Dose (H)</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Absorbed dose adjusted for radiation type (H=</a:t>
                          </a:r>
                          <a14:m>
                            <m:oMath>
                              <m:sSup>
                                <m:sSupPr>
                                  <m:ctrlPr>
                                    <a:rPr lang="x-none" sz="1100" i="1" kern="100">
                                      <a:effectLst/>
                                      <a:latin typeface="Cambria Math"/>
                                    </a:rPr>
                                  </m:ctrlPr>
                                </m:sSupPr>
                                <m:e>
                                  <m:r>
                                    <a:rPr lang="en-US" sz="1100" kern="100">
                                      <a:effectLst/>
                                      <a:latin typeface="Cambria Math"/>
                                    </a:rPr>
                                    <m:t>𝐷</m:t>
                                  </m:r>
                                </m:e>
                                <m:sup>
                                  <m:r>
                                    <a:rPr lang="en-US" sz="1100" kern="100">
                                      <a:effectLst/>
                                      <a:latin typeface="Cambria Math"/>
                                    </a:rPr>
                                    <m:t>𝑥𝑤</m:t>
                                  </m:r>
                                </m:sup>
                              </m:sSup>
                              <m:r>
                                <a:rPr lang="en-US" sz="1100" kern="100">
                                  <a:effectLst/>
                                  <a:latin typeface="Cambria Math"/>
                                </a:rPr>
                                <m:t>𝑅</m:t>
                              </m:r>
                            </m:oMath>
                          </a14:m>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Sievert (</a:t>
                          </a:r>
                          <a:r>
                            <a:rPr lang="en-US" sz="1700" kern="100" dirty="0" err="1" b="0">
                              <a:solidFill>
                                <a:srgbClr val="243B53"/>
                              </a:solidFill>
                              <a:effectLst/>
                              <a:latin typeface="Arial"/>
                              <a:ea typeface="Arial"/>
                              <a:cs typeface="Arial"/>
                            </a:rPr>
                            <a:t>Sv</a:t>
                          </a:r>
                          <a:r>
                            <a:rPr lang="en-US" sz="1700" kern="100" dirty="0" b="0">
                              <a:solidFill>
                                <a:srgbClr val="243B53"/>
                              </a:solidFill>
                              <a:effectLst/>
                              <a:latin typeface="Arial"/>
                              <a:ea typeface="Arial"/>
                              <a:cs typeface="Arial"/>
                            </a:rPr>
                            <a:t>) (1 </a:t>
                          </a:r>
                          <a:r>
                            <a:rPr lang="en-US" sz="1700" kern="100" dirty="0" err="1" b="0">
                              <a:solidFill>
                                <a:srgbClr val="243B53"/>
                              </a:solidFill>
                              <a:effectLst/>
                              <a:latin typeface="Arial"/>
                              <a:ea typeface="Arial"/>
                              <a:cs typeface="Arial"/>
                            </a:rPr>
                            <a:t>Sv</a:t>
                          </a:r>
                          <a:r>
                            <a:rPr lang="en-US" sz="1700" kern="100" dirty="0" b="0">
                              <a:solidFill>
                                <a:srgbClr val="243B53"/>
                              </a:solidFill>
                              <a:effectLst/>
                              <a:latin typeface="Arial"/>
                              <a:ea typeface="Arial"/>
                              <a:cs typeface="Arial"/>
                            </a:rPr>
                            <a:t> = 1J/kg)</a:t>
                          </a:r>
                          <a:endParaRPr lang="x-none"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Rem (rem)</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spcAft>
                              <a:spcPts val="800"/>
                            </a:spcAft>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1 Sv = 100 rem </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extLst>
                      <a:ext uri="{0D108BD9-81ED-4DB2-BD59-A6C34878D82A}">
                        <a16:rowId val="2878378813"/>
                      </a:ext>
                    </a:extLst>
                  </a:tr>
                  <a:tr h="1269990">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Effective Dose (E)</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Biological risk taking into account specific tissue sensitivity. </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Sievert (</a:t>
                          </a:r>
                          <a:r>
                            <a:rPr lang="en-US" sz="1700" kern="100" dirty="0" err="1" b="0">
                              <a:solidFill>
                                <a:srgbClr val="243B53"/>
                              </a:solidFill>
                              <a:effectLst/>
                              <a:latin typeface="Arial"/>
                              <a:ea typeface="Arial"/>
                              <a:cs typeface="Arial"/>
                            </a:rPr>
                            <a:t>Sv</a:t>
                          </a:r>
                          <a:r>
                            <a:rPr lang="en-US" sz="1700" kern="100" dirty="0" b="0">
                              <a:solidFill>
                                <a:srgbClr val="243B53"/>
                              </a:solidFill>
                              <a:effectLst/>
                              <a:latin typeface="Arial"/>
                              <a:ea typeface="Arial"/>
                              <a:cs typeface="Arial"/>
                            </a:rPr>
                            <a:t>)</a:t>
                          </a:r>
                          <a:endParaRPr lang="x-none"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Rem (rem)</a:t>
                          </a:r>
                          <a:endParaRPr lang="x-none"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spcAft>
                              <a:spcPts val="800"/>
                            </a:spcAft>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1Sv = 100 rem</a:t>
                          </a:r>
                          <a:endParaRPr lang="x-none"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extLst>
                      <a:ext uri="{0D108BD9-81ED-4DB2-BD59-A6C34878D82A}">
                        <a16:rowId val="3604810729"/>
                      </a:ext>
                    </a:extLst>
                  </a:tr>
                </a:tbl>
              </a:graphicData>
            </a:graphic>
          </p:graphicFrame>
        </mc:Choice>
        <mc:Fallback>
          <p:graphicFrame>
            <p:nvGraphicFramePr>
              <p:cNvPr id="4" name="Content Placeholder 3">
                <a:extLst>
                  <a:ext uri="{FF2B5EF4-FFF2-40B4-BE49-F238E27FC236}">
                    <a16:creationId id="{D238D64A-EC82-5405-DDA5-07B0058CA317}"/>
                  </a:ext>
                </a:extLst>
              </p:cNvPr>
              <p:cNvGraphicFramePr>
                <a:graphicFrameLocks noGrp="1"/>
              </p:cNvGraphicFramePr>
              <p:nvPr>
                <p:ph idx="1"/>
                <p:extLst>
                  <p:ext uri="{D42A27DB-BD31-4B8C-83A1-F6EECF244321}">
                    <p14:modId val="893525211"/>
                  </p:ext>
                </p:extLst>
              </p:nvPr>
            </p:nvGraphicFramePr>
            <p:xfrm>
              <a:off x="668215" y="633046"/>
              <a:ext cx="10773509" cy="5498123"/>
            </p:xfrm>
            <a:graphic>
              <a:graphicData uri="http://schemas.openxmlformats.org/drawingml/2006/table">
                <a:tbl>
                  <a:tblPr firstRow="1" firstCol="1" bandRow="1">
                    <a:tableStyleId>{5C22544A-7EE6-4342-B048-85BDC9FD1C3A}</a:tableStyleId>
                  </a:tblPr>
                  <a:tblGrid>
                    <a:gridCol w="2306249">
                      <a:extLst>
                        <a:ext uri="{9D8B030D-6E8A-4147-A177-3AD203B41FA5}">
                          <a16:colId val="538891981"/>
                        </a:ext>
                      </a:extLst>
                    </a:gridCol>
                    <a:gridCol w="2181795">
                      <a:extLst>
                        <a:ext uri="{9D8B030D-6E8A-4147-A177-3AD203B41FA5}">
                          <a16:colId val="269011205"/>
                        </a:ext>
                      </a:extLst>
                    </a:gridCol>
                    <a:gridCol w="2310654">
                      <a:extLst>
                        <a:ext uri="{9D8B030D-6E8A-4147-A177-3AD203B41FA5}">
                          <a16:colId val="2639555213"/>
                        </a:ext>
                      </a:extLst>
                    </a:gridCol>
                    <a:gridCol w="1788610">
                      <a:extLst>
                        <a:ext uri="{9D8B030D-6E8A-4147-A177-3AD203B41FA5}">
                          <a16:colId val="4084497551"/>
                        </a:ext>
                      </a:extLst>
                    </a:gridCol>
                    <a:gridCol w="2186201">
                      <a:extLst>
                        <a:ext uri="{9D8B030D-6E8A-4147-A177-3AD203B41FA5}">
                          <a16:colId val="1811870346"/>
                        </a:ext>
                      </a:extLst>
                    </a:gridCol>
                  </a:tblGrid>
                  <a:tr h="782975">
                    <a:tc>
                      <a:txBody>
                        <a:bodyPr/>
                        <a:lstStyle/>
                        <a:p>
                          <a:pPr marL="457200" algn="l">
                            <a:lnSpc>
                              <a:spcPct val="107000"/>
                            </a:lnSpc>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DOSE CATEGORY  </a:t>
                          </a:r>
                          <a:endParaRPr lang="en-NG"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WHAT IT MEASURES</a:t>
                          </a:r>
                          <a:endParaRPr lang="en-NG"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SI UNIT</a:t>
                          </a:r>
                          <a:endParaRPr lang="en-NG"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buNone/>
                            <a:defRPr sz="1700" b="1">
                              <a:solidFill>
                                <a:srgbClr val="FFFFFF"/>
                              </a:solidFill>
                              <a:latin typeface="Arial"/>
                              <a:ea typeface="Arial"/>
                              <a:cs typeface="Arial"/>
                            </a:defRPr>
                          </a:pPr>
                          <a:r>
                            <a:rPr lang="en-US" sz="1700" kern="100" dirty="0" b="1">
                              <a:solidFill>
                                <a:srgbClr val="FFFFFF"/>
                              </a:solidFill>
                              <a:effectLst/>
                              <a:latin typeface="Arial"/>
                              <a:ea typeface="Arial"/>
                              <a:cs typeface="Arial"/>
                            </a:rPr>
                            <a:t>TRADITIONAL/NON-SI UNIT</a:t>
                          </a:r>
                          <a:endParaRPr lang="en-NG" sz="1700" kern="100" dirty="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tc>
                      <a:txBody>
                        <a:bodyPr/>
                        <a:lstStyle/>
                        <a:p>
                          <a:pPr marL="457200" algn="l">
                            <a:lnSpc>
                              <a:spcPct val="107000"/>
                            </a:lnSpc>
                            <a:spcAft>
                              <a:spcPts val="800"/>
                            </a:spcAft>
                            <a:buNone/>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CONVERSION</a:t>
                          </a:r>
                          <a:endParaRPr lang="en-NG" sz="1700" kern="100" b="1">
                            <a:solidFill>
                              <a:srgbClr val="FFFFFF"/>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243B53"/>
                        </a:solidFill>
                      </a:tcPr>
                    </a:tc>
                    <a:extLst>
                      <a:ext uri="{0D108BD9-81ED-4DB2-BD59-A6C34878D82A}">
                        <a16:rowId val="3607158774"/>
                      </a:ext>
                    </a:extLst>
                  </a:tr>
                  <a:tr h="1416273">
                    <a:tc>
                      <a:txBody>
                        <a:bodyPr/>
                        <a:lstStyle/>
                        <a:p>
                          <a:pPr marL="457200" algn="l">
                            <a:lnSpc>
                              <a:spcPct val="107000"/>
                            </a:lnSpc>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Exposure (X)</a:t>
                          </a:r>
                          <a:endParaRPr lang="en-NG"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Ionization produced by X-rays /gamma rays in air </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Coulomb per kilogram (C/kg)</a:t>
                          </a:r>
                          <a:endParaRPr lang="en-NG"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Roentgen (R)</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algn="l">
                            <a:defRPr sz="1700" b="0">
                              <a:solidFill>
                                <a:srgbClr val="243B53"/>
                              </a:solidFill>
                              <a:latin typeface="Arial"/>
                              <a:ea typeface="Arial"/>
                              <a:cs typeface="Arial"/>
                            </a:defRPr>
                          </a:pPr>
                          <a:endParaRPr lang="en-NG" sz="1700" b="0">
                            <a:solidFill>
                              <a:srgbClr val="243B53"/>
                            </a:solidFill>
                            <a:latin typeface="Arial"/>
                            <a:ea typeface="Arial"/>
                            <a:cs typeface="Arial"/>
                          </a:endParaRPr>
                        </a:p>
                      </a:txBody>
                      <a:tcPr marL="63500" marR="63500" marT="50800" marB="50800">
                        <a:solidFill>
                          <a:srgbClr val="F1F5FB"/>
                        </a:solidFill>
                      </a:tcPr>
                    </a:tc>
                    <a:extLst>
                      <a:ext uri="{0D108BD9-81ED-4DB2-BD59-A6C34878D82A}">
                        <a16:rowId val="2735038593"/>
                      </a:ext>
                    </a:extLst>
                  </a:tr>
                  <a:tr h="1099624">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Absorbed Dose (D)</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Radiation Energy deposited per unit mass of material</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Gray (Gy), (1Gy= 1J/kg)</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Rad (rad)</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spcAft>
                              <a:spcPts val="800"/>
                            </a:spcAft>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1Gy = 100 rad</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extLst>
                      <a:ext uri="{0D108BD9-81ED-4DB2-BD59-A6C34878D82A}">
                        <a16:rowId val="1953913565"/>
                      </a:ext>
                    </a:extLst>
                  </a:tr>
                  <a:tr h="782975">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Equivalent Dose (H)</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algn="l">
                            <a:defRPr sz="1700" b="0">
                              <a:solidFill>
                                <a:srgbClr val="243B53"/>
                              </a:solidFill>
                              <a:latin typeface="Arial"/>
                              <a:ea typeface="Arial"/>
                              <a:cs typeface="Arial"/>
                            </a:defRPr>
                          </a:pPr>
                          <a:endParaRPr lang="en-NG" sz="1700" b="0">
                            <a:solidFill>
                              <a:srgbClr val="243B53"/>
                            </a:solidFill>
                            <a:latin typeface="Arial"/>
                            <a:ea typeface="Arial"/>
                            <a:cs typeface="Arial"/>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Sievert (</a:t>
                          </a:r>
                          <a:r>
                            <a:rPr lang="en-US" sz="1700" kern="100" dirty="0" err="1" b="0">
                              <a:solidFill>
                                <a:srgbClr val="243B53"/>
                              </a:solidFill>
                              <a:effectLst/>
                              <a:latin typeface="Arial"/>
                              <a:ea typeface="Arial"/>
                              <a:cs typeface="Arial"/>
                            </a:rPr>
                            <a:t>Sv</a:t>
                          </a:r>
                          <a:r>
                            <a:rPr lang="en-US" sz="1700" kern="100" dirty="0" b="0">
                              <a:solidFill>
                                <a:srgbClr val="243B53"/>
                              </a:solidFill>
                              <a:effectLst/>
                              <a:latin typeface="Arial"/>
                              <a:ea typeface="Arial"/>
                              <a:cs typeface="Arial"/>
                            </a:rPr>
                            <a:t>) (1 </a:t>
                          </a:r>
                          <a:r>
                            <a:rPr lang="en-US" sz="1700" kern="100" dirty="0" err="1" b="0">
                              <a:solidFill>
                                <a:srgbClr val="243B53"/>
                              </a:solidFill>
                              <a:effectLst/>
                              <a:latin typeface="Arial"/>
                              <a:ea typeface="Arial"/>
                              <a:cs typeface="Arial"/>
                            </a:rPr>
                            <a:t>Sv</a:t>
                          </a:r>
                          <a:r>
                            <a:rPr lang="en-US" sz="1700" kern="100" dirty="0" b="0">
                              <a:solidFill>
                                <a:srgbClr val="243B53"/>
                              </a:solidFill>
                              <a:effectLst/>
                              <a:latin typeface="Arial"/>
                              <a:ea typeface="Arial"/>
                              <a:cs typeface="Arial"/>
                            </a:rPr>
                            <a:t> = 1J/kg)</a:t>
                          </a:r>
                          <a:endParaRPr lang="en-NG"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Rem (rem)</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tc>
                      <a:txBody>
                        <a:bodyPr/>
                        <a:lstStyle/>
                        <a:p>
                          <a:pPr marL="457200" algn="l">
                            <a:lnSpc>
                              <a:spcPct val="107000"/>
                            </a:lnSpc>
                            <a:spcAft>
                              <a:spcPts val="800"/>
                            </a:spcAft>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1 Sv = 100 rem </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1F5FB"/>
                        </a:solidFill>
                      </a:tcPr>
                    </a:tc>
                    <a:extLst>
                      <a:ext uri="{0D108BD9-81ED-4DB2-BD59-A6C34878D82A}">
                        <a16:rowId val="2878378813"/>
                      </a:ext>
                    </a:extLst>
                  </a:tr>
                  <a:tr h="1416273">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Effective Dose (E)</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Biological risk taking into account specific tissue sensitivity. </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Sievert (</a:t>
                          </a:r>
                          <a:r>
                            <a:rPr lang="en-US" sz="1700" kern="100" dirty="0" err="1" b="0">
                              <a:solidFill>
                                <a:srgbClr val="243B53"/>
                              </a:solidFill>
                              <a:effectLst/>
                              <a:latin typeface="Arial"/>
                              <a:ea typeface="Arial"/>
                              <a:cs typeface="Arial"/>
                            </a:rPr>
                            <a:t>Sv</a:t>
                          </a:r>
                          <a:r>
                            <a:rPr lang="en-US" sz="1700" kern="100" dirty="0" b="0">
                              <a:solidFill>
                                <a:srgbClr val="243B53"/>
                              </a:solidFill>
                              <a:effectLst/>
                              <a:latin typeface="Arial"/>
                              <a:ea typeface="Arial"/>
                              <a:cs typeface="Arial"/>
                            </a:rPr>
                            <a:t>)</a:t>
                          </a:r>
                          <a:endParaRPr lang="en-NG"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buNone/>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Rem (rem)</a:t>
                          </a:r>
                          <a:endParaRPr lang="en-NG" sz="1700" kern="10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tc>
                      <a:txBody>
                        <a:bodyPr/>
                        <a:lstStyle/>
                        <a:p>
                          <a:pPr marL="457200" algn="l">
                            <a:lnSpc>
                              <a:spcPct val="107000"/>
                            </a:lnSpc>
                            <a:spcAft>
                              <a:spcPts val="800"/>
                            </a:spcAft>
                            <a:buNone/>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1Sv = 100 rem</a:t>
                          </a:r>
                          <a:endParaRPr lang="en-NG" sz="1700" kern="100" dirty="0" b="0">
                            <a:solidFill>
                              <a:srgbClr val="243B53"/>
                            </a:solidFill>
                            <a:effectLst/>
                            <a:latin typeface="Arial" panose="020F0502020204030204" pitchFamily="34" charset="0"/>
                            <a:ea typeface="Arial" panose="020F0502020204030204" pitchFamily="34" charset="0"/>
                            <a:cs typeface="Arial" panose="02020603050405020304" pitchFamily="18" charset="0"/>
                          </a:endParaRPr>
                        </a:p>
                      </a:txBody>
                      <a:tcPr marL="63500" marR="63500" marT="50800" marB="50800">
                        <a:solidFill>
                          <a:srgbClr val="FFFFFF"/>
                        </a:solidFill>
                      </a:tcPr>
                    </a:tc>
                    <a:extLst>
                      <a:ext uri="{0D108BD9-81ED-4DB2-BD59-A6C34878D82A}">
                        <a16:rowId val="3604810729"/>
                      </a:ext>
                    </a:extLst>
                  </a:tr>
                </a:tbl>
              </a:graphicData>
            </a:graphic>
          </p:graphicFrame>
        </mc:Fallback>
      </mc:AlternateContent>
    </p:spTree>
    <p:extLst>
      <p:ext uri="{BB962C8B-B14F-4D97-AF65-F5344CB8AC3E}">
        <p14:creationId val="3341337592"/>
      </p:ext>
    </p:extLst>
  </p:cSld>
  <p:clrMapOvr>
    <a:masterClrMapping/>
  </p:clrMapOvr>
  <p:transition spd="slow">
    <p:push dir="u"/>
  </p:transition>
</p:sld>
</file>

<file path=ppt/slides/slide10.xml><?xml version="1.0" encoding="utf-8"?>
<p:sld xmlns:a="http://schemas.openxmlformats.org/drawingml/2006/main" xmlns:a14="http://schemas.microsoft.com/office/drawing/2010/main" xmlns:a16="http://schemas.microsoft.com/office/drawing/2014/main" xmlns:m="http://schemas.openxmlformats.org/officeDocument/2006/math" xmlns:mc="http://schemas.openxmlformats.org/markup-compatibility/2006"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mc:AlternateContent>
        <mc:Choice Requires="a14">
          <p:sp>
            <p:nvSpPr>
              <p:cNvPr id="3" name="Content Placeholder 2">
                <a:extLst>
                  <a:ext uri="{FF2B5EF4-FFF2-40B4-BE49-F238E27FC236}">
                    <a16:creationId id="{15D31A5E-36CF-4BD5-AEF8-CB2E3B14E958}"/>
                  </a:ext>
                </a:extLst>
              </p:cNvPr>
              <p:cNvSpPr>
                <a:spLocks noGrp="1"/>
              </p:cNvSpPr>
              <p:nvPr>
                <p:ph idx="1"/>
              </p:nvPr>
            </p:nvSpPr>
            <p:spPr>
              <a:xfrm>
                <a:off x="838200" y="644769"/>
                <a:ext cx="10515600" cy="5532194"/>
              </a:xfrm>
            </p:spPr>
            <p:txBody>
              <a:bodyPr wrap="square" anchor="t" lIns="0" rIns="0" tIns="0" bIns="0">
                <a:normAutofit fontScale="100000" lnSpcReduction="0"/>
              </a:bodyPr>
              <a:lstStyle/>
              <a:p>
                <a:pPr marL="0" indent="0" algn="l">
                  <a:lnSpc>
                    <a:spcPct val="118000"/>
                  </a:lnSpc>
                  <a:spcBef>
                    <a:spcPts val="0"/>
                  </a:spcBef>
                  <a:spcAft>
                    <a:spcPts val="450"/>
                  </a:spcAft>
                  <a:buNone/>
                  <a:defRPr sz="1900" b="0">
                    <a:solidFill>
                      <a:srgbClr val="243B53"/>
                    </a:solidFill>
                    <a:latin typeface="Arial"/>
                    <a:ea typeface="Arial"/>
                    <a:cs typeface="Arial"/>
                  </a:defRPr>
                </a:pPr>
                <a:r>
                  <a:rPr lang="en-US" b="0" dirty="0" sz="1900">
                    <a:solidFill>
                      <a:srgbClr val="243B53"/>
                    </a:solidFill>
                    <a:latin typeface="Arial" panose="02020603050405020304" pitchFamily="18" charset="0"/>
                    <a:ea typeface="Arial"/>
                    <a:cs typeface="Arial" panose="02020603050405020304" pitchFamily="18" charset="0"/>
                  </a:rPr>
                  <a:t>RADIATION WEIGHTING FACTORS (WR):  </a:t>
                </a:r>
                <a:r>
                  <a:rPr lang="en-US" dirty="0" sz="1900" b="0">
                    <a:solidFill>
                      <a:srgbClr val="243B53"/>
                    </a:solidFill>
                    <a:latin typeface="Arial" panose="02020603050405020304" pitchFamily="18" charset="0"/>
                    <a:ea typeface="Arial"/>
                    <a:cs typeface="Arial" panose="02020603050405020304" pitchFamily="18" charset="0"/>
                  </a:rPr>
                  <a:t>photons and electrons have WR =1, protons have WR =2 to 5, and alpha particles/ heavy fragments have WR =20 (causing 20 times more biological damage for the same absorbed energy in Gray)</a:t>
                </a:r>
                <a:endParaRPr lang="x-none" dirty="0" sz="1900" b="0">
                  <a:solidFill>
                    <a:srgbClr val="243B53"/>
                  </a:solidFill>
                  <a:latin typeface="Arial" panose="02020603050405020304" pitchFamily="18" charset="0"/>
                  <a:ea typeface="Arial"/>
                  <a:cs typeface="Arial" panose="02020603050405020304"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anose="02020603050405020304" pitchFamily="18" charset="0"/>
                  <a:ea typeface="Arial"/>
                  <a:cs typeface="Arial" panose="02020603050405020304" pitchFamily="18" charset="0"/>
                </a:endParaRPr>
              </a:p>
              <a:p>
                <a:pPr lvl="0" algn="l" marL="0" indent="0">
                  <a:lnSpc>
                    <a:spcPct val="118000"/>
                  </a:lnSpc>
                  <a:spcBef>
                    <a:spcPts val="0"/>
                  </a:spcBef>
                  <a:spcAft>
                    <a:spcPts val="450"/>
                  </a:spcAft>
                  <a:defRPr sz="1900" b="0">
                    <a:solidFill>
                      <a:srgbClr val="243B53"/>
                    </a:solidFill>
                    <a:latin typeface="Arial"/>
                    <a:ea typeface="Arial"/>
                    <a:cs typeface="Arial"/>
                  </a:defRPr>
                </a:pPr>
                <a:r>
                  <a:rPr lang="en-US" dirty="0" sz="1900" b="0">
                    <a:solidFill>
                      <a:srgbClr val="243B53"/>
                    </a:solidFill>
                    <a:latin typeface="Arial"/>
                    <a:ea typeface="Arial"/>
                    <a:cs typeface="Arial"/>
                  </a:rPr>
                  <a:t>NATURAL ATOMIC UNITS’ SYSTEM (Hartree Units)</a:t>
                </a:r>
                <a:endParaRPr lang="x-none" dirty="0" sz="1900" b="0">
                  <a:solidFill>
                    <a:srgbClr val="243B53"/>
                  </a:solidFill>
                  <a:latin typeface="Arial"/>
                  <a:ea typeface="Arial"/>
                  <a:cs typeface="Arial"/>
                </a:endParaRPr>
              </a:p>
              <a:p>
                <a:pPr algn="l" marL="0" indent="0">
                  <a:lnSpc>
                    <a:spcPct val="118000"/>
                  </a:lnSpc>
                  <a:spcBef>
                    <a:spcPts val="0"/>
                  </a:spcBef>
                  <a:spcAft>
                    <a:spcPts val="450"/>
                  </a:spcAft>
                  <a:defRPr sz="1900" b="0">
                    <a:solidFill>
                      <a:srgbClr val="243B53"/>
                    </a:solidFill>
                    <a:latin typeface="Arial"/>
                    <a:ea typeface="Arial"/>
                    <a:cs typeface="Arial"/>
                  </a:defRPr>
                </a:pPr>
                <a:r>
                  <a:rPr lang="en-US" dirty="0" sz="1900" b="0">
                    <a:solidFill>
                      <a:srgbClr val="243B53"/>
                    </a:solidFill>
                    <a:latin typeface="Arial"/>
                    <a:ea typeface="Arial"/>
                    <a:cs typeface="Arial"/>
                  </a:rPr>
                  <a:t>In theoretical atomic physics and quantum chemistry fundamental physical constants are set equal to 1(n= Me = e=4TEσ = 1) to simplify quantum mechanical equations:  </a:t>
                </a:r>
                <a:endParaRPr lang="x-none" dirty="0" sz="19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r>
                  <a:rPr lang="en-US" dirty="0" sz="100" b="0">
                    <a:solidFill>
                      <a:srgbClr val="243B53"/>
                    </a:solidFill>
                    <a:latin typeface="Arial"/>
                    <a:ea typeface="Arial"/>
                    <a:cs typeface="Arial"/>
                  </a:rPr>
                  <a:t> </a:t>
                </a:r>
                <a:endParaRPr lang="x-none" dirty="0" sz="100" b="0">
                  <a:solidFill>
                    <a:srgbClr val="243B53"/>
                  </a:solidFill>
                  <a:latin typeface="Arial"/>
                  <a:ea typeface="Arial"/>
                  <a:cs typeface="Arial"/>
                </a:endParaRPr>
              </a:p>
              <a:p>
                <a:pPr lvl="0" algn="l" marL="0" indent="0">
                  <a:lnSpc>
                    <a:spcPct val="118000"/>
                  </a:lnSpc>
                  <a:spcBef>
                    <a:spcPts val="0"/>
                  </a:spcBef>
                  <a:spcAft>
                    <a:spcPts val="450"/>
                  </a:spcAft>
                  <a:defRPr sz="1950" b="1">
                    <a:solidFill>
                      <a:srgbClr val="243B53"/>
                    </a:solidFill>
                    <a:latin typeface="Arial"/>
                    <a:ea typeface="Arial"/>
                    <a:cs typeface="Arial"/>
                  </a:defRPr>
                </a:pPr>
                <a:r>
                  <a:rPr lang="en-US" dirty="0" sz="1950" b="1">
                    <a:solidFill>
                      <a:srgbClr val="243B53"/>
                    </a:solidFill>
                    <a:latin typeface="Arial"/>
                    <a:ea typeface="Arial"/>
                    <a:cs typeface="Arial"/>
                  </a:rPr>
                  <a:t>Atomic Unit of length (Bohr Radius, </a:t>
                </a:r>
                <a:r>
                  <a:rPr lang="en-US" dirty="0" err="1" sz="1950" b="1">
                    <a:solidFill>
                      <a:srgbClr val="243B53"/>
                    </a:solidFill>
                    <a:latin typeface="Arial"/>
                    <a:ea typeface="Arial"/>
                    <a:cs typeface="Arial"/>
                  </a:rPr>
                  <a:t>ao</a:t>
                </a:r>
                <a:r>
                  <a:rPr lang="en-US" dirty="0" sz="1950" b="1">
                    <a:solidFill>
                      <a:srgbClr val="243B53"/>
                    </a:solidFill>
                    <a:latin typeface="Arial"/>
                    <a:ea typeface="Arial"/>
                    <a:cs typeface="Arial"/>
                  </a:rPr>
                  <a:t>): </a:t>
                </a:r>
                <a:endParaRPr lang="x-none" dirty="0" sz="1950" b="1">
                  <a:solidFill>
                    <a:srgbClr val="243B53"/>
                  </a:solidFill>
                  <a:latin typeface="Arial"/>
                  <a:ea typeface="Arial"/>
                  <a:cs typeface="Arial"/>
                </a:endParaRPr>
              </a:p>
              <a:p>
                <a:pPr algn="l" marL="0" indent="0">
                  <a:lnSpc>
                    <a:spcPct val="118000"/>
                  </a:lnSpc>
                  <a:spcBef>
                    <a:spcPts val="0"/>
                  </a:spcBef>
                  <a:spcAft>
                    <a:spcPts val="450"/>
                  </a:spcAft>
                  <a:defRPr sz="1900" b="0">
                    <a:solidFill>
                      <a:srgbClr val="243B53"/>
                    </a:solidFill>
                    <a:latin typeface="Arial"/>
                    <a:ea typeface="Arial"/>
                    <a:cs typeface="Arial"/>
                  </a:defRPr>
                </a:pPr>
                <a:r>
                  <a:rPr lang="en-US" dirty="0" err="1" sz="1900" b="0">
                    <a:solidFill>
                      <a:srgbClr val="243B53"/>
                    </a:solidFill>
                    <a:latin typeface="Arial"/>
                    <a:ea typeface="Arial"/>
                    <a:cs typeface="Arial"/>
                  </a:rPr>
                  <a:t>ao</a:t>
                </a:r>
                <a:r>
                  <a:rPr lang="en-US" dirty="0" sz="1900" b="0">
                    <a:solidFill>
                      <a:srgbClr val="243B53"/>
                    </a:solidFill>
                    <a:latin typeface="Arial"/>
                    <a:ea typeface="Arial"/>
                    <a:cs typeface="Arial"/>
                  </a:rPr>
                  <a:t> =  =</a:t>
                </a:r>
                <a14:m>
                  <m:oMath>
                    <m:r>
                      <a:rPr lang="en-US" i="1">
                        <a:latin typeface="Cambria Math"/>
                      </a:rPr>
                      <m:t> </m:t>
                    </m:r>
                    <m:f>
                      <m:fPr>
                        <m:ctrlPr>
                          <a:rPr lang="x-none" i="1">
                            <a:latin typeface="Cambria Math"/>
                          </a:rPr>
                        </m:ctrlPr>
                      </m:fPr>
                      <m:num>
                        <m:r>
                          <a:rPr lang="en-US" i="1">
                            <a:latin typeface="Cambria Math"/>
                          </a:rPr>
                          <m:t>4</m:t>
                        </m:r>
                        <m:r>
                          <a:rPr lang="en-US" i="1">
                            <a:latin typeface="Cambria Math"/>
                          </a:rPr>
                          <m:t>𝑇𝐸𝑜</m:t>
                        </m:r>
                      </m:num>
                      <m:den>
                        <m:r>
                          <m:rPr>
                            <m:sty m:val="p"/>
                          </m:rPr>
                          <a:rPr lang="en-US">
                            <a:latin typeface="Cambria Math"/>
                          </a:rPr>
                          <m:t>T</m:t>
                        </m:r>
                        <m:r>
                          <a:rPr lang="en-US">
                            <a:latin typeface="Cambria Math"/>
                          </a:rPr>
                          <m:t> ½  </m:t>
                        </m:r>
                      </m:den>
                    </m:f>
                  </m:oMath>
                </a14:m>
                <a:r>
                  <a:rPr lang="en-US" dirty="0" sz="1900" b="0">
                    <a:solidFill>
                      <a:srgbClr val="243B53"/>
                    </a:solidFill>
                    <a:latin typeface="Arial"/>
                    <a:ea typeface="Arial"/>
                    <a:cs typeface="Arial"/>
                  </a:rPr>
                  <a:t>  </a:t>
                </a:r>
                <a:endParaRPr lang="x-none" dirty="0" sz="19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p:txBody>
          </p:sp>
        </mc:Choice>
        <mc:Fallback>
          <p:sp>
            <p:nvSpPr>
              <p:cNvPr id="3" name="Content Placeholder 2">
                <a:extLst>
                  <a:ext uri="{FF2B5EF4-FFF2-40B4-BE49-F238E27FC236}">
                    <a16:creationId id="{15D31A5E-36CF-4BD5-AEF8-CB2E3B14E958}"/>
                  </a:ext>
                </a:extLst>
              </p:cNvPr>
              <p:cNvSpPr>
                <a:spLocks noGrp="1" noRot="1" noChangeAspect="1" noMove="1" noResize="1" noEditPoints="1" noAdjustHandles="1" noChangeArrowheads="1" noChangeShapeType="1" noTextEdit="1"/>
              </p:cNvSpPr>
              <p:nvPr>
                <p:ph idx="1"/>
              </p:nvPr>
            </p:nvSpPr>
            <p:spPr>
              <a:xfrm>
                <a:off x="838200" y="644769"/>
                <a:ext cx="10515600" cy="5532194"/>
              </a:xfrm>
              <a:blipFill>
                <a:blip r:embed="rId2"/>
                <a:stretch>
                  <a:fillRect l="-1217" t="-2756" r="-1159"/>
                </a:stretch>
              </a:blipFill>
            </p:spPr>
            <p:txBody>
              <a:bodyPr wrap="square" anchor="t" lIns="0" rIns="0" tIns="0" bIns="0">
                <a:normAutofit fontScale="100000" lnSpcReduction="0"/>
              </a:bodyPr>
              <a:lstStyle/>
              <a:p>
                <a:pPr algn="l" marL="0" indent="0">
                  <a:lnSpc>
                    <a:spcPts val="100"/>
                  </a:lnSpc>
                  <a:spcBef>
                    <a:spcPts val="0"/>
                  </a:spcBef>
                  <a:spcAft>
                    <a:spcPts val="0"/>
                  </a:spcAft>
                  <a:defRPr sz="100" b="0">
                    <a:solidFill>
                      <a:srgbClr val="243B53"/>
                    </a:solidFill>
                    <a:latin typeface="Arial"/>
                    <a:ea typeface="Arial"/>
                    <a:cs typeface="Arial"/>
                  </a:defRPr>
                </a:pPr>
                <a:r>
                  <a:rPr lang="en-NG" sz="100" b="0">
                    <a:solidFill>
                      <a:srgbClr val="243B53"/>
                    </a:solidFill>
                    <a:latin typeface="Arial"/>
                    <a:ea typeface="Arial"/>
                    <a:cs typeface="Arial"/>
                  </a:rPr>
                  <a:t> </a:t>
                </a:r>
                <a:endParaRPr sz="100" b="0">
                  <a:solidFill>
                    <a:srgbClr val="243B53"/>
                  </a:solidFill>
                  <a:latin typeface="Arial"/>
                  <a:ea typeface="Arial"/>
                  <a:cs typeface="Arial"/>
                </a:endParaRPr>
              </a:p>
            </p:txBody>
          </p:sp>
        </mc:Fallback>
      </mc:AlternateContent>
    </p:spTree>
    <p:extLst>
      <p:ext uri="{BB962C8B-B14F-4D97-AF65-F5344CB8AC3E}">
        <p14:creationId val="901368385"/>
      </p:ext>
    </p:extLst>
  </p:cSld>
  <p:clrMapOvr>
    <a:masterClrMapping/>
  </p:clrMapOvr>
  <p:transition spd="slow">
    <p:push dir="u"/>
  </p:transition>
</p:sld>
</file>

<file path=ppt/slides/slide1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a:extLst>
              <a:ext uri="{FF2B5EF4-FFF2-40B4-BE49-F238E27FC236}">
                <a16:creationId id="{4DBD1C6F-2D4A-68E1-5FE1-CE6C053C8CFA}"/>
              </a:ext>
            </a:extLst>
          </p:cNvPr>
          <p:cNvSpPr>
            <a:spLocks noGrp="1"/>
          </p:cNvSpPr>
          <p:nvPr>
            <p:ph idx="1"/>
          </p:nvPr>
        </p:nvSpPr>
        <p:spPr>
          <a:xfrm>
            <a:off x="838200" y="726831"/>
            <a:ext cx="10515600" cy="5450132"/>
          </a:xfrm>
        </p:spPr>
        <p:txBody>
          <a:bodyPr/>
          <a:lstStyle/>
          <a:p>
            <a:endParaRPr lang="x-none" dirty="0"/>
          </a:p>
        </p:txBody>
      </p:sp>
    </p:spTree>
    <p:extLst>
      <p:ext uri="{BB962C8B-B14F-4D97-AF65-F5344CB8AC3E}">
        <p14:creationId val="2028417074"/>
      </p:ext>
    </p:extLst>
  </p:cSld>
  <p:clrMapOvr>
    <a:masterClrMapping/>
  </p:clrMapOvr>
  <p:transition spd="slow">
    <p:push dir="u"/>
  </p:transition>
</p:sld>
</file>

<file path=ppt/slides/slide1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27C7C985-F0EA-8278-AC4F-A8B1E4A9F577}"/>
            </a:ext>
          </a:extLst>
        </p:cNvPr>
        <p:cNvGrpSpPr/>
        <p:nvPr/>
      </p:nvGrpSpPr>
      <p:grpSpPr>
        <a:xfrm>
          <a:off x="0" y="0"/>
          <a:ext cx="0" cy="0"/>
          <a:chOff x="0" y="0"/>
          <a:chExt cx="0" cy="0"/>
        </a:xfrm>
      </p:grpSpPr>
      <p:sp>
        <p:nvSpPr>
          <p:cNvPr id="3" name="Content Placeholder 2">
            <a:extLst>
              <a:ext uri="{FF2B5EF4-FFF2-40B4-BE49-F238E27FC236}">
                <a16:creationId id="{F1ED50F3-5640-71EE-9EED-046765306516}"/>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algn="l" marL="0" indent="0">
              <a:lnSpc>
                <a:spcPct val="118000"/>
              </a:lnSpc>
              <a:spcBef>
                <a:spcPts val="0"/>
              </a:spcBef>
              <a:spcAft>
                <a:spcPts val="450"/>
              </a:spcAft>
              <a:defRPr sz="2050" b="1">
                <a:solidFill>
                  <a:srgbClr val="243B53"/>
                </a:solidFill>
                <a:latin typeface="Arial"/>
                <a:ea typeface="Arial"/>
                <a:cs typeface="Arial"/>
              </a:defRPr>
            </a:pPr>
            <a:r>
              <a:rPr lang="en-US" b="1" dirty="0" sz="2050">
                <a:solidFill>
                  <a:srgbClr val="243B53"/>
                </a:solidFill>
                <a:latin typeface="Arial" panose="02020603050405020304" pitchFamily="18" charset="0"/>
                <a:ea typeface="Arial"/>
                <a:cs typeface="Arial" panose="02020603050405020304" pitchFamily="18" charset="0"/>
              </a:rPr>
              <a:t>FORCE, WORK, ENERGY, TEMPERATURE, AND HEAT </a:t>
            </a:r>
            <a:endParaRPr lang="x-none" dirty="0" sz="2050" b="1">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dirty="0" sz="2000" b="0">
                <a:solidFill>
                  <a:srgbClr val="243B53"/>
                </a:solidFill>
                <a:latin typeface="Arial" panose="02020603050405020304" pitchFamily="18" charset="0"/>
                <a:ea typeface="Arial"/>
                <a:cs typeface="Arial" panose="02020603050405020304" pitchFamily="18" charset="0"/>
              </a:rPr>
              <a:t>In atomic and radiation physics, these fire core concepts describe how subatomic particles, nuclei and radiation interact, move and exchange energy: </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a:p>
            <a:pPr marL="0" lv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anose="02020603050405020304" pitchFamily="18" charset="0"/>
                <a:ea typeface="Arial"/>
                <a:cs typeface="Arial" panose="02020603050405020304" pitchFamily="18" charset="0"/>
              </a:rPr>
              <a:t>A) FORCE</a:t>
            </a:r>
            <a:r>
              <a:rPr lang="en-US" dirty="0" sz="2050" b="1">
                <a:solidFill>
                  <a:srgbClr val="243B53"/>
                </a:solidFill>
                <a:latin typeface="Arial" panose="02020603050405020304" pitchFamily="18" charset="0"/>
                <a:ea typeface="Arial"/>
                <a:cs typeface="Arial" panose="02020603050405020304" pitchFamily="18" charset="0"/>
              </a:rPr>
              <a:t> </a:t>
            </a:r>
            <a:endParaRPr lang="x-none" dirty="0" sz="2050" b="1">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dirty="0" sz="2000" b="0">
                <a:solidFill>
                  <a:srgbClr val="243B53"/>
                </a:solidFill>
                <a:latin typeface="Arial" panose="02020603050405020304" pitchFamily="18" charset="0"/>
                <a:ea typeface="Arial"/>
                <a:cs typeface="Arial" panose="02020603050405020304" pitchFamily="18" charset="0"/>
              </a:rPr>
              <a:t>Definition: force is any interaction that, when unopposed, causes an object or particle to accelerate in the atomic realm, Macroscopic pusses and pulls give way to: </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dirty="0" sz="2000" b="0">
                <a:solidFill>
                  <a:srgbClr val="243B53"/>
                </a:solidFill>
                <a:latin typeface="Arial" panose="02020603050405020304" pitchFamily="18" charset="0"/>
                <a:ea typeface="Arial"/>
                <a:cs typeface="Arial" panose="02020603050405020304" pitchFamily="18" charset="0"/>
              </a:rPr>
              <a:t>fundamental forces: the strong nuclear force, (holding quarks and nucleons together) the weak nuclear force (responsibility responsible for radioactive decay like beta decay), the electromagnetic force (binding electrons to atomic nuclei), and gravity (negligible at the subatomic scale).</a:t>
            </a:r>
            <a:endParaRPr lang="x-none" dirty="0" sz="2000" b="0">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dirty="0" sz="2000" b="0">
                <a:solidFill>
                  <a:srgbClr val="243B53"/>
                </a:solidFill>
                <a:latin typeface="Arial" panose="02020603050405020304" pitchFamily="18" charset="0"/>
                <a:ea typeface="Arial"/>
                <a:cs typeface="Arial" panose="02020603050405020304" pitchFamily="18" charset="0"/>
              </a:rPr>
              <a:t>SI Unit: newton (N)</a:t>
            </a:r>
            <a:endParaRPr lang="x-none" dirty="0" sz="2000" b="0">
              <a:solidFill>
                <a:srgbClr val="243B53"/>
              </a:solidFill>
              <a:latin typeface="Arial" panose="02020603050405020304" pitchFamily="18" charset="0"/>
              <a:ea typeface="Arial"/>
              <a:cs typeface="Arial" panose="02020603050405020304" pitchFamily="18" charset="0"/>
            </a:endParaRPr>
          </a:p>
          <a:p>
            <a:pPr algn="l" marL="0" indent="0">
              <a:lnSpc>
                <a:spcPts val="100"/>
              </a:lnSpc>
              <a:spcBef>
                <a:spcPts val="0"/>
              </a:spcBef>
              <a:spcAft>
                <a:spcPts val="0"/>
              </a:spcAft>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p:txBody>
      </p:sp>
    </p:spTree>
    <p:extLst>
      <p:ext uri="{BB962C8B-B14F-4D97-AF65-F5344CB8AC3E}">
        <p14:creationId val="3865168828"/>
      </p:ext>
    </p:extLst>
  </p:cSld>
  <p:clrMapOvr>
    <a:masterClrMapping/>
  </p:clrMapOvr>
  <p:transition spd="slow">
    <p:push dir="u"/>
  </p:transition>
</p:sld>
</file>

<file path=ppt/slides/slide13.xml><?xml version="1.0" encoding="utf-8"?>
<p:sld xmlns:a="http://schemas.openxmlformats.org/drawingml/2006/main" xmlns:a14="http://schemas.microsoft.com/office/drawing/2010/main" xmlns:a16="http://schemas.microsoft.com/office/drawing/2014/main" xmlns:m="http://schemas.openxmlformats.org/officeDocument/2006/math" xmlns:mc="http://schemas.openxmlformats.org/markup-compatibility/2006"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EC357EA6-6A90-3E12-5AB6-C88246BA2A55}"/>
            </a:ext>
          </a:extLst>
        </p:cNvPr>
        <p:cNvGrpSpPr/>
        <p:nvPr/>
      </p:nvGrpSpPr>
      <p:grpSpPr>
        <a:xfrm>
          <a:off x="0" y="0"/>
          <a:ext cx="0" cy="0"/>
          <a:chOff x="0" y="0"/>
          <a:chExt cx="0" cy="0"/>
        </a:xfrm>
      </p:grpSpPr>
      <mc:AlternateContent>
        <mc:Choice Requires="a14">
          <p:sp>
            <p:nvSpPr>
              <p:cNvPr id="3" name="Content Placeholder 2">
                <a:extLst>
                  <a:ext uri="{FF2B5EF4-FFF2-40B4-BE49-F238E27FC236}">
                    <a16:creationId id="{0883693B-51CB-052C-211F-C9637A9189E2}"/>
                  </a:ext>
                </a:extLst>
              </p:cNvPr>
              <p:cNvSpPr>
                <a:spLocks noGrp="1"/>
              </p:cNvSpPr>
              <p:nvPr>
                <p:ph idx="1"/>
              </p:nvPr>
            </p:nvSpPr>
            <p:spPr>
              <a:xfrm>
                <a:off x="838200" y="726831"/>
                <a:ext cx="10515600" cy="5450132"/>
              </a:xfrm>
            </p:spPr>
            <p:txBody>
              <a:bodyPr wrap="square" anchor="t" lIns="0" rIns="0" tIns="0" bIns="0">
                <a:normAutofit fontScale="100000" lnSpcReduction="0"/>
              </a:bodyPr>
              <a:lstStyle/>
              <a:p>
                <a:pPr marL="0" lvl="0" indent="0" algn="l">
                  <a:lnSpc>
                    <a:spcPct val="118000"/>
                  </a:lnSpc>
                  <a:spcBef>
                    <a:spcPts val="0"/>
                  </a:spcBef>
                  <a:spcAft>
                    <a:spcPts val="450"/>
                  </a:spcAft>
                  <a:buNone/>
                  <a:defRPr sz="1950" b="1">
                    <a:solidFill>
                      <a:srgbClr val="243B53"/>
                    </a:solidFill>
                    <a:latin typeface="Arial"/>
                    <a:ea typeface="Arial"/>
                    <a:cs typeface="Arial"/>
                  </a:defRPr>
                </a:pPr>
                <a:r>
                  <a:rPr lang="en-US" b="1" dirty="0" sz="1950">
                    <a:solidFill>
                      <a:srgbClr val="243B53"/>
                    </a:solidFill>
                    <a:latin typeface="Arial" panose="02020603050405020304" pitchFamily="18" charset="0"/>
                    <a:ea typeface="Arial"/>
                    <a:cs typeface="Arial" panose="02020603050405020304" pitchFamily="18" charset="0"/>
                  </a:rPr>
                  <a:t>B) WORK</a:t>
                </a:r>
                <a:endParaRPr lang="x-none" b="1" dirty="0" sz="1950">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1900" b="0">
                    <a:solidFill>
                      <a:srgbClr val="243B53"/>
                    </a:solidFill>
                    <a:latin typeface="Arial"/>
                    <a:ea typeface="Arial"/>
                    <a:cs typeface="Arial"/>
                  </a:defRPr>
                </a:pPr>
                <a:r>
                  <a:rPr lang="en-US" dirty="0" sz="1900" b="0">
                    <a:solidFill>
                      <a:srgbClr val="243B53"/>
                    </a:solidFill>
                    <a:latin typeface="Arial" panose="02020603050405020304" pitchFamily="18" charset="0"/>
                    <a:ea typeface="Arial"/>
                    <a:cs typeface="Arial" panose="02020603050405020304" pitchFamily="18" charset="0"/>
                  </a:rPr>
                  <a:t>Definition: is the transfer of energy that occurs when a force act upon a particle or system and displaces it through a distance (calculated as force multiply by the displacement in the direction of the force (W = </a:t>
                </a:r>
                <a:r>
                  <a:rPr lang="en-US" dirty="0" err="1" sz="1900" b="0">
                    <a:solidFill>
                      <a:srgbClr val="243B53"/>
                    </a:solidFill>
                    <a:latin typeface="Arial" panose="02020603050405020304" pitchFamily="18" charset="0"/>
                    <a:ea typeface="Arial"/>
                    <a:cs typeface="Arial" panose="02020603050405020304" pitchFamily="18" charset="0"/>
                  </a:rPr>
                  <a:t>fxd</a:t>
                </a:r>
                <a:r>
                  <a:rPr lang="en-US" dirty="0" sz="1900" b="0">
                    <a:solidFill>
                      <a:srgbClr val="243B53"/>
                    </a:solidFill>
                    <a:latin typeface="Arial" panose="02020603050405020304" pitchFamily="18" charset="0"/>
                    <a:ea typeface="Arial"/>
                    <a:cs typeface="Arial" panose="02020603050405020304" pitchFamily="18" charset="0"/>
                  </a:rPr>
                  <a:t>)).  At the atomic level, work is done when an electrical accelerate and electron across a potential difference, or when radiation exerts radiation pressure. SI Unit: joule (J).</a:t>
                </a:r>
                <a:endParaRPr lang="x-none" dirty="0" sz="1900" b="0">
                  <a:solidFill>
                    <a:srgbClr val="243B53"/>
                  </a:solidFill>
                  <a:latin typeface="Arial" panose="02020603050405020304" pitchFamily="18" charset="0"/>
                  <a:ea typeface="Arial"/>
                  <a:cs typeface="Arial" panose="02020603050405020304"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a:p>
                <a:pPr marL="0" lvl="0" indent="0" algn="l">
                  <a:lnSpc>
                    <a:spcPct val="118000"/>
                  </a:lnSpc>
                  <a:spcBef>
                    <a:spcPts val="0"/>
                  </a:spcBef>
                  <a:spcAft>
                    <a:spcPts val="450"/>
                  </a:spcAft>
                  <a:buNone/>
                  <a:defRPr sz="1950" b="1">
                    <a:solidFill>
                      <a:srgbClr val="243B53"/>
                    </a:solidFill>
                    <a:latin typeface="Arial"/>
                    <a:ea typeface="Arial"/>
                    <a:cs typeface="Arial"/>
                  </a:defRPr>
                </a:pPr>
                <a:r>
                  <a:rPr lang="en-US" b="1" dirty="0" sz="1950">
                    <a:solidFill>
                      <a:srgbClr val="243B53"/>
                    </a:solidFill>
                    <a:latin typeface="Arial" panose="02020603050405020304" pitchFamily="18" charset="0"/>
                    <a:ea typeface="Arial"/>
                    <a:cs typeface="Arial" panose="02020603050405020304" pitchFamily="18" charset="0"/>
                  </a:rPr>
                  <a:t>C) ENERGY</a:t>
                </a:r>
                <a:endParaRPr lang="x-none" b="1" dirty="0" sz="1950">
                  <a:solidFill>
                    <a:srgbClr val="243B53"/>
                  </a:solidFill>
                  <a:latin typeface="Arial" panose="02020603050405020304" pitchFamily="18" charset="0"/>
                  <a:ea typeface="Arial"/>
                  <a:cs typeface="Arial" panose="02020603050405020304" pitchFamily="18" charset="0"/>
                </a:endParaRPr>
              </a:p>
              <a:p>
                <a:pPr algn="l" marL="0" indent="0">
                  <a:lnSpc>
                    <a:spcPct val="118000"/>
                  </a:lnSpc>
                  <a:spcBef>
                    <a:spcPts val="0"/>
                  </a:spcBef>
                  <a:spcAft>
                    <a:spcPts val="450"/>
                  </a:spcAft>
                  <a:defRPr sz="1900" b="0">
                    <a:solidFill>
                      <a:srgbClr val="243B53"/>
                    </a:solidFill>
                    <a:latin typeface="Arial"/>
                    <a:ea typeface="Arial"/>
                    <a:cs typeface="Arial"/>
                  </a:defRPr>
                </a:pPr>
                <a:r>
                  <a:rPr lang="en-US" dirty="0" sz="1900" b="0">
                    <a:solidFill>
                      <a:srgbClr val="243B53"/>
                    </a:solidFill>
                    <a:latin typeface="Arial" panose="02020603050405020304" pitchFamily="18" charset="0"/>
                    <a:ea typeface="Arial"/>
                    <a:cs typeface="Arial" panose="02020603050405020304" pitchFamily="18" charset="0"/>
                  </a:rPr>
                  <a:t>Definition: the fundamental capacity of matter or radiation to perform work or produce heat. In atomic physics, energy is quantized and exists in district states (such as electron shell level or nuclear binding energy).  It appears as kinetic energy (due to the motion of particles) and potential energy (stored in electric, magnetic, or nuclear force fields, such as ionization energy or mass energy equivalent £= </a:t>
                </a:r>
                <a14:m>
                  <m:oMath>
                    <m:sSup>
                      <m:sSupPr>
                        <m:ctrlPr>
                          <a:rPr lang="x-none" i="1">
                            <a:latin typeface="Cambria Math"/>
                          </a:rPr>
                        </m:ctrlPr>
                      </m:sSupPr>
                      <m:e>
                        <m:r>
                          <a:rPr lang="en-US" i="1">
                            <a:latin typeface="Cambria Math"/>
                          </a:rPr>
                          <m:t>𝑀𝐶</m:t>
                        </m:r>
                      </m:e>
                      <m:sup>
                        <m:r>
                          <a:rPr lang="en-US" i="1">
                            <a:latin typeface="Cambria Math"/>
                          </a:rPr>
                          <m:t>2</m:t>
                        </m:r>
                      </m:sup>
                    </m:sSup>
                  </m:oMath>
                </a14:m>
                <a:r>
                  <a:rPr lang="en-US" dirty="0" sz="1900" b="0">
                    <a:solidFill>
                      <a:srgbClr val="243B53"/>
                    </a:solidFill>
                    <a:latin typeface="Arial" panose="02020603050405020304" pitchFamily="18" charset="0"/>
                    <a:ea typeface="Arial"/>
                    <a:cs typeface="Arial" panose="02020603050405020304" pitchFamily="18" charset="0"/>
                  </a:rPr>
                  <a:t>). </a:t>
                </a:r>
                <a:endParaRPr lang="x-none" dirty="0" sz="1900" b="0">
                  <a:solidFill>
                    <a:srgbClr val="243B53"/>
                  </a:solidFill>
                  <a:latin typeface="Arial" panose="02020603050405020304" pitchFamily="18" charset="0"/>
                  <a:ea typeface="Arial"/>
                  <a:cs typeface="Arial" panose="02020603050405020304" pitchFamily="18" charset="0"/>
                </a:endParaRPr>
              </a:p>
              <a:p>
                <a:pPr algn="l" marL="0" indent="0">
                  <a:lnSpc>
                    <a:spcPct val="118000"/>
                  </a:lnSpc>
                  <a:spcBef>
                    <a:spcPts val="0"/>
                  </a:spcBef>
                  <a:spcAft>
                    <a:spcPts val="450"/>
                  </a:spcAft>
                  <a:defRPr sz="1900" b="0">
                    <a:solidFill>
                      <a:srgbClr val="243B53"/>
                    </a:solidFill>
                    <a:latin typeface="Arial"/>
                    <a:ea typeface="Arial"/>
                    <a:cs typeface="Arial"/>
                  </a:defRPr>
                </a:pPr>
                <a:r>
                  <a:rPr lang="en-US" dirty="0" sz="1900" b="0">
                    <a:solidFill>
                      <a:srgbClr val="243B53"/>
                    </a:solidFill>
                    <a:latin typeface="Arial" panose="02020603050405020304" pitchFamily="18" charset="0"/>
                    <a:ea typeface="Arial"/>
                    <a:cs typeface="Arial" panose="02020603050405020304" pitchFamily="18" charset="0"/>
                  </a:rPr>
                  <a:t>SI Unit: joule (J) or electron-volt (eV) for subatomic scales </a:t>
                </a:r>
                <a:endParaRPr lang="x-none" dirty="0" sz="1900" b="0">
                  <a:solidFill>
                    <a:srgbClr val="243B53"/>
                  </a:solidFill>
                  <a:latin typeface="Arial" panose="02020603050405020304" pitchFamily="18" charset="0"/>
                  <a:ea typeface="Arial"/>
                  <a:cs typeface="Arial" panose="02020603050405020304" pitchFamily="18" charset="0"/>
                </a:endParaRPr>
              </a:p>
              <a:p>
                <a:pPr algn="l" marL="0" indent="0">
                  <a:lnSpc>
                    <a:spcPts val="100"/>
                  </a:lnSpc>
                  <a:spcBef>
                    <a:spcPts val="0"/>
                  </a:spcBef>
                  <a:spcAft>
                    <a:spcPts val="0"/>
                  </a:spcAft>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p:txBody>
          </p:sp>
        </mc:Choice>
        <mc:Fallback>
          <p:sp>
            <p:nvSpPr>
              <p:cNvPr id="3" name="Content Placeholder 2">
                <a:extLst>
                  <a:ext uri="{FF2B5EF4-FFF2-40B4-BE49-F238E27FC236}">
                    <a16:creationId id="{0883693B-51CB-052C-211F-C9637A9189E2}"/>
                  </a:ext>
                </a:extLst>
              </p:cNvPr>
              <p:cNvSpPr>
                <a:spLocks noGrp="1" noRot="1" noChangeAspect="1" noMove="1" noResize="1" noEditPoints="1" noAdjustHandles="1" noChangeArrowheads="1" noChangeShapeType="1" noTextEdit="1"/>
              </p:cNvSpPr>
              <p:nvPr>
                <p:ph idx="1"/>
              </p:nvPr>
            </p:nvSpPr>
            <p:spPr>
              <a:xfrm>
                <a:off x="838200" y="726831"/>
                <a:ext cx="10515600" cy="5450132"/>
              </a:xfrm>
              <a:blipFill>
                <a:blip r:embed="rId2"/>
                <a:stretch>
                  <a:fillRect l="-1043" t="-3020" r="-986"/>
                </a:stretch>
              </a:blipFill>
            </p:spPr>
            <p:txBody>
              <a:bodyPr wrap="square" anchor="t" lIns="0" rIns="0" tIns="0" bIns="0">
                <a:normAutofit fontScale="100000" lnSpcReduction="0"/>
              </a:bodyPr>
              <a:lstStyle/>
              <a:p>
                <a:pPr algn="l" marL="0" indent="0">
                  <a:lnSpc>
                    <a:spcPts val="100"/>
                  </a:lnSpc>
                  <a:spcBef>
                    <a:spcPts val="0"/>
                  </a:spcBef>
                  <a:spcAft>
                    <a:spcPts val="0"/>
                  </a:spcAft>
                  <a:defRPr sz="100" b="0">
                    <a:solidFill>
                      <a:srgbClr val="243B53"/>
                    </a:solidFill>
                    <a:latin typeface="Arial"/>
                    <a:ea typeface="Arial"/>
                    <a:cs typeface="Arial"/>
                  </a:defRPr>
                </a:pPr>
                <a:r>
                  <a:rPr lang="en-NG" sz="100" b="0">
                    <a:solidFill>
                      <a:srgbClr val="243B53"/>
                    </a:solidFill>
                    <a:latin typeface="Arial"/>
                    <a:ea typeface="Arial"/>
                    <a:cs typeface="Arial"/>
                  </a:rPr>
                  <a:t> </a:t>
                </a:r>
                <a:endParaRPr sz="100" b="0">
                  <a:solidFill>
                    <a:srgbClr val="243B53"/>
                  </a:solidFill>
                  <a:latin typeface="Arial"/>
                  <a:ea typeface="Arial"/>
                  <a:cs typeface="Arial"/>
                </a:endParaRPr>
              </a:p>
            </p:txBody>
          </p:sp>
        </mc:Fallback>
      </mc:AlternateContent>
    </p:spTree>
    <p:extLst>
      <p:ext uri="{BB962C8B-B14F-4D97-AF65-F5344CB8AC3E}">
        <p14:creationId val="184122669"/>
      </p:ext>
    </p:extLst>
  </p:cSld>
  <p:clrMapOvr>
    <a:masterClrMapping/>
  </p:clrMapOvr>
  <p:transition spd="slow">
    <p:push dir="u"/>
  </p:transition>
</p:sld>
</file>

<file path=ppt/slides/slide1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C0C68F0-9A7E-4974-B75D-7F7A8FB3B44B}"/>
            </a:ext>
          </a:extLst>
        </p:cNvPr>
        <p:cNvGrpSpPr/>
        <p:nvPr/>
      </p:nvGrpSpPr>
      <p:grpSpPr>
        <a:xfrm>
          <a:off x="0" y="0"/>
          <a:ext cx="0" cy="0"/>
          <a:chOff x="0" y="0"/>
          <a:chExt cx="0" cy="0"/>
        </a:xfrm>
      </p:grpSpPr>
      <p:sp>
        <p:nvSpPr>
          <p:cNvPr id="3" name="Content Placeholder 2">
            <a:extLst>
              <a:ext uri="{FF2B5EF4-FFF2-40B4-BE49-F238E27FC236}">
                <a16:creationId id="{B2145EF0-C9F4-CEFE-3E79-2D36FAC67DA5}"/>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lvl="0" indent="0" algn="l">
              <a:lnSpc>
                <a:spcPct val="118000"/>
              </a:lnSpc>
              <a:spcBef>
                <a:spcPts val="0"/>
              </a:spcBef>
              <a:spcAft>
                <a:spcPts val="450"/>
              </a:spcAft>
              <a:buNone/>
              <a:defRPr sz="2250" b="1">
                <a:solidFill>
                  <a:srgbClr val="243B53"/>
                </a:solidFill>
                <a:latin typeface="Arial"/>
                <a:ea typeface="Arial"/>
                <a:cs typeface="Arial"/>
              </a:defRPr>
            </a:pPr>
            <a:r>
              <a:rPr lang="en-US" b="1" dirty="0" sz="2250">
                <a:solidFill>
                  <a:srgbClr val="243B53"/>
                </a:solidFill>
                <a:latin typeface="Arial" panose="02020603050405020304" pitchFamily="18" charset="0"/>
                <a:ea typeface="Arial"/>
                <a:cs typeface="Arial" panose="02020603050405020304" pitchFamily="18" charset="0"/>
              </a:rPr>
              <a:t>D) TEMPERATURE </a:t>
            </a:r>
            <a:endParaRPr lang="x-none" b="1" dirty="0" sz="2250">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panose="02020603050405020304" pitchFamily="18" charset="0"/>
                <a:ea typeface="Arial"/>
                <a:cs typeface="Arial" panose="02020603050405020304" pitchFamily="18" charset="0"/>
              </a:rPr>
              <a:t>Definition: An intensive physical property that measured the average kinetic of the Microscopic transitional, rotation, and vibrational motion of particles within a substance. It dictate the direction of thermal equilibrium and the statistical distribution of particles velocities (such as the Maxwell – Boltzmann distribution)</a:t>
            </a:r>
            <a:endParaRPr lang="x-none" dirty="0" sz="2200" b="0">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panose="02020603050405020304" pitchFamily="18" charset="0"/>
                <a:ea typeface="Arial"/>
                <a:cs typeface="Arial" panose="02020603050405020304" pitchFamily="18" charset="0"/>
              </a:rPr>
              <a:t>SI Unit:  Kelvin (k) (or Celsius, oC)</a:t>
            </a:r>
            <a:endParaRPr lang="x-none" dirty="0" sz="2200" b="0">
              <a:solidFill>
                <a:srgbClr val="243B53"/>
              </a:solidFill>
              <a:latin typeface="Arial" panose="02020603050405020304" pitchFamily="18" charset="0"/>
              <a:ea typeface="Arial"/>
              <a:cs typeface="Arial" panose="02020603050405020304" pitchFamily="18" charset="0"/>
            </a:endParaRPr>
          </a:p>
          <a:p>
            <a:pPr algn="l" marL="0" indent="0">
              <a:lnSpc>
                <a:spcPts val="100"/>
              </a:lnSpc>
              <a:spcBef>
                <a:spcPts val="0"/>
              </a:spcBef>
              <a:spcAft>
                <a:spcPts val="0"/>
              </a:spcAft>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p:txBody>
      </p:sp>
    </p:spTree>
    <p:extLst>
      <p:ext uri="{BB962C8B-B14F-4D97-AF65-F5344CB8AC3E}">
        <p14:creationId val="115740724"/>
      </p:ext>
    </p:extLst>
  </p:cSld>
  <p:clrMapOvr>
    <a:masterClrMapping/>
  </p:clrMapOvr>
  <p:transition spd="slow">
    <p:push dir="u"/>
  </p:transition>
</p:sld>
</file>

<file path=ppt/slides/slide1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94EF359B-A306-7DE9-B5B0-0F64A6ED7F32}"/>
            </a:ext>
          </a:extLst>
        </p:cNvPr>
        <p:cNvGrpSpPr/>
        <p:nvPr/>
      </p:nvGrpSpPr>
      <p:grpSpPr>
        <a:xfrm>
          <a:off x="0" y="0"/>
          <a:ext cx="0" cy="0"/>
          <a:chOff x="0" y="0"/>
          <a:chExt cx="0" cy="0"/>
        </a:xfrm>
      </p:grpSpPr>
      <p:sp>
        <p:nvSpPr>
          <p:cNvPr id="3" name="Content Placeholder 2">
            <a:extLst>
              <a:ext uri="{FF2B5EF4-FFF2-40B4-BE49-F238E27FC236}">
                <a16:creationId id="{04752813-6729-F81A-D7F5-E398BC0658B9}"/>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lvl="0" indent="0" algn="l">
              <a:lnSpc>
                <a:spcPct val="118000"/>
              </a:lnSpc>
              <a:spcBef>
                <a:spcPts val="0"/>
              </a:spcBef>
              <a:spcAft>
                <a:spcPts val="450"/>
              </a:spcAft>
              <a:buNone/>
              <a:defRPr sz="2250" b="1">
                <a:solidFill>
                  <a:srgbClr val="243B53"/>
                </a:solidFill>
                <a:latin typeface="Arial"/>
                <a:ea typeface="Arial"/>
                <a:cs typeface="Arial"/>
              </a:defRPr>
            </a:pPr>
            <a:r>
              <a:rPr lang="en-US" b="1" dirty="0" sz="2250">
                <a:solidFill>
                  <a:srgbClr val="243B53"/>
                </a:solidFill>
                <a:latin typeface="Arial" panose="02020603050405020304" pitchFamily="18" charset="0"/>
                <a:ea typeface="Arial"/>
                <a:cs typeface="Arial" panose="02020603050405020304" pitchFamily="18" charset="0"/>
              </a:rPr>
              <a:t>E) HEAT</a:t>
            </a:r>
            <a:endParaRPr lang="x-none" b="1" dirty="0" sz="2250">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panose="02020603050405020304" pitchFamily="18" charset="0"/>
                <a:ea typeface="Arial"/>
                <a:cs typeface="Arial" panose="02020603050405020304" pitchFamily="18" charset="0"/>
              </a:rPr>
              <a:t>Definition: the spontaneous transfer of Thermal energy from a region or object of higher temperature. Heat is not something an object “contains” : rather, it is energy in transit driven by a temperature gradient.  In atomic and radiation contexts, this transfer happens via conduction, conversion, or thermal radiation (the emission of electromagnet waves like infrared or black body radiation).</a:t>
            </a:r>
            <a:endParaRPr lang="x-none" dirty="0" sz="2200" b="0">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panose="02020603050405020304" pitchFamily="18" charset="0"/>
                <a:ea typeface="Arial"/>
                <a:cs typeface="Arial" panose="02020603050405020304" pitchFamily="18" charset="0"/>
              </a:rPr>
              <a:t>SI Unit: joule (J) (or calories) </a:t>
            </a:r>
            <a:endParaRPr lang="x-none" dirty="0" sz="2200" b="0">
              <a:solidFill>
                <a:srgbClr val="243B53"/>
              </a:solidFill>
              <a:latin typeface="Arial" panose="02020603050405020304" pitchFamily="18" charset="0"/>
              <a:ea typeface="Arial"/>
              <a:cs typeface="Arial" panose="02020603050405020304"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r>
              <a:rPr lang="en-US" dirty="0" sz="100" b="0">
                <a:solidFill>
                  <a:srgbClr val="243B53"/>
                </a:solidFill>
                <a:latin typeface="Arial" panose="02020603050405020304" pitchFamily="18" charset="0"/>
                <a:ea typeface="Arial"/>
                <a:cs typeface="Arial" panose="02020603050405020304" pitchFamily="18" charset="0"/>
              </a:rPr>
              <a:t> </a:t>
            </a:r>
            <a:endParaRPr lang="x-none" dirty="0" sz="100" b="0">
              <a:solidFill>
                <a:srgbClr val="243B53"/>
              </a:solidFill>
              <a:latin typeface="Arial" panose="02020603050405020304" pitchFamily="18" charset="0"/>
              <a:ea typeface="Arial"/>
              <a:cs typeface="Arial" panose="02020603050405020304" pitchFamily="18" charset="0"/>
            </a:endParaRPr>
          </a:p>
          <a:p>
            <a:pPr algn="l" marL="0" indent="0">
              <a:lnSpc>
                <a:spcPts val="100"/>
              </a:lnSpc>
              <a:spcBef>
                <a:spcPts val="0"/>
              </a:spcBef>
              <a:spcAft>
                <a:spcPts val="0"/>
              </a:spcAft>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p:txBody>
      </p:sp>
    </p:spTree>
    <p:extLst>
      <p:ext uri="{BB962C8B-B14F-4D97-AF65-F5344CB8AC3E}">
        <p14:creationId val="605583688"/>
      </p:ext>
    </p:extLst>
  </p:cSld>
  <p:clrMapOvr>
    <a:masterClrMapping/>
  </p:clrMapOvr>
  <p:transition spd="slow">
    <p:push dir="u"/>
  </p:transition>
</p:sld>
</file>

<file path=ppt/slides/slide1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C1EFD8F-1ACE-B81B-8617-F165E94BBC59}"/>
            </a:ext>
          </a:extLst>
        </p:cNvPr>
        <p:cNvGrpSpPr/>
        <p:nvPr/>
      </p:nvGrpSpPr>
      <p:grpSpPr>
        <a:xfrm>
          <a:off x="0" y="0"/>
          <a:ext cx="0" cy="0"/>
          <a:chOff x="0" y="0"/>
          <a:chExt cx="0" cy="0"/>
        </a:xfrm>
      </p:grpSpPr>
      <p:sp>
        <p:nvSpPr>
          <p:cNvPr id="3" name="Content Placeholder 2">
            <a:extLst>
              <a:ext uri="{FF2B5EF4-FFF2-40B4-BE49-F238E27FC236}">
                <a16:creationId id="{8EF0A382-C03B-A5A7-7000-70828C478361}"/>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250" b="1">
                <a:solidFill>
                  <a:srgbClr val="243B53"/>
                </a:solidFill>
                <a:latin typeface="Arial"/>
                <a:ea typeface="Arial"/>
                <a:cs typeface="Arial"/>
              </a:defRPr>
            </a:pPr>
            <a:r>
              <a:rPr lang="en-US" b="1" dirty="0" sz="2250">
                <a:solidFill>
                  <a:srgbClr val="243B53"/>
                </a:solidFill>
                <a:latin typeface="Arial" panose="02020603050405020304" pitchFamily="18" charset="0"/>
                <a:ea typeface="Arial"/>
                <a:cs typeface="Arial" panose="02020603050405020304" pitchFamily="18" charset="0"/>
              </a:rPr>
              <a:t>THE ATOMIC STRUCTURE</a:t>
            </a:r>
            <a:endParaRPr lang="x-none" b="1" dirty="0" sz="2250">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panose="02020603050405020304" pitchFamily="18" charset="0"/>
                <a:ea typeface="Arial"/>
                <a:cs typeface="Arial" panose="02020603050405020304" pitchFamily="18" charset="0"/>
              </a:rPr>
              <a:t>An atom is the basic building block of matter, consisting of a tiny, dense central core called the nucleus surrounded by a cloud or orbiting electrons. Over 99.9% of an atoms mass is in the nucleus, while over 99% of its volume is empty space.</a:t>
            </a:r>
            <a:endParaRPr lang="x-none" dirty="0" sz="2200" b="0">
              <a:solidFill>
                <a:srgbClr val="243B53"/>
              </a:solidFill>
              <a:latin typeface="Arial" panose="02020603050405020304" pitchFamily="18" charset="0"/>
              <a:ea typeface="Arial"/>
              <a:cs typeface="Arial" panose="02020603050405020304"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panose="02020603050405020304" pitchFamily="18" charset="0"/>
                <a:ea typeface="Arial"/>
                <a:cs typeface="Arial" panose="02020603050405020304" pitchFamily="18" charset="0"/>
              </a:rPr>
              <a:t>1:   The central nucleus: The nucleus sits at the center of the atoms and contains two types of subatomic particles called nucleons:</a:t>
            </a:r>
            <a:endParaRPr lang="x-none" dirty="0" sz="2200" b="0">
              <a:solidFill>
                <a:srgbClr val="243B53"/>
              </a:solidFill>
              <a:latin typeface="Arial" panose="02020603050405020304" pitchFamily="18" charset="0"/>
              <a:ea typeface="Arial"/>
              <a:cs typeface="Arial" panose="02020603050405020304"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p:txBody>
      </p:sp>
    </p:spTree>
    <p:extLst>
      <p:ext uri="{BB962C8B-B14F-4D97-AF65-F5344CB8AC3E}">
        <p14:creationId val="2037121804"/>
      </p:ext>
    </p:extLst>
  </p:cSld>
  <p:clrMapOvr>
    <a:masterClrMapping/>
  </p:clrMapOvr>
  <p:transition spd="slow">
    <p:push dir="u"/>
  </p:transition>
</p:sld>
</file>

<file path=ppt/slides/slide1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E615FCFC-1122-CCE3-4BD6-A12E38A79F5D}"/>
            </a:ext>
          </a:extLst>
        </p:cNvPr>
        <p:cNvGrpSpPr/>
        <p:nvPr/>
      </p:nvGrpSpPr>
      <p:grpSpPr>
        <a:xfrm>
          <a:off x="0" y="0"/>
          <a:ext cx="0" cy="0"/>
          <a:chOff x="0" y="0"/>
          <a:chExt cx="0" cy="0"/>
        </a:xfrm>
      </p:grpSpPr>
      <p:sp>
        <p:nvSpPr>
          <p:cNvPr id="3" name="Content Placeholder 2">
            <a:extLst>
              <a:ext uri="{FF2B5EF4-FFF2-40B4-BE49-F238E27FC236}">
                <a16:creationId id="{9E912183-7518-7618-CAAB-71ACADA5D19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Wingdings" panose="05000000000000000000" pitchFamily="2" charset="2"/>
              <a:buChar char="Ø"/>
              <a:defRPr sz="2050" b="1">
                <a:solidFill>
                  <a:srgbClr val="243B53"/>
                </a:solidFill>
                <a:latin typeface="Arial"/>
                <a:ea typeface="Arial"/>
                <a:cs typeface="Arial"/>
              </a:defRPr>
            </a:pPr>
            <a:r>
              <a:rPr lang="en-US" b="1" dirty="0" sz="2050">
                <a:solidFill>
                  <a:srgbClr val="243B53"/>
                </a:solidFill>
                <a:latin typeface="Arial" panose="02020603050405020304" pitchFamily="18" charset="0"/>
                <a:ea typeface="Arial"/>
                <a:cs typeface="Arial" panose="02020603050405020304" pitchFamily="18" charset="0"/>
              </a:rPr>
              <a:t>PROTONS:</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anose="05000000000000000000" pitchFamily="2" charset="2"/>
              <a:buChar char="ü"/>
              <a:defRPr sz="2050" b="1">
                <a:solidFill>
                  <a:srgbClr val="243B53"/>
                </a:solidFill>
                <a:latin typeface="Arial"/>
                <a:ea typeface="Arial"/>
                <a:cs typeface="Arial"/>
              </a:defRPr>
            </a:pPr>
            <a:r>
              <a:rPr lang="en-US" dirty="0" sz="2050" b="1">
                <a:solidFill>
                  <a:srgbClr val="243B53"/>
                </a:solidFill>
                <a:latin typeface="Arial" panose="02020603050405020304" pitchFamily="18" charset="0"/>
                <a:ea typeface="Arial"/>
                <a:cs typeface="Arial" panose="02020603050405020304" pitchFamily="18" charset="0"/>
              </a:rPr>
              <a:t>CHARGE:  POSITIVE (+1}</a:t>
            </a:r>
            <a:endParaRPr lang="x-none" dirty="0" sz="2050" b="1">
              <a:solidFill>
                <a:srgbClr val="243B53"/>
              </a:solidFill>
              <a:latin typeface="Arial" panose="02020603050405020304" pitchFamily="18" charset="0"/>
              <a:ea typeface="Arial"/>
              <a:cs typeface="Arial" panose="02020603050405020304"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anose="02020603050405020304" pitchFamily="18" charset="0"/>
                <a:ea typeface="Arial"/>
                <a:cs typeface="Arial" panose="02020603050405020304" pitchFamily="18" charset="0"/>
              </a:rPr>
              <a:t>Mass: Approximately 1 atomic mass unit {amu}</a:t>
            </a:r>
            <a:endParaRPr lang="x-none" dirty="0" sz="2000" b="0">
              <a:solidFill>
                <a:srgbClr val="243B53"/>
              </a:solidFill>
              <a:latin typeface="Arial" panose="02020603050405020304" pitchFamily="18" charset="0"/>
              <a:ea typeface="Arial"/>
              <a:cs typeface="Arial" panose="02020603050405020304"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anose="02020603050405020304" pitchFamily="18" charset="0"/>
                <a:ea typeface="Arial"/>
                <a:cs typeface="Arial" panose="02020603050405020304" pitchFamily="18" charset="0"/>
              </a:rPr>
              <a:t>Role: The number of protons is the atomic number (Z). Which defines the identity of the chemical element (</a:t>
            </a:r>
            <a:r>
              <a:rPr lang="en-US" dirty="0" err="1" sz="2000" b="0">
                <a:solidFill>
                  <a:srgbClr val="243B53"/>
                </a:solidFill>
                <a:latin typeface="Arial" panose="02020603050405020304" pitchFamily="18" charset="0"/>
                <a:ea typeface="Arial"/>
                <a:cs typeface="Arial" panose="02020603050405020304" pitchFamily="18" charset="0"/>
              </a:rPr>
              <a:t>e.g</a:t>
            </a:r>
            <a:r>
              <a:rPr lang="en-US" dirty="0" sz="2000" b="0">
                <a:solidFill>
                  <a:srgbClr val="243B53"/>
                </a:solidFill>
                <a:latin typeface="Arial" panose="02020603050405020304" pitchFamily="18" charset="0"/>
                <a:ea typeface="Arial"/>
                <a:cs typeface="Arial" panose="02020603050405020304" pitchFamily="18" charset="0"/>
              </a:rPr>
              <a:t>, carbon always has 6 protons).</a:t>
            </a:r>
            <a:endParaRPr sz="2000" b="0">
              <a:solidFill>
                <a:srgbClr val="243B53"/>
              </a:solidFill>
              <a:latin typeface="Arial"/>
              <a:ea typeface="Arial"/>
              <a:cs typeface="Arial"/>
            </a:endParaRPr>
          </a:p>
          <a:p>
            <a:pPr algn="l" marL="0" indent="0">
              <a:lnSpc>
                <a:spcPts val="100"/>
              </a:lnSpc>
              <a:spcBef>
                <a:spcPts val="0"/>
              </a:spcBef>
              <a:spcAft>
                <a:spcPts val="0"/>
              </a:spcAft>
              <a:buFont typeface="Wingdings" panose="05000000000000000000" pitchFamily="2" charset="2"/>
              <a:buChar char="ü"/>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a:p>
            <a:pPr lvl="0" algn="l" marL="0" indent="0">
              <a:lnSpc>
                <a:spcPct val="118000"/>
              </a:lnSpc>
              <a:spcBef>
                <a:spcPts val="0"/>
              </a:spcBef>
              <a:spcAft>
                <a:spcPts val="450"/>
              </a:spcAft>
              <a:buFont typeface="Wingdings" panose="05000000000000000000" pitchFamily="2" charset="2"/>
              <a:buChar char="Ø"/>
              <a:defRPr sz="2050" b="1">
                <a:solidFill>
                  <a:srgbClr val="243B53"/>
                </a:solidFill>
                <a:latin typeface="Arial"/>
                <a:ea typeface="Arial"/>
                <a:cs typeface="Arial"/>
              </a:defRPr>
            </a:pPr>
            <a:r>
              <a:rPr lang="en-US" b="1" dirty="0" sz="2050">
                <a:solidFill>
                  <a:srgbClr val="243B53"/>
                </a:solidFill>
                <a:latin typeface="Arial" panose="02020603050405020304" pitchFamily="18" charset="0"/>
                <a:ea typeface="Arial"/>
                <a:cs typeface="Arial" panose="02020603050405020304" pitchFamily="18" charset="0"/>
              </a:rPr>
              <a:t>NEUTRONS:</a:t>
            </a:r>
            <a:endParaRPr lang="x-none" b="1" dirty="0" sz="2050">
              <a:solidFill>
                <a:srgbClr val="243B53"/>
              </a:solidFill>
              <a:latin typeface="Arial" panose="02020603050405020304" pitchFamily="18" charset="0"/>
              <a:ea typeface="Arial"/>
              <a:cs typeface="Arial" panose="02020603050405020304"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anose="02020603050405020304" pitchFamily="18" charset="0"/>
                <a:ea typeface="Arial"/>
                <a:cs typeface="Arial" panose="02020603050405020304" pitchFamily="18" charset="0"/>
              </a:rPr>
              <a:t>CHARGE: Neutral (0, no charge)</a:t>
            </a:r>
            <a:endParaRPr lang="x-none" dirty="0" sz="2000" b="0">
              <a:solidFill>
                <a:srgbClr val="243B53"/>
              </a:solidFill>
              <a:latin typeface="Arial" panose="02020603050405020304" pitchFamily="18" charset="0"/>
              <a:ea typeface="Arial"/>
              <a:cs typeface="Arial" panose="02020603050405020304"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anose="02020603050405020304" pitchFamily="18" charset="0"/>
                <a:ea typeface="Arial"/>
                <a:cs typeface="Arial" panose="02020603050405020304" pitchFamily="18" charset="0"/>
              </a:rPr>
              <a:t>Mass: Approximately 1 amu (very close to a protons mass)</a:t>
            </a:r>
            <a:endParaRPr lang="x-none" dirty="0" sz="2000" b="0">
              <a:solidFill>
                <a:srgbClr val="243B53"/>
              </a:solidFill>
              <a:latin typeface="Arial" panose="02020603050405020304" pitchFamily="18" charset="0"/>
              <a:ea typeface="Arial"/>
              <a:cs typeface="Arial" panose="02020603050405020304"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anose="02020603050405020304" pitchFamily="18" charset="0"/>
                <a:ea typeface="Arial"/>
                <a:cs typeface="Arial" panose="02020603050405020304" pitchFamily="18" charset="0"/>
              </a:rPr>
              <a:t>Role:  They act as nuclear “glue “using the strong nuclear force to bind protons together and overcome electromagnetic repulsion.  Variants of an element with different numbers of neutrons are called isotopes.</a:t>
            </a:r>
            <a:endParaRPr lang="x-none" dirty="0" sz="2000" b="0">
              <a:solidFill>
                <a:srgbClr val="243B53"/>
              </a:solidFill>
              <a:latin typeface="Arial" panose="02020603050405020304" pitchFamily="18" charset="0"/>
              <a:ea typeface="Arial"/>
              <a:cs typeface="Arial" panose="02020603050405020304"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p:txBody>
      </p:sp>
    </p:spTree>
    <p:extLst>
      <p:ext uri="{BB962C8B-B14F-4D97-AF65-F5344CB8AC3E}">
        <p14:creationId val="1864641370"/>
      </p:ext>
    </p:extLst>
  </p:cSld>
  <p:clrMapOvr>
    <a:masterClrMapping/>
  </p:clrMapOvr>
  <p:transition spd="slow">
    <p:push dir="u"/>
  </p:transition>
</p:sld>
</file>

<file path=ppt/slides/slide1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268E4282-007E-4F95-BCD9-15AFE9CDD89B}"/>
            </a:ext>
          </a:extLst>
        </p:cNvPr>
        <p:cNvGrpSpPr/>
        <p:nvPr/>
      </p:nvGrpSpPr>
      <p:grpSpPr>
        <a:xfrm>
          <a:off x="0" y="0"/>
          <a:ext cx="0" cy="0"/>
          <a:chOff x="0" y="0"/>
          <a:chExt cx="0" cy="0"/>
        </a:xfrm>
      </p:grpSpPr>
      <p:sp>
        <p:nvSpPr>
          <p:cNvPr id="3" name="Content Placeholder 2">
            <a:extLst>
              <a:ext uri="{FF2B5EF4-FFF2-40B4-BE49-F238E27FC236}">
                <a16:creationId id="{44F10A48-2EC5-17DC-FCC6-55154D233673}"/>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00" b="0">
                <a:solidFill>
                  <a:srgbClr val="243B53"/>
                </a:solidFill>
                <a:latin typeface="Arial"/>
                <a:ea typeface="Arial"/>
                <a:cs typeface="Arial"/>
              </a:defRPr>
            </a:pPr>
            <a:r>
              <a:rPr lang="en-US" b="0" dirty="0" sz="2000">
                <a:solidFill>
                  <a:srgbClr val="243B53"/>
                </a:solidFill>
                <a:latin typeface="Arial" pitchFamily="18" charset="0"/>
                <a:ea typeface="Arial"/>
                <a:cs typeface="Arial" pitchFamily="18" charset="0"/>
              </a:rPr>
              <a:t>2. the Electron cloud and shells </a:t>
            </a:r>
            <a:endParaRPr lang="x-none" b="0" dirty="0" sz="2000">
              <a:solidFill>
                <a:srgbClr val="243B53"/>
              </a:solidFill>
              <a:latin typeface="Arial" pitchFamily="18" charset="0"/>
              <a:ea typeface="Arial"/>
              <a:cs typeface="Arial" pitchFamily="18" charset="0"/>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Surrounding the nucleus is a vast region where electron reside. </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itchFamily="18" charset="0"/>
              <a:ea typeface="Arial"/>
              <a:cs typeface="Arial" pitchFamily="18" charset="0"/>
            </a:endParaRPr>
          </a:p>
          <a:p>
            <a:pPr lvl="0" algn="l" marL="0" indent="0">
              <a:lnSpc>
                <a:spcPct val="118000"/>
              </a:lnSpc>
              <a:spcBef>
                <a:spcPts val="0"/>
              </a:spcBef>
              <a:spcAft>
                <a:spcPts val="450"/>
              </a:spcAft>
              <a:buFont typeface="Wingdings" panose="05000000000000000000" pitchFamily="2" charset="2"/>
              <a:buChar char="Ø"/>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ELECTRONS:</a:t>
            </a:r>
            <a:endParaRPr lang="x-none" b="1" dirty="0" sz="2050">
              <a:solidFill>
                <a:srgbClr val="243B53"/>
              </a:solidFill>
              <a:latin typeface="Arial" pitchFamily="18" charset="0"/>
              <a:ea typeface="Arial"/>
              <a:cs typeface="Arial"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Charge: negative (-1, equal in magnitude to a proton’s positive charge)</a:t>
            </a:r>
            <a:endParaRPr lang="x-none" dirty="0" sz="2000" b="0">
              <a:solidFill>
                <a:srgbClr val="243B53"/>
              </a:solidFill>
              <a:latin typeface="Arial" pitchFamily="18" charset="0"/>
              <a:ea typeface="Arial"/>
              <a:cs typeface="Arial"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Mass: Negligible (about 1/1836 the mass of a proton, or approximately 0-amu)</a:t>
            </a:r>
            <a:endParaRPr lang="x-none" dirty="0" sz="2000" b="0">
              <a:solidFill>
                <a:srgbClr val="243B53"/>
              </a:solidFill>
              <a:latin typeface="Arial" pitchFamily="18" charset="0"/>
              <a:ea typeface="Arial"/>
              <a:cs typeface="Arial"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Role: they occupy specific energy levels, shells, 0r orbitals around the nucleus. </a:t>
            </a:r>
            <a:endParaRPr lang="x-none" dirty="0" sz="2000" b="0">
              <a:solidFill>
                <a:srgbClr val="243B53"/>
              </a:solidFill>
              <a:latin typeface="Arial" pitchFamily="18" charset="0"/>
              <a:ea typeface="Arial"/>
              <a:cs typeface="Arial"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itchFamily="18" charset="0"/>
              <a:ea typeface="Arial"/>
              <a:cs typeface="Arial" pitchFamily="18" charset="0"/>
            </a:endParaRPr>
          </a:p>
          <a:p>
            <a:pPr lvl="0" algn="l" marL="0" indent="0">
              <a:lnSpc>
                <a:spcPct val="118000"/>
              </a:lnSpc>
              <a:spcBef>
                <a:spcPts val="0"/>
              </a:spcBef>
              <a:spcAft>
                <a:spcPts val="450"/>
              </a:spcAft>
              <a:buFont typeface="Wingdings" panose="05000000000000000000" pitchFamily="2" charset="2"/>
              <a:buChar char="Ø"/>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ELECTRONS SHELL CAPACITIES:</a:t>
            </a:r>
            <a:endParaRPr lang="x-none" b="1" dirty="0" sz="2050">
              <a:solidFill>
                <a:srgbClr val="243B53"/>
              </a:solidFill>
              <a:latin typeface="Arial" pitchFamily="18" charset="0"/>
              <a:ea typeface="Arial"/>
              <a:cs typeface="Arial"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1</a:t>
            </a:r>
            <a:r>
              <a:rPr lang="en-US" baseline="30000" dirty="0" sz="2000" b="0">
                <a:solidFill>
                  <a:srgbClr val="243B53"/>
                </a:solidFill>
                <a:latin typeface="Arial" pitchFamily="18" charset="0"/>
                <a:ea typeface="Arial"/>
                <a:cs typeface="Arial" pitchFamily="18" charset="0"/>
              </a:rPr>
              <a:t>st </a:t>
            </a:r>
            <a:r>
              <a:rPr lang="en-US" dirty="0" sz="2000" b="0">
                <a:solidFill>
                  <a:srgbClr val="243B53"/>
                </a:solidFill>
                <a:latin typeface="Arial" pitchFamily="18" charset="0"/>
                <a:ea typeface="Arial"/>
                <a:cs typeface="Arial" pitchFamily="18" charset="0"/>
              </a:rPr>
              <a:t>shell: (closest to the nucleus): up to 2 electrons</a:t>
            </a:r>
            <a:endParaRPr lang="x-none" dirty="0" sz="2000" b="0">
              <a:solidFill>
                <a:srgbClr val="243B53"/>
              </a:solidFill>
              <a:latin typeface="Arial" pitchFamily="18" charset="0"/>
              <a:ea typeface="Arial"/>
              <a:cs typeface="Arial"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2</a:t>
            </a:r>
            <a:r>
              <a:rPr lang="en-US" baseline="30000" dirty="0" sz="2000" b="0">
                <a:solidFill>
                  <a:srgbClr val="243B53"/>
                </a:solidFill>
                <a:latin typeface="Arial" pitchFamily="18" charset="0"/>
                <a:ea typeface="Arial"/>
                <a:cs typeface="Arial" pitchFamily="18" charset="0"/>
              </a:rPr>
              <a:t>nd</a:t>
            </a:r>
            <a:r>
              <a:rPr lang="en-US" dirty="0" sz="2000" b="0">
                <a:solidFill>
                  <a:srgbClr val="243B53"/>
                </a:solidFill>
                <a:latin typeface="Arial" pitchFamily="18" charset="0"/>
                <a:ea typeface="Arial"/>
                <a:cs typeface="Arial" pitchFamily="18" charset="0"/>
              </a:rPr>
              <a:t> shell: up to 8 electrons </a:t>
            </a:r>
            <a:endParaRPr lang="x-none" dirty="0" sz="2000" b="0">
              <a:solidFill>
                <a:srgbClr val="243B53"/>
              </a:solidFill>
              <a:latin typeface="Arial" pitchFamily="18" charset="0"/>
              <a:ea typeface="Arial"/>
              <a:cs typeface="Arial"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3</a:t>
            </a:r>
            <a:r>
              <a:rPr lang="en-US" baseline="30000" dirty="0" sz="2000" b="0">
                <a:solidFill>
                  <a:srgbClr val="243B53"/>
                </a:solidFill>
                <a:latin typeface="Arial" pitchFamily="18" charset="0"/>
                <a:ea typeface="Arial"/>
                <a:cs typeface="Arial" pitchFamily="18" charset="0"/>
              </a:rPr>
              <a:t>rd</a:t>
            </a:r>
            <a:r>
              <a:rPr lang="en-US" dirty="0" sz="2000" b="0">
                <a:solidFill>
                  <a:srgbClr val="243B53"/>
                </a:solidFill>
                <a:latin typeface="Arial" pitchFamily="18" charset="0"/>
                <a:ea typeface="Arial"/>
                <a:cs typeface="Arial" pitchFamily="18" charset="0"/>
              </a:rPr>
              <a:t> shell: up to 8 or more electrons depending on the element </a:t>
            </a:r>
            <a:endParaRPr lang="x-none" dirty="0" sz="2000" b="0">
              <a:solidFill>
                <a:srgbClr val="243B53"/>
              </a:solidFill>
              <a:latin typeface="Arial" panose="02020603050405020304" pitchFamily="18" charset="0"/>
              <a:ea typeface="Arial"/>
              <a:cs typeface="Arial" panose="02020603050405020304"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p:txBody>
      </p:sp>
    </p:spTree>
    <p:extLst>
      <p:ext uri="{BB962C8B-B14F-4D97-AF65-F5344CB8AC3E}">
        <p14:creationId val="3732263302"/>
      </p:ext>
    </p:extLst>
  </p:cSld>
  <p:clrMapOvr>
    <a:masterClrMapping/>
  </p:clrMapOvr>
  <p:transition spd="slow">
    <p:push dir="u"/>
  </p:transition>
</p:sld>
</file>

<file path=ppt/slides/slide1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Wingdings" panose="05000000000000000000" pitchFamily="2" charset="2"/>
              <a:buChar char="Ø"/>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VALENCE ELECTRONS:</a:t>
            </a:r>
            <a:endParaRPr lang="x-none" b="1" dirty="0" sz="2050">
              <a:solidFill>
                <a:srgbClr val="243B53"/>
              </a:solidFill>
              <a:latin typeface="Arial" pitchFamily="18" charset="0"/>
              <a:ea typeface="Arial"/>
              <a:cs typeface="Arial" pitchFamily="18" charset="0"/>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The electrons in the outermost shell. They govern how the atoms bonds ad reacts chemically with other atoms. </a:t>
            </a:r>
            <a:endParaRPr lang="x-none" dirty="0" sz="2000" b="0">
              <a:solidFill>
                <a:srgbClr val="243B53"/>
              </a:solidFill>
              <a:latin typeface="Arial" pitchFamily="18" charset="0"/>
              <a:ea typeface="Arial"/>
              <a:cs typeface="Arial"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r>
              <a:rPr lang="en-US" dirty="0" sz="100" b="0">
                <a:solidFill>
                  <a:srgbClr val="243B53"/>
                </a:solidFill>
                <a:latin typeface="Arial" pitchFamily="18" charset="0"/>
                <a:ea typeface="Arial"/>
                <a:cs typeface="Arial" pitchFamily="18" charset="0"/>
              </a:rPr>
              <a:t> </a:t>
            </a:r>
            <a:endParaRPr lang="x-none" dirty="0" sz="100" b="0">
              <a:solidFill>
                <a:srgbClr val="243B53"/>
              </a:solidFill>
              <a:latin typeface="Arial" pitchFamily="18" charset="0"/>
              <a:ea typeface="Arial"/>
              <a:cs typeface="Arial" pitchFamily="18" charset="0"/>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b="0" dirty="0" sz="2000">
                <a:solidFill>
                  <a:srgbClr val="243B53"/>
                </a:solidFill>
                <a:latin typeface="Arial" pitchFamily="18" charset="0"/>
                <a:ea typeface="Arial"/>
                <a:cs typeface="Arial" pitchFamily="18" charset="0"/>
              </a:rPr>
              <a:t>3. Key Atomic Measurements  </a:t>
            </a:r>
            <a:endParaRPr lang="x-none" b="0" dirty="0" sz="2000">
              <a:solidFill>
                <a:srgbClr val="243B53"/>
              </a:solidFill>
              <a:latin typeface="Arial" pitchFamily="18" charset="0"/>
              <a:ea typeface="Arial"/>
              <a:cs typeface="Arial"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Atomic number (Z):  Total count of protons in the nucleus </a:t>
            </a:r>
            <a:endParaRPr lang="x-none" dirty="0" sz="2000" b="0">
              <a:solidFill>
                <a:srgbClr val="243B53"/>
              </a:solidFill>
              <a:latin typeface="Arial" pitchFamily="18" charset="0"/>
              <a:ea typeface="Arial"/>
              <a:cs typeface="Arial"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Mass: number (A): Total count of protons plus neutrons (A= Z+N)</a:t>
            </a:r>
            <a:endParaRPr lang="x-none" dirty="0" sz="2000" b="0">
              <a:solidFill>
                <a:srgbClr val="243B53"/>
              </a:solidFill>
              <a:latin typeface="Arial" pitchFamily="18" charset="0"/>
              <a:ea typeface="Arial"/>
              <a:cs typeface="Arial" pitchFamily="18" charset="0"/>
            </a:endParaRPr>
          </a:p>
          <a:p>
            <a:pPr algn="l" marL="0" indent="0">
              <a:lnSpc>
                <a:spcPct val="118000"/>
              </a:lnSpc>
              <a:spcBef>
                <a:spcPts val="0"/>
              </a:spcBef>
              <a:spcAft>
                <a:spcPts val="450"/>
              </a:spcAft>
              <a:buFont typeface="Wingdings" panose="05000000000000000000"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Electrical Balance: in a standard neutral atom, the number of negative electrons equals the number of positive.  If an atom gains or loss electrons, it becomes a charged particle called an ion. </a:t>
            </a:r>
            <a:endParaRPr lang="x-none" dirty="0" sz="2000" b="0">
              <a:solidFill>
                <a:srgbClr val="243B53"/>
              </a:solidFill>
              <a:latin typeface="Arial" panose="02020603050405020304" pitchFamily="18" charset="0"/>
              <a:ea typeface="Arial"/>
              <a:cs typeface="Arial" panose="02020603050405020304"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p:txBody>
      </p:sp>
    </p:spTree>
    <p:extLst>
      <p:ext uri="{BB962C8B-B14F-4D97-AF65-F5344CB8AC3E}">
        <p14:creationId val="915827969"/>
      </p:ext>
    </p:extLst>
  </p:cSld>
  <p:clrMapOvr>
    <a:masterClrMapping/>
  </p:clrMapOvr>
  <p:transition spd="slow">
    <p:push dir="u"/>
  </p:transition>
</p:sld>
</file>

<file path=ppt/slides/slide20.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algn="l" marL="0" indent="0">
              <a:lnSpc>
                <a:spcPct val="118000"/>
              </a:lnSpc>
              <a:spcBef>
                <a:spcPts val="0"/>
              </a:spcBef>
              <a:spcAft>
                <a:spcPts val="450"/>
              </a:spcAft>
              <a:buFont typeface="Wingdings" pitchFamily="2" charset="2"/>
              <a:buChar char="Ø"/>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Key features of the periodic table:</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Total elements: 118 confirmed chemical elements, ordered by increasing atomic number (number of protons) from Hydrogen ( 1) to </a:t>
            </a:r>
            <a:r>
              <a:rPr lang="en-US" dirty="0" err="1" smtClean="0" sz="2000" b="0">
                <a:solidFill>
                  <a:srgbClr val="243B53"/>
                </a:solidFill>
                <a:latin typeface="Arial" pitchFamily="18" charset="0"/>
                <a:ea typeface="Arial"/>
                <a:cs typeface="Arial" pitchFamily="18" charset="0"/>
              </a:rPr>
              <a:t>organesson</a:t>
            </a:r>
            <a:r>
              <a:rPr lang="en-US" dirty="0" smtClean="0" sz="2000" b="0">
                <a:solidFill>
                  <a:srgbClr val="243B53"/>
                </a:solidFill>
                <a:latin typeface="Arial" pitchFamily="18" charset="0"/>
                <a:ea typeface="Arial"/>
                <a:cs typeface="Arial" pitchFamily="18" charset="0"/>
              </a:rPr>
              <a:t> </a:t>
            </a:r>
            <a:r>
              <a:rPr lang="en-US" dirty="0" sz="2000" b="0">
                <a:solidFill>
                  <a:srgbClr val="243B53"/>
                </a:solidFill>
                <a:latin typeface="Arial" pitchFamily="18" charset="0"/>
                <a:ea typeface="Arial"/>
                <a:cs typeface="Arial" pitchFamily="18" charset="0"/>
              </a:rPr>
              <a:t>( 118 ).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Periods (rows): There are 7 horizontal rows. Each period indicates the number of electron shells an atom has.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Groups (Columns): There are 18 vertical columns. Elements in the same group share similar chemical properties because they have the same number of valence electrons.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50" b="1">
                <a:solidFill>
                  <a:srgbClr val="243B53"/>
                </a:solidFill>
                <a:latin typeface="Arial"/>
                <a:ea typeface="Arial"/>
                <a:cs typeface="Arial"/>
              </a:defRPr>
            </a:pPr>
            <a:r>
              <a:rPr lang="en-US" dirty="0" sz="2050" b="1">
                <a:solidFill>
                  <a:srgbClr val="243B53"/>
                </a:solidFill>
                <a:latin typeface="Arial" pitchFamily="18" charset="0"/>
                <a:ea typeface="Arial"/>
                <a:cs typeface="Arial" pitchFamily="18" charset="0"/>
              </a:rPr>
              <a:t>Main classification:</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Metals: Found on the left and center.</a:t>
            </a:r>
            <a:endParaRPr sz="2000" b="0">
              <a:solidFill>
                <a:srgbClr val="243B53"/>
              </a:solidFill>
              <a:latin typeface="Arial"/>
              <a:ea typeface="Arial"/>
              <a:cs typeface="Arial"/>
            </a:endParaRPr>
          </a:p>
          <a:p>
            <a:pPr lvl="0"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p:txBody>
      </p:sp>
    </p:spTree>
    <p:extLst>
      <p:ext uri="{BB962C8B-B14F-4D97-AF65-F5344CB8AC3E}">
        <p14:creationId val="4214023976"/>
      </p:ext>
    </p:extLst>
  </p:cSld>
  <p:clrMapOvr>
    <a:masterClrMapping/>
  </p:clrMapOvr>
  <p:transition spd="slow">
    <p:push dir="u"/>
  </p:transition>
</p:sld>
</file>

<file path=ppt/slides/slide2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Non – metals: Found on the upper right (including Halogens and noble gasses).</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Special series: The lanthanide and Actinide series (atomic numbers 57 – 71 and 89 – 103) are placed at the bottom to keep the table compact</a:t>
            </a:r>
            <a:r>
              <a:rPr lang="en-US" dirty="0" smtClean="0" sz="2200" b="0">
                <a:solidFill>
                  <a:srgbClr val="243B53"/>
                </a:solidFill>
                <a:latin typeface="Arial" pitchFamily="18" charset="0"/>
                <a:ea typeface="Arial"/>
                <a:cs typeface="Arial" pitchFamily="18" charset="0"/>
              </a:rPr>
              <a:t>.</a:t>
            </a:r>
            <a:endParaRPr sz="2200" b="0">
              <a:solidFill>
                <a:srgbClr val="243B53"/>
              </a:solidFill>
              <a:latin typeface="Arial"/>
              <a:ea typeface="Arial"/>
              <a:cs typeface="Arial"/>
            </a:endParaRPr>
          </a:p>
          <a:p>
            <a:pPr lvl="0"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b="0" dirty="0" sz="100">
              <a:solidFill>
                <a:srgbClr val="243B53"/>
              </a:solidFill>
              <a:latin typeface="Arial" panose="02020603050405020304" pitchFamily="18" charset="0"/>
              <a:ea typeface="Arial"/>
              <a:cs typeface="Arial" panose="02020603050405020304" pitchFamily="18" charset="0"/>
            </a:endParaRPr>
          </a:p>
          <a:p>
            <a:pPr marL="0" indent="0" algn="l">
              <a:lnSpc>
                <a:spcPct val="118000"/>
              </a:lnSpc>
              <a:spcBef>
                <a:spcPts val="0"/>
              </a:spcBef>
              <a:spcAft>
                <a:spcPts val="450"/>
              </a:spcAft>
              <a:buNone/>
              <a:defRPr sz="2250" b="1">
                <a:solidFill>
                  <a:srgbClr val="243B53"/>
                </a:solidFill>
                <a:latin typeface="Arial"/>
                <a:ea typeface="Arial"/>
                <a:cs typeface="Arial"/>
              </a:defRPr>
            </a:pPr>
            <a:r>
              <a:rPr lang="en-US" b="1" dirty="0" sz="2250">
                <a:solidFill>
                  <a:srgbClr val="243B53"/>
                </a:solidFill>
                <a:latin typeface="Arial" pitchFamily="18" charset="0"/>
                <a:ea typeface="Arial"/>
                <a:cs typeface="Arial" pitchFamily="18" charset="0"/>
              </a:rPr>
              <a:t>THE CONCEPT OF ISOTPES, IONIZATION, AND EXCITATION</a:t>
            </a:r>
            <a:endParaRPr sz="2250" b="1">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Isotopes, ionization, and excitation are fundamental concepts in chemistry and physics that describe the structure of atoms and show how they interact with energy.</a:t>
            </a:r>
            <a:endParaRPr sz="2200" b="0">
              <a:solidFill>
                <a:srgbClr val="243B53"/>
              </a:solidFill>
              <a:latin typeface="Arial"/>
              <a:ea typeface="Arial"/>
              <a:cs typeface="Arial"/>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x-none" dirty="0" sz="100" b="0">
              <a:solidFill>
                <a:srgbClr val="243B53"/>
              </a:solidFill>
              <a:latin typeface="Arial" panose="02020603050405020304" pitchFamily="18" charset="0"/>
              <a:ea typeface="Arial"/>
              <a:cs typeface="Arial" panose="02020603050405020304" pitchFamily="18" charset="0"/>
            </a:endParaRPr>
          </a:p>
        </p:txBody>
      </p:sp>
    </p:spTree>
    <p:extLst>
      <p:ext uri="{BB962C8B-B14F-4D97-AF65-F5344CB8AC3E}">
        <p14:creationId val="151864232"/>
      </p:ext>
    </p:extLst>
  </p:cSld>
  <p:clrMapOvr>
    <a:masterClrMapping/>
  </p:clrMapOvr>
  <p:transition spd="slow">
    <p:push dir="u"/>
  </p:transition>
</p:sld>
</file>

<file path=ppt/slides/slide2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00" b="0">
                <a:solidFill>
                  <a:srgbClr val="243B53"/>
                </a:solidFill>
                <a:latin typeface="Arial"/>
                <a:ea typeface="Arial"/>
                <a:cs typeface="Arial"/>
              </a:defRPr>
            </a:pPr>
            <a:r>
              <a:rPr lang="en-US" b="0" dirty="0" smtClean="0" sz="2000">
                <a:solidFill>
                  <a:srgbClr val="243B53"/>
                </a:solidFill>
                <a:latin typeface="Arial" pitchFamily="18" charset="0"/>
                <a:ea typeface="Arial"/>
                <a:cs typeface="Arial" pitchFamily="18" charset="0"/>
              </a:rPr>
              <a:t>1. ISOTOPES </a:t>
            </a:r>
            <a:r>
              <a:rPr lang="en-US" b="0" dirty="0" sz="2000">
                <a:solidFill>
                  <a:srgbClr val="243B53"/>
                </a:solidFill>
                <a:latin typeface="Arial" pitchFamily="18" charset="0"/>
                <a:ea typeface="Arial"/>
                <a:cs typeface="Arial" pitchFamily="18" charset="0"/>
              </a:rPr>
              <a:t>( changes in the nucleus )</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Isotopes are variants of a single chemical element that have same number of protons but a different number of neutrons in their nuclei.</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The core concept: Because they have the same number of protons ( and electrons 0, isotopes of an element share the exact same chemical properties. However, because their neutrons counts differ, they have different physical masses.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Example: carbon – 12 and carbon – 14 are both isotopes of carbon. Both have 6 protons. Carbon – 12 has 6 neutrons ( stable and common ), while carbon – 14 has 8 neutrons ( unstable and radioactive, used in carbon dating ).</a:t>
            </a:r>
            <a:endParaRPr sz="2000" b="0">
              <a:solidFill>
                <a:srgbClr val="243B53"/>
              </a:solidFill>
              <a:latin typeface="Arial"/>
              <a:ea typeface="Arial"/>
              <a:cs typeface="Arial"/>
            </a:endParaRPr>
          </a:p>
        </p:txBody>
      </p:sp>
    </p:spTree>
    <p:extLst>
      <p:ext uri="{BB962C8B-B14F-4D97-AF65-F5344CB8AC3E}">
        <p14:creationId val="3046033143"/>
      </p:ext>
    </p:extLst>
  </p:cSld>
  <p:clrMapOvr>
    <a:masterClrMapping/>
  </p:clrMapOvr>
  <p:transition spd="slow">
    <p:push dir="u"/>
  </p:transition>
</p:sld>
</file>

<file path=ppt/slides/slide2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AutoNum type="arabicPlain" startAt="2"/>
              <a:defRPr sz="2000" b="0">
                <a:solidFill>
                  <a:srgbClr val="243B53"/>
                </a:solidFill>
                <a:latin typeface="Arial"/>
                <a:ea typeface="Arial"/>
                <a:cs typeface="Arial"/>
              </a:defRPr>
            </a:pPr>
            <a:r>
              <a:rPr lang="en-US" b="0" dirty="0" smtClean="0" sz="2000">
                <a:solidFill>
                  <a:srgbClr val="243B53"/>
                </a:solidFill>
                <a:latin typeface="Arial" pitchFamily="18" charset="0"/>
                <a:ea typeface="Arial"/>
                <a:cs typeface="Arial" pitchFamily="18" charset="0"/>
              </a:rPr>
              <a:t>IONIZATION </a:t>
            </a:r>
            <a:r>
              <a:rPr lang="en-US" b="0" dirty="0" sz="2000">
                <a:solidFill>
                  <a:srgbClr val="243B53"/>
                </a:solidFill>
                <a:latin typeface="Arial" pitchFamily="18" charset="0"/>
                <a:ea typeface="Arial"/>
                <a:cs typeface="Arial" pitchFamily="18" charset="0"/>
              </a:rPr>
              <a:t>( loss or gain of electron </a:t>
            </a:r>
            <a:r>
              <a:rPr lang="en-US" b="0" dirty="0" smtClean="0" sz="2000">
                <a:solidFill>
                  <a:srgbClr val="243B53"/>
                </a:solidFill>
                <a:latin typeface="Arial" pitchFamily="18" charset="0"/>
                <a:ea typeface="Arial"/>
                <a:cs typeface="Arial" pitchFamily="18" charset="0"/>
              </a:rPr>
              <a:t>)</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b="0" dirty="0" sz="100">
              <a:solidFill>
                <a:srgbClr val="243B53"/>
              </a:solidFill>
              <a:latin typeface="Arial" pitchFamily="18" charset="0"/>
              <a:ea typeface="Arial"/>
              <a:cs typeface="Arial" pitchFamily="18" charset="0"/>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Ionization is the process by which an atom or molecule gains a net positive or negative charge by gaining or losing electrons.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The core concept: Atoms are naturally neutral because they have an equal number of protons ( + ) and electrons ( - ) . If you add enough energy to an atom, you can completely rip an electron away from it. This  turns the neutral atom into a charged particle called an ion</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Example. When a neutral sodium ( Na ) atom loses an electron, it becomes a positively charged sodium ion ( Na+ ).</a:t>
            </a:r>
            <a:endParaRPr sz="2000" b="0">
              <a:solidFill>
                <a:srgbClr val="243B53"/>
              </a:solidFill>
              <a:latin typeface="Arial"/>
              <a:ea typeface="Arial"/>
              <a:cs typeface="Arial"/>
            </a:endParaRPr>
          </a:p>
          <a:p>
            <a:pPr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2571035554"/>
      </p:ext>
    </p:extLst>
  </p:cSld>
  <p:clrMapOvr>
    <a:masterClrMapping/>
  </p:clrMapOvr>
  <p:transition spd="slow">
    <p:push dir="u"/>
  </p:transition>
</p:sld>
</file>

<file path=ppt/slides/slide2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00" b="0">
                <a:solidFill>
                  <a:srgbClr val="243B53"/>
                </a:solidFill>
                <a:latin typeface="Arial"/>
                <a:ea typeface="Arial"/>
                <a:cs typeface="Arial"/>
              </a:defRPr>
            </a:pPr>
            <a:r>
              <a:rPr lang="en-US" b="0" dirty="0" smtClean="0" sz="2000">
                <a:solidFill>
                  <a:srgbClr val="243B53"/>
                </a:solidFill>
                <a:latin typeface="Arial" pitchFamily="18" charset="0"/>
                <a:ea typeface="Arial"/>
                <a:cs typeface="Arial" pitchFamily="18" charset="0"/>
              </a:rPr>
              <a:t>3  </a:t>
            </a:r>
            <a:r>
              <a:rPr lang="en-US" b="0" dirty="0" sz="2000">
                <a:solidFill>
                  <a:srgbClr val="243B53"/>
                </a:solidFill>
                <a:latin typeface="Arial" pitchFamily="18" charset="0"/>
                <a:ea typeface="Arial"/>
                <a:cs typeface="Arial" pitchFamily="18" charset="0"/>
              </a:rPr>
              <a:t>EXCITATION ( Shifting Electron Energy Levels )</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mtClean="0" sz="2000" b="0">
                <a:solidFill>
                  <a:srgbClr val="243B53"/>
                </a:solidFill>
                <a:latin typeface="Arial" pitchFamily="18" charset="0"/>
                <a:ea typeface="Arial"/>
                <a:cs typeface="Arial" pitchFamily="18" charset="0"/>
              </a:rPr>
              <a:t>Excitation </a:t>
            </a:r>
            <a:r>
              <a:rPr lang="en-US" dirty="0" sz="2000" b="0">
                <a:solidFill>
                  <a:srgbClr val="243B53"/>
                </a:solidFill>
                <a:latin typeface="Arial" pitchFamily="18" charset="0"/>
                <a:ea typeface="Arial"/>
                <a:cs typeface="Arial" pitchFamily="18" charset="0"/>
              </a:rPr>
              <a:t>occurs when an electron inside an atom absorbs energy and jump to a higher energy level ( shell ),without leaving the atom entirely,</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The core concept: Unlike ionization – where the electron is </a:t>
            </a:r>
            <a:r>
              <a:rPr lang="en-US" dirty="0" smtClean="0" sz="2000" b="0">
                <a:solidFill>
                  <a:srgbClr val="243B53"/>
                </a:solidFill>
                <a:latin typeface="Arial" pitchFamily="18" charset="0"/>
                <a:ea typeface="Arial"/>
                <a:cs typeface="Arial" pitchFamily="18" charset="0"/>
              </a:rPr>
              <a:t>permanently </a:t>
            </a:r>
            <a:r>
              <a:rPr lang="en-US" dirty="0" sz="2000" b="0">
                <a:solidFill>
                  <a:srgbClr val="243B53"/>
                </a:solidFill>
                <a:latin typeface="Arial" pitchFamily="18" charset="0"/>
                <a:ea typeface="Arial"/>
                <a:cs typeface="Arial" pitchFamily="18" charset="0"/>
              </a:rPr>
              <a:t>kicked out – excitation keeps the electron bound to the atom. The atom simply enters a temporary unstable “  excited state “”. When the electron eventually falls back down to its original, stable “ground state “, it releases that absorbed energy as a flash of light ( a photon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Example: Neon sign work because of excitation. Electricity pumps energy into the neon gas atoms, </a:t>
            </a:r>
            <a:r>
              <a:rPr lang="en-US" dirty="0" smtClean="0" sz="2000" b="0">
                <a:solidFill>
                  <a:srgbClr val="243B53"/>
                </a:solidFill>
                <a:latin typeface="Arial" pitchFamily="18" charset="0"/>
                <a:ea typeface="Arial"/>
                <a:cs typeface="Arial" pitchFamily="18" charset="0"/>
              </a:rPr>
              <a:t>exiting </a:t>
            </a:r>
            <a:r>
              <a:rPr lang="en-US" dirty="0" sz="2000" b="0">
                <a:solidFill>
                  <a:srgbClr val="243B53"/>
                </a:solidFill>
                <a:latin typeface="Arial" pitchFamily="18" charset="0"/>
                <a:ea typeface="Arial"/>
                <a:cs typeface="Arial" pitchFamily="18" charset="0"/>
              </a:rPr>
              <a:t>their electrons. As those electrons drop back down to their normal level, they emit the glowing colored light you see.</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2426750996"/>
      </p:ext>
    </p:extLst>
  </p:cSld>
  <p:clrMapOvr>
    <a:masterClrMapping/>
  </p:clrMapOvr>
  <p:transition spd="slow">
    <p:push dir="u"/>
  </p:transition>
</p:sld>
</file>

<file path=ppt/slides/slide2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ELECTRICAL CHARGE:</a:t>
            </a:r>
            <a:endParaRPr sz="2050" b="1">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DEFINITION: Electrical charge is a functional physical property of subatomic particles  ( such as a  protons neutrons) that causes them to experience a force when placed in an electric or magnetic field. It is measured in coulombs ( C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Key Rules : Like charges repel each other, and opposite charges attract each </a:t>
            </a:r>
            <a:r>
              <a:rPr lang="en-US" dirty="0" err="1" sz="2000" b="0">
                <a:solidFill>
                  <a:srgbClr val="243B53"/>
                </a:solidFill>
                <a:latin typeface="Arial" pitchFamily="18" charset="0"/>
                <a:ea typeface="Arial"/>
                <a:cs typeface="Arial" pitchFamily="18" charset="0"/>
              </a:rPr>
              <a:t>othe</a:t>
            </a:r>
            <a:r>
              <a:rPr lang="en-US" dirty="0" sz="2000" b="0">
                <a:solidFill>
                  <a:srgbClr val="243B53"/>
                </a:solidFill>
                <a:latin typeface="Arial" pitchFamily="18" charset="0"/>
                <a:ea typeface="Arial"/>
                <a:cs typeface="Arial" pitchFamily="18" charset="0"/>
              </a:rPr>
              <a:t>. Charge is conser</a:t>
            </a:r>
            <a:r>
              <a:rPr lang="en-US" i="1" dirty="0" sz="2000" b="0">
                <a:solidFill>
                  <a:srgbClr val="243B53"/>
                </a:solidFill>
                <a:latin typeface="Arial" pitchFamily="18" charset="0"/>
                <a:ea typeface="Arial"/>
                <a:cs typeface="Arial" pitchFamily="18" charset="0"/>
              </a:rPr>
              <a:t>v</a:t>
            </a:r>
            <a:r>
              <a:rPr lang="en-US" dirty="0" sz="2000" b="0">
                <a:solidFill>
                  <a:srgbClr val="243B53"/>
                </a:solidFill>
                <a:latin typeface="Arial" pitchFamily="18" charset="0"/>
                <a:ea typeface="Arial"/>
                <a:cs typeface="Arial" pitchFamily="18" charset="0"/>
              </a:rPr>
              <a:t>ed and quantized.</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Example: Rubbing a plastic comb against your hair transfers  electrons, giving the comb a negative electric charge that can pick up small pieces of paper</a:t>
            </a:r>
            <a:r>
              <a:rPr lang="en-US" dirty="0" smtClean="0" sz="2000" b="0">
                <a:solidFill>
                  <a:srgbClr val="243B53"/>
                </a:solidFill>
                <a:latin typeface="Arial" pitchFamily="18" charset="0"/>
                <a:ea typeface="Arial"/>
                <a:cs typeface="Arial" pitchFamily="18" charset="0"/>
              </a:rPr>
              <a:t>.</a:t>
            </a:r>
            <a:endParaRPr sz="2000" b="0">
              <a:solidFill>
                <a:srgbClr val="243B53"/>
              </a:solidFill>
              <a:latin typeface="Arial"/>
              <a:ea typeface="Arial"/>
              <a:cs typeface="Arial"/>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ELECTRIC CURRENT:</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Definition: Electric current is the rate of flow of electric </a:t>
            </a:r>
            <a:r>
              <a:rPr lang="en-US" dirty="0" err="1" sz="2000" b="0">
                <a:solidFill>
                  <a:srgbClr val="243B53"/>
                </a:solidFill>
                <a:latin typeface="Arial" pitchFamily="18" charset="0"/>
                <a:ea typeface="Arial"/>
                <a:cs typeface="Arial" pitchFamily="18" charset="0"/>
              </a:rPr>
              <a:t>chargepast</a:t>
            </a:r>
            <a:r>
              <a:rPr lang="en-US" dirty="0" sz="2000" b="0">
                <a:solidFill>
                  <a:srgbClr val="243B53"/>
                </a:solidFill>
                <a:latin typeface="Arial" pitchFamily="18" charset="0"/>
                <a:ea typeface="Arial"/>
                <a:cs typeface="Arial" pitchFamily="18" charset="0"/>
              </a:rPr>
              <a:t> a giving point in a circuit. It is measured in Amperes ( A ), where 1A = 1 c/s.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Key Rules: current  flows through a closed circuit from a higher potential ( Positive terminal ) to a low potential ( Negative terminal )</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2648132492"/>
      </p:ext>
    </p:extLst>
  </p:cSld>
  <p:clrMapOvr>
    <a:masterClrMapping/>
  </p:clrMapOvr>
  <p:transition spd="slow">
    <p:push dir="u"/>
  </p:transition>
</p:sld>
</file>

<file path=ppt/slides/slide2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Example: The stream of electrons </a:t>
            </a:r>
            <a:r>
              <a:rPr lang="en-US" dirty="0" smtClean="0" sz="2000" b="0">
                <a:solidFill>
                  <a:srgbClr val="243B53"/>
                </a:solidFill>
                <a:latin typeface="Arial" pitchFamily="18" charset="0"/>
                <a:ea typeface="Arial"/>
                <a:cs typeface="Arial" pitchFamily="18" charset="0"/>
              </a:rPr>
              <a:t>flowing </a:t>
            </a:r>
            <a:r>
              <a:rPr lang="en-US" dirty="0" sz="2000" b="0">
                <a:solidFill>
                  <a:srgbClr val="243B53"/>
                </a:solidFill>
                <a:latin typeface="Arial" pitchFamily="18" charset="0"/>
                <a:ea typeface="Arial"/>
                <a:cs typeface="Arial" pitchFamily="18" charset="0"/>
              </a:rPr>
              <a:t>through a copper wires inside a wall to turn on a house hold light bulb.</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r>
              <a:rPr lang="en-US" dirty="0" sz="100" b="0">
                <a:solidFill>
                  <a:srgbClr val="243B53"/>
                </a:solidFill>
                <a:latin typeface="Arial" pitchFamily="18" charset="0"/>
                <a:ea typeface="Arial"/>
                <a:cs typeface="Arial" pitchFamily="18" charset="0"/>
              </a:rPr>
              <a:t>    	</a:t>
            </a:r>
            <a:endParaRPr sz="10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b="0" dirty="0" sz="2000">
                <a:solidFill>
                  <a:srgbClr val="243B53"/>
                </a:solidFill>
                <a:latin typeface="Arial" pitchFamily="18" charset="0"/>
                <a:ea typeface="Arial"/>
                <a:cs typeface="Arial" pitchFamily="18" charset="0"/>
              </a:rPr>
              <a:t>ELECTRIC POTENTIAL ( voltage )</a:t>
            </a:r>
            <a:r>
              <a:rPr lang="en-US" dirty="0" sz="2000" b="0">
                <a:solidFill>
                  <a:srgbClr val="243B53"/>
                </a:solidFill>
                <a:latin typeface="Arial" pitchFamily="18" charset="0"/>
                <a:ea typeface="Arial"/>
                <a:cs typeface="Arial" pitchFamily="18" charset="0"/>
              </a:rPr>
              <a:t>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Definition: Electrical potential ( Often called voltage ) is the amount of electric potential energy per unit charge at a point in an electric field , or the work done to move a unit charge between two points . It is measured in volts ( V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Key Rules: It acts as the “” Electrical pressure “” that pushes free charges through a conductor.</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Example: A standard 1.5- volt AA battery providing the potential difference needed to run a TV remote control.</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3445857488"/>
      </p:ext>
    </p:extLst>
  </p:cSld>
  <p:clrMapOvr>
    <a:masterClrMapping/>
  </p:clrMapOvr>
  <p:transition spd="slow">
    <p:push dir="u"/>
  </p:transition>
</p:sld>
</file>

<file path=ppt/slides/slide2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CAPACITANCE:</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Definition: The ability of a component or circuit to store electrical energy in the form of an electrical charge measured in Farads ( F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Example: A camera flash unit uses a capacitor to store charge rapidly and then release it all at once to produce a bright , instantaneous burst of light</a:t>
            </a:r>
            <a:r>
              <a:rPr lang="en-US" dirty="0" smtClean="0" sz="2000" b="0">
                <a:solidFill>
                  <a:srgbClr val="243B53"/>
                </a:solidFill>
                <a:latin typeface="Arial" pitchFamily="18" charset="0"/>
                <a:ea typeface="Arial"/>
                <a:cs typeface="Arial" pitchFamily="18" charset="0"/>
              </a:rPr>
              <a:t>.</a:t>
            </a:r>
            <a:endParaRPr sz="2000" b="0">
              <a:solidFill>
                <a:srgbClr val="243B53"/>
              </a:solidFill>
              <a:latin typeface="Arial"/>
              <a:ea typeface="Arial"/>
              <a:cs typeface="Arial"/>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CAPACITORS:</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Definition: Passive electric components made of two conductive plates separated by an insulating material ( a dielectric ), designed to temporarily store and discharge electrical energy.</a:t>
            </a:r>
            <a:endParaRPr sz="2000" b="0">
              <a:solidFill>
                <a:srgbClr val="243B53"/>
              </a:solidFill>
              <a:latin typeface="Arial"/>
              <a:ea typeface="Arial"/>
              <a:cs typeface="Arial"/>
            </a:endParaRPr>
          </a:p>
          <a:p>
            <a:pPr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4164573406"/>
      </p:ext>
    </p:extLst>
  </p:cSld>
  <p:clrMapOvr>
    <a:masterClrMapping/>
  </p:clrMapOvr>
  <p:transition spd="slow">
    <p:push dir="u"/>
  </p:transition>
</p:sld>
</file>

<file path=ppt/slides/slide2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ELECTROMAGNETIC </a:t>
            </a:r>
            <a:r>
              <a:rPr lang="en-US" b="1" dirty="0" smtClean="0" sz="2050">
                <a:solidFill>
                  <a:srgbClr val="243B53"/>
                </a:solidFill>
                <a:latin typeface="Arial" pitchFamily="18" charset="0"/>
                <a:ea typeface="Arial"/>
                <a:cs typeface="Arial" pitchFamily="18" charset="0"/>
              </a:rPr>
              <a:t>INDUCTION</a:t>
            </a:r>
            <a:endParaRPr sz="2050" b="1">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b="0" dirty="0" sz="100">
              <a:solidFill>
                <a:srgbClr val="243B53"/>
              </a:solidFill>
              <a:latin typeface="Arial" pitchFamily="18" charset="0"/>
              <a:ea typeface="Arial"/>
              <a:cs typeface="Arial" pitchFamily="18" charset="0"/>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Definition    : Electromagnetic induction is the process of generating an electromotive force ( Voltage )and an electric current in a conductor by exposing </a:t>
            </a:r>
            <a:r>
              <a:rPr lang="en-US" dirty="0" smtClean="0" sz="2000" b="0">
                <a:solidFill>
                  <a:srgbClr val="243B53"/>
                </a:solidFill>
                <a:latin typeface="Arial" pitchFamily="18" charset="0"/>
                <a:ea typeface="Arial"/>
                <a:cs typeface="Arial" pitchFamily="18" charset="0"/>
              </a:rPr>
              <a:t>into </a:t>
            </a:r>
            <a:r>
              <a:rPr lang="en-US" dirty="0" sz="2000" b="0">
                <a:solidFill>
                  <a:srgbClr val="243B53"/>
                </a:solidFill>
                <a:latin typeface="Arial" pitchFamily="18" charset="0"/>
                <a:ea typeface="Arial"/>
                <a:cs typeface="Arial" pitchFamily="18" charset="0"/>
              </a:rPr>
              <a:t>a changing magnetic field or moving it through a magnetic field.</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Key Rules:  First discovered by </a:t>
            </a:r>
            <a:r>
              <a:rPr lang="en-US" dirty="0" smtClean="0" sz="2000" b="0">
                <a:solidFill>
                  <a:srgbClr val="243B53"/>
                </a:solidFill>
                <a:latin typeface="Arial" pitchFamily="18" charset="0"/>
                <a:ea typeface="Arial"/>
                <a:cs typeface="Arial" pitchFamily="18" charset="0"/>
              </a:rPr>
              <a:t>Michael </a:t>
            </a:r>
            <a:r>
              <a:rPr lang="en-US" dirty="0" sz="2000" b="0">
                <a:solidFill>
                  <a:srgbClr val="243B53"/>
                </a:solidFill>
                <a:latin typeface="Arial" pitchFamily="18" charset="0"/>
                <a:ea typeface="Arial"/>
                <a:cs typeface="Arial" pitchFamily="18" charset="0"/>
              </a:rPr>
              <a:t>Faraday , the induced voltage depends on the rate of change </a:t>
            </a:r>
            <a:r>
              <a:rPr lang="en-US" dirty="0" smtClean="0" sz="2000" b="0">
                <a:solidFill>
                  <a:srgbClr val="243B53"/>
                </a:solidFill>
                <a:latin typeface="Arial" pitchFamily="18" charset="0"/>
                <a:ea typeface="Arial"/>
                <a:cs typeface="Arial" pitchFamily="18" charset="0"/>
              </a:rPr>
              <a:t>of </a:t>
            </a:r>
            <a:r>
              <a:rPr lang="en-US" dirty="0" sz="2000" b="0">
                <a:solidFill>
                  <a:srgbClr val="243B53"/>
                </a:solidFill>
                <a:latin typeface="Arial" pitchFamily="18" charset="0"/>
                <a:ea typeface="Arial"/>
                <a:cs typeface="Arial" pitchFamily="18" charset="0"/>
              </a:rPr>
              <a:t>magnetic flux and the number of turns in a coil ( Faraday”s Law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Example: A bicycle dynamo or a large power plant generator where spinning magnets inside wire coil generate AC electricity for homes</a:t>
            </a:r>
            <a:r>
              <a:rPr lang="en-US" dirty="0" smtClean="0" sz="2000" b="0">
                <a:solidFill>
                  <a:srgbClr val="243B53"/>
                </a:solidFill>
                <a:latin typeface="Arial" pitchFamily="18" charset="0"/>
                <a:ea typeface="Arial"/>
                <a:cs typeface="Arial" pitchFamily="18" charset="0"/>
              </a:rPr>
              <a:t>.</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a:ea typeface="Arial"/>
                <a:cs typeface="Arial"/>
              </a:rPr>
              <a:t>electrolytic capacitor used inside a computer power supply to smooth out voltage fluctuations filter electrical noise,</a:t>
            </a:r>
            <a:endParaRPr sz="2000" b="0">
              <a:solidFill>
                <a:srgbClr val="243B53"/>
              </a:solidFill>
              <a:latin typeface="Arial"/>
              <a:ea typeface="Arial"/>
              <a:cs typeface="Arial"/>
            </a:endParaRPr>
          </a:p>
          <a:p>
            <a:pPr lvl="0"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655963723"/>
      </p:ext>
    </p:extLst>
  </p:cSld>
  <p:clrMapOvr>
    <a:masterClrMapping/>
  </p:clrMapOvr>
  <p:transition spd="slow">
    <p:push dir="u"/>
  </p:transition>
</p:sld>
</file>

<file path=ppt/slides/slide2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250" b="1">
                <a:solidFill>
                  <a:srgbClr val="243B53"/>
                </a:solidFill>
                <a:latin typeface="Arial"/>
                <a:ea typeface="Arial"/>
                <a:cs typeface="Arial"/>
              </a:defRPr>
            </a:pPr>
            <a:r>
              <a:rPr lang="en-US" b="1" dirty="0" smtClean="0" sz="2250">
                <a:solidFill>
                  <a:srgbClr val="243B53"/>
                </a:solidFill>
                <a:latin typeface="Arial" pitchFamily="18" charset="0"/>
                <a:ea typeface="Arial"/>
                <a:cs typeface="Arial" pitchFamily="18" charset="0"/>
              </a:rPr>
              <a:t>RESISTANCE</a:t>
            </a:r>
            <a:endParaRPr lang="en-US" b="1" dirty="0" sz="2250">
              <a:solidFill>
                <a:srgbClr val="243B53"/>
              </a:solidFill>
              <a:latin typeface="Arial" pitchFamily="18" charset="0"/>
              <a:ea typeface="Arial"/>
              <a:cs typeface="Arial" pitchFamily="18" charset="0"/>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Definition: The opposition offered by a material or component to the flow of electric current, measured in </a:t>
            </a:r>
            <a:r>
              <a:rPr lang="en-US" dirty="0" err="1" sz="2200" b="0">
                <a:solidFill>
                  <a:srgbClr val="243B53"/>
                </a:solidFill>
                <a:latin typeface="Arial" pitchFamily="18" charset="0"/>
                <a:ea typeface="Arial"/>
                <a:cs typeface="Arial" pitchFamily="18" charset="0"/>
              </a:rPr>
              <a:t>ohm”s</a:t>
            </a:r>
            <a:r>
              <a:rPr lang="en-US" dirty="0" sz="2200" b="0">
                <a:solidFill>
                  <a:srgbClr val="243B53"/>
                </a:solidFill>
                <a:latin typeface="Arial" pitchFamily="18" charset="0"/>
                <a:ea typeface="Arial"/>
                <a:cs typeface="Arial" pitchFamily="18" charset="0"/>
              </a:rPr>
              <a:t> </a:t>
            </a:r>
            <a:endParaRPr lang="en-US" dirty="0" sz="2200" b="0">
              <a:solidFill>
                <a:srgbClr val="243B53"/>
              </a:solidFill>
              <a:latin typeface="Arial" pitchFamily="18" charset="0"/>
              <a:ea typeface="Arial"/>
              <a:cs typeface="Arial" pitchFamily="18" charset="0"/>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Example: The tungsten filament inside a traditional incandescent light bulb; it resists the flow of electrons so heavily that it heats up and glows to produce light.</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3666335985"/>
      </p:ext>
    </p:extLst>
  </p:cSld>
  <p:clrMapOvr>
    <a:masterClrMapping/>
  </p:clrMapOvr>
  <p:transition spd="slow">
    <p:push dir="u"/>
  </p:transition>
</p:sld>
</file>

<file path=ppt/slides/slide30.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00" b="0">
                <a:solidFill>
                  <a:srgbClr val="243B53"/>
                </a:solidFill>
                <a:latin typeface="Arial"/>
                <a:ea typeface="Arial"/>
                <a:cs typeface="Arial"/>
              </a:defRPr>
            </a:pPr>
            <a:r>
              <a:rPr lang="en-US" b="0" dirty="0" err="1" sz="2000">
                <a:solidFill>
                  <a:srgbClr val="243B53"/>
                </a:solidFill>
                <a:latin typeface="Arial" pitchFamily="18" charset="0"/>
                <a:ea typeface="Arial"/>
                <a:cs typeface="Arial" pitchFamily="18" charset="0"/>
              </a:rPr>
              <a:t>Ohm”s</a:t>
            </a:r>
            <a:r>
              <a:rPr lang="en-US" b="0" dirty="0" sz="2000">
                <a:solidFill>
                  <a:srgbClr val="243B53"/>
                </a:solidFill>
                <a:latin typeface="Arial" pitchFamily="18" charset="0"/>
                <a:ea typeface="Arial"/>
                <a:cs typeface="Arial" pitchFamily="18" charset="0"/>
              </a:rPr>
              <a:t> Law</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Definition: A fundamental principle stating that the voltage  ( V ) across a conductor is directly proportional to the current ( I ) flowing through it, multiplied by the resistance</a:t>
            </a:r>
            <a:r>
              <a:rPr lang="en-US" dirty="0" smtClean="0" sz="2000" b="0">
                <a:solidFill>
                  <a:srgbClr val="243B53"/>
                </a:solidFill>
                <a:latin typeface="Arial" pitchFamily="18" charset="0"/>
                <a:ea typeface="Arial"/>
                <a:cs typeface="Arial" pitchFamily="18" charset="0"/>
              </a:rPr>
              <a:t>:</a:t>
            </a:r>
            <a:endParaRPr sz="2000" b="0">
              <a:solidFill>
                <a:srgbClr val="243B53"/>
              </a:solidFill>
              <a:latin typeface="Arial"/>
              <a:ea typeface="Arial"/>
              <a:cs typeface="Arial"/>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Formula:   V = I * R  .( Also written as I = V/R or R = V/I </a:t>
            </a:r>
            <a:r>
              <a:rPr lang="en-US" dirty="0" smtClean="0" sz="2000" b="0">
                <a:solidFill>
                  <a:srgbClr val="243B53"/>
                </a:solidFill>
                <a:latin typeface="Arial" pitchFamily="18" charset="0"/>
                <a:ea typeface="Arial"/>
                <a:cs typeface="Arial" pitchFamily="18" charset="0"/>
              </a:rPr>
              <a:t>)</a:t>
            </a:r>
            <a:endParaRPr sz="2000" b="0">
              <a:solidFill>
                <a:srgbClr val="243B53"/>
              </a:solidFill>
              <a:latin typeface="Arial"/>
              <a:ea typeface="Arial"/>
              <a:cs typeface="Arial"/>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Example: If you connect a 12 – volt </a:t>
            </a:r>
            <a:r>
              <a:rPr lang="en-US" dirty="0" err="1" sz="2000" b="0">
                <a:solidFill>
                  <a:srgbClr val="243B53"/>
                </a:solidFill>
                <a:latin typeface="Arial" pitchFamily="18" charset="0"/>
                <a:ea typeface="Arial"/>
                <a:cs typeface="Arial" pitchFamily="18" charset="0"/>
              </a:rPr>
              <a:t>battry</a:t>
            </a:r>
            <a:r>
              <a:rPr lang="en-US" dirty="0" sz="2000" b="0">
                <a:solidFill>
                  <a:srgbClr val="243B53"/>
                </a:solidFill>
                <a:latin typeface="Arial" pitchFamily="18" charset="0"/>
                <a:ea typeface="Arial"/>
                <a:cs typeface="Arial" pitchFamily="18" charset="0"/>
              </a:rPr>
              <a:t> ( V = 12V ) to a circuit with a 4 </a:t>
            </a:r>
            <a:r>
              <a:rPr lang="en-US" dirty="0" err="1" sz="2000" b="0">
                <a:solidFill>
                  <a:srgbClr val="243B53"/>
                </a:solidFill>
                <a:latin typeface="Arial" pitchFamily="18" charset="0"/>
                <a:ea typeface="Arial"/>
                <a:cs typeface="Arial" pitchFamily="18" charset="0"/>
              </a:rPr>
              <a:t>ohm”s</a:t>
            </a:r>
            <a:r>
              <a:rPr lang="en-US" dirty="0" sz="2000" b="0">
                <a:solidFill>
                  <a:srgbClr val="243B53"/>
                </a:solidFill>
                <a:latin typeface="Arial" pitchFamily="18" charset="0"/>
                <a:ea typeface="Arial"/>
                <a:cs typeface="Arial" pitchFamily="18" charset="0"/>
              </a:rPr>
              <a:t> resistance ( R = 4ohm”s ) the current ( I ) flowing through the circuit will be I = 12V/ 4 </a:t>
            </a:r>
            <a:r>
              <a:rPr lang="en-US" dirty="0" err="1" sz="2000" b="0">
                <a:solidFill>
                  <a:srgbClr val="243B53"/>
                </a:solidFill>
                <a:latin typeface="Arial" pitchFamily="18" charset="0"/>
                <a:ea typeface="Arial"/>
                <a:cs typeface="Arial" pitchFamily="18" charset="0"/>
              </a:rPr>
              <a:t>ohm”S</a:t>
            </a:r>
            <a:r>
              <a:rPr lang="en-US" dirty="0" sz="2000" b="0">
                <a:solidFill>
                  <a:srgbClr val="243B53"/>
                </a:solidFill>
                <a:latin typeface="Arial" pitchFamily="18" charset="0"/>
                <a:ea typeface="Arial"/>
                <a:cs typeface="Arial" pitchFamily="18" charset="0"/>
              </a:rPr>
              <a:t> = 3amps</a:t>
            </a:r>
            <a:r>
              <a:rPr lang="en-US" dirty="0" smtClean="0" sz="2000" b="0">
                <a:solidFill>
                  <a:srgbClr val="243B53"/>
                </a:solidFill>
                <a:latin typeface="Arial" pitchFamily="18" charset="0"/>
                <a:ea typeface="Arial"/>
                <a:cs typeface="Arial" pitchFamily="18" charset="0"/>
              </a:rPr>
              <a:t>.</a:t>
            </a:r>
            <a:endParaRPr sz="2000" b="0">
              <a:solidFill>
                <a:srgbClr val="243B53"/>
              </a:solidFill>
              <a:latin typeface="Arial"/>
              <a:ea typeface="Arial"/>
              <a:cs typeface="Arial"/>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To calculate total resistance ( </a:t>
            </a:r>
            <a:r>
              <a:rPr lang="en-US" dirty="0" err="1" sz="2000" b="0">
                <a:solidFill>
                  <a:srgbClr val="243B53"/>
                </a:solidFill>
                <a:latin typeface="Arial" pitchFamily="18" charset="0"/>
                <a:ea typeface="Arial"/>
                <a:cs typeface="Arial" pitchFamily="18" charset="0"/>
              </a:rPr>
              <a:t>Rtotal</a:t>
            </a:r>
            <a:r>
              <a:rPr lang="en-US" dirty="0" sz="2000" b="0">
                <a:solidFill>
                  <a:srgbClr val="243B53"/>
                </a:solidFill>
                <a:latin typeface="Arial" pitchFamily="18" charset="0"/>
                <a:ea typeface="Arial"/>
                <a:cs typeface="Arial" pitchFamily="18" charset="0"/>
              </a:rPr>
              <a:t> ) , use simple algebraic formulas depending on whether the component are wired in a series or parallel configuration.</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444856040"/>
      </p:ext>
    </p:extLst>
  </p:cSld>
  <p:clrMapOvr>
    <a:masterClrMapping/>
  </p:clrMapOvr>
  <p:transition spd="slow">
    <p:push dir="u"/>
  </p:transition>
</p:sld>
</file>

<file path=ppt/slides/slide3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lvl="0" indent="0" algn="l">
              <a:lnSpc>
                <a:spcPct val="118000"/>
              </a:lnSpc>
              <a:spcBef>
                <a:spcPts val="0"/>
              </a:spcBef>
              <a:spcAft>
                <a:spcPts val="450"/>
              </a:spcAft>
              <a:buNone/>
              <a:defRPr sz="2200" b="0">
                <a:solidFill>
                  <a:srgbClr val="243B53"/>
                </a:solidFill>
                <a:latin typeface="Arial"/>
                <a:ea typeface="Arial"/>
                <a:cs typeface="Arial"/>
              </a:defRPr>
            </a:pPr>
            <a:r>
              <a:rPr lang="en-US" b="0" dirty="0" smtClean="0" sz="2200">
                <a:solidFill>
                  <a:srgbClr val="243B53"/>
                </a:solidFill>
                <a:latin typeface="Arial" pitchFamily="18" charset="0"/>
                <a:ea typeface="Arial"/>
                <a:cs typeface="Arial" pitchFamily="18" charset="0"/>
              </a:rPr>
              <a:t>1. Resistance </a:t>
            </a:r>
            <a:r>
              <a:rPr lang="en-US" b="0" dirty="0" sz="2200">
                <a:solidFill>
                  <a:srgbClr val="243B53"/>
                </a:solidFill>
                <a:latin typeface="Arial" pitchFamily="18" charset="0"/>
                <a:ea typeface="Arial"/>
                <a:cs typeface="Arial" pitchFamily="18" charset="0"/>
              </a:rPr>
              <a:t>in series </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Rules: current flows sequentially through a single path. So you add the individual resistance values together</a:t>
            </a:r>
            <a:r>
              <a:rPr lang="en-US" dirty="0" smtClean="0" sz="2200" b="0">
                <a:solidFill>
                  <a:srgbClr val="243B53"/>
                </a:solidFill>
                <a:latin typeface="Arial" pitchFamily="18" charset="0"/>
                <a:ea typeface="Arial"/>
                <a:cs typeface="Arial" pitchFamily="18" charset="0"/>
              </a:rPr>
              <a:t>.</a:t>
            </a:r>
            <a:endParaRPr sz="2200" b="0">
              <a:solidFill>
                <a:srgbClr val="243B53"/>
              </a:solidFill>
              <a:latin typeface="Arial"/>
              <a:ea typeface="Arial"/>
              <a:cs typeface="Arial"/>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Formula: </a:t>
            </a:r>
            <a:r>
              <a:rPr lang="en-US" dirty="0" err="1" sz="2200" b="0">
                <a:solidFill>
                  <a:srgbClr val="243B53"/>
                </a:solidFill>
                <a:latin typeface="Arial" pitchFamily="18" charset="0"/>
                <a:ea typeface="Arial"/>
                <a:cs typeface="Arial" pitchFamily="18" charset="0"/>
              </a:rPr>
              <a:t>Rtotal</a:t>
            </a:r>
            <a:r>
              <a:rPr lang="en-US" dirty="0" sz="2200" b="0">
                <a:solidFill>
                  <a:srgbClr val="243B53"/>
                </a:solidFill>
                <a:latin typeface="Arial" pitchFamily="18" charset="0"/>
                <a:ea typeface="Arial"/>
                <a:cs typeface="Arial" pitchFamily="18" charset="0"/>
              </a:rPr>
              <a:t> = R1 + R2 + R3 + …..; example: you have three resistors in series with the following values: R1 = 100 </a:t>
            </a:r>
            <a:r>
              <a:rPr lang="en-US" dirty="0" err="1" sz="2200" b="0">
                <a:solidFill>
                  <a:srgbClr val="243B53"/>
                </a:solidFill>
                <a:latin typeface="Arial" pitchFamily="18" charset="0"/>
                <a:ea typeface="Arial"/>
                <a:cs typeface="Arial" pitchFamily="18" charset="0"/>
              </a:rPr>
              <a:t>ohm””s</a:t>
            </a:r>
            <a:r>
              <a:rPr lang="en-US" dirty="0" sz="2200" b="0">
                <a:solidFill>
                  <a:srgbClr val="243B53"/>
                </a:solidFill>
                <a:latin typeface="Arial" pitchFamily="18" charset="0"/>
                <a:ea typeface="Arial"/>
                <a:cs typeface="Arial" pitchFamily="18" charset="0"/>
              </a:rPr>
              <a:t> , R2 = 20 </a:t>
            </a:r>
            <a:r>
              <a:rPr lang="en-US" dirty="0" err="1" sz="2200" b="0">
                <a:solidFill>
                  <a:srgbClr val="243B53"/>
                </a:solidFill>
                <a:latin typeface="Arial" pitchFamily="18" charset="0"/>
                <a:ea typeface="Arial"/>
                <a:cs typeface="Arial" pitchFamily="18" charset="0"/>
              </a:rPr>
              <a:t>ohm”s</a:t>
            </a:r>
            <a:r>
              <a:rPr lang="en-US" dirty="0" sz="2200" b="0">
                <a:solidFill>
                  <a:srgbClr val="243B53"/>
                </a:solidFill>
                <a:latin typeface="Arial" pitchFamily="18" charset="0"/>
                <a:ea typeface="Arial"/>
                <a:cs typeface="Arial" pitchFamily="18" charset="0"/>
              </a:rPr>
              <a:t> ,and R3 = 30 </a:t>
            </a:r>
            <a:r>
              <a:rPr lang="en-US" dirty="0" err="1" sz="2200" b="0">
                <a:solidFill>
                  <a:srgbClr val="243B53"/>
                </a:solidFill>
                <a:latin typeface="Arial" pitchFamily="18" charset="0"/>
                <a:ea typeface="Arial"/>
                <a:cs typeface="Arial" pitchFamily="18" charset="0"/>
              </a:rPr>
              <a:t>ohm”s</a:t>
            </a:r>
            <a:r>
              <a:rPr lang="en-US" dirty="0" smtClean="0" sz="2200" b="0">
                <a:solidFill>
                  <a:srgbClr val="243B53"/>
                </a:solidFill>
                <a:latin typeface="Arial" pitchFamily="18" charset="0"/>
                <a:ea typeface="Arial"/>
                <a:cs typeface="Arial" pitchFamily="18" charset="0"/>
              </a:rPr>
              <a:t>.</a:t>
            </a:r>
            <a:endParaRPr sz="2200" b="0">
              <a:solidFill>
                <a:srgbClr val="243B53"/>
              </a:solidFill>
              <a:latin typeface="Arial"/>
              <a:ea typeface="Arial"/>
              <a:cs typeface="Arial"/>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err="1" sz="2200" b="0">
                <a:solidFill>
                  <a:srgbClr val="243B53"/>
                </a:solidFill>
                <a:latin typeface="Arial" pitchFamily="18" charset="0"/>
                <a:ea typeface="Arial"/>
                <a:cs typeface="Arial" pitchFamily="18" charset="0"/>
              </a:rPr>
              <a:t>Rtotal</a:t>
            </a:r>
            <a:r>
              <a:rPr lang="en-US" dirty="0" sz="2200" b="0">
                <a:solidFill>
                  <a:srgbClr val="243B53"/>
                </a:solidFill>
                <a:latin typeface="Arial" pitchFamily="18" charset="0"/>
                <a:ea typeface="Arial"/>
                <a:cs typeface="Arial" pitchFamily="18" charset="0"/>
              </a:rPr>
              <a:t> =( 100 + 20 + 30 ) </a:t>
            </a:r>
            <a:r>
              <a:rPr lang="en-US" dirty="0" err="1" sz="2200" b="0">
                <a:solidFill>
                  <a:srgbClr val="243B53"/>
                </a:solidFill>
                <a:latin typeface="Arial" pitchFamily="18" charset="0"/>
                <a:ea typeface="Arial"/>
                <a:cs typeface="Arial" pitchFamily="18" charset="0"/>
              </a:rPr>
              <a:t>ohm””s</a:t>
            </a:r>
            <a:r>
              <a:rPr lang="en-US" dirty="0" sz="2200" b="0">
                <a:solidFill>
                  <a:srgbClr val="243B53"/>
                </a:solidFill>
                <a:latin typeface="Arial" pitchFamily="18" charset="0"/>
                <a:ea typeface="Arial"/>
                <a:cs typeface="Arial" pitchFamily="18" charset="0"/>
              </a:rPr>
              <a:t>  = 150 </a:t>
            </a:r>
            <a:r>
              <a:rPr lang="en-US" dirty="0" err="1" smtClean="0" sz="2200" b="0">
                <a:solidFill>
                  <a:srgbClr val="243B53"/>
                </a:solidFill>
                <a:latin typeface="Arial" pitchFamily="18" charset="0"/>
                <a:ea typeface="Arial"/>
                <a:cs typeface="Arial" pitchFamily="18" charset="0"/>
              </a:rPr>
              <a:t>ohm”s</a:t>
            </a:r>
            <a:endParaRPr lang="en-US" dirty="0" smtClean="0" sz="2200" b="0">
              <a:solidFill>
                <a:srgbClr val="243B53"/>
              </a:solidFill>
              <a:latin typeface="Arial" pitchFamily="18" charset="0"/>
              <a:ea typeface="Arial"/>
              <a:cs typeface="Arial"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Key takeaway: The total resistance in series is always greater than the largest individual resistance </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3588999002"/>
      </p:ext>
    </p:extLst>
  </p:cSld>
  <p:clrMapOvr>
    <a:masterClrMapping/>
  </p:clrMapOvr>
  <p:transition spd="slow">
    <p:push dir="u"/>
  </p:transition>
</p:sld>
</file>

<file path=ppt/slides/slide3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lvl="0" indent="0" algn="l">
              <a:lnSpc>
                <a:spcPct val="118000"/>
              </a:lnSpc>
              <a:spcBef>
                <a:spcPts val="0"/>
              </a:spcBef>
              <a:spcAft>
                <a:spcPts val="450"/>
              </a:spcAft>
              <a:buNone/>
              <a:defRPr sz="2000" b="0">
                <a:solidFill>
                  <a:srgbClr val="243B53"/>
                </a:solidFill>
                <a:latin typeface="Arial"/>
                <a:ea typeface="Arial"/>
                <a:cs typeface="Arial"/>
              </a:defRPr>
            </a:pPr>
            <a:r>
              <a:rPr lang="en-US" b="0" dirty="0" smtClean="0" sz="2000">
                <a:solidFill>
                  <a:srgbClr val="243B53"/>
                </a:solidFill>
                <a:latin typeface="Arial"/>
                <a:ea typeface="Arial"/>
                <a:cs typeface="Arial"/>
              </a:rPr>
              <a:t>1. Resistance </a:t>
            </a:r>
            <a:r>
              <a:rPr lang="en-US" b="0" dirty="0" sz="2000">
                <a:solidFill>
                  <a:srgbClr val="243B53"/>
                </a:solidFill>
                <a:latin typeface="Arial"/>
                <a:ea typeface="Arial"/>
                <a:cs typeface="Arial"/>
              </a:rPr>
              <a:t>in Parallel</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a:ea typeface="Arial"/>
                <a:cs typeface="Arial"/>
              </a:rPr>
              <a:t>Rule: components share the same voltage nodes and the current splits across multiple branches. You sum the reciprocals of  the individual  resistances</a:t>
            </a:r>
            <a:r>
              <a:rPr lang="en-US" dirty="0" smtClean="0" sz="2000" b="0">
                <a:solidFill>
                  <a:srgbClr val="243B53"/>
                </a:solidFill>
                <a:latin typeface="Arial"/>
                <a:ea typeface="Arial"/>
                <a:cs typeface="Arial"/>
              </a:rPr>
              <a:t>.</a:t>
            </a:r>
            <a:endParaRPr sz="2000" b="0">
              <a:solidFill>
                <a:srgbClr val="243B53"/>
              </a:solidFill>
              <a:latin typeface="Arial"/>
              <a:ea typeface="Arial"/>
              <a:cs typeface="Arial"/>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err="1" sz="2000" b="0">
                <a:solidFill>
                  <a:srgbClr val="243B53"/>
                </a:solidFill>
                <a:latin typeface="Arial"/>
                <a:ea typeface="Arial"/>
                <a:cs typeface="Arial"/>
              </a:rPr>
              <a:t>Fomula</a:t>
            </a:r>
            <a:r>
              <a:rPr lang="en-US" dirty="0" sz="2000" b="0">
                <a:solidFill>
                  <a:srgbClr val="243B53"/>
                </a:solidFill>
                <a:latin typeface="Arial"/>
                <a:ea typeface="Arial"/>
                <a:cs typeface="Arial"/>
              </a:rPr>
              <a:t>:  1 / </a:t>
            </a:r>
            <a:r>
              <a:rPr lang="en-US" dirty="0" err="1" sz="2000" b="0">
                <a:solidFill>
                  <a:srgbClr val="243B53"/>
                </a:solidFill>
                <a:latin typeface="Arial"/>
                <a:ea typeface="Arial"/>
                <a:cs typeface="Arial"/>
              </a:rPr>
              <a:t>Rtotal</a:t>
            </a:r>
            <a:r>
              <a:rPr lang="en-US" dirty="0" sz="2000" b="0">
                <a:solidFill>
                  <a:srgbClr val="243B53"/>
                </a:solidFill>
                <a:latin typeface="Arial"/>
                <a:ea typeface="Arial"/>
                <a:cs typeface="Arial"/>
              </a:rPr>
              <a:t> = 1/R1 + 1/R2 + 1/R3 + ……  for just two resistors , use the simplified product – over – sum rule :  </a:t>
            </a:r>
            <a:r>
              <a:rPr lang="en-US" dirty="0" err="1" sz="2000" b="0">
                <a:solidFill>
                  <a:srgbClr val="243B53"/>
                </a:solidFill>
                <a:latin typeface="Arial"/>
                <a:ea typeface="Arial"/>
                <a:cs typeface="Arial"/>
              </a:rPr>
              <a:t>Rtotal</a:t>
            </a:r>
            <a:r>
              <a:rPr lang="en-US" dirty="0" sz="2000" b="0">
                <a:solidFill>
                  <a:srgbClr val="243B53"/>
                </a:solidFill>
                <a:latin typeface="Arial"/>
                <a:ea typeface="Arial"/>
                <a:cs typeface="Arial"/>
              </a:rPr>
              <a:t> = R1 * R2/ R1 + </a:t>
            </a:r>
            <a:r>
              <a:rPr lang="en-US" dirty="0" smtClean="0" sz="2000" b="0">
                <a:solidFill>
                  <a:srgbClr val="243B53"/>
                </a:solidFill>
                <a:latin typeface="Arial"/>
                <a:ea typeface="Arial"/>
                <a:cs typeface="Arial"/>
              </a:rPr>
              <a:t>R2</a:t>
            </a:r>
            <a:endParaRPr sz="2000" b="0">
              <a:solidFill>
                <a:srgbClr val="243B53"/>
              </a:solidFill>
              <a:latin typeface="Arial"/>
              <a:ea typeface="Arial"/>
              <a:cs typeface="Arial"/>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a:ea typeface="Arial"/>
                <a:cs typeface="Arial"/>
              </a:rPr>
              <a:t>Example calculation: You have three resistors in parallel with the following values, R1 = 100 </a:t>
            </a:r>
            <a:r>
              <a:rPr lang="en-US" dirty="0" err="1" sz="2000" b="0">
                <a:solidFill>
                  <a:srgbClr val="243B53"/>
                </a:solidFill>
                <a:latin typeface="Arial"/>
                <a:ea typeface="Arial"/>
                <a:cs typeface="Arial"/>
              </a:rPr>
              <a:t>ohm”s</a:t>
            </a:r>
            <a:r>
              <a:rPr lang="en-US" dirty="0" sz="2000" b="0">
                <a:solidFill>
                  <a:srgbClr val="243B53"/>
                </a:solidFill>
                <a:latin typeface="Arial"/>
                <a:ea typeface="Arial"/>
                <a:cs typeface="Arial"/>
              </a:rPr>
              <a:t>  R2 = 20 </a:t>
            </a:r>
            <a:r>
              <a:rPr lang="en-US" dirty="0" err="1" sz="2000" b="0">
                <a:solidFill>
                  <a:srgbClr val="243B53"/>
                </a:solidFill>
                <a:latin typeface="Arial"/>
                <a:ea typeface="Arial"/>
                <a:cs typeface="Arial"/>
              </a:rPr>
              <a:t>ohm”s</a:t>
            </a:r>
            <a:r>
              <a:rPr lang="en-US" dirty="0" sz="2000" b="0">
                <a:solidFill>
                  <a:srgbClr val="243B53"/>
                </a:solidFill>
                <a:latin typeface="Arial"/>
                <a:ea typeface="Arial"/>
                <a:cs typeface="Arial"/>
              </a:rPr>
              <a:t>, and R3 = 50 </a:t>
            </a:r>
            <a:r>
              <a:rPr lang="en-US" dirty="0" err="1" sz="2000" b="0">
                <a:solidFill>
                  <a:srgbClr val="243B53"/>
                </a:solidFill>
                <a:latin typeface="Arial"/>
                <a:ea typeface="Arial"/>
                <a:cs typeface="Arial"/>
              </a:rPr>
              <a:t>ohm”s</a:t>
            </a:r>
            <a:endParaRPr lang="en-US" dirty="0" sz="2000" b="0">
              <a:solidFill>
                <a:srgbClr val="243B53"/>
              </a:solidFill>
              <a:latin typeface="Arial"/>
              <a:ea typeface="Arial"/>
              <a:cs typeface="Arial"/>
            </a:endParaRPr>
          </a:p>
          <a:p>
            <a:pPr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2405804702"/>
      </p:ext>
    </p:extLst>
  </p:cSld>
  <p:clrMapOvr>
    <a:masterClrMapping/>
  </p:clrMapOvr>
  <p:transition spd="slow">
    <p:push dir="u"/>
  </p:transition>
</p:sld>
</file>

<file path=ppt/slides/slide3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Find the sum of the reciprocals,   1/ </a:t>
            </a:r>
            <a:r>
              <a:rPr lang="en-US" dirty="0" err="1" sz="2000" b="0">
                <a:solidFill>
                  <a:srgbClr val="243B53"/>
                </a:solidFill>
                <a:latin typeface="Arial" pitchFamily="18" charset="0"/>
                <a:ea typeface="Arial"/>
                <a:cs typeface="Arial" pitchFamily="18" charset="0"/>
              </a:rPr>
              <a:t>Rtotal</a:t>
            </a:r>
            <a:r>
              <a:rPr lang="en-US" dirty="0" sz="2000" b="0">
                <a:solidFill>
                  <a:srgbClr val="243B53"/>
                </a:solidFill>
                <a:latin typeface="Arial" pitchFamily="18" charset="0"/>
                <a:ea typeface="Arial"/>
                <a:cs typeface="Arial" pitchFamily="18" charset="0"/>
              </a:rPr>
              <a:t> = 1/100 + 1/20 + 1/50  </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1/</a:t>
            </a:r>
            <a:r>
              <a:rPr lang="en-US" dirty="0" err="1" sz="2000" b="0">
                <a:solidFill>
                  <a:srgbClr val="243B53"/>
                </a:solidFill>
                <a:latin typeface="Arial" pitchFamily="18" charset="0"/>
                <a:ea typeface="Arial"/>
                <a:cs typeface="Arial" pitchFamily="18" charset="0"/>
              </a:rPr>
              <a:t>Rtotal</a:t>
            </a:r>
            <a:r>
              <a:rPr lang="en-US" dirty="0" sz="2000" b="0">
                <a:solidFill>
                  <a:srgbClr val="243B53"/>
                </a:solidFill>
                <a:latin typeface="Arial" pitchFamily="18" charset="0"/>
                <a:ea typeface="Arial"/>
                <a:cs typeface="Arial" pitchFamily="18" charset="0"/>
              </a:rPr>
              <a:t> = 0.01 + 0.02 + o.05 = 0.08</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Ii} invert the result to find </a:t>
            </a:r>
            <a:r>
              <a:rPr lang="en-US" dirty="0" err="1" sz="2000" b="0">
                <a:solidFill>
                  <a:srgbClr val="243B53"/>
                </a:solidFill>
                <a:latin typeface="Arial" pitchFamily="18" charset="0"/>
                <a:ea typeface="Arial"/>
                <a:cs typeface="Arial" pitchFamily="18" charset="0"/>
              </a:rPr>
              <a:t>Rtotal</a:t>
            </a:r>
            <a:r>
              <a:rPr lang="en-US" dirty="0" sz="2000" b="0">
                <a:solidFill>
                  <a:srgbClr val="243B53"/>
                </a:solidFill>
                <a:latin typeface="Arial" pitchFamily="18" charset="0"/>
                <a:ea typeface="Arial"/>
                <a:cs typeface="Arial" pitchFamily="18" charset="0"/>
              </a:rPr>
              <a:t>.  </a:t>
            </a:r>
            <a:r>
              <a:rPr lang="en-US" dirty="0" err="1" sz="2000" b="0">
                <a:solidFill>
                  <a:srgbClr val="243B53"/>
                </a:solidFill>
                <a:latin typeface="Arial" pitchFamily="18" charset="0"/>
                <a:ea typeface="Arial"/>
                <a:cs typeface="Arial" pitchFamily="18" charset="0"/>
              </a:rPr>
              <a:t>Rtotal</a:t>
            </a:r>
            <a:r>
              <a:rPr lang="en-US" dirty="0" sz="2000" b="0">
                <a:solidFill>
                  <a:srgbClr val="243B53"/>
                </a:solidFill>
                <a:latin typeface="Arial" pitchFamily="18" charset="0"/>
                <a:ea typeface="Arial"/>
                <a:cs typeface="Arial" pitchFamily="18" charset="0"/>
              </a:rPr>
              <a:t> = 1/0.08 = 12.5 </a:t>
            </a:r>
            <a:r>
              <a:rPr lang="en-US" dirty="0" err="1" sz="2000" b="0">
                <a:solidFill>
                  <a:srgbClr val="243B53"/>
                </a:solidFill>
                <a:latin typeface="Arial" pitchFamily="18" charset="0"/>
                <a:ea typeface="Arial"/>
                <a:cs typeface="Arial" pitchFamily="18" charset="0"/>
              </a:rPr>
              <a:t>ohm”s</a:t>
            </a:r>
            <a:endParaRPr lang="en-US" dirty="0" sz="2000" b="0">
              <a:solidFill>
                <a:srgbClr val="243B53"/>
              </a:solidFill>
              <a:latin typeface="Arial" pitchFamily="18" charset="0"/>
              <a:ea typeface="Arial"/>
              <a:cs typeface="Arial" pitchFamily="18" charset="0"/>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Takeaway: The total resistance in a parallel always less than the smallest individual   resistor  in the branch.</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Combination ( Series – parallel ) circuits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Rule: Break the circuit down step – by – step , calculate the equivalent resistance of the parallel section first , then treat that result as a single resistor added to the series components.</a:t>
            </a:r>
            <a:endParaRPr sz="2000" b="0">
              <a:solidFill>
                <a:srgbClr val="243B53"/>
              </a:solidFill>
              <a:latin typeface="Arial"/>
              <a:ea typeface="Arial"/>
              <a:cs typeface="Arial"/>
            </a:endParaRPr>
          </a:p>
          <a:p>
            <a:pPr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3270001983"/>
      </p:ext>
    </p:extLst>
  </p:cSld>
  <p:clrMapOvr>
    <a:masterClrMapping/>
  </p:clrMapOvr>
  <p:transition spd="slow">
    <p:push dir="u"/>
  </p:transition>
</p:sld>
</file>

<file path=ppt/slides/slide3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Example calculation : R1 = 100 </a:t>
            </a:r>
            <a:r>
              <a:rPr lang="en-US" dirty="0" err="1" sz="2200" b="0">
                <a:solidFill>
                  <a:srgbClr val="243B53"/>
                </a:solidFill>
                <a:latin typeface="Arial" pitchFamily="18" charset="0"/>
                <a:ea typeface="Arial"/>
                <a:cs typeface="Arial" pitchFamily="18" charset="0"/>
              </a:rPr>
              <a:t>ohm”s</a:t>
            </a:r>
            <a:r>
              <a:rPr lang="en-US" dirty="0" sz="2200" b="0">
                <a:solidFill>
                  <a:srgbClr val="243B53"/>
                </a:solidFill>
                <a:latin typeface="Arial" pitchFamily="18" charset="0"/>
                <a:ea typeface="Arial"/>
                <a:cs typeface="Arial" pitchFamily="18" charset="0"/>
              </a:rPr>
              <a:t> in series with a parallel  pair R2 = 50 </a:t>
            </a:r>
            <a:r>
              <a:rPr lang="en-US" dirty="0" err="1" sz="2200" b="0">
                <a:solidFill>
                  <a:srgbClr val="243B53"/>
                </a:solidFill>
                <a:latin typeface="Arial" pitchFamily="18" charset="0"/>
                <a:ea typeface="Arial"/>
                <a:cs typeface="Arial" pitchFamily="18" charset="0"/>
              </a:rPr>
              <a:t>ohm”s</a:t>
            </a:r>
            <a:r>
              <a:rPr lang="en-US" dirty="0" sz="2200" b="0">
                <a:solidFill>
                  <a:srgbClr val="243B53"/>
                </a:solidFill>
                <a:latin typeface="Arial" pitchFamily="18" charset="0"/>
                <a:ea typeface="Arial"/>
                <a:cs typeface="Arial" pitchFamily="18" charset="0"/>
              </a:rPr>
              <a:t>, and R3 =  50 ohms</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Calculate the parallel pair ( R2 and R3 ) ; </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err="1" sz="2200" b="0">
                <a:solidFill>
                  <a:srgbClr val="243B53"/>
                </a:solidFill>
                <a:latin typeface="Arial" pitchFamily="18" charset="0"/>
                <a:ea typeface="Arial"/>
                <a:cs typeface="Arial" pitchFamily="18" charset="0"/>
              </a:rPr>
              <a:t>Rtotal</a:t>
            </a:r>
            <a:r>
              <a:rPr lang="en-US" dirty="0" sz="2200" b="0">
                <a:solidFill>
                  <a:srgbClr val="243B53"/>
                </a:solidFill>
                <a:latin typeface="Arial" pitchFamily="18" charset="0"/>
                <a:ea typeface="Arial"/>
                <a:cs typeface="Arial" pitchFamily="18" charset="0"/>
              </a:rPr>
              <a:t> = 50 * 50 / 50 + 50 = 2500 / 100 = 25 ohms</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Add the series resistor { R1 }to the parallel equivalent. </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err="1" sz="2200" b="0">
                <a:solidFill>
                  <a:srgbClr val="243B53"/>
                </a:solidFill>
                <a:latin typeface="Arial" pitchFamily="18" charset="0"/>
                <a:ea typeface="Arial"/>
                <a:cs typeface="Arial" pitchFamily="18" charset="0"/>
              </a:rPr>
              <a:t>Rtotal</a:t>
            </a:r>
            <a:r>
              <a:rPr lang="en-US" dirty="0" sz="2200" b="0">
                <a:solidFill>
                  <a:srgbClr val="243B53"/>
                </a:solidFill>
                <a:latin typeface="Arial" pitchFamily="18" charset="0"/>
                <a:ea typeface="Arial"/>
                <a:cs typeface="Arial" pitchFamily="18" charset="0"/>
              </a:rPr>
              <a:t> = R1 + </a:t>
            </a:r>
            <a:r>
              <a:rPr lang="en-US" dirty="0" err="1" sz="2200" b="0">
                <a:solidFill>
                  <a:srgbClr val="243B53"/>
                </a:solidFill>
                <a:latin typeface="Arial" pitchFamily="18" charset="0"/>
                <a:ea typeface="Arial"/>
                <a:cs typeface="Arial" pitchFamily="18" charset="0"/>
              </a:rPr>
              <a:t>Rparallel</a:t>
            </a:r>
            <a:r>
              <a:rPr lang="en-US" dirty="0" sz="2200" b="0">
                <a:solidFill>
                  <a:srgbClr val="243B53"/>
                </a:solidFill>
                <a:latin typeface="Arial" pitchFamily="18" charset="0"/>
                <a:ea typeface="Arial"/>
                <a:cs typeface="Arial" pitchFamily="18" charset="0"/>
              </a:rPr>
              <a:t> = 100 </a:t>
            </a:r>
            <a:r>
              <a:rPr lang="en-US" dirty="0" err="1" sz="2200" b="0">
                <a:solidFill>
                  <a:srgbClr val="243B53"/>
                </a:solidFill>
                <a:latin typeface="Arial" pitchFamily="18" charset="0"/>
                <a:ea typeface="Arial"/>
                <a:cs typeface="Arial" pitchFamily="18" charset="0"/>
              </a:rPr>
              <a:t>ohm”s</a:t>
            </a:r>
            <a:r>
              <a:rPr lang="en-US" dirty="0" sz="2200" b="0">
                <a:solidFill>
                  <a:srgbClr val="243B53"/>
                </a:solidFill>
                <a:latin typeface="Arial" pitchFamily="18" charset="0"/>
                <a:ea typeface="Arial"/>
                <a:cs typeface="Arial" pitchFamily="18" charset="0"/>
              </a:rPr>
              <a:t> + 25 </a:t>
            </a:r>
            <a:r>
              <a:rPr lang="en-US" dirty="0" err="1" sz="2200" b="0">
                <a:solidFill>
                  <a:srgbClr val="243B53"/>
                </a:solidFill>
                <a:latin typeface="Arial" pitchFamily="18" charset="0"/>
                <a:ea typeface="Arial"/>
                <a:cs typeface="Arial" pitchFamily="18" charset="0"/>
              </a:rPr>
              <a:t>ohm”s</a:t>
            </a:r>
            <a:r>
              <a:rPr lang="en-US" dirty="0" sz="2200" b="0">
                <a:solidFill>
                  <a:srgbClr val="243B53"/>
                </a:solidFill>
                <a:latin typeface="Arial" pitchFamily="18" charset="0"/>
                <a:ea typeface="Arial"/>
                <a:cs typeface="Arial" pitchFamily="18" charset="0"/>
              </a:rPr>
              <a:t>  = 125 </a:t>
            </a:r>
            <a:r>
              <a:rPr lang="en-US" dirty="0" err="1" sz="2200" b="0">
                <a:solidFill>
                  <a:srgbClr val="243B53"/>
                </a:solidFill>
                <a:latin typeface="Arial" pitchFamily="18" charset="0"/>
                <a:ea typeface="Arial"/>
                <a:cs typeface="Arial" pitchFamily="18" charset="0"/>
              </a:rPr>
              <a:t>ohm”s</a:t>
            </a:r>
            <a:endParaRPr lang="en-US" dirty="0" sz="2200" b="0">
              <a:solidFill>
                <a:srgbClr val="243B53"/>
              </a:solidFill>
              <a:latin typeface="Arial" pitchFamily="18" charset="0"/>
              <a:ea typeface="Arial"/>
              <a:cs typeface="Arial" pitchFamily="18" charset="0"/>
            </a:endParaRPr>
          </a:p>
          <a:p>
            <a:pPr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776293364"/>
      </p:ext>
    </p:extLst>
  </p:cSld>
  <p:clrMapOvr>
    <a:masterClrMapping/>
  </p:clrMapOvr>
  <p:transition spd="slow">
    <p:push dir="u"/>
  </p:transition>
</p:sld>
</file>

<file path=ppt/slides/slide3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ENERGY:</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Definition:  Energy is the capacity or the ability to do work or cause change.</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SI unit: joule ( J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Key concept: Energy can change from one form to another ( such as potential, kinetic, thermal , electrical, or chemical), following the law of conservation of energy.</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50" b="1">
                <a:solidFill>
                  <a:srgbClr val="243B53"/>
                </a:solidFill>
                <a:latin typeface="Arial"/>
                <a:ea typeface="Arial"/>
                <a:cs typeface="Arial"/>
              </a:defRPr>
            </a:pPr>
            <a:r>
              <a:rPr lang="en-US" dirty="0" sz="2050" b="1">
                <a:solidFill>
                  <a:srgbClr val="243B53"/>
                </a:solidFill>
                <a:latin typeface="Arial" pitchFamily="18" charset="0"/>
                <a:ea typeface="Arial"/>
                <a:cs typeface="Arial" pitchFamily="18" charset="0"/>
              </a:rPr>
              <a:t>Examples:  </a:t>
            </a:r>
            <a:endParaRPr sz="2050" b="1">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I}  Kinetic Energy: a car moving down a high way or a runner sprinting.</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Ii} Potential energy: A book resting on a high shelf or a stretched rubber band storing elastic energy.</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Iii}  Chemical Energy : Food you digest or gasoline burned in an engine.</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Iv}  Electrical Energy: Electricity powering a refrigerator over a 24 – hour period.</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2546174835"/>
      </p:ext>
    </p:extLst>
  </p:cSld>
  <p:clrMapOvr>
    <a:masterClrMapping/>
  </p:clrMapOvr>
  <p:transition spd="slow">
    <p:push dir="u"/>
  </p:transition>
</p:sld>
</file>

<file path=ppt/slides/slide3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3" name="Content Placeholder 2">
            <a:extLst>
              <a:ext uri="{FF2B5EF4-FFF2-40B4-BE49-F238E27FC236}">
                <a16:creationId id="{9E7BF99F-A2D0-4EF0-75CC-A738933C640B}"/>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a:ea typeface="Arial"/>
                <a:cs typeface="Arial"/>
              </a:rPr>
              <a:t>POWER</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Definition: power is the rate at which energy is transferred, used, or converted over time.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SI unit: Watt ( W ) , which equals one joule per second ( J/S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err="1" sz="2000" b="0">
                <a:solidFill>
                  <a:srgbClr val="243B53"/>
                </a:solidFill>
                <a:latin typeface="Arial" pitchFamily="18" charset="0"/>
                <a:ea typeface="Arial"/>
                <a:cs typeface="Arial" pitchFamily="18" charset="0"/>
              </a:rPr>
              <a:t>Fomula</a:t>
            </a:r>
            <a:r>
              <a:rPr lang="en-US" dirty="0" sz="2000" b="0">
                <a:solidFill>
                  <a:srgbClr val="243B53"/>
                </a:solidFill>
                <a:latin typeface="Arial" pitchFamily="18" charset="0"/>
                <a:ea typeface="Arial"/>
                <a:cs typeface="Arial" pitchFamily="18" charset="0"/>
              </a:rPr>
              <a:t>: Power = Energy / time (  P = W/ t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Key concept : Power tells you how fast energy is being used or delivered , not just the total amount.</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50" b="1">
                <a:solidFill>
                  <a:srgbClr val="243B53"/>
                </a:solidFill>
                <a:latin typeface="Arial"/>
                <a:ea typeface="Arial"/>
                <a:cs typeface="Arial"/>
              </a:defRPr>
            </a:pPr>
            <a:r>
              <a:rPr lang="en-US" dirty="0" err="1" sz="2050" b="1">
                <a:solidFill>
                  <a:srgbClr val="243B53"/>
                </a:solidFill>
                <a:latin typeface="Arial" pitchFamily="18" charset="0"/>
                <a:ea typeface="Arial"/>
                <a:cs typeface="Arial" pitchFamily="18" charset="0"/>
              </a:rPr>
              <a:t>Examole</a:t>
            </a:r>
            <a:r>
              <a:rPr lang="en-US" dirty="0" sz="2050" b="1">
                <a:solidFill>
                  <a:srgbClr val="243B53"/>
                </a:solidFill>
                <a:latin typeface="Arial" pitchFamily="18" charset="0"/>
                <a:ea typeface="Arial"/>
                <a:cs typeface="Arial" pitchFamily="18" charset="0"/>
              </a:rPr>
              <a:t>: </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Light bulb: A 60 – watt light bulb uses 60 joules of electrical energy every single second.</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Appliances: A 1.500 – watt microwave cooks food much faster than a lower – powered device because it transfers energy at a higher rate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Human/ Mechanic Work:  A weightlifter lifting a heavy barbell quickly exerts more power than some one lifting the same weight very slowly.</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Quick </a:t>
            </a:r>
            <a:r>
              <a:rPr lang="en-US" dirty="0" err="1" sz="2000" b="0">
                <a:solidFill>
                  <a:srgbClr val="243B53"/>
                </a:solidFill>
                <a:latin typeface="Arial" pitchFamily="18" charset="0"/>
                <a:ea typeface="Arial"/>
                <a:cs typeface="Arial" pitchFamily="18" charset="0"/>
              </a:rPr>
              <a:t>comparism</a:t>
            </a:r>
            <a:endParaRPr lang="en-US" dirty="0" sz="2000" b="0">
              <a:solidFill>
                <a:srgbClr val="243B53"/>
              </a:solidFill>
              <a:latin typeface="Arial" pitchFamily="18" charset="0"/>
              <a:ea typeface="Arial"/>
              <a:cs typeface="Arial"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3944142337"/>
      </p:ext>
    </p:extLst>
  </p:cSld>
  <p:clrMapOvr>
    <a:masterClrMapping/>
  </p:clrMapOvr>
  <p:transition spd="slow">
    <p:push dir="u"/>
  </p:transition>
</p:sld>
</file>

<file path=ppt/slides/slide37.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val="2616852669"/>
              </p:ext>
            </p:extLst>
          </p:nvPr>
        </p:nvGraphicFramePr>
        <p:xfrm>
          <a:off x="670560" y="582930"/>
          <a:ext cx="10850880" cy="5589270"/>
        </p:xfrm>
        <a:graphic>
          <a:graphicData uri="http://schemas.openxmlformats.org/drawingml/2006/table">
            <a:tbl>
              <a:tblPr firstRow="1" firstCol="1" bandRow="1">
                <a:tableStyleId>{5C22544A-7EE6-4342-B048-85BDC9FD1C3A}</a:tableStyleId>
              </a:tblPr>
              <a:tblGrid>
                <a:gridCol w="2513142"/>
                <a:gridCol w="3759283"/>
                <a:gridCol w="4578453"/>
              </a:tblGrid>
              <a:tr h="698658">
                <a:tc>
                  <a:txBody>
                    <a:bodyPr/>
                    <a:lstStyle/>
                    <a:p>
                      <a:pPr marL="0" marR="0" algn="l">
                        <a:lnSpc>
                          <a:spcPct val="107000"/>
                        </a:lnSpc>
                        <a:spcBef>
                          <a:spcPts val="0"/>
                        </a:spcBef>
                        <a:spcAft>
                          <a:spcPts val="0"/>
                        </a:spcAft>
                        <a:defRPr sz="1700" b="1">
                          <a:solidFill>
                            <a:srgbClr val="FFFFFF"/>
                          </a:solidFill>
                          <a:latin typeface="Arial"/>
                          <a:ea typeface="Arial"/>
                          <a:cs typeface="Arial"/>
                        </a:defRPr>
                      </a:pPr>
                      <a:r>
                        <a:rPr lang="en-US" sz="1700" kern="100" dirty="0" b="1">
                          <a:solidFill>
                            <a:srgbClr val="FFFFFF"/>
                          </a:solidFill>
                          <a:effectLst/>
                          <a:latin typeface="Arial"/>
                          <a:ea typeface="Arial"/>
                          <a:cs typeface="Arial"/>
                        </a:rPr>
                        <a:t>Feature                                                                        </a:t>
                      </a:r>
                      <a:endParaRPr lang="en-US" sz="1700" kern="100" dirty="0" b="1">
                        <a:solidFill>
                          <a:srgbClr val="FFFFFF"/>
                        </a:solidFill>
                        <a:effectLst/>
                        <a:latin typeface="Arial"/>
                        <a:ea typeface="Arial"/>
                        <a:cs typeface="Arial"/>
                      </a:endParaRPr>
                    </a:p>
                  </a:txBody>
                  <a:tcPr marL="63500" marR="63500" marT="50800" marB="50800">
                    <a:solidFill>
                      <a:srgbClr val="243B53"/>
                    </a:solidFill>
                  </a:tcPr>
                </a:tc>
                <a:tc>
                  <a:txBody>
                    <a:bodyPr/>
                    <a:lstStyle/>
                    <a:p>
                      <a:pPr marL="0" marR="0" algn="l">
                        <a:lnSpc>
                          <a:spcPct val="107000"/>
                        </a:lnSpc>
                        <a:spcBef>
                          <a:spcPts val="0"/>
                        </a:spcBef>
                        <a:spcAft>
                          <a:spcPts val="0"/>
                        </a:spcAft>
                        <a:defRPr sz="1700" b="1">
                          <a:solidFill>
                            <a:srgbClr val="FFFFFF"/>
                          </a:solidFill>
                          <a:latin typeface="Arial"/>
                          <a:ea typeface="Arial"/>
                          <a:cs typeface="Arial"/>
                        </a:defRPr>
                      </a:pPr>
                      <a:r>
                        <a:rPr lang="en-US" sz="1700" kern="100" b="1">
                          <a:solidFill>
                            <a:srgbClr val="FFFFFF"/>
                          </a:solidFill>
                          <a:effectLst/>
                          <a:latin typeface="Arial"/>
                          <a:ea typeface="Arial"/>
                          <a:cs typeface="Arial"/>
                        </a:rPr>
                        <a:t>Energy    </a:t>
                      </a:r>
                      <a:endParaRPr lang="en-US" sz="1700" kern="100" b="1">
                        <a:solidFill>
                          <a:srgbClr val="FFFFFF"/>
                        </a:solidFill>
                        <a:effectLst/>
                        <a:latin typeface="Arial"/>
                        <a:ea typeface="Arial"/>
                        <a:cs typeface="Arial"/>
                      </a:endParaRPr>
                    </a:p>
                  </a:txBody>
                  <a:tcPr marL="63500" marR="63500" marT="50800" marB="50800">
                    <a:solidFill>
                      <a:srgbClr val="243B53"/>
                    </a:solidFill>
                  </a:tcPr>
                </a:tc>
                <a:tc>
                  <a:txBody>
                    <a:bodyPr/>
                    <a:lstStyle/>
                    <a:p>
                      <a:pPr marL="0" marR="0" algn="l">
                        <a:lnSpc>
                          <a:spcPct val="107000"/>
                        </a:lnSpc>
                        <a:spcBef>
                          <a:spcPts val="0"/>
                        </a:spcBef>
                        <a:spcAft>
                          <a:spcPts val="0"/>
                        </a:spcAft>
                        <a:defRPr sz="1700" b="1">
                          <a:solidFill>
                            <a:srgbClr val="FFFFFF"/>
                          </a:solidFill>
                          <a:latin typeface="Arial"/>
                          <a:ea typeface="Arial"/>
                          <a:cs typeface="Arial"/>
                        </a:defRPr>
                      </a:pPr>
                      <a:r>
                        <a:rPr lang="en-US" sz="1700" kern="100" dirty="0" b="1">
                          <a:solidFill>
                            <a:srgbClr val="FFFFFF"/>
                          </a:solidFill>
                          <a:effectLst/>
                          <a:latin typeface="Arial"/>
                          <a:ea typeface="Arial"/>
                          <a:cs typeface="Arial"/>
                        </a:rPr>
                        <a:t>Power</a:t>
                      </a:r>
                      <a:endParaRPr lang="en-US" sz="1700" kern="100" dirty="0" b="1">
                        <a:solidFill>
                          <a:srgbClr val="FFFFFF"/>
                        </a:solidFill>
                        <a:effectLst/>
                        <a:latin typeface="Arial"/>
                        <a:ea typeface="Arial"/>
                        <a:cs typeface="Arial"/>
                      </a:endParaRPr>
                    </a:p>
                  </a:txBody>
                  <a:tcPr marL="63500" marR="63500" marT="50800" marB="50800">
                    <a:solidFill>
                      <a:srgbClr val="243B53"/>
                    </a:solidFill>
                  </a:tcPr>
                </a:tc>
              </a:tr>
              <a:tr h="698658">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Work it measures</a:t>
                      </a:r>
                      <a:endParaRPr lang="en-US" sz="170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4318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Total capacity to do work</a:t>
                      </a:r>
                      <a:endParaRPr lang="en-US" sz="170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635" marR="0" algn="l">
                        <a:lnSpc>
                          <a:spcPct val="107000"/>
                        </a:lnSpc>
                        <a:spcBef>
                          <a:spcPts val="0"/>
                        </a:spcBef>
                        <a:spcAft>
                          <a:spcPts val="0"/>
                        </a:spcAft>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Rate of energy transfer or use</a:t>
                      </a:r>
                      <a:endParaRPr lang="en-US" sz="1700" kern="100" dirty="0" b="0">
                        <a:solidFill>
                          <a:srgbClr val="243B53"/>
                        </a:solidFill>
                        <a:effectLst/>
                        <a:latin typeface="Arial"/>
                        <a:ea typeface="Arial"/>
                        <a:cs typeface="Arial"/>
                      </a:endParaRPr>
                    </a:p>
                  </a:txBody>
                  <a:tcPr marL="63500" marR="63500" marT="50800" marB="50800">
                    <a:solidFill>
                      <a:srgbClr val="F1F5FB"/>
                    </a:solidFill>
                  </a:tcPr>
                </a:tc>
              </a:tr>
              <a:tr h="698658">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Primary unit</a:t>
                      </a:r>
                      <a:endParaRPr lang="en-US" sz="1700" kern="100" b="0">
                        <a:solidFill>
                          <a:srgbClr val="243B53"/>
                        </a:solidFill>
                        <a:effectLst/>
                        <a:latin typeface="Arial"/>
                        <a:ea typeface="Arial"/>
                        <a:cs typeface="Arial"/>
                      </a:endParaRPr>
                    </a:p>
                  </a:txBody>
                  <a:tcPr marL="63500" marR="63500" marT="50800" marB="50800">
                    <a:solidFill>
                      <a:srgbClr val="FFFFFF"/>
                    </a:solidFill>
                  </a:tcPr>
                </a:tc>
                <a:tc>
                  <a:txBody>
                    <a:bodyPr/>
                    <a:lstStyle/>
                    <a:p>
                      <a:pPr marL="69215"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Joule ( J ) kilowatt – hour ( KWh}      </a:t>
                      </a:r>
                      <a:endParaRPr lang="en-US" sz="1700" kern="100" b="0">
                        <a:solidFill>
                          <a:srgbClr val="243B53"/>
                        </a:solidFill>
                        <a:effectLst/>
                        <a:latin typeface="Arial"/>
                        <a:ea typeface="Arial"/>
                        <a:cs typeface="Arial"/>
                      </a:endParaRPr>
                    </a:p>
                  </a:txBody>
                  <a:tcPr marL="63500" marR="63500" marT="50800" marB="50800">
                    <a:solidFill>
                      <a:srgbClr val="FFFFFF"/>
                    </a:solidFill>
                  </a:tcPr>
                </a:tc>
                <a:tc>
                  <a:txBody>
                    <a:bodyPr/>
                    <a:lstStyle/>
                    <a:p>
                      <a:pPr marL="69215"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Watt (w ) or kilowatt ( W )</a:t>
                      </a:r>
                      <a:endParaRPr lang="en-US" sz="1700" kern="100" b="0">
                        <a:solidFill>
                          <a:srgbClr val="243B53"/>
                        </a:solidFill>
                        <a:effectLst/>
                        <a:latin typeface="Arial"/>
                        <a:ea typeface="Arial"/>
                        <a:cs typeface="Arial"/>
                      </a:endParaRPr>
                    </a:p>
                  </a:txBody>
                  <a:tcPr marL="63500" marR="63500" marT="50800" marB="50800">
                    <a:solidFill>
                      <a:srgbClr val="FFFFFF"/>
                    </a:solidFill>
                  </a:tcPr>
                </a:tc>
              </a:tr>
              <a:tr h="698658">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Analogy</a:t>
                      </a:r>
                      <a:endParaRPr lang="en-US" sz="170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4318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The total amount of water stored      </a:t>
                      </a:r>
                      <a:endParaRPr lang="en-US" sz="170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43180" marR="0" algn="l">
                        <a:lnSpc>
                          <a:spcPct val="107000"/>
                        </a:lnSpc>
                        <a:spcBef>
                          <a:spcPts val="0"/>
                        </a:spcBef>
                        <a:spcAft>
                          <a:spcPts val="0"/>
                        </a:spcAft>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The speed or width of the pipe</a:t>
                      </a:r>
                      <a:endParaRPr lang="en-US" sz="1700" kern="100" dirty="0" b="0">
                        <a:solidFill>
                          <a:srgbClr val="243B53"/>
                        </a:solidFill>
                        <a:effectLst/>
                        <a:latin typeface="Arial"/>
                        <a:ea typeface="Arial"/>
                        <a:cs typeface="Arial"/>
                      </a:endParaRPr>
                    </a:p>
                  </a:txBody>
                  <a:tcPr marL="63500" marR="63500" marT="50800" marB="50800">
                    <a:solidFill>
                      <a:srgbClr val="F1F5FB"/>
                    </a:solidFill>
                  </a:tcPr>
                </a:tc>
              </a:tr>
              <a:tr h="698658">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 </a:t>
                      </a:r>
                      <a:endParaRPr lang="en-US" sz="1700" kern="100" b="0">
                        <a:solidFill>
                          <a:srgbClr val="243B53"/>
                        </a:solidFill>
                        <a:effectLst/>
                        <a:latin typeface="Arial"/>
                        <a:ea typeface="Arial"/>
                        <a:cs typeface="Arial"/>
                      </a:endParaRPr>
                    </a:p>
                  </a:txBody>
                  <a:tcPr marL="63500" marR="63500" marT="50800" marB="50800">
                    <a:solidFill>
                      <a:srgbClr val="FFFFFF"/>
                    </a:solidFill>
                  </a:tcPr>
                </a:tc>
                <a:tc>
                  <a:txBody>
                    <a:bodyPr/>
                    <a:lstStyle/>
                    <a:p>
                      <a:pPr marL="6096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In a tank</a:t>
                      </a:r>
                      <a:endParaRPr lang="en-US" sz="1700" kern="100" b="0">
                        <a:solidFill>
                          <a:srgbClr val="243B53"/>
                        </a:solidFill>
                        <a:effectLst/>
                        <a:latin typeface="Arial"/>
                        <a:ea typeface="Arial"/>
                        <a:cs typeface="Arial"/>
                      </a:endParaRPr>
                    </a:p>
                  </a:txBody>
                  <a:tcPr marL="63500" marR="63500" marT="50800" marB="50800">
                    <a:solidFill>
                      <a:srgbClr val="FFFFFF"/>
                    </a:solidFill>
                  </a:tcPr>
                </a:tc>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used to let the water flow out</a:t>
                      </a:r>
                      <a:endParaRPr lang="en-US" sz="1700" kern="100" b="0">
                        <a:solidFill>
                          <a:srgbClr val="243B53"/>
                        </a:solidFill>
                        <a:effectLst/>
                        <a:latin typeface="Arial"/>
                        <a:ea typeface="Arial"/>
                        <a:cs typeface="Arial"/>
                      </a:endParaRPr>
                    </a:p>
                  </a:txBody>
                  <a:tcPr marL="63500" marR="63500" marT="50800" marB="50800">
                    <a:solidFill>
                      <a:srgbClr val="FFFFFF"/>
                    </a:solidFill>
                  </a:tcPr>
                </a:tc>
              </a:tr>
              <a:tr h="698658">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 </a:t>
                      </a:r>
                      <a:endParaRPr lang="en-US" sz="170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 </a:t>
                      </a:r>
                      <a:endParaRPr lang="en-US" sz="170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 </a:t>
                      </a:r>
                      <a:endParaRPr lang="en-US" sz="1700" kern="100" b="0">
                        <a:solidFill>
                          <a:srgbClr val="243B53"/>
                        </a:solidFill>
                        <a:effectLst/>
                        <a:latin typeface="Arial"/>
                        <a:ea typeface="Arial"/>
                        <a:cs typeface="Arial"/>
                      </a:endParaRPr>
                    </a:p>
                  </a:txBody>
                  <a:tcPr marL="63500" marR="63500" marT="50800" marB="50800">
                    <a:solidFill>
                      <a:srgbClr val="F1F5FB"/>
                    </a:solidFill>
                  </a:tcPr>
                </a:tc>
              </a:tr>
              <a:tr h="698658">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 </a:t>
                      </a:r>
                      <a:endParaRPr lang="en-US" sz="1700" kern="100" b="0">
                        <a:solidFill>
                          <a:srgbClr val="243B53"/>
                        </a:solidFill>
                        <a:effectLst/>
                        <a:latin typeface="Arial"/>
                        <a:ea typeface="Arial"/>
                        <a:cs typeface="Arial"/>
                      </a:endParaRPr>
                    </a:p>
                  </a:txBody>
                  <a:tcPr marL="63500" marR="63500" marT="50800" marB="50800">
                    <a:solidFill>
                      <a:srgbClr val="FFFFFF"/>
                    </a:solidFill>
                  </a:tcPr>
                </a:tc>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 </a:t>
                      </a:r>
                      <a:endParaRPr lang="en-US" sz="1700" kern="100" b="0">
                        <a:solidFill>
                          <a:srgbClr val="243B53"/>
                        </a:solidFill>
                        <a:effectLst/>
                        <a:latin typeface="Arial"/>
                        <a:ea typeface="Arial"/>
                        <a:cs typeface="Arial"/>
                      </a:endParaRPr>
                    </a:p>
                  </a:txBody>
                  <a:tcPr marL="63500" marR="63500" marT="50800" marB="50800">
                    <a:solidFill>
                      <a:srgbClr val="FFFFFF"/>
                    </a:solidFill>
                  </a:tcPr>
                </a:tc>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 </a:t>
                      </a:r>
                      <a:endParaRPr lang="en-US" sz="1700" kern="100" b="0">
                        <a:solidFill>
                          <a:srgbClr val="243B53"/>
                        </a:solidFill>
                        <a:effectLst/>
                        <a:latin typeface="Arial"/>
                        <a:ea typeface="Arial"/>
                        <a:cs typeface="Arial"/>
                      </a:endParaRPr>
                    </a:p>
                  </a:txBody>
                  <a:tcPr marL="63500" marR="63500" marT="50800" marB="50800">
                    <a:solidFill>
                      <a:srgbClr val="FFFFFF"/>
                    </a:solidFill>
                  </a:tcPr>
                </a:tc>
              </a:tr>
              <a:tr h="698658">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b="0">
                          <a:solidFill>
                            <a:srgbClr val="243B53"/>
                          </a:solidFill>
                          <a:effectLst/>
                          <a:latin typeface="Arial"/>
                          <a:ea typeface="Arial"/>
                          <a:cs typeface="Arial"/>
                        </a:rPr>
                        <a:t> </a:t>
                      </a:r>
                      <a:endParaRPr lang="en-US" sz="170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 </a:t>
                      </a:r>
                      <a:endParaRPr lang="en-US" sz="1700" kern="100" dirty="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700" b="0">
                          <a:solidFill>
                            <a:srgbClr val="243B53"/>
                          </a:solidFill>
                          <a:latin typeface="Arial"/>
                          <a:ea typeface="Arial"/>
                          <a:cs typeface="Arial"/>
                        </a:defRPr>
                      </a:pPr>
                      <a:r>
                        <a:rPr lang="en-US" sz="1700" kern="100" dirty="0" b="0">
                          <a:solidFill>
                            <a:srgbClr val="243B53"/>
                          </a:solidFill>
                          <a:effectLst/>
                          <a:latin typeface="Arial"/>
                          <a:ea typeface="Arial"/>
                          <a:cs typeface="Arial"/>
                        </a:rPr>
                        <a:t> </a:t>
                      </a:r>
                      <a:endParaRPr lang="en-US" sz="1700" kern="100" dirty="0" b="0">
                        <a:solidFill>
                          <a:srgbClr val="243B53"/>
                        </a:solidFill>
                        <a:effectLst/>
                        <a:latin typeface="Arial"/>
                        <a:ea typeface="Arial"/>
                        <a:cs typeface="Arial"/>
                      </a:endParaRPr>
                    </a:p>
                  </a:txBody>
                  <a:tcPr marL="63500" marR="63500" marT="50800" marB="50800">
                    <a:solidFill>
                      <a:srgbClr val="F1F5FB"/>
                    </a:solidFill>
                  </a:tcPr>
                </a:tc>
              </a:tr>
            </a:tbl>
          </a:graphicData>
        </a:graphic>
      </p:graphicFrame>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val="1995268837"/>
      </p:ext>
    </p:extLst>
  </p:cSld>
  <p:clrMapOvr>
    <a:masterClrMapping/>
  </p:clrMapOvr>
  <p:transition spd="slow">
    <p:push dir="u"/>
  </p:transition>
</p:sld>
</file>

<file path=ppt/slides/slide38.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THE HEATING EFFECTS OF A CURRENT.</a:t>
            </a:r>
            <a:endParaRPr sz="2050" b="1">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The heating effect of an electric current – also known as joule heating or resistive heating – occurs when an electric current flows through a conductor and encounters resistance. As free electrons move and collide with the atoms of the conductor, they transfer kinetic energy into thermal energy , making the conductor warm.</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50" b="1">
                <a:solidFill>
                  <a:srgbClr val="243B53"/>
                </a:solidFill>
                <a:latin typeface="Arial"/>
                <a:ea typeface="Arial"/>
                <a:cs typeface="Arial"/>
              </a:defRPr>
            </a:pPr>
            <a:r>
              <a:rPr lang="en-US" dirty="0" sz="2050" b="1">
                <a:solidFill>
                  <a:srgbClr val="243B53"/>
                </a:solidFill>
                <a:latin typeface="Arial" pitchFamily="18" charset="0"/>
                <a:ea typeface="Arial"/>
                <a:cs typeface="Arial" pitchFamily="18" charset="0"/>
              </a:rPr>
              <a:t>Joule”s Law of Heating: </a:t>
            </a:r>
            <a:endParaRPr sz="2050" b="1">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50" b="1">
                <a:solidFill>
                  <a:srgbClr val="243B53"/>
                </a:solidFill>
                <a:latin typeface="Arial"/>
                <a:ea typeface="Arial"/>
                <a:cs typeface="Arial"/>
              </a:defRPr>
            </a:pPr>
            <a:r>
              <a:rPr lang="en-US" dirty="0" sz="2050" b="1">
                <a:solidFill>
                  <a:srgbClr val="243B53"/>
                </a:solidFill>
                <a:latin typeface="Arial" pitchFamily="18" charset="0"/>
                <a:ea typeface="Arial"/>
                <a:cs typeface="Arial" pitchFamily="18" charset="0"/>
              </a:rPr>
              <a:t>The amount of heat ( H ) produced in a conductor is calculated using the formula:</a:t>
            </a:r>
            <a:endParaRPr sz="2050" b="1">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50" b="1">
                <a:solidFill>
                  <a:srgbClr val="243B53"/>
                </a:solidFill>
                <a:latin typeface="Arial"/>
                <a:ea typeface="Arial"/>
                <a:cs typeface="Arial"/>
              </a:defRPr>
            </a:pPr>
            <a:r>
              <a:rPr lang="en-US" dirty="0" sz="2050" b="1">
                <a:solidFill>
                  <a:srgbClr val="243B53"/>
                </a:solidFill>
                <a:latin typeface="Arial" pitchFamily="18" charset="0"/>
                <a:ea typeface="Arial"/>
                <a:cs typeface="Arial" pitchFamily="18" charset="0"/>
              </a:rPr>
              <a:t>H = I2 R t   where:</a:t>
            </a:r>
            <a:endParaRPr sz="2050" b="1">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I = electric current ( in amperes )</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R = Resistance of the conductor ( in </a:t>
            </a:r>
            <a:r>
              <a:rPr lang="en-US" dirty="0" err="1" sz="2000" b="0">
                <a:solidFill>
                  <a:srgbClr val="243B53"/>
                </a:solidFill>
                <a:latin typeface="Arial" pitchFamily="18" charset="0"/>
                <a:ea typeface="Arial"/>
                <a:cs typeface="Arial" pitchFamily="18" charset="0"/>
              </a:rPr>
              <a:t>ohm”s</a:t>
            </a:r>
            <a:r>
              <a:rPr lang="en-US" dirty="0" sz="2000" b="0">
                <a:solidFill>
                  <a:srgbClr val="243B53"/>
                </a:solidFill>
                <a:latin typeface="Arial" pitchFamily="18" charset="0"/>
                <a:ea typeface="Arial"/>
                <a:cs typeface="Arial" pitchFamily="18" charset="0"/>
              </a:rPr>
              <a:t> }</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T = Time for which the current flows ( in seconds }</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258937260"/>
      </p:ext>
    </p:extLst>
  </p:cSld>
  <p:clrMapOvr>
    <a:masterClrMapping/>
  </p:clrMapOvr>
  <p:transition spd="slow">
    <p:push dir="u"/>
  </p:transition>
</p:sld>
</file>

<file path=ppt/slides/slide39.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a:ea typeface="Arial"/>
                <a:cs typeface="Arial"/>
              </a:rPr>
              <a:t>Factors that increases Heat production:</a:t>
            </a:r>
            <a:endParaRPr lang="en-US" dirty="0"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Higher current ( I ); Heat increases rapidly with the </a:t>
            </a:r>
            <a:r>
              <a:rPr lang="en-US" dirty="0" err="1" sz="2000" b="0">
                <a:solidFill>
                  <a:srgbClr val="243B53"/>
                </a:solidFill>
                <a:latin typeface="Arial" pitchFamily="18" charset="0"/>
                <a:ea typeface="Arial"/>
                <a:cs typeface="Arial" pitchFamily="18" charset="0"/>
              </a:rPr>
              <a:t>squre</a:t>
            </a:r>
            <a:r>
              <a:rPr lang="en-US" dirty="0" sz="2000" b="0">
                <a:solidFill>
                  <a:srgbClr val="243B53"/>
                </a:solidFill>
                <a:latin typeface="Arial" pitchFamily="18" charset="0"/>
                <a:ea typeface="Arial"/>
                <a:cs typeface="Arial" pitchFamily="18" charset="0"/>
              </a:rPr>
              <a:t> of the current.</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Higher resistance ( R ):  Materials with high resistance ( like </a:t>
            </a:r>
            <a:r>
              <a:rPr lang="en-US" dirty="0" err="1" sz="2000" b="0">
                <a:solidFill>
                  <a:srgbClr val="243B53"/>
                </a:solidFill>
                <a:latin typeface="Arial" pitchFamily="18" charset="0"/>
                <a:ea typeface="Arial"/>
                <a:cs typeface="Arial" pitchFamily="18" charset="0"/>
              </a:rPr>
              <a:t>nichrome</a:t>
            </a:r>
            <a:r>
              <a:rPr lang="en-US" dirty="0" sz="2000" b="0">
                <a:solidFill>
                  <a:srgbClr val="243B53"/>
                </a:solidFill>
                <a:latin typeface="Arial" pitchFamily="18" charset="0"/>
                <a:ea typeface="Arial"/>
                <a:cs typeface="Arial" pitchFamily="18" charset="0"/>
              </a:rPr>
              <a:t> } get much hotter than low – resistance materials ( like copper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Longer duration ( t ): the longer the current flows , the more total heat accumulates.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Conductor shape: Thinner and longer wires offer more resistance , generating more heat.</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50" b="1">
                <a:solidFill>
                  <a:srgbClr val="243B53"/>
                </a:solidFill>
                <a:latin typeface="Arial"/>
                <a:ea typeface="Arial"/>
                <a:cs typeface="Arial"/>
              </a:defRPr>
            </a:pPr>
            <a:r>
              <a:rPr lang="en-US" dirty="0" sz="2050" b="1">
                <a:solidFill>
                  <a:srgbClr val="243B53"/>
                </a:solidFill>
                <a:latin typeface="Arial" pitchFamily="18" charset="0"/>
                <a:ea typeface="Arial"/>
                <a:cs typeface="Arial" pitchFamily="18" charset="0"/>
              </a:rPr>
              <a:t>COMMON APPLICATIONS</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Heating appliances: Devices like electric irons, room heaters , kettles , and hair dryers use high – resistance </a:t>
            </a:r>
            <a:r>
              <a:rPr lang="en-US" dirty="0" err="1" sz="2000" b="0">
                <a:solidFill>
                  <a:srgbClr val="243B53"/>
                </a:solidFill>
                <a:latin typeface="Arial" pitchFamily="18" charset="0"/>
                <a:ea typeface="Arial"/>
                <a:cs typeface="Arial" pitchFamily="18" charset="0"/>
              </a:rPr>
              <a:t>nichrome</a:t>
            </a:r>
            <a:r>
              <a:rPr lang="en-US" dirty="0" sz="2000" b="0">
                <a:solidFill>
                  <a:srgbClr val="243B53"/>
                </a:solidFill>
                <a:latin typeface="Arial" pitchFamily="18" charset="0"/>
                <a:ea typeface="Arial"/>
                <a:cs typeface="Arial" pitchFamily="18" charset="0"/>
              </a:rPr>
              <a:t> coils to convert electricity into usable heat</a:t>
            </a:r>
            <a:r>
              <a:rPr lang="en-US" dirty="0" smtClean="0" sz="2000" b="0">
                <a:solidFill>
                  <a:srgbClr val="243B53"/>
                </a:solidFill>
                <a:latin typeface="Arial" pitchFamily="18" charset="0"/>
                <a:ea typeface="Arial"/>
                <a:cs typeface="Arial" pitchFamily="18" charset="0"/>
              </a:rPr>
              <a:t>.</a:t>
            </a:r>
            <a:endParaRPr lang="en-US" dirty="0" sz="2000" b="0">
              <a:solidFill>
                <a:srgbClr val="243B53"/>
              </a:solidFill>
              <a:latin typeface="Arial" pitchFamily="18" charset="0"/>
              <a:ea typeface="Arial"/>
              <a:cs typeface="Arial" pitchFamily="18" charset="0"/>
            </a:endParaRPr>
          </a:p>
        </p:txBody>
      </p:sp>
    </p:spTree>
    <p:extLst>
      <p:ext uri="{BB962C8B-B14F-4D97-AF65-F5344CB8AC3E}">
        <p14:creationId val="3525236849"/>
      </p:ext>
    </p:extLst>
  </p:cSld>
  <p:clrMapOvr>
    <a:masterClrMapping/>
  </p:clrMapOvr>
  <p:transition spd="slow">
    <p:push dir="u"/>
  </p:transition>
</p:sld>
</file>

<file path=ppt/slides/slide40.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Incandescent light bulbs: A thin tungsten wire filament offers high resistance ; it gets so hot when current passes through it that it glows brightly to emit light.</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err="1" sz="2200" b="0">
                <a:solidFill>
                  <a:srgbClr val="243B53"/>
                </a:solidFill>
                <a:latin typeface="Arial" pitchFamily="18" charset="0"/>
                <a:ea typeface="Arial"/>
                <a:cs typeface="Arial" pitchFamily="18" charset="0"/>
              </a:rPr>
              <a:t>Electreic</a:t>
            </a:r>
            <a:r>
              <a:rPr lang="en-US" dirty="0" sz="2200" b="0">
                <a:solidFill>
                  <a:srgbClr val="243B53"/>
                </a:solidFill>
                <a:latin typeface="Arial" pitchFamily="18" charset="0"/>
                <a:ea typeface="Arial"/>
                <a:cs typeface="Arial" pitchFamily="18" charset="0"/>
              </a:rPr>
              <a:t> Fuses: A </a:t>
            </a:r>
            <a:r>
              <a:rPr lang="en-US" dirty="0" err="1" sz="2200" b="0">
                <a:solidFill>
                  <a:srgbClr val="243B53"/>
                </a:solidFill>
                <a:latin typeface="Arial" pitchFamily="18" charset="0"/>
                <a:ea typeface="Arial"/>
                <a:cs typeface="Arial" pitchFamily="18" charset="0"/>
              </a:rPr>
              <a:t>safty</a:t>
            </a:r>
            <a:r>
              <a:rPr lang="en-US" dirty="0" sz="2200" b="0">
                <a:solidFill>
                  <a:srgbClr val="243B53"/>
                </a:solidFill>
                <a:latin typeface="Arial" pitchFamily="18" charset="0"/>
                <a:ea typeface="Arial"/>
                <a:cs typeface="Arial" pitchFamily="18" charset="0"/>
              </a:rPr>
              <a:t> wire with a low melting point is placed in a circuit , if excessive current flows , the intense joule heating melts the wire , breaking the circuit to prevent fires or damage</a:t>
            </a:r>
            <a:endParaRPr sz="2200" b="0">
              <a:solidFill>
                <a:srgbClr val="243B53"/>
              </a:solidFill>
              <a:latin typeface="Arial"/>
              <a:ea typeface="Arial"/>
              <a:cs typeface="Arial"/>
            </a:endParaRPr>
          </a:p>
          <a:p>
            <a:pPr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Tree>
    <p:extLst>
      <p:ext uri="{BB962C8B-B14F-4D97-AF65-F5344CB8AC3E}">
        <p14:creationId val="3427303805"/>
      </p:ext>
    </p:extLst>
  </p:cSld>
  <p:clrMapOvr>
    <a:masterClrMapping/>
  </p:clrMapOvr>
  <p:transition spd="slow">
    <p:push dir="u"/>
  </p:transition>
</p:sld>
</file>

<file path=ppt/slides/slide41.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SOURCE OF ELECTRICAL ENERGY</a:t>
            </a:r>
            <a:endParaRPr sz="2050" b="1">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Electrical energy is a </a:t>
            </a:r>
            <a:r>
              <a:rPr lang="en-US" dirty="0" err="1" sz="2000" b="0">
                <a:solidFill>
                  <a:srgbClr val="243B53"/>
                </a:solidFill>
                <a:latin typeface="Arial" pitchFamily="18" charset="0"/>
                <a:ea typeface="Arial"/>
                <a:cs typeface="Arial" pitchFamily="18" charset="0"/>
              </a:rPr>
              <a:t>secondry</a:t>
            </a:r>
            <a:r>
              <a:rPr lang="en-US" dirty="0" sz="2000" b="0">
                <a:solidFill>
                  <a:srgbClr val="243B53"/>
                </a:solidFill>
                <a:latin typeface="Arial" pitchFamily="18" charset="0"/>
                <a:ea typeface="Arial"/>
                <a:cs typeface="Arial" pitchFamily="18" charset="0"/>
              </a:rPr>
              <a:t> energy source produced by converting primary energy sources – such as fossil fuels , nuclear reactions , and natural forces – into an electrical current via generators or photovoltaic cells. The primary sources of electrical energy are divided into non – renewable and renewable categories. </a:t>
            </a:r>
            <a:endParaRPr lang="en-US" dirty="0" smtClean="0" sz="2000" b="0">
              <a:solidFill>
                <a:srgbClr val="243B53"/>
              </a:solidFill>
              <a:latin typeface="Arial" pitchFamily="18" charset="0"/>
              <a:ea typeface="Arial"/>
              <a:cs typeface="Arial" pitchFamily="18" charset="0"/>
            </a:endParaRPr>
          </a:p>
          <a:p>
            <a:pPr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NON – RENEWABLE SOURCES</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Fossil fuels : Coal , natural gas , and petroleum are burned to </a:t>
            </a:r>
            <a:r>
              <a:rPr lang="en-US" dirty="0" err="1" sz="2000" b="0">
                <a:solidFill>
                  <a:srgbClr val="243B53"/>
                </a:solidFill>
                <a:latin typeface="Arial" pitchFamily="18" charset="0"/>
                <a:ea typeface="Arial"/>
                <a:cs typeface="Arial" pitchFamily="18" charset="0"/>
              </a:rPr>
              <a:t>creat</a:t>
            </a:r>
            <a:r>
              <a:rPr lang="en-US" dirty="0" sz="2000" b="0">
                <a:solidFill>
                  <a:srgbClr val="243B53"/>
                </a:solidFill>
                <a:latin typeface="Arial" pitchFamily="18" charset="0"/>
                <a:ea typeface="Arial"/>
                <a:cs typeface="Arial" pitchFamily="18" charset="0"/>
              </a:rPr>
              <a:t> heat, which produces steam to drive turbines and generators.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Nuclear Energy : Uses the heat  generated from  splitting atomic nuclei ( Nuclear fission ) in a reactor to produce steam and turn turbines.</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2459852436"/>
      </p:ext>
    </p:extLst>
  </p:cSld>
  <p:clrMapOvr>
    <a:masterClrMapping/>
  </p:clrMapOvr>
  <p:transition spd="slow">
    <p:push dir="u"/>
  </p:transition>
</p:sld>
</file>

<file path=ppt/slides/slide42.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RENEWABLE </a:t>
            </a:r>
            <a:r>
              <a:rPr lang="en-US" b="1" dirty="0" smtClean="0" sz="2050">
                <a:solidFill>
                  <a:srgbClr val="243B53"/>
                </a:solidFill>
                <a:latin typeface="Arial" pitchFamily="18" charset="0"/>
                <a:ea typeface="Arial"/>
                <a:cs typeface="Arial" pitchFamily="18" charset="0"/>
              </a:rPr>
              <a:t>SOURCES: </a:t>
            </a:r>
            <a:endParaRPr lang="en-US" b="1" dirty="0" sz="2050">
              <a:solidFill>
                <a:srgbClr val="243B53"/>
              </a:solidFill>
              <a:latin typeface="Arial" pitchFamily="18" charset="0"/>
              <a:ea typeface="Arial"/>
              <a:cs typeface="Arial" pitchFamily="18" charset="0"/>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Hydropower. Uses the kinetic energy of falling or flowing water in rivers and dams to spin water turbines.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Solar Energy: Converts sunlight directly into electricity using photovoltaic solar panels, or uses solar thermal systems to create steam.</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Wind Energy: Harnesses the movement of air to turn wind turbine blades connected to generators.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Geothermal Energy: </a:t>
            </a:r>
            <a:r>
              <a:rPr lang="en-US" dirty="0" err="1" sz="2000" b="0">
                <a:solidFill>
                  <a:srgbClr val="243B53"/>
                </a:solidFill>
                <a:latin typeface="Arial" pitchFamily="18" charset="0"/>
                <a:ea typeface="Arial"/>
                <a:cs typeface="Arial" pitchFamily="18" charset="0"/>
              </a:rPr>
              <a:t>Utiliizes</a:t>
            </a:r>
            <a:r>
              <a:rPr lang="en-US" dirty="0" sz="2000" b="0">
                <a:solidFill>
                  <a:srgbClr val="243B53"/>
                </a:solidFill>
                <a:latin typeface="Arial" pitchFamily="18" charset="0"/>
                <a:ea typeface="Arial"/>
                <a:cs typeface="Arial" pitchFamily="18" charset="0"/>
              </a:rPr>
              <a:t> heat from deep inside the earth to produce steam that drives </a:t>
            </a:r>
            <a:r>
              <a:rPr lang="en-US" dirty="0" err="1" sz="2000" b="0">
                <a:solidFill>
                  <a:srgbClr val="243B53"/>
                </a:solidFill>
                <a:latin typeface="Arial" pitchFamily="18" charset="0"/>
                <a:ea typeface="Arial"/>
                <a:cs typeface="Arial" pitchFamily="18" charset="0"/>
              </a:rPr>
              <a:t>poer</a:t>
            </a:r>
            <a:r>
              <a:rPr lang="en-US" dirty="0" sz="2000" b="0">
                <a:solidFill>
                  <a:srgbClr val="243B53"/>
                </a:solidFill>
                <a:latin typeface="Arial" pitchFamily="18" charset="0"/>
                <a:ea typeface="Arial"/>
                <a:cs typeface="Arial" pitchFamily="18" charset="0"/>
              </a:rPr>
              <a:t> plant turbines.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Biomass : Burns organic materials like wood , agricultural crops , or waste to create heat and steam.</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3332586580"/>
      </p:ext>
    </p:extLst>
  </p:cSld>
  <p:clrMapOvr>
    <a:masterClrMapping/>
  </p:clrMapOvr>
  <p:transition spd="slow">
    <p:push dir="u"/>
  </p:transition>
</p:sld>
</file>

<file path=ppt/slides/slide43.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Tidal and Wave Energy: Captures the kinetic and potential energy of ocean tidesand waves to power underwater turbines</a:t>
            </a:r>
            <a:r>
              <a:rPr lang="en-US" dirty="0" smtClean="0" sz="2000" b="0">
                <a:solidFill>
                  <a:srgbClr val="243B53"/>
                </a:solidFill>
                <a:latin typeface="Arial" pitchFamily="18" charset="0"/>
                <a:ea typeface="Arial"/>
                <a:cs typeface="Arial" pitchFamily="18" charset="0"/>
              </a:rPr>
              <a:t>.</a:t>
            </a:r>
            <a:endParaRPr sz="2000" b="0">
              <a:solidFill>
                <a:srgbClr val="243B53"/>
              </a:solidFill>
              <a:latin typeface="Arial"/>
              <a:ea typeface="Arial"/>
              <a:cs typeface="Arial"/>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b="0" dirty="0" sz="100">
              <a:solidFill>
                <a:srgbClr val="243B53"/>
              </a:solidFill>
              <a:latin typeface="Arial" pitchFamily="18" charset="0"/>
              <a:ea typeface="Arial"/>
              <a:cs typeface="Arial" pitchFamily="18" charset="0"/>
            </a:endParaRPr>
          </a:p>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OTHER SOURCES AND METHODS</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Chemical energy ( batteries and fuel cells ): Voltaic cells and electrochemical reactions produce direct current ( DC } electricity.</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Physical/ Mechanical Generation: Small  - scale or specialized generation can </a:t>
            </a:r>
            <a:r>
              <a:rPr lang="en-US" dirty="0" err="1" sz="2000" b="0">
                <a:solidFill>
                  <a:srgbClr val="243B53"/>
                </a:solidFill>
                <a:latin typeface="Arial" pitchFamily="18" charset="0"/>
                <a:ea typeface="Arial"/>
                <a:cs typeface="Arial" pitchFamily="18" charset="0"/>
              </a:rPr>
              <a:t>occure</a:t>
            </a:r>
            <a:r>
              <a:rPr lang="en-US" dirty="0" sz="2000" b="0">
                <a:solidFill>
                  <a:srgbClr val="243B53"/>
                </a:solidFill>
                <a:latin typeface="Arial" pitchFamily="18" charset="0"/>
                <a:ea typeface="Arial"/>
                <a:cs typeface="Arial" pitchFamily="18" charset="0"/>
              </a:rPr>
              <a:t> via friction/ heat ( thermoelectricity ) , light ( photoelectric ) or pressure ( piezoelectric crystals ).</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r>
              <a:rPr lang="en-US" dirty="0" sz="100" b="0">
                <a:solidFill>
                  <a:srgbClr val="243B53"/>
                </a:solidFill>
                <a:latin typeface="Arial" pitchFamily="18" charset="0"/>
                <a:ea typeface="Arial"/>
                <a:cs typeface="Arial" pitchFamily="18" charset="0"/>
              </a:rPr>
              <a:t> </a:t>
            </a:r>
            <a:endParaRPr sz="1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1540281811"/>
      </p:ext>
    </p:extLst>
  </p:cSld>
  <p:clrMapOvr>
    <a:masterClrMapping/>
  </p:clrMapOvr>
  <p:transition spd="slow">
    <p:push dir="u"/>
  </p:transition>
</p:sld>
</file>

<file path=ppt/slides/slide44.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E M F AND P D</a:t>
            </a:r>
            <a:endParaRPr sz="2050" b="1">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Electromotive  force ( E M F )  and potential difference ( P D ) are both measured in volts ( V ) , but they describe different stages of energy movement in an electric circuit. </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50" b="1">
                <a:solidFill>
                  <a:srgbClr val="243B53"/>
                </a:solidFill>
                <a:latin typeface="Arial"/>
                <a:ea typeface="Arial"/>
                <a:cs typeface="Arial"/>
              </a:defRPr>
            </a:pPr>
            <a:r>
              <a:rPr lang="en-US" dirty="0" sz="2050" b="1">
                <a:solidFill>
                  <a:srgbClr val="243B53"/>
                </a:solidFill>
                <a:latin typeface="Arial" pitchFamily="18" charset="0"/>
                <a:ea typeface="Arial"/>
                <a:cs typeface="Arial" pitchFamily="18" charset="0"/>
              </a:rPr>
              <a:t>ELECTROMOTIVE FORCE ( E M F ) </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Definition: The total energy supplied by a power source ( like a battery or generator ) per unit charge to move electricity around a complete circuit . Think of it as the total  “push ) or open – circuit voltage available.</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Key trait: It exists even when no current is flowing ( open circuit ) . It is the cause that drives charges.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50" b="1">
                <a:solidFill>
                  <a:srgbClr val="243B53"/>
                </a:solidFill>
                <a:latin typeface="Arial"/>
                <a:ea typeface="Arial"/>
                <a:cs typeface="Arial"/>
              </a:defRPr>
            </a:pPr>
            <a:r>
              <a:rPr lang="en-US" dirty="0" sz="2050" b="1">
                <a:solidFill>
                  <a:srgbClr val="243B53"/>
                </a:solidFill>
                <a:latin typeface="Arial" pitchFamily="18" charset="0"/>
                <a:ea typeface="Arial"/>
                <a:cs typeface="Arial" pitchFamily="18" charset="0"/>
              </a:rPr>
              <a:t>Example:</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A brand – new 1.5 – volt AA alkaline battery sitting on a table has an EMF of 1.5v.</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864159835"/>
      </p:ext>
    </p:extLst>
  </p:cSld>
  <p:clrMapOvr>
    <a:masterClrMapping/>
  </p:clrMapOvr>
  <p:transition spd="slow">
    <p:push dir="u"/>
  </p:transition>
</p:sld>
</file>

<file path=ppt/slides/slide45.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A 12 – volt car battery measured across its terminals before anything is turned on has an EMF of 12v.</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The voltage rating printed on the side of a 9 – volt battery ( 9 v </a:t>
            </a:r>
            <a:r>
              <a:rPr lang="en-US" dirty="0" smtClean="0" sz="2200" b="0">
                <a:solidFill>
                  <a:srgbClr val="243B53"/>
                </a:solidFill>
                <a:latin typeface="Arial" pitchFamily="18" charset="0"/>
                <a:ea typeface="Arial"/>
                <a:cs typeface="Arial" pitchFamily="18" charset="0"/>
              </a:rPr>
              <a:t>).</a:t>
            </a:r>
            <a:endParaRPr sz="2200" b="0">
              <a:solidFill>
                <a:srgbClr val="243B53"/>
              </a:solidFill>
              <a:latin typeface="Arial"/>
              <a:ea typeface="Arial"/>
              <a:cs typeface="Arial"/>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marL="0" indent="0" algn="l">
              <a:lnSpc>
                <a:spcPct val="118000"/>
              </a:lnSpc>
              <a:spcBef>
                <a:spcPts val="0"/>
              </a:spcBef>
              <a:spcAft>
                <a:spcPts val="450"/>
              </a:spcAft>
              <a:buNone/>
              <a:defRPr sz="2250" b="1">
                <a:solidFill>
                  <a:srgbClr val="243B53"/>
                </a:solidFill>
                <a:latin typeface="Arial"/>
                <a:ea typeface="Arial"/>
                <a:cs typeface="Arial"/>
              </a:defRPr>
            </a:pPr>
            <a:r>
              <a:rPr lang="en-US" b="1" dirty="0" sz="2250">
                <a:solidFill>
                  <a:srgbClr val="243B53"/>
                </a:solidFill>
                <a:latin typeface="Arial" pitchFamily="18" charset="0"/>
                <a:ea typeface="Arial"/>
                <a:cs typeface="Arial" pitchFamily="18" charset="0"/>
              </a:rPr>
              <a:t>POTENTIAL DIFFERENCE (PD )</a:t>
            </a:r>
            <a:endParaRPr sz="2250" b="1">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Definition: The amount of electrical energy converted into other forms of energy ( like light , heat , or motion ) as charge passes through a specific component . It  is the effect of current encountering resistance.</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3319012881"/>
      </p:ext>
    </p:extLst>
  </p:cSld>
  <p:clrMapOvr>
    <a:masterClrMapping/>
  </p:clrMapOvr>
  <p:transition spd="slow">
    <p:push dir="u"/>
  </p:transition>
</p:sld>
</file>

<file path=ppt/slides/slide46.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250" b="1">
                <a:solidFill>
                  <a:srgbClr val="243B53"/>
                </a:solidFill>
                <a:latin typeface="Arial"/>
                <a:ea typeface="Arial"/>
                <a:cs typeface="Arial"/>
              </a:defRPr>
            </a:pPr>
            <a:r>
              <a:rPr lang="en-US" b="1" dirty="0" sz="2250">
                <a:solidFill>
                  <a:srgbClr val="243B53"/>
                </a:solidFill>
                <a:latin typeface="Arial" pitchFamily="18" charset="0"/>
                <a:ea typeface="Arial"/>
                <a:cs typeface="Arial" pitchFamily="18" charset="0"/>
              </a:rPr>
              <a:t>Examples: </a:t>
            </a:r>
            <a:endParaRPr sz="22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The voltage measured across an active light bulb </a:t>
            </a:r>
            <a:r>
              <a:rPr lang="en-US" dirty="0" err="1" sz="2200" b="0">
                <a:solidFill>
                  <a:srgbClr val="243B53"/>
                </a:solidFill>
                <a:latin typeface="Arial" pitchFamily="18" charset="0"/>
                <a:ea typeface="Arial"/>
                <a:cs typeface="Arial" pitchFamily="18" charset="0"/>
              </a:rPr>
              <a:t>shinig</a:t>
            </a:r>
            <a:r>
              <a:rPr lang="en-US" dirty="0" sz="2200" b="0">
                <a:solidFill>
                  <a:srgbClr val="243B53"/>
                </a:solidFill>
                <a:latin typeface="Arial" pitchFamily="18" charset="0"/>
                <a:ea typeface="Arial"/>
                <a:cs typeface="Arial" pitchFamily="18" charset="0"/>
              </a:rPr>
              <a:t> in a circuit ( eg. 1.2 v dropped across the filament ).</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The voltage drop across a resistor in a phone charger circuit.</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The terminal voltage of a 12 v car battery while the headlights and engine are turned on , which drops slightly below 12 v ( eg 11.5 v ) because of internal resistance.</a:t>
            </a:r>
            <a:endParaRPr sz="2200" b="0">
              <a:solidFill>
                <a:srgbClr val="243B53"/>
              </a:solidFill>
              <a:latin typeface="Arial"/>
              <a:ea typeface="Arial"/>
              <a:cs typeface="Arial"/>
            </a:endParaRPr>
          </a:p>
          <a:p>
            <a:pPr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2561187729"/>
      </p:ext>
    </p:extLst>
  </p:cSld>
  <p:clrMapOvr>
    <a:masterClrMapping/>
  </p:clrMapOvr>
  <p:transition spd="slow">
    <p:push dir="u"/>
  </p:transition>
</p:sld>
</file>

<file path=ppt/slides/slide47.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algn="l" marL="0" indent="0">
              <a:lnSpc>
                <a:spcPct val="118000"/>
              </a:lnSpc>
              <a:spcBef>
                <a:spcPts val="0"/>
              </a:spcBef>
              <a:spcAft>
                <a:spcPts val="450"/>
              </a:spcAft>
              <a:defRPr sz="2050" b="1">
                <a:solidFill>
                  <a:srgbClr val="243B53"/>
                </a:solidFill>
                <a:latin typeface="Arial"/>
                <a:ea typeface="Arial"/>
                <a:cs typeface="Arial"/>
              </a:defRPr>
            </a:pPr>
            <a:r>
              <a:rPr lang="en-US" dirty="0" sz="2050" b="1">
                <a:solidFill>
                  <a:srgbClr val="243B53"/>
                </a:solidFill>
                <a:latin typeface="Arial"/>
                <a:ea typeface="Arial"/>
                <a:cs typeface="Arial"/>
              </a:rPr>
              <a:t>QUICK COMPARISM</a:t>
            </a:r>
            <a:endParaRPr sz="2050" b="1">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FEATURE                                          E M F                                         P D</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What it represents          Energy provided to charges        Energy used by a component</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                                           By a source                                     or load</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Scope                                The entire circuit/ source             Between any two points in a circuit</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When current is zero      Present ( equal to open                zero</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                                            Circuit voltage )</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a:ea typeface="Arial"/>
                <a:cs typeface="Arial"/>
              </a:rPr>
              <a:t>Unit                                     Volts ( V )                                         Volts ( V ).</a:t>
            </a:r>
            <a:endParaRPr sz="20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r>
              <a:rPr lang="en-US" dirty="0" sz="100" b="0">
                <a:solidFill>
                  <a:srgbClr val="243B53"/>
                </a:solidFill>
                <a:latin typeface="Arial"/>
                <a:ea typeface="Arial"/>
                <a:cs typeface="Arial"/>
              </a:rPr>
              <a:t>     </a:t>
            </a:r>
            <a:endParaRPr sz="1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4018793586"/>
      </p:ext>
    </p:extLst>
  </p:cSld>
  <p:clrMapOvr>
    <a:masterClrMapping/>
  </p:clrMapOvr>
  <p:transition spd="slow">
    <p:push dir="u"/>
  </p:transition>
</p:sld>
</file>

<file path=ppt/slides/slide48.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THE PROPERTIES OF X – RAYS</a:t>
            </a:r>
            <a:endParaRPr sz="2050" b="1">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X-RAYS are high – energy forms of electromagnetic radiation.</a:t>
            </a:r>
            <a:endParaRPr sz="2000" b="0">
              <a:solidFill>
                <a:srgbClr val="243B53"/>
              </a:solidFill>
              <a:latin typeface="Arial"/>
              <a:ea typeface="Arial"/>
              <a:cs typeface="Arial"/>
            </a:endParaRPr>
          </a:p>
          <a:p>
            <a:pPr algn="l" marL="0" indent="0">
              <a:lnSpc>
                <a:spcPct val="118000"/>
              </a:lnSpc>
              <a:spcBef>
                <a:spcPts val="0"/>
              </a:spcBef>
              <a:spcAft>
                <a:spcPts val="450"/>
              </a:spcAft>
              <a:defRPr sz="2050" b="1">
                <a:solidFill>
                  <a:srgbClr val="243B53"/>
                </a:solidFill>
                <a:latin typeface="Arial"/>
                <a:ea typeface="Arial"/>
                <a:cs typeface="Arial"/>
              </a:defRPr>
            </a:pPr>
            <a:r>
              <a:rPr lang="en-US" dirty="0" sz="2050" b="1">
                <a:solidFill>
                  <a:srgbClr val="243B53"/>
                </a:solidFill>
                <a:latin typeface="Arial" pitchFamily="18" charset="0"/>
                <a:ea typeface="Arial"/>
                <a:cs typeface="Arial" pitchFamily="18" charset="0"/>
              </a:rPr>
              <a:t>CORE PHYSICAL PROPERTIES</a:t>
            </a:r>
            <a:endParaRPr sz="2050" b="1">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Electromagnetic nature: They belong to the electromagnetic spectrum with short wavelength ( typically 0.01 to 10 nanometers ) and high frequencies.</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Speed: They travel in a straight line at the speed of light ( 3* 10 8 m/s)in a vacuum.</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No mass or charge : X-ray photons are pure energy; they carry no electrical charge or mass.</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No Direction: Because they are electrically neutral, electric and magnetic fields cannot deflect or steer them.</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Penetrating power: They can pass through materials that block visible light , such as wood , paper, flesh , and soft tissues’.</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3630794088"/>
      </p:ext>
    </p:extLst>
  </p:cSld>
  <p:clrMapOvr>
    <a:masterClrMapping/>
  </p:clrMapOvr>
  <p:transition spd="slow">
    <p:push dir="u"/>
  </p:transition>
</p:sld>
</file>

<file path=ppt/slides/slide49.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Differential Absorption: Denser  materials like bone and metal absorb or block x-rays, while soft tissues let them pass through, which creates contrast in medical images’.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Ionization ability: They  carry enough energy to strip electrons from atoms and create ions, which can trigger chemical changes or damage living cells.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Photographic and fluorescent effects: They expose photographic and x-ray film ( turning it dark/ black where exposed) and cause certain crystals to fluoresce ( emit visible light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Refraction and reflection: They have extremely small wavelengths, making them difficult to reflect or refract the way visible light does ( though they can undergo diffraction and scattering ).</a:t>
            </a:r>
            <a:endParaRPr sz="2000" b="0">
              <a:solidFill>
                <a:srgbClr val="243B53"/>
              </a:solidFill>
              <a:latin typeface="Arial"/>
              <a:ea typeface="Arial"/>
              <a:cs typeface="Arial"/>
            </a:endParaRPr>
          </a:p>
          <a:p>
            <a:pPr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817257051"/>
      </p:ext>
    </p:extLst>
  </p:cSld>
  <p:clrMapOvr>
    <a:masterClrMapping/>
  </p:clrMapOvr>
  <p:transition spd="slow">
    <p:push dir="u"/>
  </p:transition>
</p:sld>
</file>

<file path=ppt/slides/slide50.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THE PRODUCTION OF </a:t>
            </a:r>
            <a:r>
              <a:rPr lang="en-US" b="1" dirty="0" smtClean="0" sz="2050">
                <a:solidFill>
                  <a:srgbClr val="243B53"/>
                </a:solidFill>
                <a:latin typeface="Arial" pitchFamily="18" charset="0"/>
                <a:ea typeface="Arial"/>
                <a:cs typeface="Arial" pitchFamily="18" charset="0"/>
              </a:rPr>
              <a:t>X-RAYS</a:t>
            </a:r>
            <a:endParaRPr sz="2050" b="1">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b="0" dirty="0" sz="100">
              <a:solidFill>
                <a:srgbClr val="243B53"/>
              </a:solidFill>
              <a:latin typeface="Arial" pitchFamily="18" charset="0"/>
              <a:ea typeface="Arial"/>
              <a:cs typeface="Arial" pitchFamily="18" charset="0"/>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X-rays are produced inside an evacuated glass x-ray tube through a process where fast moving electrons are rapidly decelerated or cause atomic transitions when they strike a metal target.</a:t>
            </a:r>
            <a:endParaRPr sz="2000" b="0">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50" b="1">
                <a:solidFill>
                  <a:srgbClr val="243B53"/>
                </a:solidFill>
                <a:latin typeface="Arial"/>
                <a:ea typeface="Arial"/>
                <a:cs typeface="Arial"/>
              </a:defRPr>
            </a:pPr>
            <a:r>
              <a:rPr lang="en-US" dirty="0" sz="2050" b="1">
                <a:solidFill>
                  <a:srgbClr val="243B53"/>
                </a:solidFill>
                <a:latin typeface="Arial" pitchFamily="18" charset="0"/>
                <a:ea typeface="Arial"/>
                <a:cs typeface="Arial" pitchFamily="18" charset="0"/>
              </a:rPr>
              <a:t>THE PRODUCTION PROCESS IN AN X-RAY TUBE</a:t>
            </a:r>
            <a:endParaRPr sz="2050" b="1">
              <a:solidFill>
                <a:srgbClr val="243B53"/>
              </a:solidFill>
              <a:latin typeface="Arial"/>
              <a:ea typeface="Arial"/>
              <a:cs typeface="Arial"/>
            </a:endParaRPr>
          </a:p>
          <a:p>
            <a:pPr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The generation of  x-rays requires three main steps happening inside the tube</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Electron emission ( thermionic emission ) :  An electrical current heats a tungsten filament at the negative cathode , causing it to”” boil off”” electrons and form a cloud of free electrons.</a:t>
            </a:r>
            <a:endParaRPr sz="2000" b="0">
              <a:solidFill>
                <a:srgbClr val="243B53"/>
              </a:solidFill>
              <a:latin typeface="Arial"/>
              <a:ea typeface="Arial"/>
              <a:cs typeface="Arial"/>
            </a:endParaRPr>
          </a:p>
          <a:p>
            <a:pPr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1564969417"/>
      </p:ext>
    </p:extLst>
  </p:cSld>
  <p:clrMapOvr>
    <a:masterClrMapping/>
  </p:clrMapOvr>
  <p:transition spd="slow">
    <p:push dir="u"/>
  </p:transition>
</p:sld>
</file>

<file path=ppt/slides/slide51.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Electron Acceleration: A high electrical voltage  ( measured in kilovolts or </a:t>
            </a:r>
            <a:r>
              <a:rPr lang="en-US" dirty="0" err="1" sz="2000" b="0">
                <a:solidFill>
                  <a:srgbClr val="243B53"/>
                </a:solidFill>
                <a:latin typeface="Arial" pitchFamily="18" charset="0"/>
                <a:ea typeface="Arial"/>
                <a:cs typeface="Arial" pitchFamily="18" charset="0"/>
              </a:rPr>
              <a:t>kvp</a:t>
            </a:r>
            <a:r>
              <a:rPr lang="en-US" dirty="0" sz="2000" b="0">
                <a:solidFill>
                  <a:srgbClr val="243B53"/>
                </a:solidFill>
                <a:latin typeface="Arial" pitchFamily="18" charset="0"/>
                <a:ea typeface="Arial"/>
                <a:cs typeface="Arial" pitchFamily="18" charset="0"/>
              </a:rPr>
              <a:t>) is applied between the cathode and the positive anode. This voltage pulls and accelerates the electrons across the vacuum toward the anode at up to half the speed of light.</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Sudden deceleration ( Target impact ) : When the high – speed electrons crash into a heavy metal target ( usually tungsten ) on the anode, roughly 99% of their energy converts into heat while about 1% converts into x-ray photons</a:t>
            </a:r>
            <a:r>
              <a:rPr lang="en-US" dirty="0" smtClean="0" sz="2000" b="0">
                <a:solidFill>
                  <a:srgbClr val="243B53"/>
                </a:solidFill>
                <a:latin typeface="Arial" pitchFamily="18" charset="0"/>
                <a:ea typeface="Arial"/>
                <a:cs typeface="Arial" pitchFamily="18" charset="0"/>
              </a:rPr>
              <a:t>.</a:t>
            </a:r>
            <a:endParaRPr sz="2000" b="0">
              <a:solidFill>
                <a:srgbClr val="243B53"/>
              </a:solidFill>
              <a:latin typeface="Arial"/>
              <a:ea typeface="Arial"/>
              <a:cs typeface="Arial"/>
            </a:endParaRPr>
          </a:p>
          <a:p>
            <a:pPr lvl="0"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z="2050">
                <a:solidFill>
                  <a:srgbClr val="243B53"/>
                </a:solidFill>
                <a:latin typeface="Arial" pitchFamily="18" charset="0"/>
                <a:ea typeface="Arial"/>
                <a:cs typeface="Arial" pitchFamily="18" charset="0"/>
              </a:rPr>
              <a:t>TWO MECHANISMS OF X-RAY GENERATION</a:t>
            </a:r>
            <a:endParaRPr sz="2050" b="1">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When electrons hit the target , x-rays are emitted through two distinct physical interactions.</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1703011764"/>
      </p:ext>
    </p:extLst>
  </p:cSld>
  <p:clrMapOvr>
    <a:masterClrMapping/>
  </p:clrMapOvr>
  <p:transition spd="slow">
    <p:push dir="u"/>
  </p:transition>
  <p:timing>
    <p:tnLst>
      <p:par>
        <p:cTn id="1" dur="indefinite" restart="never" nodeType="tmRoot"/>
      </p:par>
    </p:tnLst>
  </p:timing>
</p:sld>
</file>

<file path=ppt/slides/slide52.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marL="0" lvl="0" indent="0" algn="l">
              <a:lnSpc>
                <a:spcPct val="118000"/>
              </a:lnSpc>
              <a:spcBef>
                <a:spcPts val="0"/>
              </a:spcBef>
              <a:spcAft>
                <a:spcPts val="450"/>
              </a:spcAft>
              <a:buNone/>
              <a:defRPr sz="2250" b="1">
                <a:solidFill>
                  <a:srgbClr val="243B53"/>
                </a:solidFill>
                <a:latin typeface="Arial"/>
                <a:ea typeface="Arial"/>
                <a:cs typeface="Arial"/>
              </a:defRPr>
            </a:pPr>
            <a:r>
              <a:rPr lang="en-US" b="1" dirty="0" sz="2250">
                <a:solidFill>
                  <a:srgbClr val="243B53"/>
                </a:solidFill>
                <a:latin typeface="Arial" pitchFamily="18" charset="0"/>
                <a:ea typeface="Arial"/>
                <a:cs typeface="Arial" pitchFamily="18" charset="0"/>
              </a:rPr>
              <a:t>BREMSSTRAHLUNG ( BRAKING RADIATION ): </a:t>
            </a:r>
            <a:endParaRPr sz="2250" b="1">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An incoming high-speed electron passes close to the nucleus of a tungsten atom.</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The strong positive pull of the nucleus sharply bends and slows down ( brakes ) the electron.</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The lost kinetic energy is released as an x-ray photon. This produces a continuous range of x-ray energies and accounts for the majority of x-rays generated’</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4130911458"/>
      </p:ext>
    </p:extLst>
  </p:cSld>
  <p:clrMapOvr>
    <a:masterClrMapping/>
  </p:clrMapOvr>
  <p:transition spd="slow">
    <p:push dir="u"/>
  </p:transition>
  <p:timing>
    <p:tnLst>
      <p:par>
        <p:cTn id="1" dur="indefinite" restart="never" nodeType="tmRoot"/>
      </p:par>
    </p:tnLst>
  </p:timing>
</p:sld>
</file>

<file path=ppt/slides/slide53.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a:extLst>
            <a:ext uri="{FF2B5EF4-FFF2-40B4-BE49-F238E27FC236}">
              <a16:creationId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670560" y="582930"/>
            <a:ext cx="10850880" cy="5589270"/>
          </a:xfrm>
        </p:spPr>
        <p:txBody>
          <a:bodyPr wrap="square" anchor="t" lIns="0" rIns="0" tIns="0" bIns="0">
            <a:normAutofit fontScale="100000" lnSpcReduction="0"/>
          </a:bodyPr>
          <a:lstStyle/>
          <a:p>
            <a:pPr marL="0" lvl="0" indent="0" algn="l">
              <a:lnSpc>
                <a:spcPct val="118000"/>
              </a:lnSpc>
              <a:spcBef>
                <a:spcPts val="0"/>
              </a:spcBef>
              <a:spcAft>
                <a:spcPts val="450"/>
              </a:spcAft>
              <a:buNone/>
              <a:defRPr sz="2250" b="1">
                <a:solidFill>
                  <a:srgbClr val="243B53"/>
                </a:solidFill>
                <a:latin typeface="Arial"/>
                <a:ea typeface="Arial"/>
                <a:cs typeface="Arial"/>
              </a:defRPr>
            </a:pPr>
            <a:r>
              <a:rPr lang="en-US" b="1" dirty="0" sz="2250">
                <a:solidFill>
                  <a:srgbClr val="243B53"/>
                </a:solidFill>
                <a:latin typeface="Arial" pitchFamily="18" charset="0"/>
                <a:ea typeface="Arial"/>
                <a:cs typeface="Arial" pitchFamily="18" charset="0"/>
              </a:rPr>
              <a:t>CHARACTERISTIC </a:t>
            </a:r>
            <a:r>
              <a:rPr lang="en-US" b="1" dirty="0" smtClean="0" sz="2250">
                <a:solidFill>
                  <a:srgbClr val="243B53"/>
                </a:solidFill>
                <a:latin typeface="Arial" pitchFamily="18" charset="0"/>
                <a:ea typeface="Arial"/>
                <a:cs typeface="Arial" pitchFamily="18" charset="0"/>
              </a:rPr>
              <a:t>RADIATION</a:t>
            </a:r>
            <a:endParaRPr sz="2250" b="1">
              <a:solidFill>
                <a:srgbClr val="243B53"/>
              </a:solidFill>
              <a:latin typeface="Arial"/>
              <a:ea typeface="Arial"/>
              <a:cs typeface="Arial"/>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b="0" dirty="0" sz="100">
              <a:solidFill>
                <a:srgbClr val="243B53"/>
              </a:solidFill>
              <a:latin typeface="Arial" pitchFamily="18" charset="0"/>
              <a:ea typeface="Arial"/>
              <a:cs typeface="Arial" pitchFamily="18" charset="0"/>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An incoming electron collides directly with an inner-shell ( eg k-shell ) electron of a target atom and knocks it out of orbit.</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An electron from outer , higher –energy shell drops down to fill the empty space .</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Wingdings" pitchFamily="2" charset="2"/>
              <a:buChar char="ü"/>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This drop releases a burst of energy in the form of  an x-ray photon with a specific , sharp energy level unique to the target material  .</a:t>
            </a:r>
            <a:endParaRPr sz="2200" b="0">
              <a:solidFill>
                <a:srgbClr val="243B53"/>
              </a:solidFill>
              <a:latin typeface="Arial"/>
              <a:ea typeface="Arial"/>
              <a:cs typeface="Arial"/>
            </a:endParaRPr>
          </a:p>
          <a:p>
            <a:pPr algn="l" marL="0" indent="0">
              <a:lnSpc>
                <a:spcPts val="100"/>
              </a:lnSpc>
              <a:spcBef>
                <a:spcPts val="0"/>
              </a:spcBef>
              <a:spcAft>
                <a:spcPts val="0"/>
              </a:spcAft>
              <a:buFont typeface="Wingdings" pitchFamily="2" charset="2"/>
              <a:buChar char="ü"/>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2893133214"/>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424</TotalTime>
  <Words>4798</Words>
  <Application>Microsoft Office PowerPoint</Application>
  <PresentationFormat>Custom</PresentationFormat>
  <Paragraphs>404</Paragraphs>
  <Slides>53</Slides>
  <Notes>29</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MXT112: ATOMIC AND RADIATION PHYSICS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MXT112: ATOMIC AND RADIATION PHYSICS </dc:title>
  <dc:creator>PUMS-USERS</dc:creator>
  <cp:lastModifiedBy>USER</cp:lastModifiedBy>
  <cp:revision>68</cp:revision>
  <dcterms:created xsi:type="dcterms:W3CDTF">2026-10-19T09:31:12Z</dcterms:created>
  <dcterms:modified xsi:type="dcterms:W3CDTF">2026-10-20T12:45:19Z</dcterms:modified>
</cp:coreProperties>
</file>