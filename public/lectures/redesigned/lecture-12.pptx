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MXT 301: RADIOGRAPHIC TECHNIQUE II: LOWER LIMBS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 smtClean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BY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DR. M.P.OGOLODOM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THE RRBN RETRAINING COURSE FOR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X-RAY TECHNICIANS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 PORT HARCOURT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23</a:t>
            </a:r>
            <a:r>
              <a:rPr lang="en-US" sz="2250" b="1" baseline="3000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RD</a:t>
            </a: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OCTOBER, 2026</a:t>
            </a:r>
            <a:endParaRPr lang="en-US" sz="2250" b="1" dirty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5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TOES</a:t>
            </a:r>
            <a:endParaRPr sz="15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Indications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Fractures, dislocations, pain , swollen, pathologies, foreign bodies, RTA, trauma, assault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Patients’ Preparations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Proper identification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Explain the procedures to the patient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Reassure the patient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Remove materials around the fingers and hand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Projections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Dorsiplantar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</a:t>
            </a: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Dorsiplantar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</a:t>
            </a: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)Oblique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Patient’s Positioning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Dorsiplantar</a:t>
            </a: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(AP)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seat on the X-ray couch with knees flexed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plantar aspect of the affected foot on film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Support the side under examination with knee of the other leg to immobilize foot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 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 smtClean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Apply protection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5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13x18cm or 24x18cm split using lead rubber divider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Direction of Central Ray and </a:t>
            </a:r>
            <a:r>
              <a:rPr lang="en-US" sz="155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Centring</a:t>
            </a: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Point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Vertical 90 degree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Head of THIRD metatarsal or the individual toe under examination.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1.5-2.5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50-55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Film Focal Distance(FFD): 100cm</a:t>
            </a:r>
            <a:endParaRPr lang="en-US" sz="155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Projection for Toes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Lie the patient on the X-ray couch on the affected side with the hip and knee flexed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Rest the unaffected leg in a comfortable position in front of or behind the affected leg.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foot in the true lateral position with the knee raised on a pad and the film under the toes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foot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Apply protection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13x18cm or 24x18cm split using lead rubber divider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Direction of Central Ray and </a:t>
            </a:r>
            <a:r>
              <a:rPr lang="en-US" sz="17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Centring</a:t>
            </a: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Point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Vertical 90 degree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Head of </a:t>
            </a: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FIRST</a:t>
            </a: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metatarsal or the individual toe under examination.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1.5-2.5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50-55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Film Focal Distance(FFD): 100cm</a:t>
            </a:r>
            <a:endParaRPr lang="en-US" sz="170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Patient Positioning for </a:t>
            </a:r>
            <a:r>
              <a:rPr lang="en-US" sz="17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Dorsiplantar</a:t>
            </a: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</a:t>
            </a:r>
            <a:r>
              <a:rPr lang="en-US" sz="17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sz="17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)Oblique</a:t>
            </a:r>
            <a:endParaRPr lang="en-US" sz="17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From the AP position, the affected limb is allowed to lean medially to bring the plantar surface of the foot approximately 45 degrees to the </a:t>
            </a:r>
            <a:r>
              <a:rPr lang="en-US" sz="17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cassete</a:t>
            </a:r>
            <a:endParaRPr lang="en-US" sz="17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 45 degree non-</a:t>
            </a:r>
            <a:r>
              <a:rPr lang="en-US" sz="17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radiopaque</a:t>
            </a: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pad placed under the side of the foot for support with opposite leg acting as a support.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 </a:t>
            </a:r>
            <a:endParaRPr sz="17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Apply protection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13x18cm or 24x18cm split using lead rubber divider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sz="16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Direction of Central Ray and </a:t>
            </a:r>
            <a:r>
              <a:rPr lang="en-US" sz="16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Centring</a:t>
            </a:r>
            <a:r>
              <a:rPr lang="en-US" sz="16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Point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Vertical 90 degree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Head of FIRST metatarsal or the individual toe under examination.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1.5-2.5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50-55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Film Focal Distance(FFD): 100cm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FOOT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Positioning for </a:t>
            </a:r>
            <a:r>
              <a:rPr lang="en-US" sz="16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Dorsiplantar</a:t>
            </a:r>
            <a:r>
              <a:rPr lang="en-US" sz="16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</a:t>
            </a:r>
            <a:r>
              <a:rPr lang="en-US" sz="16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sz="16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)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seat on the X-ray couch with knees flexed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plantar aspect of the affected foot on film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Support the side under examination with knee of the other leg to immobilize foot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 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Apply protection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5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24x18cm or 30x24cm split using lead rubber divider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Direction of Central Ray and </a:t>
            </a:r>
            <a:r>
              <a:rPr lang="en-US" sz="155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Centring</a:t>
            </a: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Point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 90 degree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Dorsum of the foot to the </a:t>
            </a: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Cubiod-navicular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region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2-4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50-65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Film Focal Distance(FFD): 100cm</a:t>
            </a:r>
            <a:endParaRPr lang="en-US" sz="155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Patient Positioning for </a:t>
            </a:r>
            <a:r>
              <a:rPr lang="en-US" sz="155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Dorsiplantar</a:t>
            </a: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</a:t>
            </a:r>
            <a:r>
              <a:rPr lang="en-US" sz="155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)Oblique</a:t>
            </a:r>
            <a:endParaRPr lang="en-US" sz="155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From the AP position, the affected limb is allowed to lean medially to bring the plantar surface of the foot approximately 45 degrees to the </a:t>
            </a: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cassete</a:t>
            </a:r>
            <a:endParaRPr lang="en-US" sz="155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 45 degree non-</a:t>
            </a: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radiopaque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pad placed under the side of the foot for support with opposite leg acting as a support.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 .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Vertical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Dorsum of the foot to the </a:t>
            </a:r>
            <a:r>
              <a:rPr lang="en-US" sz="15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Cubiod-navicular</a:t>
            </a:r>
            <a:r>
              <a:rPr lang="en-US" sz="15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region</a:t>
            </a:r>
            <a:endParaRPr sz="15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Projection for Foot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Seat the patient on the X-ray couch on the affected side with the hip and knee flexed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Rest the unaffected leg in a comfortable position in front of or behind the affected leg.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foot in the true lateral position with the knee raised on a pad 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foot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:: Vertical or Horizontal (if cassette is placed at the lateral part of the foot in case of </a:t>
            </a:r>
            <a:r>
              <a:rPr lang="en-US" b="0" dirty="0" err="1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pes</a:t>
            </a: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b="0" dirty="0" err="1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planus</a:t>
            </a: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[Flat foot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])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b="0" dirty="0" err="1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Cuboid-navicular</a:t>
            </a: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area of foot.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4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4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ANKLE</a:t>
            </a:r>
            <a:endParaRPr sz="14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Positioning for Anteroposterior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seat on the X-ray couch with legs extended and unaffected leg abducted.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ankle on the film-cassette with the joint flexed 90 degrees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Rotate the ankle medially until both </a:t>
            </a:r>
            <a:r>
              <a:rPr lang="en-US" dirty="0" err="1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malleoli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are equidistant from the couch top.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sole of the foot with a pad and sandbag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 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Midway between the </a:t>
            </a:r>
            <a:r>
              <a:rPr lang="en-US" dirty="0" err="1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malleoli</a:t>
            </a:r>
            <a:endParaRPr lang="en-US" dirty="0" smtClean="0" sz="135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Cassette size  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12x10inch or 10x8inch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mtClean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9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factors: </a:t>
            </a:r>
            <a:endParaRPr sz="19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55-70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3-5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FFD/SID: 100cm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Projection for  Ankle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Lie the patient on the X-ray couch on the affected side with the hip and knee flexed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Rest the unaffected leg in a comfortable position in front of or behind the affected leg.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affected ankle in the true lateral position such as that both </a:t>
            </a:r>
            <a:r>
              <a:rPr lang="en-US" dirty="0" err="1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malleoli</a:t>
            </a: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are superimposed with the knee raised on a pad 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ankle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:: Vertical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Medial </a:t>
            </a:r>
            <a:r>
              <a:rPr lang="en-US" dirty="0" err="1" smtClean="0" sz="19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malleolus</a:t>
            </a:r>
            <a:endParaRPr lang="en-US" dirty="0" smtClean="0" sz="19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4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4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LEG(TIBIA-FIBULA)</a:t>
            </a:r>
            <a:endParaRPr sz="14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Positioning for Anteroposterior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seat on the X-ray couch with legs extended and unaffected leg abducted.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lower leg on the film-cassette with the ankle joint flexed 90 degrees with foot upright.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Include both ankle and knee joints on the film if possible.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sole of the leg with a pad and sandbag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 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Anterior aspect of the middle of lower leg midway between the ankle and knee joints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Cassette size  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12x10inch or 10x8inch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projection for Leg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Seat the patient on the X-ray couch on the affected side with the hip and knee flexed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Rest the unaffected leg in a comfortable position in front of or behind the affected leg.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leg in the true lateral position with the knee raised on a pad 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leg.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:: Vertical or Horizontal (if cassette is placed at the lateral part of the leg in case of)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3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Medial aspect of the middle of the lower leg midway between the ankle and knee joints.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mtClean="0" sz="1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mtClean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5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factors: </a:t>
            </a:r>
            <a:endParaRPr sz="15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55-70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5-8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FFD/SID: 100cm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NOTE: No use </a:t>
            </a: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of grid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5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5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KNEE</a:t>
            </a:r>
            <a:endParaRPr lang="en-US" dirty="0" smtClean="0" sz="1550" b="1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AP Projection for  Knee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Lie the patient on the X-ray couch on the affected side with legs extended and unaffected leg abducted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affected knee on the film and flex the joint slightly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Ensure that the patella is central over the femur 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leg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Cassette size  : 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12x10inch or 10x8inch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:: Vertical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2.5cm below the apex of the patella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55-75, </a:t>
            </a: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5-10 and FFD: 100cm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mtClean="0" sz="1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projection for Knee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Lie the patient on the X-ray couch on the affected side with the  knee flexed at 45 or 90 degrees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Rest the unaffected leg in a comfortable position in front of  the affected leg.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the knee in the true lateral position  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leg and ankle with sandbag.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:: Vertical or Horizontal (if cassette is placed at the lateral part of the leg in case of)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Middle of the superior border of the medial tibia </a:t>
            </a:r>
            <a:r>
              <a:rPr lang="en-US" dirty="0" err="1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condyle</a:t>
            </a:r>
            <a:endParaRPr lang="en-US" dirty="0" smtClean="0" sz="14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mtClean="0" sz="1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 for Patella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lie prone on the table with knee slightly flexed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Foam pads are placed under the ankle and thigh for support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The limb is rotated to centralize the patella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The centre of the cassette is the level of the crease of the knee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Immobile the leg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Vertical 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In the midline to the skin crease behind </a:t>
            </a:r>
            <a:r>
              <a:rPr lang="en-US" smtClean="0" sz="14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the knee</a:t>
            </a:r>
            <a:endParaRPr lang="en-US" dirty="0" smtClean="0" sz="14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1357</Words>
  <Application>Microsoft Office PowerPoint</Application>
  <PresentationFormat>On-screen Show (4:3)</PresentationFormat>
  <Paragraphs>188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38</cp:revision>
  <dcterms:created xsi:type="dcterms:W3CDTF">2026-10-23T04:44:56Z</dcterms:created>
  <dcterms:modified xsi:type="dcterms:W3CDTF">2026-10-23T10:16:08Z</dcterms:modified>
</cp:coreProperties>
</file>