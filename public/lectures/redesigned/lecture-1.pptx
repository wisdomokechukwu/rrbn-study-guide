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62B60-FAAC-498E-9F76-C779BC078299}" type="datetimeFigureOut">
              <a:rPr lang="en-NG" smtClean="0"/>
              <a:t>18/10/2026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2E1CD-A877-414B-9177-B8A2222C10B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74220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2D8E-7E87-3B7B-636B-67E3703CF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A24BC-F409-6248-1772-CA4922332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F0046-7ED5-7362-DDD8-D408BE94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39B11-79BC-4E21-B813-2FBF6BBF240D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69671-B246-102B-A469-E3BE343B4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9045-7009-48C0-6CC3-69312CFB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78190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EC694-312B-CF59-7927-5D03E098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B4F57-94FC-32CB-B6A9-46EBA89B0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51356-1876-1199-7CAA-4D03FD293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02E9-8E95-417D-BAB9-579900DA0B91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7A34D-3D31-C49B-BAD0-2301D357E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5096-0964-8F84-66B6-B85963691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08989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CC71-6A34-A653-796B-CEAA4EDEA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5BF22-BFB7-4272-409D-6D1D93ED2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CEFEA-A77D-C9BE-3D8E-0EDAA23E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CFD4-143E-42B6-8D7F-099BFB5F6ACB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4475A-FB5D-AC01-5BF7-E797D86B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F29A7-B5FB-FC34-4BEB-95223CA31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88727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9EAA1-4C60-8AAC-6EC9-B16984B7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99341-18A9-C569-81D6-167C9D472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073D3-B4A5-8BFA-F3BB-C7CFEDBA6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E836A-2356-2135-62AE-4C4DD370F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150FC-EC02-47DA-9981-93D8D02CF4F6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9E8CA-395C-1E4C-B193-38F2977CA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A3EB4-430D-DDFB-9900-162BB93A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92184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83A0-6FE5-3ED3-0F52-0FA6C1C5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38DA8-3588-4E17-F915-A0BBE58F3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04E83-E272-076B-02C0-6B7995E67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BFB1B-C5A7-5132-EF05-4C55B96C9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B2A88A-E22F-359A-D329-04219058D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B02EF6-D603-D083-94D0-226DA7C9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2A4C-9A90-4633-B997-53E7D415A352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864C0-7B89-90E2-458C-93559476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71498-EFDE-A8AD-C004-3AC8081A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5882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E910-F89B-69E5-77D7-2FB5687E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843D0-6AA8-FCC5-5FDC-A06F9C08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7768-9E67-46EB-9E95-AC40FE912F7E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2F6F6-3916-169F-1139-4583A840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C4C1C-27BE-9D89-ED12-6F054CD42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5098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BE3753-C03B-31B9-17CB-186DE042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28910-FFCC-47B4-A54E-AD16AA1BD7ED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04F48D-8B08-A54A-D336-A8DACCEDB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323C-0464-9256-CCFE-A3DC6A192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08442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ECF3-9E08-424D-9FBF-F4E95B53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D514D-7230-10F7-0B87-BFD4F9C0B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CB807-82C3-0768-F07E-8A2F303CC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20C50-A6D1-3440-F3B7-72074556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5B49-E9CB-47CB-A506-78E0DAC98176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A9CE4-7F85-3D91-3E36-ECDB500C1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D2654-2C42-AE18-DE0C-F29790E7E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4740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F40E-0E60-A166-5139-F3998B74D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0F27F7-74FA-0948-E223-D9F3B399CA4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B7804-235D-886D-D4E1-245E7AADE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F63A5-ED94-C77E-87BC-5D0BF4EC6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A593-8CD5-4EF7-AF80-AF3890CFFA70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DD021-A26E-8AB9-B37F-99E13F4F4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77422-CC6E-93C2-5BB2-1DCC47AA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8406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E16C-689B-2F20-42F5-D7E384CC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9F3EE-1B2D-4A04-4065-687F8AFDA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E55DA-C8EE-0126-E6DB-224454366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D4-1B6C-4EE3-9072-618A25604424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93AF5-EDC7-9042-15A6-E52FC2B78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0603D-691E-A808-96BF-9337C976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2117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639A4C-D45B-B3C3-EBD3-E374AE22A0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2A9E1-9298-B5E3-12F8-7FB167242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6469E-0ABB-5C8E-A3EC-FD5332C2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78B9-681C-4FF6-8A08-83D3B4CEC260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78CB7-9318-6E0B-8A1F-FFC37D953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C61C5-CA71-443F-77EE-773552C90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8296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E458AA-4736-4382-7428-FD0F38C50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BF193-FC82-4BE8-F3A9-BCF76E928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DB1C5-0338-2B73-F0C9-EC0072CDD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F2A71-4657-4201-9A45-D50D320BB153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89CF2-0747-330E-77BC-8BA008456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F56BA-28D3-83DA-22D6-1BDCCB2B0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5431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45760D70-AE5C-4C73-DACB-5A336EDB3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110004020202020204"/>
                <a:ea typeface="Poppins SemiBold"/>
                <a:cs typeface="Poppins SemiBold"/>
              </a:rPr>
              <a:t>Anatomy of the Lower Limbs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id="{C5AED532-1439-58B2-B075-D76874BE6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None/>
              <a:tabLst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110004020202020204"/>
                <a:ea typeface="Arial"/>
                <a:cs typeface="Arial"/>
              </a:rPr>
              <a:t>Dr Clinton David Orupabo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None/>
              <a:tabLst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110004020202020204"/>
                <a:ea typeface="Arial"/>
                <a:cs typeface="Arial"/>
              </a:rPr>
              <a:t>Department of </a:t>
            </a:r>
            <a:r>
              <a:rPr lang="en-US" dirty="0" sz="2200" b="0">
                <a:solidFill>
                  <a:srgbClr val="243B53"/>
                </a:solidFill>
                <a:latin typeface="Arial" panose="02110004020202020204"/>
                <a:ea typeface="Arial"/>
                <a:cs typeface="Arial"/>
              </a:rPr>
              <a:t>Human Anatomy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110004020202020204"/>
                <a:ea typeface="Arial"/>
                <a:cs typeface="Arial"/>
              </a:rPr>
              <a:t>, Faculty of Basic Medical Sciences, Rivers State University.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srgbClr val="243B53"/>
              </a:solidFill>
              <a:effectLst/>
              <a:uLnTx/>
              <a:uFillTx/>
              <a:latin typeface="Arial" panose="02110004020202020204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None/>
              <a:tabLst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noProof="0" dirty="0" sz="2200" b="0">
                <a:solidFill>
                  <a:srgbClr val="243B53"/>
                </a:solidFill>
                <a:latin typeface="Arial" panose="02110004020202020204"/>
                <a:ea typeface="Arial"/>
                <a:cs typeface="Arial"/>
              </a:rPr>
              <a:t>Lectures for Pre-registration Re-training Course for X-ray Technicians. Radiographers Registration Board of Nigeria.</a:t>
            </a:r>
            <a:endParaRPr kumimoji="0" lang="en-NG" sz="2200" b="0" i="0" u="none" strike="noStrike" kern="1200" cap="none" spc="0" normalizeH="0" baseline="0" noProof="0" dirty="0">
              <a:ln>
                <a:noFill/>
              </a:ln>
              <a:solidFill>
                <a:srgbClr val="243B53"/>
              </a:solidFill>
              <a:effectLst/>
              <a:uLnTx/>
              <a:uFillTx/>
              <a:latin typeface="Arial" panose="02110004020202020204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572614832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0EA81959-DFA9-12D4-7CCC-322041D0D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110004020202020204"/>
                <a:ea typeface="Poppins SemiBold"/>
                <a:cs typeface="Poppins SemiBold"/>
              </a:rPr>
              <a:t>Table of contents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B33FEF54-4C3D-B764-45B1-A87EC21D0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Osteology of the lower limbs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Venous drainage of the lower limb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Blood supply to the lower limb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gluteal region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Joints of the lower limbs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Thigh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Leg and popliteal fossa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Foot and arches of the foot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id="{CEE0C84E-588B-C381-D1E0-76FF7EDFC9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6E131430-29B8-44AB-B9B9-2C1DFAC9B674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id="{5D5FADBF-AB8F-1C8B-2EA9-5AA60DFC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2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149349390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E195362A-48B1-902E-263E-187120650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Osteology of the lower limbs - Femur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BEAA24F1-EA1A-0406-9405-D1D217A26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femur is the longest and strongest bone in the body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Divided into proximal end, shaft and distal end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proximal end features the head, neck, greater and lesser trochanters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shaft is also the body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distal end features the medial and lateral condyles, and the epicondyles, as well as the patella surface</a:t>
            </a:r>
            <a:endParaRPr lang="en-NG" dirty="0"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Picture 5" descr="Femur | Definition, Function, Diagram, &amp; Facts | Britannica">
            <a:extLst>
              <a:ext uri="{FF2B5EF4-FFF2-40B4-BE49-F238E27FC236}">
                <a16:creationId id="{567255D0-3DA1-FAC6-2DEC-422BFADF8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793516"/>
            <a:ext cx="3840480" cy="433395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id="{15933C01-E2DE-1A2F-03CA-9E4122952E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9" name="Date Placeholder 8">
            <a:extLst>
              <a:ext uri="{FF2B5EF4-FFF2-40B4-BE49-F238E27FC236}">
                <a16:creationId id="{DE4E1FA7-3FB1-D97C-F4F7-A947F575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F3AEFE79-5465-43B2-9401-1FA245FC679B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id="{21FD2BCE-1843-31AD-954E-FF381811C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3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264906317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9412F886-9D1F-23D6-C2C1-A2591743F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110004020202020204"/>
                <a:ea typeface="Poppins SemiBold"/>
                <a:cs typeface="Poppins SemiBold"/>
              </a:rPr>
              <a:t>Osteology of the lower limbs - Tibia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FA125DD1-F957-B0C4-0A81-DFF600EF9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Strong and weight-bearing bone of the lower limb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 has a proximal end, shaft and distal end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proximal end features a top flat surface, called Tibial plateau for articulation with the condyles of the femur to form the knee joint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upper-anterior surface at the proximal end features a roughened area called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110004020202020204"/>
                <a:ea typeface="Arial"/>
                <a:cs typeface="Arial"/>
              </a:rPr>
              <a:t>Tibial tuberosity </a:t>
            </a: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for the attachment of the patella ligament</a:t>
            </a:r>
            <a:endParaRPr lang="en-NG" dirty="0"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Content Placeholder 4" descr="Tibia | Musculoskeletal Key">
            <a:extLst>
              <a:ext uri="{FF2B5EF4-FFF2-40B4-BE49-F238E27FC236}">
                <a16:creationId id="{CB2011CC-ADC8-B25F-C0DF-D1068DB972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80960" y="2064387"/>
            <a:ext cx="3840480" cy="379221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id="{52D39AF2-0EC4-2E2C-4CAC-3CCDB869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FE4C6EBD-08D8-43A2-BF77-3F711AEBDE2D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id="{89ADB370-4554-1741-EF35-8A9FE424E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4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212723267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36AC6EAA-9305-7FF8-8D1B-E1507163D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110004020202020204"/>
                <a:ea typeface="Poppins SemiBold"/>
                <a:cs typeface="Poppins SemiBold"/>
              </a:rPr>
              <a:t>Osteology of the lower limbs 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A3B8B670-D9B7-53D5-06B8-C3BF60731A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Other bones: Fibula, Patella, the tarsals, metatarsals and phalanges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Tarsal bones : Calcaneus, Talus, Navicular, Cuboid, three </a:t>
            </a:r>
            <a:r>
              <a:rPr lang="en-US" dirty="0" err="1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cuneifroms</a:t>
            </a:r>
            <a:endParaRPr lang="en-NG" dirty="0"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Content Placeholder 4" descr="Tarsal bones | Radiology Reference Article | Radiopaedia.org">
            <a:extLst>
              <a:ext uri="{FF2B5EF4-FFF2-40B4-BE49-F238E27FC236}">
                <a16:creationId id="{A5E8A2A3-D368-ED01-B9B5-3A346B4779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80960" y="2040255"/>
            <a:ext cx="3840480" cy="384048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id="{AB819856-86B6-0DEB-D391-400053C79C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657F75C9-DDB7-4D0D-B27C-E5A0B4219C27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id="{89515700-4ADD-A3BA-8838-DB7CC83B9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5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72890311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64DB6F4F-93F2-67F6-F74F-42B99037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Venous drainage of the lower limbs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7AAFAD9C-6FAA-615F-8A67-9751B70BB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venous drainage is divided into the following;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superficial veins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Deep veins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Perforating veins</a:t>
            </a:r>
            <a:endParaRPr lang="en-NG" dirty="0"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Content Placeholder 4" descr="Anatomy of the lower-limb venous system and assessment of venous insufficiency | Radiology Key">
            <a:extLst>
              <a:ext uri="{FF2B5EF4-FFF2-40B4-BE49-F238E27FC236}">
                <a16:creationId id="{23DD3CEB-4FC0-8BDC-EEF7-9F1D51A01D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87825" y="1748790"/>
            <a:ext cx="3626751" cy="442341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id="{195A9408-1206-5B12-934E-944E6275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C941986A-D8C8-4F58-8032-B5713D55DE17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id="{7C37091F-9F8D-6CDC-D622-F6565444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6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276766452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01137AE8-854A-6A41-405A-EC167791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110004020202020204"/>
                <a:ea typeface="Poppins SemiBold"/>
                <a:cs typeface="Poppins SemiBold"/>
              </a:rPr>
              <a:t>Venous drainage of the lower limbs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pic>
        <p:nvPicPr>
          <p:cNvPr id="5" name="Content Placeholder 4" descr="Venous Drainage of the Lower Limb - TeachMeAnatomy">
            <a:extLst>
              <a:ext uri="{FF2B5EF4-FFF2-40B4-BE49-F238E27FC236}">
                <a16:creationId id="{FED9EA4B-1F53-4600-0286-2D84F1EE88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80960" y="1851140"/>
            <a:ext cx="3840480" cy="421870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id="{1355335A-053A-EA82-29F8-ED48BC861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q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b="0" dirty="0" sz="2200">
                <a:solidFill>
                  <a:srgbClr val="243B53"/>
                </a:solidFill>
                <a:latin typeface="Arial"/>
                <a:ea typeface="Arial"/>
                <a:cs typeface="Arial"/>
              </a:rPr>
              <a:t>Clinicals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Peripheral heart pump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Venous insufficiency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Varicose veins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Deep venous Thrombosis (DVT)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id="{7673692A-3C9A-47F0-8A97-9A28DE64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30FAD18F-CD1B-45DE-ABD6-83548EA193A4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id="{4A11DFB4-D336-435A-62FB-9AF96BB3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7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543050818"/>
      </p:ext>
    </p:extLst>
  </p:cSld>
  <p:clrMapOvr>
    <a:masterClrMapping/>
  </p:clrMapOvr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FB53F8D1-1630-A36E-9309-3DC52068E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Blood supply to the lower limbs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595B8936-5B74-DD5F-D459-426017AA1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50" b="0">
                <a:solidFill>
                  <a:srgbClr val="243B53"/>
                </a:solidFill>
                <a:latin typeface="Arial" panose="02110004020202020204"/>
                <a:ea typeface="Arial"/>
                <a:cs typeface="Arial"/>
              </a:rPr>
              <a:t>T</a:t>
            </a:r>
            <a:r>
              <a:rPr kumimoji="0" lang="en-US" sz="205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110004020202020204"/>
                <a:ea typeface="Arial"/>
                <a:cs typeface="Arial"/>
              </a:rPr>
              <a:t>he abdominal aorta at the level of the L4 bifurcates into right and left common iliac arteries</a:t>
            </a:r>
            <a:endParaRPr sz="20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50" b="0">
                <a:solidFill>
                  <a:srgbClr val="243B53"/>
                </a:solidFill>
                <a:latin typeface="Arial" panose="02110004020202020204"/>
                <a:ea typeface="Arial"/>
                <a:cs typeface="Arial"/>
              </a:rPr>
              <a:t>T</a:t>
            </a:r>
            <a:r>
              <a:rPr kumimoji="0" lang="en-US" sz="205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110004020202020204"/>
                <a:ea typeface="Arial"/>
                <a:cs typeface="Arial"/>
              </a:rPr>
              <a:t>he external carotid artery (branch of common iliac artery) enters the pelvis running behind the inguinal ligament to become the femoral artery</a:t>
            </a:r>
            <a:endParaRPr lang="en-US" dirty="0" sz="20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femoral artery is the main supply to the lower limbs</a:t>
            </a:r>
            <a:endParaRPr sz="20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 gives off the large profunda femoris (deep femoral) artery in the femoral triangle, which supplies the deep and posterior/medial muscles of the thigh</a:t>
            </a:r>
            <a:endParaRPr sz="20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Content Placeholder 10" descr="Image result for lower limb blood supply diagram">
            <a:extLst>
              <a:ext uri="{FF2B5EF4-FFF2-40B4-BE49-F238E27FC236}">
                <a16:creationId id="{3694CD36-0D26-75A4-2381-5F9504EF98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28508" y="1748790"/>
            <a:ext cx="3745384" cy="4423410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id="{B47A9921-D6A9-214F-DB54-7CB34D2BD1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06D5F75E-A467-4B84-95C2-1FA2971F7C99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id="{F41186DE-24A6-6263-7109-8D3095C8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887351889"/>
      </p:ext>
    </p:extLst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C5548169-B6D9-705C-2A83-F5B1FEA47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The gluteal region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7975F0BF-8832-C45F-9F0B-36C154B10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0F0502020204030204"/>
                <a:ea typeface="Arial"/>
                <a:cs typeface="Arial"/>
              </a:rPr>
              <a:t>The gluteal region (hip and buttocks) is the prominent area posterior to the pelvis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0F0502020204030204"/>
                <a:ea typeface="Arial"/>
                <a:cs typeface="Arial"/>
              </a:rPr>
              <a:t> It is bounded superiorly by the iliac crest, greater trochanter, and ASIS and inferiorly by the gluteal fold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0F0502020204030204"/>
                <a:ea typeface="Arial"/>
                <a:cs typeface="Arial"/>
              </a:rPr>
              <a:t>The gluteal fold also demarcates the superior boundary of the thigh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0F0502020204030204"/>
                <a:ea typeface="Arial"/>
                <a:cs typeface="Arial"/>
              </a:rPr>
              <a:t>The intergluteal cleft separates the buttocks from each other</a:t>
            </a:r>
            <a:endParaRPr kumimoji="0" lang="en-NG" sz="2200" b="0" i="0" u="none" strike="noStrike" kern="1200" cap="none" spc="0" normalizeH="0" baseline="0" noProof="0" dirty="0">
              <a:ln>
                <a:noFill/>
              </a:ln>
              <a:solidFill>
                <a:srgbClr val="243B53"/>
              </a:solidFill>
              <a:effectLst/>
              <a:uLnTx/>
              <a:uFillTx/>
              <a:latin typeface="Arial" panose="020F0502020204030204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BD79FF05-29C9-022A-E9CE-8CF64BFBCB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NG" dirty="0"/>
          </a:p>
        </p:txBody>
      </p:sp>
      <p:pic>
        <p:nvPicPr>
          <p:cNvPr id="5" name="Content Placeholder 4">
            <a:extLst>
              <a:ext uri="{FF2B5EF4-FFF2-40B4-BE49-F238E27FC236}">
                <a16:creationId id="{8249945B-1A6B-726B-F20A-A38F1EF07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843614"/>
            <a:ext cx="3840480" cy="423376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id="{48DC4752-6FD5-62B2-AD99-7E3CF2D4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355D76B4-7BF2-48B6-B068-1D7F300BD88E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id="{915534EB-954F-DAB1-EB06-42C1F9122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9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076372558"/>
      </p:ext>
    </p:extLst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230BFD5A-195C-7B91-EA41-2C2F16925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110004020202020204"/>
                <a:ea typeface="Poppins SemiBold"/>
                <a:cs typeface="Poppins SemiBold"/>
              </a:rPr>
              <a:t>The gluteal region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8E9847B0-4CD8-C63E-37DA-A38D5FA8B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Char char="•"/>
              <a:tabLst/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Note that the parts of the bony pelvis—hip bones, sacrum, and coccyx—are held together by gluteal ligaments (</a:t>
            </a:r>
            <a:r>
              <a:rPr kumimoji="0" lang="en-GB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sacrotuberous</a:t>
            </a: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and sacrospinous ligaments)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Char char="•"/>
              <a:tabLst/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These  convert the sciatic notches in the hip bones into the greater and lesser sciatic foramina 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Char char="•"/>
              <a:tabLst/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greater sciatic foramen is the passageway for structures entering or leaving the pelvis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Char char="•"/>
              <a:tabLst/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But the lesser sciatic foramen is a passageway for structures entering or leaving the perineum</a:t>
            </a:r>
            <a:endParaRPr kumimoji="0" lang="en-NG" sz="2100" b="0" i="0" u="none" strike="noStrike" kern="1200" cap="none" spc="0" normalizeH="0" baseline="0" noProof="0" dirty="0">
              <a:ln>
                <a:noFill/>
              </a:ln>
              <a:solidFill>
                <a:srgbClr val="243B53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38013634-E1E9-02BD-2FD4-0B1B71C94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54244"/>
            <a:ext cx="5181600" cy="5022720"/>
          </a:xfrm>
        </p:spPr>
        <p:txBody>
          <a:bodyPr>
            <a:normAutofit fontScale="92500" lnSpcReduction="10000"/>
          </a:bodyPr>
          <a:lstStyle/>
          <a:p>
            <a:endParaRPr lang="en-NG" dirty="0"/>
          </a:p>
        </p:txBody>
      </p:sp>
      <p:pic>
        <p:nvPicPr>
          <p:cNvPr id="5" name="Picture 8" descr="The Greater Sciatic Foramen and Lesser ...">
            <a:extLst>
              <a:ext uri="{FF2B5EF4-FFF2-40B4-BE49-F238E27FC236}">
                <a16:creationId id="{AFBB72EA-BEB0-2E4B-8BEE-A7C1D60B3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rcRect/>
          <a:stretch>
            <a:fillRect/>
          </a:stretch>
        </p:blipFill>
        <p:spPr bwMode="auto">
          <a:xfrm>
            <a:off x="7680960" y="1857204"/>
            <a:ext cx="3840480" cy="1926298"/>
          </a:xfrm>
          <a:prstGeom prst="rect">
            <a:avLst/>
          </a:prstGeom>
          <a:noFill/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ciatic foramina">
            <a:extLst>
              <a:ext uri="{FF2B5EF4-FFF2-40B4-BE49-F238E27FC236}">
                <a16:creationId id="{3C77D286-FA90-7F12-26D6-C07C584FB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val="0"/>
              </a:ext>
            </a:extLst>
          </a:blip>
          <a:srcRect/>
          <a:stretch>
            <a:fillRect/>
          </a:stretch>
        </p:blipFill>
        <p:spPr bwMode="auto">
          <a:xfrm>
            <a:off x="7955760" y="4029075"/>
            <a:ext cx="3290881" cy="2143125"/>
          </a:xfrm>
          <a:prstGeom prst="rect">
            <a:avLst/>
          </a:prstGeom>
          <a:noFill/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id="{529FF72A-DEC6-BB53-C1AA-253FBC0C53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E627B61E-E2CC-412B-9242-7F5B31E94DF8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id="{F592EB5E-EC4C-3A75-AA2E-D1A619B6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10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936703667"/>
      </p:ext>
    </p:extLst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4BF6D294-789E-4015-10D3-668D978D5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0F0302020204030204"/>
                <a:ea typeface="Poppins SemiBold"/>
                <a:cs typeface="Poppins SemiBold"/>
              </a:rPr>
              <a:t>The gluteal muscles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E8F05096-5105-D0B3-1EF4-0B8E5E862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Has 2 layers: superficial and deep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superficial layer: consists of three large glutei (maximus, medius, and </a:t>
            </a:r>
            <a:r>
              <a:rPr lang="en-US" dirty="0" err="1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minimus</a:t>
            </a: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) and the tensor fasciae </a:t>
            </a:r>
            <a:r>
              <a:rPr lang="en-US" dirty="0" err="1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latae</a:t>
            </a:r>
            <a:endParaRPr lang="en-US" dirty="0"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deep layer: consists of smaller muscles, the piriformis, obturator internus, superior and inferior gemelli, and quadratus femoris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D085D2E1-C347-0D61-DF6B-794E9CE01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1072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gluteus maximus: extension and lateral rotation of the thigh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Gluteus medius and </a:t>
            </a:r>
            <a:r>
              <a:rPr lang="en-US" dirty="0" err="1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minimus</a:t>
            </a: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abductors and medial rotators of the thigh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tensor fasciae </a:t>
            </a:r>
            <a:r>
              <a:rPr lang="en-US" dirty="0" err="1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latae</a:t>
            </a: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is primarily a flexor of the thigh; acts in concert with the iliopsoas and rectus femoris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deep muscles are lateral rotators of the thigh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id="{3F3A320A-C000-631A-4265-71ABEC9667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CD53526F-60BC-4BED-B950-F4C792DB2764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id="{45BFFF7B-A96E-F1BE-0EEB-F0AC18E3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11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968562418"/>
      </p:ext>
    </p:extLst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22E5F670-4747-48AC-0763-F64D93E13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GB" dirty="0" sz="3200" b="1">
                <a:solidFill>
                  <a:srgbClr val="0056D2"/>
                </a:solidFill>
                <a:latin typeface="Poppins SemiBold" panose="020F0302020204030204"/>
                <a:ea typeface="Poppins SemiBold"/>
                <a:cs typeface="Poppins SemiBold"/>
              </a:rPr>
              <a:t>G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0F0302020204030204"/>
                <a:ea typeface="Poppins SemiBold"/>
                <a:cs typeface="Poppins SemiBold"/>
              </a:rPr>
              <a:t>luteal region - Blood supply 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A405A6D2-D1EB-9FA1-B0D0-BC15D99574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arteries supplying this region are branches of the internal iliac artery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major gluteal branches of the internal iliac artery are the superior and inferior gluteal arteries and the internal pudendal artery.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superior and inferior gluteal arteries leave the pelvis through the greater sciatic foramen and pass superior and inferior to the piriformis, respectively 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internal pudendal artery enters the gluteal region through the greater sciatic foramen inferior to the piriformis and enters the perineum through the lesser sciatic foramen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7091D437-297F-8F76-6C02-A39014C71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1072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8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8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Superior gluteal artery (SGA): </a:t>
            </a:r>
            <a:endParaRPr sz="18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Superficial branch: gluteus maximus 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Deep branch: gluteus medius and </a:t>
            </a:r>
            <a:r>
              <a:rPr lang="en-US" dirty="0" err="1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minimus</a:t>
            </a: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and tensor fasciae </a:t>
            </a:r>
            <a:r>
              <a:rPr lang="en-US" dirty="0" err="1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latae</a:t>
            </a:r>
            <a:endParaRPr lang="en-US" dirty="0"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IGA: Gluteus maximus, obturator internus, quadratus femoris, and superior parts of hamstrings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IPA: External genitalia and muscles in the perineal region; does not supply gluteal region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id="{4EEADC5E-8DE6-74AA-D440-1B86B3D6F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223110FB-DC96-4F10-90D0-A039BD790D91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id="{9F51AE54-2DC9-90C4-65F6-036BC1EF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12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962913269"/>
      </p:ext>
    </p:extLst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05F49AA0-CDB9-C7DC-EE89-DC6228988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Joints of the Lower limb - 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0F0302020204030204"/>
                <a:ea typeface="Poppins SemiBold"/>
                <a:cs typeface="Poppins SemiBold"/>
              </a:rPr>
              <a:t>The hip joint</a:t>
            </a:r>
            <a:endParaRPr lang="en-NG" b="1" dirty="0" sz="3200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7B4864D9-0C77-3E5D-E8CF-B836240E6E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Ball and socket type of synovial joint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Formed by head of femur (the ball) and acetabulum of the hip bone (the socket)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joint is held in place by the acetabular labrum which deepens the socket and helps grabs the femoral head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transverse acetabular ligament is attached to the rim of the acetabulum and helps hold the joint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EC868432-54CB-3D6C-C61E-2526031893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en-NG" dirty="0"/>
          </a:p>
        </p:txBody>
      </p:sp>
      <p:pic>
        <p:nvPicPr>
          <p:cNvPr id="5" name="Content Placeholder 4">
            <a:extLst>
              <a:ext uri="{FF2B5EF4-FFF2-40B4-BE49-F238E27FC236}">
                <a16:creationId id="{19E89D50-AB8E-4E08-B19A-D2E873B69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499027"/>
            <a:ext cx="3840480" cy="292293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id="{F5E8EAF9-CDDD-4A71-E270-5C4347D0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A5EF868E-F642-4F3B-A36E-9674D09E06CA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id="{09DBDBBA-38A1-DA74-1EF9-8B77C4095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13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97544394"/>
      </p:ext>
    </p:extLst>
  </p:cSld>
  <p:clrMapOvr>
    <a:masterClrMapping/>
  </p:clrMapOvr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38372672-EF17-C405-95F9-F7445981C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0F0302020204030204"/>
                <a:ea typeface="Poppins SemiBold"/>
                <a:cs typeface="Poppins SemiBold"/>
              </a:rPr>
              <a:t>The hip joint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9742F789-FA08-5217-F117-3AAB8EBC8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 strong fibrous articular capsule attaches proximally to the acetabulum and transverse acetabular ligament, and distally to the neck of the femur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At its distal attachment, it is attached anteriorly to the intertrochanteric line and root of greater trochanter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And posteriorly, it runs over the intertrochanteric crest without being attached to it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EE6EBFBB-0404-8C31-3665-5821FFC24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1072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Portions of the capsule thickens to form the hip joint ligaments: iliofemoral, pubofemoral and </a:t>
            </a:r>
            <a:r>
              <a:rPr lang="en-US" dirty="0" err="1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ischiofemoral</a:t>
            </a: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ligaments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ligament of the head of femur is attached to the margins of the acetabular notch, transverse acetabular ligament and pit in the head of femur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 also contains a small artery to the head of femur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id="{1B019F0B-47C2-ED55-BBDF-D7D6D39B50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CA1DF712-1BCC-4E76-9B98-9A1A77B89E7F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id="{7A307996-7B63-7689-3251-A9E9E3FD8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14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371966311"/>
      </p:ext>
    </p:extLst>
  </p:cSld>
  <p:clrMapOvr>
    <a:masterClrMapping/>
  </p:clrMapOvr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8D9968A5-628D-AFA3-445B-76A57C584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0F0302020204030204"/>
                <a:ea typeface="Poppins SemiBold"/>
                <a:cs typeface="Poppins SemiBold"/>
              </a:rPr>
              <a:t>The hip joint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E1DD5D89-5DB3-E0F9-EB39-FD8488FC3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2926417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u="sng" dirty="0" sz="165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Movements: </a:t>
            </a:r>
            <a:endParaRPr sz="16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Flexion: iliopsoas, sartorius, tensor fascia </a:t>
            </a:r>
            <a:r>
              <a:rPr lang="en-US" dirty="0" err="1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lata</a:t>
            </a: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rectus femoris, pectineus, adductor longus and brevis, anterior part of adductor magnus, </a:t>
            </a:r>
            <a:r>
              <a:rPr lang="en-US" dirty="0" err="1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gracilis</a:t>
            </a:r>
            <a:endParaRPr lang="en-US" dirty="0"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Extension: Hamstrings (semi-</a:t>
            </a:r>
            <a:r>
              <a:rPr lang="en-US" dirty="0" err="1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tendinosus</a:t>
            </a: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semi-</a:t>
            </a:r>
            <a:r>
              <a:rPr lang="en-US" dirty="0" err="1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membranosus</a:t>
            </a: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long head of biceps femoris), posterior part of adductor magnus, gluteus maximus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Adduction: Gluteus medius and </a:t>
            </a:r>
            <a:r>
              <a:rPr lang="en-US" dirty="0" err="1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minimus</a:t>
            </a: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tensor fascia </a:t>
            </a:r>
            <a:r>
              <a:rPr lang="en-US" dirty="0" err="1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lata</a:t>
            </a:r>
            <a:endParaRPr lang="en-US" dirty="0"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Adduction: Adductor longus, Adductor brevis, Adductor magnus, </a:t>
            </a:r>
            <a:r>
              <a:rPr lang="en-US" dirty="0" err="1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gracilis</a:t>
            </a: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pectineus, obturator externus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485A973F-904B-4720-FE24-907FF7D80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0560" y="4846657"/>
            <a:ext cx="6461760" cy="1325543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Medial rotation: anterior </a:t>
            </a:r>
            <a:r>
              <a:rPr lang="en-US" sz="16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fibres</a:t>
            </a:r>
            <a:r>
              <a:rPr lang="en-US" sz="16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of gluteus medius, gluteus </a:t>
            </a:r>
            <a:r>
              <a:rPr lang="en-US" sz="16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minimus</a:t>
            </a:r>
            <a:r>
              <a:rPr lang="en-US" sz="16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6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tensior</a:t>
            </a:r>
            <a:r>
              <a:rPr lang="en-US" sz="16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fascia </a:t>
            </a:r>
            <a:r>
              <a:rPr lang="en-US" sz="16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lata</a:t>
            </a:r>
            <a:endParaRPr lang="en-US" sz="16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Lateral rotation: obturator externus, obturator internus, gemelli, piriformis, quadratus femoris, gluteus maximus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id="{FB815AF8-2238-6E03-3676-8570A4675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46818"/>
            <a:ext cx="3840480" cy="322735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id="{9FAA3F6F-0759-6C06-3FE4-C6D1A675E0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53B5D4BD-3511-4B58-81F2-0F5C9C507E19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id="{ABBF1E18-5A89-6D81-E574-E51A8F45D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15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163636126"/>
      </p:ext>
    </p:extLst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75E63997-126E-5342-176E-14AE972F5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0F0302020204030204"/>
                <a:ea typeface="Poppins SemiBold"/>
                <a:cs typeface="Poppins SemiBold"/>
              </a:rPr>
              <a:t>The hip joint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6C8AFAB0-E4A7-8900-EF21-88A0511C94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2676353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5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u="sng" dirty="0" sz="15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Innervation: </a:t>
            </a:r>
            <a:endParaRPr sz="15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Anterior: femoral n, obturator n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Posterior: superior gluteal n, Nerve to quadratus femoris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5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u="sng" dirty="0" sz="15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Blood supply:</a:t>
            </a:r>
            <a:endParaRPr sz="15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Medial and lateral circumflex femoral arteries (br. of deep artery of the thigh and occasionally arises from femoral artery)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Artery to head of femur (br. of obturator artery)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EDE1EFFF-CCF7-1733-2D18-76880A128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0560" y="4596593"/>
            <a:ext cx="6461760" cy="1575607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u="sng" dirty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Clinicals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Femoral neck fractures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Avascular necrosis of head of femur (AVN)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Hip dislocation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Hip replacement surgery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id="{D70B2349-7FE9-D83C-3179-AA26DD129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88686"/>
            <a:ext cx="3840480" cy="3143619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id="{C2CCDFC0-05C0-C001-E3D2-FDCD4548E0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7BE40065-0A39-49C9-8431-9471CA8574ED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id="{D60A9453-E2E6-C382-29C6-E15DFC98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16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182655430"/>
      </p:ext>
    </p:extLst>
  </p:cSld>
  <p:clrMapOvr>
    <a:masterClrMapping/>
  </p:clrMapOvr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F1A53D0F-D95F-7FF9-29D1-B018A35AF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Knee joint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645F10CB-7BF9-97FF-847D-E430929519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NG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knee joint is </a:t>
            </a: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 hinge type of joint, </a:t>
            </a:r>
            <a:r>
              <a:rPr lang="en-NG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formed by the articulation of three main bones</a:t>
            </a:r>
            <a:endParaRPr lang="en-US" dirty="0"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Femur: The distal end features medial and lateral condyles that articulate with the tibia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Tibia (Shinbone): The proximal end (tibial plateau) receives the femoral condyles 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Patella (Kneecap): A sesamoid bone located within the quadriceps tendon that slides over the anterior surface of the distal femur (patellofemoral joint), increasing the leverage of the quadriceps muscle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Content Placeholder 4" descr="Anatomy of the Knee - Miles Callahan | Hobart Tasmania">
            <a:extLst>
              <a:ext uri="{FF2B5EF4-FFF2-40B4-BE49-F238E27FC236}">
                <a16:creationId id="{B405E944-4F81-E508-B4FE-AC17F0A4FD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80960" y="2148058"/>
            <a:ext cx="3840480" cy="362487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id="{3C9C100F-2775-9405-16DF-08B20E4F5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660BAF1E-BA71-4A66-99D6-C60D22623ADC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id="{8F536B85-E476-FB6D-319E-B1B2488E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17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859973923"/>
      </p:ext>
    </p:extLst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83F2C96D-A245-733B-09FE-6EB9EC22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Ankle joint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86F73055-6791-EE4E-1F9B-98E45ACC9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 is a hinge-type of synovial joint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Located between the distal ends of tibia and fibula and the superior parts of talus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Articular surfaces formed by; 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distal ends of the tibia and fibula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along with the inferior transverse part of the posterior tibiofibular ligament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This forms a malleolar mortise (deep socket) 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Then the pulley-shaped trochlea of the talus fits into this mortise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159ABDEB-6398-2109-5830-37803410E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1072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q"/>
              <a:defRPr sz="20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tibia articulates with the talus in two places:</a:t>
            </a:r>
            <a:endParaRPr sz="20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Its inferior surface forms the roof of the malleolar mortise, transferring the body's weight to the talus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Its medial malleolus articulates with the medial surface of the talus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u="sng" dirty="0" sz="1950">
                <a:solidFill>
                  <a:srgbClr val="243B53"/>
                </a:solidFill>
                <a:latin typeface="Arial"/>
                <a:ea typeface="Arial"/>
                <a:cs typeface="Arial"/>
              </a:rPr>
              <a:t>  Note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trochlea is the rounded superior articular surface of the talus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medial surface of the lateral malleolus of fibula articulates with the lateral surface of the talus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id="{6F702E3D-7382-EE4D-205B-05CAD83B62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E13754-4432-44B8-AFA1-2503414B19D4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id="{16C73735-EEB7-19DF-64AE-60C78FCC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875003861"/>
      </p:ext>
    </p:extLst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9AD8B0F5-C1BE-8454-28BB-F98A065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Ankle joint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83A7BDA6-9159-D371-6A2C-5A5C3191C3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NG" dirty="0"/>
          </a:p>
        </p:txBody>
      </p:sp>
      <p:pic>
        <p:nvPicPr>
          <p:cNvPr id="6" name="Content Placeholder 5" descr="Ankle Joint: Anatomy | Concise Medical Knowledge">
            <a:extLst>
              <a:ext uri="{FF2B5EF4-FFF2-40B4-BE49-F238E27FC236}">
                <a16:creationId id="{51127DE2-EA32-51B5-5B7A-45FB2F7B3C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34530" y="1748790"/>
            <a:ext cx="1922941" cy="2143125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id="{09E6F072-767F-F19C-A28B-9B851881E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71" y="4029075"/>
            <a:ext cx="2930058" cy="214312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id="{8245AC64-B3FF-57D0-4F39-F9B7A073D6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87FEE4CE-EA26-4406-931E-3B5FEF8D4B85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id="{4E5D6FF1-047E-71DA-F52C-A351CF66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19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453143558"/>
      </p:ext>
    </p:extLst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B03F7A85-EA8F-D037-6CFF-093068209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110004020202020204"/>
                <a:ea typeface="Poppins SemiBold"/>
                <a:cs typeface="Poppins SemiBold"/>
              </a:rPr>
              <a:t>Ankle joint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6A8EAB06-588B-C62B-64CC-1B3271573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2482206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malleoli grip the talus tightly as it rocks in the mortise during movements of the ankle joint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grip of the malleoli on the trochlea is strongest during dorsiflexion of the foot 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This movement forces the wider, anterior part of the trochlea posteriorly, spreading the tibia and fibula slightly apart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9D170ECA-777D-C551-8816-F0271D30A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0560" y="4402446"/>
            <a:ext cx="6461760" cy="1769754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ankle joint is relatively unstable during plantarflexion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This is because the trochlea is narrower posteriorly and therefore lies loosely within the mortise during plantarflexion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id="{C6DF5A52-7939-AEF8-808E-2EB967F1D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789617"/>
            <a:ext cx="3840480" cy="234175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id="{97A1DBC2-22CF-E88C-2ABD-052A5CDF7C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F80AABC5-6892-49C3-922A-E701AE480393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id="{0A458B8A-E57E-FF51-1A00-CA66CD0F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20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904164195"/>
      </p:ext>
    </p:extLst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70672DB6-6A4D-E7F9-F021-E15A08A05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Ankle joint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633A920F-118C-BDF1-BEF1-B14F890FB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q"/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Pott fracture-dislocation of the ankle</a:t>
            </a:r>
            <a:endParaRPr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occurs when the foot is forcibly everted esp.in contact sports</a:t>
            </a:r>
            <a:endParaRPr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This pulls on the medial ligament, and tearing off the medial malleolus </a:t>
            </a:r>
            <a:endParaRPr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talus moves laterally, shearing off the lateral malleolus also</a:t>
            </a:r>
            <a:endParaRPr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or, more commonly, breaking the fibula superior to the tibiofibular syndesmosis</a:t>
            </a:r>
            <a:endParaRPr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If the tibia is carried anteriorly, the posterior margin of the distal end of the tibia is also sheared off by the talus</a:t>
            </a:r>
            <a:endParaRPr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2696E0DF-1EF1-340B-8B22-C16B127687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id="{993FA90A-00CF-82F1-67C8-F560E53F5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638849"/>
            <a:ext cx="3840480" cy="264329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id="{80E198F6-659F-79DF-7EB6-4F817812E2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3A24E02F-6EA0-4D20-8466-1A83D8D4DEBF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id="{1A752FC1-F88F-2FFA-AAF7-9DF1593B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21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993925691"/>
      </p:ext>
    </p:extLst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A7B50616-F5B1-C308-984F-C05145DB4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The Thigh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0CD6E2BD-88FA-3BDC-3B90-835306DB5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Made up of 3 compartments</a:t>
            </a:r>
            <a:endParaRPr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q"/>
              <a:defRPr sz="22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 Anterior Compartment (Extensors):</a:t>
            </a:r>
            <a:endParaRPr sz="22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Quadriceps Femoris: Comprises the rectus femoris, vastus medialis, vastus lateralis, and vastus intermedius. They extend the knee and help flex the hip</a:t>
            </a:r>
            <a:endParaRPr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Sartorius: A long, strap-like muscle that helps flex, abduct, and laterally rotate the hip, and flex the knee</a:t>
            </a:r>
            <a:endParaRPr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Iliopsoas &amp; Pectineus: Assist with hip and thigh flexion</a:t>
            </a:r>
            <a:endParaRPr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Innervation: femoral nerve</a:t>
            </a:r>
            <a:endParaRPr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Content Placeholder 4" descr="Thigh: Anatomy | Concise Medical Knowledge">
            <a:extLst>
              <a:ext uri="{FF2B5EF4-FFF2-40B4-BE49-F238E27FC236}">
                <a16:creationId id="{EB24F5F7-F28C-FD16-91A3-BE67537C9D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80960" y="2116054"/>
            <a:ext cx="3840480" cy="368888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id="{65D62DBF-87A3-2590-FBC3-6499F7D538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3F600F2D-33BD-4C25-93E8-2A4D1A6691FC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id="{68446532-007C-D583-251E-ED825F41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22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175720502"/>
      </p:ext>
    </p:extLst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2A86BB0F-F1A8-9CC5-DB98-D1725955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The Thigh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C97A117F-4527-19F5-A046-CCBC0B2C6D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q"/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5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Medial Compartment (Adductors):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Comprises the adductor longus, adductor brevis, adductor magnus, </a:t>
            </a:r>
            <a:r>
              <a:rPr lang="en-US" dirty="0" err="1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gracilis</a:t>
            </a: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and pectineus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Action: Adduction of the thigh and helps stabilize the pelvis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Innervation: Primarily supplied by the obturator nerve (with dual innervation from the sciatic nerve for part of the adductor magnus)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9D2436B0-CABD-D15A-6FCB-21D6CAA2A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1072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q"/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5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 Posterior Compartment (Hamstrings):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Comprises the biceps femoris, semitendinosus, and semimembranosus.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Action: flexes the knee and extends (straighten) the hip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Innervation:  Sciatic nerve (tibial and common fibular divisions)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id="{6DE623AB-B578-5942-0BC6-CE62F87C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D98A06CA-4861-48AE-A259-301A5C233F26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id="{08E96D88-B67F-8871-8316-4D86AC8B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23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134716730"/>
      </p:ext>
    </p:extLst>
  </p:cSld>
  <p:clrMapOvr>
    <a:masterClrMapping/>
  </p:clrMapOvr>
</p:sld>
</file>

<file path=ppt/slides/slide2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6F6287BB-9DC8-4CFB-3ED3-1BB8DCE9D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The Thigh – Femoral triangle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550D7A99-9E50-54D9-BE46-281C87B57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femoral triangle is a wedge-shaped subfascial depression located at the upper third of the anterior thigh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 is bounded superiorly by the inguinal ligament, medially by adductor longus and laterally by sartorius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Roof by deep fascia, floor by IPPA (iliopsoas, pectineus and adductor longus)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 is a passageway for nerves and vessels thus forming its contents: femoral nerve, femoral artery, femoral vein, femoral canal and deep inguinal lymph nodes</a:t>
            </a:r>
            <a:endParaRPr lang="en-NG" dirty="0"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Content Placeholder 4" descr="Femoral triangle - MEDizzy">
            <a:extLst>
              <a:ext uri="{FF2B5EF4-FFF2-40B4-BE49-F238E27FC236}">
                <a16:creationId id="{F134108A-F822-23C7-A32C-8BBCA3913F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96091" y="1748790"/>
            <a:ext cx="3610217" cy="442341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id="{26F42762-82F8-C4B1-0EC8-E996DD3E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E9248DE0-F5DC-4FD4-8CEE-211B881B98A8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id="{405DAB91-8C42-B361-DE2B-EBDA31F84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24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587542141"/>
      </p:ext>
    </p:extLst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C3376886-6662-B353-C87C-BBDF7E969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The leg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D574C74B-E9D2-207D-51B5-58CB37BB7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Region between knee and ankle</a:t>
            </a:r>
            <a:endParaRPr sz="20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leg is divided into three tight fascial compartments</a:t>
            </a:r>
            <a:endParaRPr sz="20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0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Anterior (Extensors/dorsiflexors)</a:t>
            </a:r>
            <a:endParaRPr sz="20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 sz="20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pt-BR" dirty="0" sz="20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Tibialis anterior, extensor digitorum longus, extensor hallucis longus, and fibularis tertius</a:t>
            </a:r>
            <a:endParaRPr sz="20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 sz="20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pt-BR" dirty="0" sz="20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Action: extends toes, dorsiflexes foot (to lift the foot upward)</a:t>
            </a:r>
            <a:endParaRPr sz="20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0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pt-BR" dirty="0" sz="20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Posterior (Flexors/Plantarflexors)</a:t>
            </a:r>
            <a:endParaRPr sz="20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 sz="20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pt-BR" dirty="0" sz="20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Gastrocnemius, soleus, plantaris</a:t>
            </a:r>
            <a:endParaRPr sz="20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0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pt-BR" dirty="0" sz="20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Lateral (Evertors)</a:t>
            </a:r>
            <a:endParaRPr sz="20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 sz="20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Fibularis (peroneus) longus and fibularis brevis</a:t>
            </a:r>
            <a:endParaRPr lang="en-NG" dirty="0" sz="20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Content Placeholder 4" descr="Leg Muscle Anatomy | Arthritis Knee Pain Centers">
            <a:extLst>
              <a:ext uri="{FF2B5EF4-FFF2-40B4-BE49-F238E27FC236}">
                <a16:creationId id="{5CC713C1-846F-8584-9721-2A13C4769E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80960" y="1812616"/>
            <a:ext cx="3840480" cy="429575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id="{B4326B89-9EED-59BB-3F8D-2C452B0A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B3331648-22F3-4123-A6F9-8C8AB3EB101C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id="{AC93653B-A299-2E74-8222-8C15C9BED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25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219280809"/>
      </p:ext>
    </p:extLst>
  </p:cSld>
  <p:clrMapOvr>
    <a:masterClrMapping/>
  </p:clrMapOvr>
</p:sld>
</file>

<file path=ppt/slides/slide2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3BCE7B24-F269-287B-25FE-8CCC28397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Popliteal fossa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E120F191-0633-6ACA-FC4D-7702406F8A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Diamond-shaped depression at back of knee and serves as passageway for neurovascular structures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Boundaries:</a:t>
            </a:r>
            <a:endParaRPr sz="20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Superomedial: Semimembranosus and semitendinosus muscles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Superolateral: Biceps femoris muscle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Inferomedial: Medial head of the gastrocnemius muscle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Inferolateral: Lateral head of the gastrocnemius and the plantaris muscle</a:t>
            </a:r>
            <a:endParaRPr lang="en-NG" dirty="0"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B61C126B-3B0E-C273-75D0-884324BE8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1072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Floor (anterior wall): Popliteal surface of the femur, knee joint capsule, and popliteus muscle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Roof: Skin and popliteal fascia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q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Contents: sciatic nerve and its terminal branches (tibial and common peroneal), popliteal artery and vein, popliteal lymph nodes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q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1950">
                <a:solidFill>
                  <a:srgbClr val="243B53"/>
                </a:solidFill>
                <a:latin typeface="Arial"/>
                <a:ea typeface="Arial"/>
                <a:cs typeface="Arial"/>
              </a:rPr>
              <a:t>Clinicals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Baker’s cyst: inflammation of semimembranosus bursa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Popliteal artery aneurysm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Popliteal lymphadenopathy</a:t>
            </a:r>
            <a:endParaRPr lang="en-NG" dirty="0"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id="{673BE867-1277-B09C-70D0-16E7C2B1F3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85D99E77-6FB4-404C-90EF-9434AD60EBED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id="{9E8C0299-2831-1AB6-1D85-C2845BF1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26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971964073"/>
      </p:ext>
    </p:extLst>
  </p:cSld>
  <p:clrMapOvr>
    <a:masterClrMapping/>
  </p:clrMapOvr>
</p:sld>
</file>

<file path=ppt/slides/slide2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AD524E82-F5B1-F930-C9AF-475AAFFB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110004020202020204"/>
                <a:ea typeface="Poppins SemiBold"/>
                <a:cs typeface="Poppins SemiBold"/>
              </a:rPr>
              <a:t>Popliteal fossa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pic>
        <p:nvPicPr>
          <p:cNvPr id="5" name="Content Placeholder 4" descr="Popliteal fossa - Wikipedia">
            <a:extLst>
              <a:ext uri="{FF2B5EF4-FFF2-40B4-BE49-F238E27FC236}">
                <a16:creationId id="{4D697396-FAC9-8160-27BC-895FE5A659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291257" y="1748790"/>
            <a:ext cx="1609487" cy="2143125"/>
          </a:xfrm>
          <a:prstGeom prst="rect">
            <a:avLst/>
          </a:prstGeom>
        </p:spPr>
      </p:pic>
      <p:pic>
        <p:nvPicPr>
          <p:cNvPr id="6" name="Content Placeholder 5" descr="The Popliteal Fossa - Borders - Contents - TeachMeAnatomy">
            <a:extLst>
              <a:ext uri="{FF2B5EF4-FFF2-40B4-BE49-F238E27FC236}">
                <a16:creationId id="{9EF71CFE-2B90-E0BB-3C77-48893C6FB6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450284" y="4029075"/>
            <a:ext cx="3291432" cy="214312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id="{D9F8E846-1671-70D8-F4C1-C249FCE94B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0C28A2FC-133C-478C-B15F-37B769B53A71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id="{F08F9DD1-11D2-0C43-EA7E-FF24317A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27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039396317"/>
      </p:ext>
    </p:extLst>
  </p:cSld>
  <p:clrMapOvr>
    <a:masterClrMapping/>
  </p:clrMapOvr>
</p:sld>
</file>

<file path=ppt/slides/slide2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DF7D94AD-4323-EF68-9866-E973924FB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The Foot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3C42B09C-76B2-997D-1A9F-8739D53CF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Divided into 3 main regions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Hindfoot: Formed by the talus (ankle bone that connects to the tibia and fibula) and the calcaneus (heel bone)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Midfoot: formed by the navicular, cuboid, and three cuneiforms (medial, intermediate, and lateral)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Forefoot: Composed of five metatarsals (from big toe to little toe) and 14 phalanges </a:t>
            </a:r>
            <a:endParaRPr lang="en-NG" dirty="0"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1588A096-D792-F4A3-FFB0-307033B2D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1072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muscle compartment is divided surgically into 3 by the medial and lateral intermuscular septa of the deep plantar fascia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Lateral, intermediate and medial compartments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For descriptive purposes, the muscle compartments is divided into four layers, from the plantar to the dorsal surface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id="{51E4EC90-C0F9-8086-8879-F14EA91877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C13EB685-BC59-4319-BDFD-4AC0811CFD12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id="{C53E278F-B822-8BD0-3322-EFF775984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28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981757476"/>
      </p:ext>
    </p:extLst>
  </p:cSld>
  <p:clrMapOvr>
    <a:masterClrMapping/>
  </p:clrMapOvr>
</p:sld>
</file>

<file path=ppt/slides/slide2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3E3E97F6-C8C1-C06C-6643-95BB3E82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Arches of the Foot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6F638319-BB06-DA26-CCE1-DDF08A876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This is a skeletal framework that acts as a springboard for the foot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 transmits weight from the leg to the ground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 provides motion stability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 is formed by the tarsal bones, metatarsals and plantar ligaments 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q"/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Transverse arch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anterior transverse arch (metatarsal bases/heads) and a posterior transverse arch (cuboid and cuneiforms)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ü"/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Supported by the fibularis longus tendon and interosseous/plantar ligaments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id="{C204F5C1-E875-58EE-9CAB-AF999EA3D0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80960" y="2227181"/>
            <a:ext cx="3840480" cy="3466628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id="{9A70B9D1-76E3-B1D8-0D60-3B9E9A81C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2045BE06-FD30-4A36-91DB-29B36E2FF10F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id="{E7E750B5-0B10-22D4-60BB-B5A5EED1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29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325799473"/>
      </p:ext>
    </p:extLst>
  </p:cSld>
  <p:clrMapOvr>
    <a:masterClrMapping/>
  </p:clrMapOvr>
</p:sld>
</file>

<file path=ppt/slides/slide3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E83FF94C-8E1B-BF9A-71D9-297A03257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D2"/>
                </a:solidFill>
                <a:effectLst/>
                <a:uLnTx/>
                <a:uFillTx/>
                <a:latin typeface="Poppins SemiBold" panose="02110004020202020204"/>
                <a:ea typeface="Poppins SemiBold"/>
                <a:cs typeface="Poppins SemiBold"/>
              </a:rPr>
              <a:t>Arches of the Foot</a:t>
            </a:r>
            <a:endParaRPr lang="en-NG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034F630E-202E-F1D8-BE2A-1B9B06A37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0560" y="1748790"/>
            <a:ext cx="64617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Wingdings" panose="05000000000000000000" pitchFamily="2" charset="2"/>
              <a:buChar char="q"/>
              <a:tabLst/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110004020202020204"/>
                <a:ea typeface="Arial"/>
                <a:cs typeface="Arial"/>
              </a:rPr>
              <a:t>Medial longitudinal arch: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Wingdings" panose="05000000000000000000" pitchFamily="2" charset="2"/>
              <a:buChar char="ü"/>
              <a:tabLst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110004020202020204"/>
                <a:ea typeface="Arial"/>
                <a:cs typeface="Arial"/>
              </a:rPr>
              <a:t>Calcaneus, talus, navicular, three cuneiforms, and the first three metatarsals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Wingdings" panose="05000000000000000000" pitchFamily="2" charset="2"/>
              <a:buChar char="ü"/>
              <a:tabLst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110004020202020204"/>
                <a:ea typeface="Arial"/>
                <a:cs typeface="Arial"/>
              </a:rPr>
              <a:t>Supported by the tibialis posterior muscle, spring ligament, and plantar aponeurosis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srgbClr val="243B53"/>
              </a:solidFill>
              <a:effectLst/>
              <a:uLnTx/>
              <a:uFillTx/>
              <a:latin typeface="Arial" panose="02110004020202020204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Wingdings" panose="05000000000000000000" pitchFamily="2" charset="2"/>
              <a:buChar char="q"/>
              <a:tabLst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110004020202020204"/>
                <a:ea typeface="Arial"/>
                <a:cs typeface="Arial"/>
              </a:rPr>
              <a:t>Lateral longitudinal arch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Wingdings" panose="05000000000000000000" pitchFamily="2" charset="2"/>
              <a:buChar char="ü"/>
              <a:tabLst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110004020202020204"/>
                <a:ea typeface="Arial"/>
                <a:cs typeface="Arial"/>
              </a:rPr>
              <a:t>Calcaneus, cuboid, and the fourth and fifth metatarsals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Wingdings" panose="05000000000000000000" pitchFamily="2" charset="2"/>
              <a:buChar char="ü"/>
              <a:tabLst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43B53"/>
                </a:solidFill>
                <a:effectLst/>
                <a:uLnTx/>
                <a:uFillTx/>
                <a:latin typeface="Arial" panose="02110004020202020204"/>
                <a:ea typeface="Arial"/>
                <a:cs typeface="Arial"/>
              </a:rPr>
              <a:t>Supported by the long and short plantar ligaments and fibularis muscles</a:t>
            </a:r>
            <a:endParaRPr kumimoji="0" lang="en-NG" sz="2200" b="0" i="0" u="none" strike="noStrike" kern="1200" cap="none" spc="0" normalizeH="0" baseline="0" noProof="0" dirty="0">
              <a:ln>
                <a:noFill/>
              </a:ln>
              <a:solidFill>
                <a:srgbClr val="243B53"/>
              </a:solidFill>
              <a:effectLst/>
              <a:uLnTx/>
              <a:uFillTx/>
              <a:latin typeface="Arial" panose="02110004020202020204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NG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Content Placeholder 7" descr="Know Your Arches - ShoeInsoles.co.uk">
            <a:extLst>
              <a:ext uri="{FF2B5EF4-FFF2-40B4-BE49-F238E27FC236}">
                <a16:creationId id="{CB8432E4-A0DE-4E54-4541-09F0D0A9C4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80960" y="2912033"/>
            <a:ext cx="3840480" cy="2096925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id="{9297828A-4757-F5EE-C8AA-1A5D1A8D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" y="6480810"/>
            <a:ext cx="853440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E2A8F642-89BA-42AF-8EB0-2FD50123F0EB}" type="datetime8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18/10/2026 08:08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id="{D7187DFC-B41F-4F07-9BC7-BDA067F63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480810"/>
            <a:ext cx="792480" cy="20574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r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809A"/>
                </a:solidFill>
                <a:latin typeface="Arial"/>
                <a:ea typeface="Arial"/>
                <a:cs typeface="Arial"/>
              </a:defRPr>
            </a:pPr>
            <a:fld id="{9BB6D031-4E2E-4C51-80DE-A62D042CD33E}" type="slidenum">
              <a:rPr lang="en-NG" smtClean="0" sz="800" b="0">
                <a:solidFill>
                  <a:srgbClr val="66809A"/>
                </a:solidFill>
                <a:latin typeface="Arial"/>
                <a:ea typeface="Arial"/>
                <a:cs typeface="Arial"/>
              </a:rPr>
              <a:t>30</a:t>
            </a:fld>
            <a:endParaRPr lang="en-NG" sz="800" b="0">
              <a:solidFill>
                <a:srgbClr val="6680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506851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2267</Words>
  <Application>Microsoft Office PowerPoint</Application>
  <PresentationFormat>Widescreen</PresentationFormat>
  <Paragraphs>269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Calibri Light</vt:lpstr>
      <vt:lpstr>Wingdings</vt:lpstr>
      <vt:lpstr>Office Theme</vt:lpstr>
      <vt:lpstr>Anatomy of the Lower Limbs</vt:lpstr>
      <vt:lpstr>Table of contents</vt:lpstr>
      <vt:lpstr>Osteology of the lower limbs - Femur</vt:lpstr>
      <vt:lpstr>Osteology of the lower limbs - Tibia</vt:lpstr>
      <vt:lpstr>Osteology of the lower limbs </vt:lpstr>
      <vt:lpstr>Venous drainage of the lower limbs</vt:lpstr>
      <vt:lpstr>Venous drainage of the lower limbs</vt:lpstr>
      <vt:lpstr>Blood supply to the lower limbs</vt:lpstr>
      <vt:lpstr>The gluteal region</vt:lpstr>
      <vt:lpstr>The gluteal region</vt:lpstr>
      <vt:lpstr>The gluteal muscles</vt:lpstr>
      <vt:lpstr>Gluteal region - Blood supply </vt:lpstr>
      <vt:lpstr>Joints of the Lower limb - The hip joint</vt:lpstr>
      <vt:lpstr>The hip joint</vt:lpstr>
      <vt:lpstr>The hip joint</vt:lpstr>
      <vt:lpstr>The hip joint</vt:lpstr>
      <vt:lpstr>Knee joint</vt:lpstr>
      <vt:lpstr>Ankle joint</vt:lpstr>
      <vt:lpstr>Ankle joint</vt:lpstr>
      <vt:lpstr>Ankle joint</vt:lpstr>
      <vt:lpstr>Ankle joint</vt:lpstr>
      <vt:lpstr>The Thigh</vt:lpstr>
      <vt:lpstr>The Thigh</vt:lpstr>
      <vt:lpstr>The Thigh – Femoral triangle</vt:lpstr>
      <vt:lpstr>The leg</vt:lpstr>
      <vt:lpstr>Popliteal fossa</vt:lpstr>
      <vt:lpstr>Popliteal fossa</vt:lpstr>
      <vt:lpstr>The Foot</vt:lpstr>
      <vt:lpstr>Arches of the Foot</vt:lpstr>
      <vt:lpstr>Arches of the Foot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64</cp:revision>
  <dcterms:created xsi:type="dcterms:W3CDTF">2026-10-16T15:55:20Z</dcterms:created>
  <dcterms:modified xsi:type="dcterms:W3CDTF">2026-10-18T07:14:48Z</dcterms:modified>
</cp:coreProperties>
</file>