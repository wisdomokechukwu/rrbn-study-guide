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sldIdLst>
    <p:sldId id="256" r:id="rId2"/>
    <p:sldId id="257" r:id="rId3"/>
    <p:sldId id="258" r:id="rId4"/>
    <p:sldId id="283" r:id="rId5"/>
    <p:sldId id="259" r:id="rId6"/>
    <p:sldId id="260" r:id="rId7"/>
    <p:sldId id="261" r:id="rId8"/>
    <p:sldId id="262" r:id="rId9"/>
    <p:sldId id="263" r:id="rId10"/>
    <p:sldId id="264" r:id="rId11"/>
    <p:sldId id="267" r:id="rId12"/>
    <p:sldId id="268" r:id="rId13"/>
    <p:sldId id="269" r:id="rId14"/>
    <p:sldId id="270" r:id="rId15"/>
    <p:sldId id="271" r:id="rId16"/>
    <p:sldId id="265" r:id="rId17"/>
    <p:sldId id="272" r:id="rId18"/>
    <p:sldId id="273" r:id="rId19"/>
    <p:sldId id="274" r:id="rId20"/>
    <p:sldId id="266" r:id="rId21"/>
    <p:sldId id="275" r:id="rId22"/>
    <p:sldId id="276" r:id="rId23"/>
    <p:sldId id="277" r:id="rId24"/>
    <p:sldId id="278" r:id="rId25"/>
    <p:sldId id="279" r:id="rId26"/>
    <p:sldId id="280" r:id="rId27"/>
    <p:sldId id="281" r:id="rId28"/>
    <p:sldId id="282" r:id="rId29"/>
    <p:sldId id="284" r:id="rId30"/>
    <p:sldId id="285" r:id="rId31"/>
    <p:sldId id="286" r:id="rId32"/>
    <p:sldId id="287" r:id="rId33"/>
    <p:sldId id="288" r:id="rId34"/>
    <p:sldId id="289" r:id="rId35"/>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44FB7-B2A0-4322-81D2-1179CE8375A0}" type="datetimeFigureOut">
              <a:rPr lang="en-NG" smtClean="0"/>
              <a:t>18/10/2026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0C7CB-EB7F-4A84-B4F4-872E4DB0E86B}" type="slidenum">
              <a:rPr lang="en-NG" smtClean="0"/>
              <a:t>‹#›</a:t>
            </a:fld>
            <a:endParaRPr lang="en-NG"/>
          </a:p>
        </p:txBody>
      </p:sp>
    </p:spTree>
    <p:extLst>
      <p:ext uri="{BB962C8B-B14F-4D97-AF65-F5344CB8AC3E}">
        <p14:creationId xmlns:p14="http://schemas.microsoft.com/office/powerpoint/2010/main" val="150375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G"/>
          </a:p>
        </p:txBody>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BFA0C7CB-EB7F-4A84-B4F4-872E4DB0E86B}" type="slidenum">
              <a:rPr lang="en-NG" smtClean="0"/>
              <a:t>31</a:t>
            </a:fld>
            <a:endParaRPr lang="en-NG"/>
          </a:p>
        </p:txBody>
      </p:sp>
    </p:spTree>
    <p:extLst>
      <p:ext uri="{BB962C8B-B14F-4D97-AF65-F5344CB8AC3E}">
        <p14:creationId xmlns:p14="http://schemas.microsoft.com/office/powerpoint/2010/main" val="1995711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8C8B-2D92-C916-11C5-79EF1CAF8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CC469560-59D1-5B08-F33C-78BC25081F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B1B03789-4557-E680-4676-CD34779DFE93}"/>
              </a:ext>
            </a:extLst>
          </p:cNvPr>
          <p:cNvSpPr>
            <a:spLocks noGrp="1"/>
          </p:cNvSpPr>
          <p:nvPr>
            <p:ph type="dt" sz="half" idx="10"/>
          </p:nvPr>
        </p:nvSpPr>
        <p:spPr/>
        <p:txBody>
          <a:bodyPr/>
          <a:lstStyle/>
          <a:p>
            <a:fld id="{70D6FC77-AE91-478B-BD5F-B06DAD85DE49}" type="datetime8">
              <a:rPr lang="en-NG" smtClean="0"/>
              <a:t>18/10/2026 08:13</a:t>
            </a:fld>
            <a:endParaRPr lang="en-NG"/>
          </a:p>
        </p:txBody>
      </p:sp>
      <p:sp>
        <p:nvSpPr>
          <p:cNvPr id="5" name="Footer Placeholder 4">
            <a:extLst>
              <a:ext uri="{FF2B5EF4-FFF2-40B4-BE49-F238E27FC236}">
                <a16:creationId xmlns:a16="http://schemas.microsoft.com/office/drawing/2014/main" id="{ACB78CF2-A9B2-D4D5-D014-30F4330EFDD6}"/>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C115C7A-B367-BF68-DD81-98857DFA69ED}"/>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777338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79C6-E95E-70F7-4EBC-4228801B4FC8}"/>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393676CC-C7C0-1389-51F3-EC9701DC11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C56055B-A115-3562-B342-F25F6E52B802}"/>
              </a:ext>
            </a:extLst>
          </p:cNvPr>
          <p:cNvSpPr>
            <a:spLocks noGrp="1"/>
          </p:cNvSpPr>
          <p:nvPr>
            <p:ph type="dt" sz="half" idx="10"/>
          </p:nvPr>
        </p:nvSpPr>
        <p:spPr/>
        <p:txBody>
          <a:bodyPr/>
          <a:lstStyle/>
          <a:p>
            <a:fld id="{57A28048-B1FC-4F05-AF79-7739E406B0D3}" type="datetime8">
              <a:rPr lang="en-NG" smtClean="0"/>
              <a:t>18/10/2026 08:13</a:t>
            </a:fld>
            <a:endParaRPr lang="en-NG"/>
          </a:p>
        </p:txBody>
      </p:sp>
      <p:sp>
        <p:nvSpPr>
          <p:cNvPr id="5" name="Footer Placeholder 4">
            <a:extLst>
              <a:ext uri="{FF2B5EF4-FFF2-40B4-BE49-F238E27FC236}">
                <a16:creationId xmlns:a16="http://schemas.microsoft.com/office/drawing/2014/main" id="{B90A31F2-5ACE-82A5-C400-A33D7291EAF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4D47886-2F59-5998-0B7F-916E38BF8459}"/>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3271559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C1645-4BE6-DBE1-2407-94EDAA42A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13543237-7437-F6BB-A6D5-EFB390D97E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609741-78E9-B911-9001-8AC425BC1FB3}"/>
              </a:ext>
            </a:extLst>
          </p:cNvPr>
          <p:cNvSpPr>
            <a:spLocks noGrp="1"/>
          </p:cNvSpPr>
          <p:nvPr>
            <p:ph type="dt" sz="half" idx="10"/>
          </p:nvPr>
        </p:nvSpPr>
        <p:spPr/>
        <p:txBody>
          <a:bodyPr/>
          <a:lstStyle/>
          <a:p>
            <a:fld id="{0012BE93-94FA-4C55-BD0A-EDD7D01B0D69}" type="datetime8">
              <a:rPr lang="en-NG" smtClean="0"/>
              <a:t>18/10/2026 08:13</a:t>
            </a:fld>
            <a:endParaRPr lang="en-NG"/>
          </a:p>
        </p:txBody>
      </p:sp>
      <p:sp>
        <p:nvSpPr>
          <p:cNvPr id="5" name="Footer Placeholder 4">
            <a:extLst>
              <a:ext uri="{FF2B5EF4-FFF2-40B4-BE49-F238E27FC236}">
                <a16:creationId xmlns:a16="http://schemas.microsoft.com/office/drawing/2014/main" id="{7D387407-D6B5-1747-74AE-C862442E0AF5}"/>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AA1DEEB3-F094-15F3-1402-3EE548CFB7FB}"/>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743503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61AD-E715-A64E-F951-F0B356CC3B77}"/>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11CB64E7-CB4B-5F4D-932C-AF5BFD7BAB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D39235A0-7DB9-563E-4F5F-BF2CCB07D7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1F0A1C02-499D-AC48-414A-0C9A74978CEA}"/>
              </a:ext>
            </a:extLst>
          </p:cNvPr>
          <p:cNvSpPr>
            <a:spLocks noGrp="1"/>
          </p:cNvSpPr>
          <p:nvPr>
            <p:ph type="dt" sz="half" idx="10"/>
          </p:nvPr>
        </p:nvSpPr>
        <p:spPr/>
        <p:txBody>
          <a:bodyPr/>
          <a:lstStyle/>
          <a:p>
            <a:fld id="{01F4BAFF-5124-4DB7-9F9C-6A588356DF5B}" type="datetime8">
              <a:rPr lang="en-NG" smtClean="0"/>
              <a:t>18/10/2026 08:13</a:t>
            </a:fld>
            <a:endParaRPr lang="en-NG"/>
          </a:p>
        </p:txBody>
      </p:sp>
      <p:sp>
        <p:nvSpPr>
          <p:cNvPr id="6" name="Footer Placeholder 5">
            <a:extLst>
              <a:ext uri="{FF2B5EF4-FFF2-40B4-BE49-F238E27FC236}">
                <a16:creationId xmlns:a16="http://schemas.microsoft.com/office/drawing/2014/main" id="{C6BC2BA8-0B63-6118-D166-4B2972FA525B}"/>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A4846EC1-565B-063F-640B-DCEA6BB75856}"/>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66334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D44DA-7DC1-C78F-7485-EEDD5792C56C}"/>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1EC54C87-FD5B-78DF-D62D-AD9414D825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03C142-211E-41CD-C923-CF4537DF6A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B1A77AAF-4714-DCF9-60EA-8761C332E4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301698-DAF4-3FF3-809A-A71E17B3E0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7740804A-187F-98C7-F4CC-9E70DE32B586}"/>
              </a:ext>
            </a:extLst>
          </p:cNvPr>
          <p:cNvSpPr>
            <a:spLocks noGrp="1"/>
          </p:cNvSpPr>
          <p:nvPr>
            <p:ph type="dt" sz="half" idx="10"/>
          </p:nvPr>
        </p:nvSpPr>
        <p:spPr/>
        <p:txBody>
          <a:bodyPr/>
          <a:lstStyle/>
          <a:p>
            <a:fld id="{43E0FE62-F9CD-4B69-924D-FE94DA9B029F}" type="datetime8">
              <a:rPr lang="en-NG" smtClean="0"/>
              <a:t>18/10/2026 08:13</a:t>
            </a:fld>
            <a:endParaRPr lang="en-NG"/>
          </a:p>
        </p:txBody>
      </p:sp>
      <p:sp>
        <p:nvSpPr>
          <p:cNvPr id="8" name="Footer Placeholder 7">
            <a:extLst>
              <a:ext uri="{FF2B5EF4-FFF2-40B4-BE49-F238E27FC236}">
                <a16:creationId xmlns:a16="http://schemas.microsoft.com/office/drawing/2014/main" id="{F6FE38C3-FA24-9018-FF7E-56023688F7B7}"/>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FAB1F447-38B6-D82B-78AB-D16AF51CA444}"/>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741388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6A102-428B-4C48-6127-F1F8FF1C1D8A}"/>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3ABC085B-26B6-C116-4C3C-16B31384FF39}"/>
              </a:ext>
            </a:extLst>
          </p:cNvPr>
          <p:cNvSpPr>
            <a:spLocks noGrp="1"/>
          </p:cNvSpPr>
          <p:nvPr>
            <p:ph type="dt" sz="half" idx="10"/>
          </p:nvPr>
        </p:nvSpPr>
        <p:spPr/>
        <p:txBody>
          <a:bodyPr/>
          <a:lstStyle/>
          <a:p>
            <a:fld id="{0949F126-75B4-40DE-999C-D1F8847DA070}" type="datetime8">
              <a:rPr lang="en-NG" smtClean="0"/>
              <a:t>18/10/2026 08:13</a:t>
            </a:fld>
            <a:endParaRPr lang="en-NG"/>
          </a:p>
        </p:txBody>
      </p:sp>
      <p:sp>
        <p:nvSpPr>
          <p:cNvPr id="4" name="Footer Placeholder 3">
            <a:extLst>
              <a:ext uri="{FF2B5EF4-FFF2-40B4-BE49-F238E27FC236}">
                <a16:creationId xmlns:a16="http://schemas.microsoft.com/office/drawing/2014/main" id="{D9B97496-D2F5-D250-0F6E-435839A6EE47}"/>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68247D63-739E-1A51-E280-377E8ECEC095}"/>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92301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30F8BB-FBFC-AFE7-5AAB-ED027A851972}"/>
              </a:ext>
            </a:extLst>
          </p:cNvPr>
          <p:cNvSpPr>
            <a:spLocks noGrp="1"/>
          </p:cNvSpPr>
          <p:nvPr>
            <p:ph type="dt" sz="half" idx="10"/>
          </p:nvPr>
        </p:nvSpPr>
        <p:spPr/>
        <p:txBody>
          <a:bodyPr/>
          <a:lstStyle/>
          <a:p>
            <a:fld id="{948F97BC-67A0-4735-A5DB-E08D7332816E}" type="datetime8">
              <a:rPr lang="en-NG" smtClean="0"/>
              <a:t>18/10/2026 08:13</a:t>
            </a:fld>
            <a:endParaRPr lang="en-NG"/>
          </a:p>
        </p:txBody>
      </p:sp>
      <p:sp>
        <p:nvSpPr>
          <p:cNvPr id="3" name="Footer Placeholder 2">
            <a:extLst>
              <a:ext uri="{FF2B5EF4-FFF2-40B4-BE49-F238E27FC236}">
                <a16:creationId xmlns:a16="http://schemas.microsoft.com/office/drawing/2014/main" id="{9FE156FC-F09C-F933-1286-F9E28947A0FD}"/>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92795AE2-1DFB-2850-31E6-FBB62E5B2BE3}"/>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3546762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38195-45C0-2620-F452-1AC877F7E2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632CC0F5-4169-A6D3-F2AA-08D59463FA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937C604C-BFFD-04F5-40FE-72A707018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58ED7D-4F9D-D17E-E47A-8B7DA79829BF}"/>
              </a:ext>
            </a:extLst>
          </p:cNvPr>
          <p:cNvSpPr>
            <a:spLocks noGrp="1"/>
          </p:cNvSpPr>
          <p:nvPr>
            <p:ph type="dt" sz="half" idx="10"/>
          </p:nvPr>
        </p:nvSpPr>
        <p:spPr/>
        <p:txBody>
          <a:bodyPr/>
          <a:lstStyle/>
          <a:p>
            <a:fld id="{602B5D1E-ADDD-46FE-968B-9AE957FFDA22}" type="datetime8">
              <a:rPr lang="en-NG" smtClean="0"/>
              <a:t>18/10/2026 08:13</a:t>
            </a:fld>
            <a:endParaRPr lang="en-NG"/>
          </a:p>
        </p:txBody>
      </p:sp>
      <p:sp>
        <p:nvSpPr>
          <p:cNvPr id="6" name="Footer Placeholder 5">
            <a:extLst>
              <a:ext uri="{FF2B5EF4-FFF2-40B4-BE49-F238E27FC236}">
                <a16:creationId xmlns:a16="http://schemas.microsoft.com/office/drawing/2014/main" id="{53A465B3-1E1B-01C5-B319-DBF50F388FF2}"/>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C3302C35-3E3B-F241-B408-5D977E96585C}"/>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3550530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23705-09AA-9D02-B681-4D3692310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C0221E69-2AAE-F85C-AC70-7E7F97B33CB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914EAE1C-5B46-4535-40C2-766051602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507D86-7FDF-A2F1-D051-3898E9A19536}"/>
              </a:ext>
            </a:extLst>
          </p:cNvPr>
          <p:cNvSpPr>
            <a:spLocks noGrp="1"/>
          </p:cNvSpPr>
          <p:nvPr>
            <p:ph type="dt" sz="half" idx="10"/>
          </p:nvPr>
        </p:nvSpPr>
        <p:spPr/>
        <p:txBody>
          <a:bodyPr/>
          <a:lstStyle/>
          <a:p>
            <a:fld id="{B1E374DD-333F-467E-9976-826FDE51FCE5}" type="datetime8">
              <a:rPr lang="en-NG" smtClean="0"/>
              <a:t>18/10/2026 08:13</a:t>
            </a:fld>
            <a:endParaRPr lang="en-NG"/>
          </a:p>
        </p:txBody>
      </p:sp>
      <p:sp>
        <p:nvSpPr>
          <p:cNvPr id="6" name="Footer Placeholder 5">
            <a:extLst>
              <a:ext uri="{FF2B5EF4-FFF2-40B4-BE49-F238E27FC236}">
                <a16:creationId xmlns:a16="http://schemas.microsoft.com/office/drawing/2014/main" id="{82825BC9-8DA0-01FA-6565-85759DD9874F}"/>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04E2E007-F375-B462-A83E-03D0E6260FBA}"/>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2813606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F67CF-36FB-B10C-8106-F33305BD284C}"/>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F8186F79-C3F3-F177-CB15-00EC50C56D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FFDED3BD-813A-9977-701F-A48DF87E4EC0}"/>
              </a:ext>
            </a:extLst>
          </p:cNvPr>
          <p:cNvSpPr>
            <a:spLocks noGrp="1"/>
          </p:cNvSpPr>
          <p:nvPr>
            <p:ph type="dt" sz="half" idx="10"/>
          </p:nvPr>
        </p:nvSpPr>
        <p:spPr/>
        <p:txBody>
          <a:bodyPr/>
          <a:lstStyle/>
          <a:p>
            <a:fld id="{D5CBCB17-D8AB-489C-B7CB-7F8BB009EE73}" type="datetime8">
              <a:rPr lang="en-NG" smtClean="0"/>
              <a:t>18/10/2026 08:13</a:t>
            </a:fld>
            <a:endParaRPr lang="en-NG"/>
          </a:p>
        </p:txBody>
      </p:sp>
      <p:sp>
        <p:nvSpPr>
          <p:cNvPr id="5" name="Footer Placeholder 4">
            <a:extLst>
              <a:ext uri="{FF2B5EF4-FFF2-40B4-BE49-F238E27FC236}">
                <a16:creationId xmlns:a16="http://schemas.microsoft.com/office/drawing/2014/main" id="{3D8546DD-D0BC-B9F1-92BF-4965EFB8DC6C}"/>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4871EC8-EFFD-E71E-B8F7-71DF1E01AA37}"/>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424257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78BFBC-975D-5A74-8E47-E7423A957B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50F35FA2-888E-CC72-8291-8DC595F25A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D39E11D5-C394-DE9B-20F2-1643AE0215B3}"/>
              </a:ext>
            </a:extLst>
          </p:cNvPr>
          <p:cNvSpPr>
            <a:spLocks noGrp="1"/>
          </p:cNvSpPr>
          <p:nvPr>
            <p:ph type="dt" sz="half" idx="10"/>
          </p:nvPr>
        </p:nvSpPr>
        <p:spPr/>
        <p:txBody>
          <a:bodyPr/>
          <a:lstStyle/>
          <a:p>
            <a:fld id="{42385E2C-F379-4F00-A27B-D68F3A677B2B}" type="datetime8">
              <a:rPr lang="en-NG" smtClean="0"/>
              <a:t>18/10/2026 08:13</a:t>
            </a:fld>
            <a:endParaRPr lang="en-NG"/>
          </a:p>
        </p:txBody>
      </p:sp>
      <p:sp>
        <p:nvSpPr>
          <p:cNvPr id="5" name="Footer Placeholder 4">
            <a:extLst>
              <a:ext uri="{FF2B5EF4-FFF2-40B4-BE49-F238E27FC236}">
                <a16:creationId xmlns:a16="http://schemas.microsoft.com/office/drawing/2014/main" id="{FC818FD3-E09D-3B7A-5BF3-6034D3656824}"/>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2272B6D-422A-E853-8636-63FABD043186}"/>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907863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D1637B-AC42-171D-B3E7-E5A9E195D6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3546EE2A-F2D6-528C-07B6-BED5F23069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D131A7B2-DBA4-105E-CAA7-8CF44CB44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3B3E35-8593-4048-89B3-48A5D42C78C0}" type="datetime8">
              <a:rPr lang="en-NG" smtClean="0"/>
              <a:t>18/10/2026 08:13</a:t>
            </a:fld>
            <a:endParaRPr lang="en-NG"/>
          </a:p>
        </p:txBody>
      </p:sp>
      <p:sp>
        <p:nvSpPr>
          <p:cNvPr id="5" name="Footer Placeholder 4">
            <a:extLst>
              <a:ext uri="{FF2B5EF4-FFF2-40B4-BE49-F238E27FC236}">
                <a16:creationId xmlns:a16="http://schemas.microsoft.com/office/drawing/2014/main" id="{51FCE2B3-A775-AE3B-2169-66208D19A5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G"/>
          </a:p>
        </p:txBody>
      </p:sp>
      <p:sp>
        <p:nvSpPr>
          <p:cNvPr id="6" name="Slide Number Placeholder 5">
            <a:extLst>
              <a:ext uri="{FF2B5EF4-FFF2-40B4-BE49-F238E27FC236}">
                <a16:creationId xmlns:a16="http://schemas.microsoft.com/office/drawing/2014/main" id="{5AC46732-1861-0D44-E2E0-D8F9F2876C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15468F-FAE6-4D8E-9204-DF6230E3F4CD}" type="slidenum">
              <a:rPr lang="en-NG" smtClean="0"/>
              <a:t>‹#›</a:t>
            </a:fld>
            <a:endParaRPr lang="en-NG"/>
          </a:p>
        </p:txBody>
      </p:sp>
    </p:spTree>
    <p:extLst>
      <p:ext uri="{BB962C8B-B14F-4D97-AF65-F5344CB8AC3E}">
        <p14:creationId xmlns:p14="http://schemas.microsoft.com/office/powerpoint/2010/main" val="2257928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s>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2531369B-6DBA-A42A-6EA1-D621AB3A0F7B}"/>
              </a:ext>
            </a:extLst>
          </p:cNvPr>
          <p:cNvSpPr>
            <a:spLocks noGrp="1"/>
          </p:cNvSpPr>
          <p:nvPr>
            <p:ph type="ctr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Anatomy of the Upper Limbs</a:t>
            </a:r>
            <a:endParaRPr lang="en-NG" dirty="0" sz="3200" b="1">
              <a:solidFill>
                <a:srgbClr val="0056D2"/>
              </a:solidFill>
              <a:latin typeface="Poppins SemiBold"/>
              <a:ea typeface="Poppins SemiBold"/>
              <a:cs typeface="Poppins SemiBold"/>
            </a:endParaRPr>
          </a:p>
        </p:txBody>
      </p:sp>
      <p:sp>
        <p:nvSpPr>
          <p:cNvPr id="3" name="Subtitle 2">
            <a:extLst>
              <a:ext uri="{FF2B5EF4-FFF2-40B4-BE49-F238E27FC236}">
                <a16:creationId id="{3B42A8EC-0F13-1D1C-C98C-C9BADE2C5700}"/>
              </a:ext>
            </a:extLst>
          </p:cNvPr>
          <p:cNvSpPr>
            <a:spLocks noGrp="1"/>
          </p:cNvSpPr>
          <p:nvPr>
            <p:ph type="subTitle"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b="0" dirty="0" sz="2200">
                <a:solidFill>
                  <a:srgbClr val="243B53"/>
                </a:solidFill>
                <a:latin typeface="Arial"/>
                <a:ea typeface="Arial"/>
                <a:cs typeface="Arial"/>
              </a:rPr>
              <a:t>Dr Clinton David Orupabo</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Department of Radiography, Faculty of Basic Medical Sciences, Rivers State University.</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None/>
              <a:tabLst/>
              <a:defRPr sz="2200" b="0">
                <a:solidFill>
                  <a:srgbClr val="243B53"/>
                </a:solidFill>
                <a:latin typeface="Arial"/>
                <a:ea typeface="Arial"/>
                <a:cs typeface="Arial"/>
              </a:defRPr>
            </a:pPr>
            <a:r>
              <a:rPr kumimoji="0" lang="en-US" sz="2200" b="0" i="0" u="none" strike="noStrike" kern="1200" cap="none" spc="0" normalizeH="0" baseline="0" noProof="0" dirty="0">
                <a:ln>
                  <a:noFill/>
                </a:ln>
                <a:solidFill>
                  <a:srgbClr val="243B53"/>
                </a:solidFill>
                <a:effectLst/>
                <a:uLnTx/>
                <a:uFillTx/>
                <a:latin typeface="Arial" panose="02110004020202020204"/>
                <a:ea typeface="Arial"/>
                <a:cs typeface="Arial"/>
              </a:rPr>
              <a:t>Lectures for Pre-registration Re-training Course for X-ray Technicians. Radiographers Registration Board of Nigeria.</a:t>
            </a:r>
            <a:endParaRPr kumimoji="0" lang="en-NG" sz="2200" b="0" i="0" u="none" strike="noStrike" kern="1200" cap="none" spc="0" normalizeH="0" baseline="0" noProof="0" dirty="0">
              <a:ln>
                <a:noFill/>
              </a:ln>
              <a:solidFill>
                <a:srgbClr val="243B53"/>
              </a:solidFill>
              <a:effectLst/>
              <a:uLnTx/>
              <a:uFillTx/>
              <a:latin typeface="Arial" panose="02110004020202020204"/>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Tree>
    <p:extLst>
      <p:ext uri="{BB962C8B-B14F-4D97-AF65-F5344CB8AC3E}">
        <p14:creationId val="2812992631"/>
      </p:ext>
    </p:extLst>
  </p:cSld>
  <p:clrMapOvr>
    <a:masterClrMapping/>
  </p:clrMapOvr>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6"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E0E37F24-73B6-51A6-482F-1D76ED7619D3}"/>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Table of contents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A8FA45F5-54C0-E6C5-E2B4-C4806C2CE8A3}"/>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Introduction</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Osteology of the upper limbs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shoulder region</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Pectoral region and axilla</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Arm</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Forearm</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Blood supply to the upper limbs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Hand, hand spaces and compartments</a:t>
            </a:r>
            <a:endParaRPr lang="en-NG" dirty="0" sz="2200" b="0">
              <a:solidFill>
                <a:srgbClr val="243B53"/>
              </a:solidFill>
              <a:latin typeface="Arial"/>
              <a:ea typeface="Arial"/>
              <a:cs typeface="Arial"/>
            </a:endParaRPr>
          </a:p>
        </p:txBody>
      </p:sp>
      <p:sp>
        <p:nvSpPr>
          <p:cNvPr id="4" name="Date Placeholder 3">
            <a:extLst>
              <a:ext uri="{FF2B5EF4-FFF2-40B4-BE49-F238E27FC236}">
                <a16:creationId id="{41232599-3515-281A-EEDE-36B9C79B6D12}"/>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9718B1A1-1311-4C97-9DD5-309AD2DA68E1}"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5" name="Slide Number Placeholder 4">
            <a:extLst>
              <a:ext uri="{FF2B5EF4-FFF2-40B4-BE49-F238E27FC236}">
                <a16:creationId id="{F78DF174-0F33-E5DA-F781-1637A3044400}"/>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a:t>
            </a:fld>
            <a:endParaRPr lang="en-NG" sz="800" b="0">
              <a:solidFill>
                <a:srgbClr val="66809A"/>
              </a:solidFill>
              <a:latin typeface="Arial"/>
              <a:ea typeface="Arial"/>
              <a:cs typeface="Arial"/>
            </a:endParaRPr>
          </a:p>
        </p:txBody>
      </p:sp>
    </p:spTree>
    <p:extLst>
      <p:ext uri="{BB962C8B-B14F-4D97-AF65-F5344CB8AC3E}">
        <p14:creationId val="2309807731"/>
      </p:ext>
    </p:extLst>
  </p:cSld>
  <p:clrMapOvr>
    <a:masterClrMapping/>
  </p:clrMapOvr>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31B3E666-8B0C-ABA4-EB1D-6DEDA147B02C}"/>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Introduction</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00B25B1-3325-3D46-DF36-80F143873DA5}"/>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The upper limb is made up of four segments: pectoral girdle, arm, forearm and hand</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The pectoral girdle is a bony ring formed by three bones: scapulae, clavicle and manubrium of sternum</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Both pectoral girdle and bones of upper limb forms the appendicular skeleton</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The appendicular skeleton then joins the axial skeleton</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pic>
        <p:nvPicPr>
          <p:cNvPr id="8" name="Content Placeholder 7" descr="TheSkeleton">
            <a:extLst>
              <a:ext uri="{FF2B5EF4-FFF2-40B4-BE49-F238E27FC236}">
                <a16:creationId id="{B298A0AF-0C10-9B1A-619E-88D93A5202DD}"/>
              </a:ext>
            </a:extLst>
          </p:cNvPr>
          <p:cNvPicPr>
            <a:picLocks noGrp="1" noChangeAspect="1"/>
          </p:cNvPicPr>
          <p:nvPr>
            <p:ph sz="half" idx="2"/>
          </p:nvPr>
        </p:nvPicPr>
        <p:blipFill>
          <a:blip r:embed="rId2"/>
          <a:stretch>
            <a:fillRect/>
          </a:stretch>
        </p:blipFill>
        <p:spPr>
          <a:xfrm>
            <a:off x="7815727" y="1748790"/>
            <a:ext cx="3570946" cy="4423410"/>
          </a:xfrm>
          <a:prstGeom prst="rect">
            <a:avLst/>
          </a:prstGeom>
        </p:spPr>
      </p:pic>
      <p:sp>
        <p:nvSpPr>
          <p:cNvPr id="4" name="Date Placeholder 3">
            <a:extLst>
              <a:ext uri="{FF2B5EF4-FFF2-40B4-BE49-F238E27FC236}">
                <a16:creationId id="{CCAB7C85-DB20-522E-8095-06404637816B}"/>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D614792B-40F9-4DC5-8B12-7C9D2523911F}"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5" name="Slide Number Placeholder 4">
            <a:extLst>
              <a:ext uri="{FF2B5EF4-FFF2-40B4-BE49-F238E27FC236}">
                <a16:creationId id="{6740D2C1-757A-AFB1-F5F0-64E1230BA2E5}"/>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3</a:t>
            </a:fld>
            <a:endParaRPr lang="en-NG" sz="800" b="0">
              <a:solidFill>
                <a:srgbClr val="66809A"/>
              </a:solidFill>
              <a:latin typeface="Arial"/>
              <a:ea typeface="Arial"/>
              <a:cs typeface="Arial"/>
            </a:endParaRPr>
          </a:p>
        </p:txBody>
      </p:sp>
    </p:spTree>
    <p:extLst>
      <p:ext uri="{BB962C8B-B14F-4D97-AF65-F5344CB8AC3E}">
        <p14:creationId val="2291880359"/>
      </p:ext>
    </p:extLst>
  </p:cSld>
  <p:clrMapOvr>
    <a:masterClrMapping/>
  </p:clrMapOvr>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268A4D5-FBE5-B1E9-4892-B5957F27353D}"/>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Introduction – Innervation of the upper limbs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AD59F8C0-944F-CC4E-8FB3-19866C905F59}"/>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upper limb derives its nerve supply primarily from branches of the brachial plexus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A plexus of nerves arising from the ventral rami of spinal nerves from C5 – T1</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Roots →  Trunks </a:t>
            </a:r>
            <a:r>
              <a:rPr kumimoji="0" lang="en-US" sz="2200" b="0" i="0" u="none" strike="noStrike" kern="1200" cap="none" spc="0" normalizeH="0" baseline="0" noProof="0" dirty="0">
                <a:ln>
                  <a:noFill/>
                </a:ln>
                <a:solidFill>
                  <a:srgbClr val="243B53"/>
                </a:solidFill>
                <a:effectLst/>
                <a:uLnTx/>
                <a:uFillTx/>
                <a:latin typeface="Arial" panose="02110004020202020204"/>
                <a:ea typeface="Arial"/>
                <a:cs typeface="Arial"/>
              </a:rPr>
              <a:t>→</a:t>
            </a:r>
            <a:r>
              <a:rPr lang="en-US" dirty="0" sz="2200" b="0">
                <a:solidFill>
                  <a:srgbClr val="243B53"/>
                </a:solidFill>
                <a:latin typeface="Arial"/>
                <a:ea typeface="Arial"/>
                <a:cs typeface="Arial"/>
              </a:rPr>
              <a:t> Divisions </a:t>
            </a:r>
            <a:r>
              <a:rPr kumimoji="0" lang="en-US" sz="2200" b="0" i="0" u="none" strike="noStrike" kern="1200" cap="none" spc="0" normalizeH="0" baseline="0" noProof="0" dirty="0">
                <a:ln>
                  <a:noFill/>
                </a:ln>
                <a:solidFill>
                  <a:srgbClr val="243B53"/>
                </a:solidFill>
                <a:effectLst/>
                <a:uLnTx/>
                <a:uFillTx/>
                <a:latin typeface="Arial" panose="02110004020202020204"/>
                <a:ea typeface="Arial"/>
                <a:cs typeface="Arial"/>
              </a:rPr>
              <a:t>→</a:t>
            </a:r>
            <a:r>
              <a:rPr lang="en-US" dirty="0" sz="2200" b="0">
                <a:solidFill>
                  <a:srgbClr val="243B53"/>
                </a:solidFill>
                <a:latin typeface="Arial"/>
                <a:ea typeface="Arial"/>
                <a:cs typeface="Arial"/>
              </a:rPr>
              <a:t> Cords </a:t>
            </a:r>
            <a:r>
              <a:rPr kumimoji="0" lang="en-US" sz="2200" b="0" i="0" u="none" strike="noStrike" kern="1200" cap="none" spc="0" normalizeH="0" baseline="0" noProof="0" dirty="0">
                <a:ln>
                  <a:noFill/>
                </a:ln>
                <a:solidFill>
                  <a:srgbClr val="243B53"/>
                </a:solidFill>
                <a:effectLst/>
                <a:uLnTx/>
                <a:uFillTx/>
                <a:latin typeface="Arial" panose="02110004020202020204"/>
                <a:ea typeface="Arial"/>
                <a:cs typeface="Arial"/>
              </a:rPr>
              <a:t>→ </a:t>
            </a:r>
            <a:r>
              <a:rPr lang="en-US" dirty="0" sz="2200" b="0">
                <a:solidFill>
                  <a:srgbClr val="243B53"/>
                </a:solidFill>
                <a:latin typeface="Arial"/>
                <a:ea typeface="Arial"/>
                <a:cs typeface="Arial"/>
              </a:rPr>
              <a:t> Branches</a:t>
            </a:r>
            <a:endParaRPr lang="en-NG" dirty="0" sz="2200" b="0">
              <a:solidFill>
                <a:srgbClr val="243B53"/>
              </a:solidFill>
              <a:latin typeface="Arial"/>
              <a:ea typeface="Arial"/>
              <a:cs typeface="Arial"/>
            </a:endParaRPr>
          </a:p>
        </p:txBody>
      </p:sp>
      <p:pic>
        <p:nvPicPr>
          <p:cNvPr id="5" name="Content Placeholder 4" descr="U.Br.Columbia - Drawing Overview of the brachial plexus - English labels | AnatomyTOOL">
            <a:extLst>
              <a:ext uri="{FF2B5EF4-FFF2-40B4-BE49-F238E27FC236}">
                <a16:creationId id="{DF9E5A77-1689-2A55-B449-AE83627EF761}"/>
              </a:ext>
            </a:extLst>
          </p:cNvPr>
          <p:cNvPicPr>
            <a:picLocks noGrp="1" noChangeAspect="1"/>
          </p:cNvPicPr>
          <p:nvPr>
            <p:ph sz="half" idx="2"/>
          </p:nvPr>
        </p:nvPicPr>
        <p:blipFill>
          <a:blip r:embed="rId2"/>
          <a:stretch>
            <a:fillRect/>
          </a:stretch>
        </p:blipFill>
        <p:spPr>
          <a:xfrm>
            <a:off x="7680960" y="2644775"/>
            <a:ext cx="3840480" cy="2631440"/>
          </a:xfrm>
          <a:prstGeom prst="rect">
            <a:avLst/>
          </a:prstGeom>
        </p:spPr>
      </p:pic>
      <p:sp>
        <p:nvSpPr>
          <p:cNvPr id="4" name="Date Placeholder 3">
            <a:extLst>
              <a:ext uri="{FF2B5EF4-FFF2-40B4-BE49-F238E27FC236}">
                <a16:creationId id="{887AFB11-0A69-CDB6-571D-3D240B7912E8}"/>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7BAE66C6-76ED-4F1B-AAE5-DFF7F6C9442D}"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777AA93E-2796-BB6F-EC68-515D23598E7B}"/>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4</a:t>
            </a:fld>
            <a:endParaRPr lang="en-NG" sz="800" b="0">
              <a:solidFill>
                <a:srgbClr val="66809A"/>
              </a:solidFill>
              <a:latin typeface="Arial"/>
              <a:ea typeface="Arial"/>
              <a:cs typeface="Arial"/>
            </a:endParaRPr>
          </a:p>
        </p:txBody>
      </p:sp>
    </p:spTree>
    <p:extLst>
      <p:ext uri="{BB962C8B-B14F-4D97-AF65-F5344CB8AC3E}">
        <p14:creationId val="2931729723"/>
      </p:ext>
    </p:extLst>
  </p:cSld>
  <p:clrMapOvr>
    <a:masterClrMapping/>
  </p:clrMapOvr>
</p:sld>
</file>

<file path=ppt/slides/slide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8"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5D25A6A-8766-DC17-625F-D9F417DEABE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Osteology - </a:t>
            </a: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clavicle</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D8E10744-C72C-08BA-F2E4-69355DE277F8}"/>
              </a:ext>
            </a:extLst>
          </p:cNvPr>
          <p:cNvSpPr>
            <a:spLocks noGrp="1"/>
          </p:cNvSpPr>
          <p:nvPr>
            <p:ph sz="half" idx="1"/>
          </p:nvPr>
        </p:nvSpPr>
        <p:spPr>
          <a:xfrm>
            <a:off x="670560" y="1748790"/>
            <a:ext cx="6461760" cy="2599889"/>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Also called collar bone, bilateral</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Lies horizontally in the body</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Type of long bone</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Has medial and lateral ends; sternal or acromial ends</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Divided into two halves: lateral 1/3</a:t>
            </a:r>
            <a:r>
              <a:rPr kumimoji="0" lang="en-GB" sz="1650" b="0" i="0" u="none" strike="noStrike" kern="1200" cap="none" spc="0" normalizeH="0" baseline="30000" noProof="0" dirty="0">
                <a:ln>
                  <a:noFill/>
                </a:ln>
                <a:solidFill>
                  <a:srgbClr val="243B53"/>
                </a:solidFill>
                <a:effectLst/>
                <a:uLnTx/>
                <a:uFillTx/>
                <a:latin typeface="Arial" panose="020F0502020204030204"/>
                <a:ea typeface="Arial"/>
                <a:cs typeface="Arial"/>
              </a:rPr>
              <a:t>rd</a:t>
            </a: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 and medial 2/3</a:t>
            </a:r>
            <a:r>
              <a:rPr kumimoji="0" lang="en-GB" sz="1650" b="0" i="0" u="none" strike="noStrike" kern="1200" cap="none" spc="0" normalizeH="0" baseline="30000" noProof="0" dirty="0">
                <a:ln>
                  <a:noFill/>
                </a:ln>
                <a:solidFill>
                  <a:srgbClr val="243B53"/>
                </a:solidFill>
                <a:effectLst/>
                <a:uLnTx/>
                <a:uFillTx/>
                <a:latin typeface="Arial" panose="020F0502020204030204"/>
                <a:ea typeface="Arial"/>
                <a:cs typeface="Arial"/>
              </a:rPr>
              <a:t>rd</a:t>
            </a: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 </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Medial is convex anteriorly while lateral is concave anteriorly</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Triangular-shaped with double curvatures, like s-shape</a:t>
            </a:r>
            <a:endParaRPr sz="165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0CBEE5EA-1382-AB0C-E125-A4BA8C8E57DD}"/>
              </a:ext>
            </a:extLst>
          </p:cNvPr>
          <p:cNvSpPr>
            <a:spLocks noGrp="1"/>
          </p:cNvSpPr>
          <p:nvPr>
            <p:ph sz="half" idx="2"/>
          </p:nvPr>
        </p:nvSpPr>
        <p:spPr>
          <a:xfrm>
            <a:off x="670560" y="4520129"/>
            <a:ext cx="6461760" cy="1652071"/>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Has 2 surfaces: superior and anterior</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Superior: deltoid tubercle for attachment of deltoid muscle</a:t>
            </a:r>
            <a:endParaRPr sz="16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650" b="0">
                <a:solidFill>
                  <a:srgbClr val="243B53"/>
                </a:solidFill>
                <a:latin typeface="Arial"/>
                <a:ea typeface="Arial"/>
                <a:cs typeface="Arial"/>
              </a:defRPr>
            </a:pPr>
            <a:r>
              <a:rPr kumimoji="0" lang="en-GB" sz="1650" b="0" i="0" u="none" strike="noStrike" kern="1200" cap="none" spc="0" normalizeH="0" baseline="0" noProof="0" dirty="0">
                <a:ln>
                  <a:noFill/>
                </a:ln>
                <a:solidFill>
                  <a:srgbClr val="243B53"/>
                </a:solidFill>
                <a:effectLst/>
                <a:uLnTx/>
                <a:uFillTx/>
                <a:latin typeface="Arial" panose="020F0502020204030204"/>
                <a:ea typeface="Arial"/>
                <a:cs typeface="Arial"/>
              </a:rPr>
              <a:t>Inferior: rough; conoid &amp; trapezoid ligament(acromial end), costoclavicular ligament &amp; subclavian groove (medially) </a:t>
            </a:r>
            <a:endParaRPr sz="165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pic>
        <p:nvPicPr>
          <p:cNvPr id="5" name="Picture 4">
            <a:extLst>
              <a:ext uri="{FF2B5EF4-FFF2-40B4-BE49-F238E27FC236}">
                <a16:creationId id="{D0768015-C186-66C5-8697-DC38ACCE7751}"/>
              </a:ext>
            </a:extLst>
          </p:cNvPr>
          <p:cNvPicPr>
            <a:picLocks noChangeAspect="1"/>
          </p:cNvPicPr>
          <p:nvPr/>
        </p:nvPicPr>
        <p:blipFill>
          <a:blip r:embed="rId2"/>
          <a:stretch>
            <a:fillRect/>
          </a:stretch>
        </p:blipFill>
        <p:spPr>
          <a:xfrm>
            <a:off x="7680960" y="3326963"/>
            <a:ext cx="3840480" cy="1267064"/>
          </a:xfrm>
          <a:prstGeom prst="rect">
            <a:avLst/>
          </a:prstGeom>
        </p:spPr>
      </p:pic>
      <p:sp>
        <p:nvSpPr>
          <p:cNvPr id="6" name="Date Placeholder 5">
            <a:extLst>
              <a:ext uri="{FF2B5EF4-FFF2-40B4-BE49-F238E27FC236}">
                <a16:creationId id="{FA2FA30B-48F6-94BA-0A3C-47E646DE4AE0}"/>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898117AF-F2BD-4488-83C1-D06810B338A7}"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7" name="Slide Number Placeholder 6">
            <a:extLst>
              <a:ext uri="{FF2B5EF4-FFF2-40B4-BE49-F238E27FC236}">
                <a16:creationId id="{73D1CF2C-567B-6504-E5B6-3E72765D00BC}"/>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5</a:t>
            </a:fld>
            <a:endParaRPr lang="en-NG" sz="800" b="0">
              <a:solidFill>
                <a:srgbClr val="66809A"/>
              </a:solidFill>
              <a:latin typeface="Arial"/>
              <a:ea typeface="Arial"/>
              <a:cs typeface="Arial"/>
            </a:endParaRPr>
          </a:p>
        </p:txBody>
      </p:sp>
    </p:spTree>
    <p:extLst>
      <p:ext uri="{BB962C8B-B14F-4D97-AF65-F5344CB8AC3E}">
        <p14:creationId val="67543440"/>
      </p:ext>
    </p:extLst>
  </p:cSld>
  <p:clrMapOvr>
    <a:masterClrMapping/>
  </p:clrMapOvr>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8"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31FB955-5FE9-E05B-D84F-2A88DC564557}"/>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Ossification of the clavicle</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21789F60-0D53-FFEA-73C7-C3AA998BA750}"/>
              </a:ext>
            </a:extLst>
          </p:cNvPr>
          <p:cNvSpPr>
            <a:spLocks noGrp="1"/>
          </p:cNvSpPr>
          <p:nvPr>
            <p:ph sz="half" idx="1"/>
          </p:nvPr>
        </p:nvSpPr>
        <p:spPr>
          <a:xfrm>
            <a:off x="670560" y="1748790"/>
            <a:ext cx="6461760" cy="2683952"/>
          </a:xfrm>
        </p:spPr>
        <p:txBody>
          <a:bodyPr wrap="square" anchor="t" lIns="0" rIns="0" tIns="0" bIns="0">
            <a:normAutofit fontScale="100000" lnSpcReduction="0"/>
          </a:bodyPr>
          <a:lstStyle/>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First bone to ossify in the body at 5th and 6th week intrauterine life</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Begins with intramembranous ossification and ends with endochondral or cartilaginous ossification</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Two primary centres at medial and lateral ends</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Secondary ossification appears at the sternal end at 18th and 25th year of life and is complete by 25th and 31styr</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Thus, it is also last of epiphysis of long bones to fuse</a:t>
            </a:r>
            <a:endParaRPr sz="15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6C9D0F27-6550-9973-252F-E1660DD30414}"/>
              </a:ext>
            </a:extLst>
          </p:cNvPr>
          <p:cNvSpPr>
            <a:spLocks noGrp="1"/>
          </p:cNvSpPr>
          <p:nvPr>
            <p:ph sz="half" idx="2"/>
          </p:nvPr>
        </p:nvSpPr>
        <p:spPr>
          <a:xfrm>
            <a:off x="670560" y="4604192"/>
            <a:ext cx="6461760" cy="1568008"/>
          </a:xfrm>
        </p:spPr>
        <p:txBody>
          <a:bodyPr wrap="square" anchor="t" lIns="0" rIns="0" tIns="0" bIns="0">
            <a:normAutofit fontScale="100000" lnSpcReduction="0"/>
          </a:bodyPr>
          <a:lstStyle/>
          <a:p>
            <a:pPr algn="l" marL="0" indent="0">
              <a:lnSpc>
                <a:spcPct val="118000"/>
              </a:lnSpc>
              <a:spcBef>
                <a:spcPts val="0"/>
              </a:spcBef>
              <a:spcAft>
                <a:spcPts val="450"/>
              </a:spcAft>
              <a:defRPr sz="1550" b="0">
                <a:solidFill>
                  <a:srgbClr val="243B53"/>
                </a:solidFill>
                <a:latin typeface="Arial"/>
                <a:ea typeface="Arial"/>
                <a:cs typeface="Arial"/>
              </a:defRPr>
            </a:pPr>
            <a:r>
              <a:rPr lang="en-US" b="0" u="sng" dirty="0" sz="1550">
                <a:solidFill>
                  <a:srgbClr val="243B53"/>
                </a:solidFill>
                <a:latin typeface="Arial"/>
                <a:ea typeface="Arial"/>
                <a:cs typeface="Arial"/>
              </a:rPr>
              <a:t>Clinicals</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Commonly fractured in children</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Greenstick fractures</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dirty="0" sz="1550" b="0">
                <a:solidFill>
                  <a:srgbClr val="243B53"/>
                </a:solidFill>
                <a:latin typeface="Arial"/>
                <a:ea typeface="Arial"/>
                <a:cs typeface="Arial"/>
              </a:rPr>
              <a:t>Common site of fracture is junction of lateral and medial thirds</a:t>
            </a:r>
            <a:endParaRPr sz="15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pic>
        <p:nvPicPr>
          <p:cNvPr id="5" name="Picture 4">
            <a:extLst>
              <a:ext uri="{FF2B5EF4-FFF2-40B4-BE49-F238E27FC236}">
                <a16:creationId id="{263071DC-752B-14CB-8C3A-FD7A66A76CFF}"/>
              </a:ext>
            </a:extLst>
          </p:cNvPr>
          <p:cNvPicPr>
            <a:picLocks noChangeAspect="1"/>
          </p:cNvPicPr>
          <p:nvPr/>
        </p:nvPicPr>
        <p:blipFill>
          <a:blip r:embed="rId2"/>
          <a:stretch>
            <a:fillRect/>
          </a:stretch>
        </p:blipFill>
        <p:spPr>
          <a:xfrm>
            <a:off x="7680960" y="2833255"/>
            <a:ext cx="3840480" cy="2254480"/>
          </a:xfrm>
          <a:prstGeom prst="rect">
            <a:avLst/>
          </a:prstGeom>
        </p:spPr>
      </p:pic>
      <p:sp>
        <p:nvSpPr>
          <p:cNvPr id="6" name="Date Placeholder 5">
            <a:extLst>
              <a:ext uri="{FF2B5EF4-FFF2-40B4-BE49-F238E27FC236}">
                <a16:creationId id="{E66423FD-B48D-93C1-8251-CB62665A12E9}"/>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E067BFD7-B592-445C-B1B7-0FE993C58E12}"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7" name="Slide Number Placeholder 6">
            <a:extLst>
              <a:ext uri="{FF2B5EF4-FFF2-40B4-BE49-F238E27FC236}">
                <a16:creationId id="{27D3943B-BDF3-65A1-8420-95BE39014595}"/>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6</a:t>
            </a:fld>
            <a:endParaRPr lang="en-NG" sz="800" b="0">
              <a:solidFill>
                <a:srgbClr val="66809A"/>
              </a:solidFill>
              <a:latin typeface="Arial"/>
              <a:ea typeface="Arial"/>
              <a:cs typeface="Arial"/>
            </a:endParaRPr>
          </a:p>
        </p:txBody>
      </p:sp>
    </p:spTree>
    <p:extLst>
      <p:ext uri="{BB962C8B-B14F-4D97-AF65-F5344CB8AC3E}">
        <p14:creationId val="2653302019"/>
      </p:ext>
    </p:extLst>
  </p:cSld>
  <p:clrMapOvr>
    <a:masterClrMapping/>
  </p:clrMapOvr>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8"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3177AD8-D1B8-9370-EA53-28517224DB39}"/>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Osteology -</a:t>
            </a: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Humerus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21BFB1B-25DE-1C81-8318-D1FE0F90DE54}"/>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Largest long bone of the upper limbs</a:t>
            </a:r>
            <a:endParaRPr sz="1950" b="0">
              <a:solidFill>
                <a:srgbClr val="243B53"/>
              </a:solidFill>
              <a:latin typeface="Arial"/>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Forms the shoulder joint with the scapula at the glenoid cavity</a:t>
            </a:r>
            <a:endParaRPr sz="1950" b="0">
              <a:solidFill>
                <a:srgbClr val="243B53"/>
              </a:solidFill>
              <a:latin typeface="Arial"/>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Has a head, an anatomical and surgical neck and shaft, and distal and proximal ends</a:t>
            </a:r>
            <a:endParaRPr sz="1950" b="0">
              <a:solidFill>
                <a:srgbClr val="243B53"/>
              </a:solidFill>
              <a:latin typeface="Arial"/>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Possesses two elevations at the neck region: greater and lesser tubercles separated by the bicipital groove</a:t>
            </a:r>
            <a:endParaRPr sz="1950" b="0">
              <a:solidFill>
                <a:srgbClr val="243B53"/>
              </a:solidFill>
              <a:latin typeface="Arial"/>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Distal ends has capitulum laterally for articulation with head of radius, and trochlea(pulley-like) medially for articulation with ulna</a:t>
            </a:r>
            <a:endParaRPr sz="1950" b="0">
              <a:solidFill>
                <a:srgbClr val="243B53"/>
              </a:solidFill>
              <a:latin typeface="Arial"/>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dirty="0" sz="1950" b="0">
                <a:solidFill>
                  <a:srgbClr val="243B53"/>
                </a:solidFill>
                <a:latin typeface="Arial"/>
                <a:ea typeface="Arial"/>
                <a:cs typeface="Arial"/>
              </a:rPr>
              <a:t>Distal ends terminate in two projections; lateral and medial epicondyles</a:t>
            </a:r>
            <a:endParaRPr sz="1950" b="0">
              <a:solidFill>
                <a:srgbClr val="243B53"/>
              </a:solidFill>
              <a:latin typeface="Arial"/>
              <a:ea typeface="Arial"/>
              <a:cs typeface="Arial"/>
            </a:endParaRPr>
          </a:p>
        </p:txBody>
      </p:sp>
      <p:sp>
        <p:nvSpPr>
          <p:cNvPr id="4" name="Content Placeholder 3">
            <a:extLst>
              <a:ext uri="{FF2B5EF4-FFF2-40B4-BE49-F238E27FC236}">
                <a16:creationId id="{98CBD5BB-9765-0346-4CE7-70C190C71A56}"/>
              </a:ext>
            </a:extLst>
          </p:cNvPr>
          <p:cNvSpPr>
            <a:spLocks noGrp="1"/>
          </p:cNvSpPr>
          <p:nvPr>
            <p:ph sz="half" idx="2"/>
          </p:nvPr>
        </p:nvSpPr>
        <p:spPr>
          <a:xfrm>
            <a:off x="6670622" y="1825625"/>
            <a:ext cx="4683177" cy="4351338"/>
          </a:xfrm>
        </p:spPr>
        <p:txBody>
          <a:bodyPr>
            <a:normAutofit fontScale="77500" lnSpcReduction="20000"/>
          </a:bodyPr>
          <a:lstStyle/>
          <a:p>
            <a:endParaRPr lang="en-NG" dirty="0"/>
          </a:p>
        </p:txBody>
      </p:sp>
      <p:pic>
        <p:nvPicPr>
          <p:cNvPr id="5" name="Content Placeholder 4">
            <a:extLst>
              <a:ext uri="{FF2B5EF4-FFF2-40B4-BE49-F238E27FC236}">
                <a16:creationId id="{3CB081AC-8FF0-D22A-3845-3D1CB2D25088}"/>
              </a:ext>
            </a:extLst>
          </p:cNvPr>
          <p:cNvPicPr>
            <a:picLocks noChangeAspect="1"/>
          </p:cNvPicPr>
          <p:nvPr/>
        </p:nvPicPr>
        <p:blipFill>
          <a:blip r:embed="rId2"/>
          <a:stretch>
            <a:fillRect/>
          </a:stretch>
        </p:blipFill>
        <p:spPr>
          <a:xfrm>
            <a:off x="7680960" y="1978600"/>
            <a:ext cx="3840480" cy="3963791"/>
          </a:xfrm>
          <a:prstGeom prst="rect">
            <a:avLst/>
          </a:prstGeom>
        </p:spPr>
      </p:pic>
      <p:sp>
        <p:nvSpPr>
          <p:cNvPr id="6" name="Date Placeholder 5">
            <a:extLst>
              <a:ext uri="{FF2B5EF4-FFF2-40B4-BE49-F238E27FC236}">
                <a16:creationId id="{993C6D6F-20D7-0609-80D6-E7CD882CBAD3}"/>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A2A24975-6528-4DA5-8043-4809AACF82A4}"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7" name="Slide Number Placeholder 6">
            <a:extLst>
              <a:ext uri="{FF2B5EF4-FFF2-40B4-BE49-F238E27FC236}">
                <a16:creationId id="{B8EDE62E-CA70-327F-2A8A-C3F61B5C8E7B}"/>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7</a:t>
            </a:fld>
            <a:endParaRPr lang="en-NG" sz="800" b="0">
              <a:solidFill>
                <a:srgbClr val="66809A"/>
              </a:solidFill>
              <a:latin typeface="Arial"/>
              <a:ea typeface="Arial"/>
              <a:cs typeface="Arial"/>
            </a:endParaRPr>
          </a:p>
        </p:txBody>
      </p:sp>
    </p:spTree>
    <p:extLst>
      <p:ext uri="{BB962C8B-B14F-4D97-AF65-F5344CB8AC3E}">
        <p14:creationId val="3989315834"/>
      </p:ext>
    </p:extLst>
  </p:cSld>
  <p:clrMapOvr>
    <a:masterClrMapping/>
  </p:clrMapOvr>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8"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9E1A6C5C-4916-809E-9C5F-E86A4C76F9BA}"/>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Osteology - </a:t>
            </a: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The carpal bones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1D7E040F-B7CF-D79F-7040-A7D4154D8EA8}"/>
              </a:ext>
            </a:extLst>
          </p:cNvPr>
          <p:cNvSpPr>
            <a:spLocks noGrp="1"/>
          </p:cNvSpPr>
          <p:nvPr>
            <p:ph sz="half" idx="1"/>
          </p:nvPr>
        </p:nvSpPr>
        <p:spPr>
          <a:xfrm>
            <a:off x="670560" y="1748790"/>
            <a:ext cx="6461760" cy="3300538"/>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150" b="0">
                <a:solidFill>
                  <a:srgbClr val="243B53"/>
                </a:solidFill>
                <a:latin typeface="Arial"/>
                <a:ea typeface="Arial"/>
                <a:cs typeface="Arial"/>
              </a:defRPr>
            </a:pPr>
            <a:r>
              <a:rPr kumimoji="0" lang="en-GB" sz="2150" b="0" i="0" u="none" strike="noStrike" kern="1200" cap="none" spc="0" normalizeH="0" baseline="0" noProof="0" dirty="0">
                <a:ln>
                  <a:noFill/>
                </a:ln>
                <a:solidFill>
                  <a:srgbClr val="243B53"/>
                </a:solidFill>
                <a:effectLst/>
                <a:uLnTx/>
                <a:uFillTx/>
                <a:latin typeface="Arial" panose="020F0502020204030204"/>
                <a:ea typeface="Arial"/>
                <a:cs typeface="Arial"/>
              </a:rPr>
              <a:t>Small bones of the hands occupying the wrist region</a:t>
            </a:r>
            <a:endParaRPr sz="21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150" b="0">
                <a:solidFill>
                  <a:srgbClr val="243B53"/>
                </a:solidFill>
                <a:latin typeface="Arial"/>
                <a:ea typeface="Arial"/>
                <a:cs typeface="Arial"/>
              </a:defRPr>
            </a:pPr>
            <a:r>
              <a:rPr kumimoji="0" lang="en-GB" sz="2150" b="0" i="0" u="none" strike="noStrike" kern="1200" cap="none" spc="0" normalizeH="0" baseline="0" noProof="0" dirty="0">
                <a:ln>
                  <a:noFill/>
                </a:ln>
                <a:solidFill>
                  <a:srgbClr val="243B53"/>
                </a:solidFill>
                <a:effectLst/>
                <a:uLnTx/>
                <a:uFillTx/>
                <a:latin typeface="Arial" panose="020F0502020204030204"/>
                <a:ea typeface="Arial"/>
                <a:cs typeface="Arial"/>
              </a:rPr>
              <a:t>Has 2 rows of bones attached to each other by interosseous ligament</a:t>
            </a:r>
            <a:endParaRPr sz="21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150" b="0">
                <a:solidFill>
                  <a:srgbClr val="243B53"/>
                </a:solidFill>
                <a:latin typeface="Arial"/>
                <a:ea typeface="Arial"/>
                <a:cs typeface="Arial"/>
              </a:defRPr>
            </a:pPr>
            <a:r>
              <a:rPr kumimoji="0" lang="en-GB" sz="2150" b="0" i="0" u="none" strike="noStrike" kern="1200" cap="none" spc="0" normalizeH="0" baseline="0" noProof="0" dirty="0">
                <a:ln>
                  <a:noFill/>
                </a:ln>
                <a:solidFill>
                  <a:srgbClr val="243B53"/>
                </a:solidFill>
                <a:effectLst/>
                <a:uLnTx/>
                <a:uFillTx/>
                <a:latin typeface="Arial" panose="020F0502020204030204"/>
                <a:ea typeface="Arial"/>
                <a:cs typeface="Arial"/>
              </a:rPr>
              <a:t>Proximal row: L2M: </a:t>
            </a:r>
            <a:r>
              <a:rPr kumimoji="0" lang="en-GB" sz="2150" b="0" i="0" u="none" strike="noStrike" kern="1200" cap="none" spc="0" normalizeH="0" baseline="0" noProof="0" dirty="0" err="1">
                <a:ln>
                  <a:noFill/>
                </a:ln>
                <a:solidFill>
                  <a:srgbClr val="243B53"/>
                </a:solidFill>
                <a:effectLst/>
                <a:uLnTx/>
                <a:uFillTx/>
                <a:latin typeface="Arial" panose="020F0502020204030204"/>
                <a:ea typeface="Arial"/>
                <a:cs typeface="Arial"/>
              </a:rPr>
              <a:t>Scaphoid→Lunate→Triquetrium→Pisiform</a:t>
            </a:r>
            <a:r>
              <a:rPr kumimoji="0" lang="en-GB" sz="2150" b="0" i="0" u="none" strike="noStrike" kern="1200" cap="none" spc="0" normalizeH="0" baseline="0" noProof="0" dirty="0">
                <a:ln>
                  <a:noFill/>
                </a:ln>
                <a:solidFill>
                  <a:srgbClr val="243B53"/>
                </a:solidFill>
                <a:effectLst/>
                <a:uLnTx/>
                <a:uFillTx/>
                <a:latin typeface="Arial" panose="020F0502020204030204"/>
                <a:ea typeface="Arial"/>
                <a:cs typeface="Arial"/>
              </a:rPr>
              <a:t> (SLTP)</a:t>
            </a:r>
            <a:endParaRPr sz="21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150" b="0">
                <a:solidFill>
                  <a:srgbClr val="243B53"/>
                </a:solidFill>
                <a:latin typeface="Arial"/>
                <a:ea typeface="Arial"/>
                <a:cs typeface="Arial"/>
              </a:defRPr>
            </a:pPr>
            <a:r>
              <a:rPr kumimoji="0" lang="en-GB" sz="2150" b="0" i="0" u="none" strike="noStrike" kern="1200" cap="none" spc="0" normalizeH="0" baseline="0" noProof="0" dirty="0">
                <a:ln>
                  <a:noFill/>
                </a:ln>
                <a:solidFill>
                  <a:srgbClr val="243B53"/>
                </a:solidFill>
                <a:effectLst/>
                <a:uLnTx/>
                <a:uFillTx/>
                <a:latin typeface="Arial" panose="020F0502020204030204"/>
                <a:ea typeface="Arial"/>
                <a:cs typeface="Arial"/>
              </a:rPr>
              <a:t>Distal row: L2M: </a:t>
            </a:r>
            <a:r>
              <a:rPr kumimoji="0" lang="en-GB" sz="2150" b="0" i="0" u="none" strike="noStrike" kern="1200" cap="none" spc="0" normalizeH="0" baseline="0" noProof="0" dirty="0" err="1">
                <a:ln>
                  <a:noFill/>
                </a:ln>
                <a:solidFill>
                  <a:srgbClr val="243B53"/>
                </a:solidFill>
                <a:effectLst/>
                <a:uLnTx/>
                <a:uFillTx/>
                <a:latin typeface="Arial" panose="020F0502020204030204"/>
                <a:ea typeface="Arial"/>
                <a:cs typeface="Arial"/>
              </a:rPr>
              <a:t>Trapezium→Trapezoid→Capitate→Hamate</a:t>
            </a:r>
            <a:r>
              <a:rPr kumimoji="0" lang="en-GB" sz="2150" b="0" i="0" u="none" strike="noStrike" kern="1200" cap="none" spc="0" normalizeH="0" baseline="0" noProof="0" dirty="0">
                <a:ln>
                  <a:noFill/>
                </a:ln>
                <a:solidFill>
                  <a:srgbClr val="243B53"/>
                </a:solidFill>
                <a:effectLst/>
                <a:uLnTx/>
                <a:uFillTx/>
                <a:latin typeface="Arial" panose="020F0502020204030204"/>
                <a:ea typeface="Arial"/>
                <a:cs typeface="Arial"/>
              </a:rPr>
              <a:t> (TTCH)</a:t>
            </a:r>
            <a:endParaRPr kumimoji="0" lang="en-NG" sz="2150" b="0" i="0" u="none" strike="noStrike" kern="1200" cap="none" spc="0" normalizeH="0" baseline="0" noProof="0" dirty="0">
              <a:ln>
                <a:noFill/>
              </a:ln>
              <a:solidFill>
                <a:srgbClr val="243B53"/>
              </a:solidFill>
              <a:effectLst/>
              <a:uLnTx/>
              <a:uFillTx/>
              <a:latin typeface="Arial" panose="020F0502020204030204"/>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C3FF8FDB-EC7E-657D-6153-D60DE8AEB225}"/>
              </a:ext>
            </a:extLst>
          </p:cNvPr>
          <p:cNvSpPr>
            <a:spLocks noGrp="1"/>
          </p:cNvSpPr>
          <p:nvPr>
            <p:ph sz="half" idx="2"/>
          </p:nvPr>
        </p:nvSpPr>
        <p:spPr>
          <a:xfrm>
            <a:off x="670560" y="5220778"/>
            <a:ext cx="6461760" cy="951422"/>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150" b="0">
                <a:solidFill>
                  <a:srgbClr val="243B53"/>
                </a:solidFill>
                <a:latin typeface="Arial"/>
                <a:ea typeface="Arial"/>
                <a:cs typeface="Arial"/>
              </a:defRPr>
            </a:pPr>
            <a:r>
              <a:rPr kumimoji="0" lang="en-GB" sz="2150" b="0" i="0" u="none" strike="noStrike" kern="1200" cap="none" spc="0" normalizeH="0" baseline="0" noProof="0" dirty="0">
                <a:ln>
                  <a:noFill/>
                </a:ln>
                <a:solidFill>
                  <a:srgbClr val="243B53"/>
                </a:solidFill>
                <a:effectLst/>
                <a:uLnTx/>
                <a:uFillTx/>
                <a:latin typeface="Arial" panose="020F0502020204030204"/>
                <a:ea typeface="Arial"/>
                <a:cs typeface="Arial"/>
              </a:rPr>
              <a:t>5 Metacarpals (head and base) and 14 phalanges(distal, middle and proximal ends)</a:t>
            </a:r>
            <a:endParaRPr sz="21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pic>
        <p:nvPicPr>
          <p:cNvPr id="5" name="Picture 4">
            <a:extLst>
              <a:ext uri="{FF2B5EF4-FFF2-40B4-BE49-F238E27FC236}">
                <a16:creationId id="{53F3D821-2435-87A2-9FCA-BECC1CE3EE07}"/>
              </a:ext>
            </a:extLst>
          </p:cNvPr>
          <p:cNvPicPr>
            <a:picLocks noChangeAspect="1"/>
          </p:cNvPicPr>
          <p:nvPr/>
        </p:nvPicPr>
        <p:blipFill>
          <a:blip r:embed="rId2"/>
          <a:stretch>
            <a:fillRect/>
          </a:stretch>
        </p:blipFill>
        <p:spPr>
          <a:xfrm>
            <a:off x="7680960" y="2665274"/>
            <a:ext cx="3840480" cy="2590441"/>
          </a:xfrm>
          <a:prstGeom prst="rect">
            <a:avLst/>
          </a:prstGeom>
        </p:spPr>
      </p:pic>
      <p:sp>
        <p:nvSpPr>
          <p:cNvPr id="6" name="Date Placeholder 5">
            <a:extLst>
              <a:ext uri="{FF2B5EF4-FFF2-40B4-BE49-F238E27FC236}">
                <a16:creationId id="{088D636B-B045-D63F-CA8E-7C5D8D4625B6}"/>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B09197DA-AC79-4ED4-AB27-B253652B0BAD}"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7" name="Slide Number Placeholder 6">
            <a:extLst>
              <a:ext uri="{FF2B5EF4-FFF2-40B4-BE49-F238E27FC236}">
                <a16:creationId id="{27F7F1A4-1342-5A17-81E5-E0A4C24928DC}"/>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8</a:t>
            </a:fld>
            <a:endParaRPr lang="en-NG" sz="800" b="0">
              <a:solidFill>
                <a:srgbClr val="66809A"/>
              </a:solidFill>
              <a:latin typeface="Arial"/>
              <a:ea typeface="Arial"/>
              <a:cs typeface="Arial"/>
            </a:endParaRPr>
          </a:p>
        </p:txBody>
      </p:sp>
    </p:spTree>
    <p:extLst>
      <p:ext uri="{BB962C8B-B14F-4D97-AF65-F5344CB8AC3E}">
        <p14:creationId val="2448543209"/>
      </p:ext>
    </p:extLst>
  </p:cSld>
  <p:clrMapOvr>
    <a:masterClrMapping/>
  </p:clrMapOvr>
</p:sld>
</file>

<file path=ppt/slides/slide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A73A51F4-B766-0818-098B-1BDFD245553D}"/>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The shoulder region</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B186BBA5-D9AF-6A4B-C849-C750FE38CD8E}"/>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50" b="1">
                <a:solidFill>
                  <a:srgbClr val="243B53"/>
                </a:solidFill>
                <a:latin typeface="Arial"/>
                <a:ea typeface="Arial"/>
                <a:cs typeface="Arial"/>
              </a:defRPr>
            </a:pPr>
            <a:r>
              <a:rPr kumimoji="0" lang="en-GB" sz="2250" b="1" i="0" u="none" strike="noStrike" kern="1200" cap="none" spc="0" normalizeH="0" baseline="0" noProof="0" dirty="0">
                <a:ln>
                  <a:noFill/>
                </a:ln>
                <a:solidFill>
                  <a:srgbClr val="243B53"/>
                </a:solidFill>
                <a:effectLst/>
                <a:uLnTx/>
                <a:uFillTx/>
                <a:latin typeface="Arial" panose="020F0502020204030204"/>
                <a:ea typeface="Arial"/>
                <a:cs typeface="Arial"/>
              </a:rPr>
              <a:t>The shoulder muscles are divided into major 2 groups:</a:t>
            </a:r>
            <a:endParaRPr sz="2250" b="1">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mj-lt"/>
              <a:buAutoNum type="arabicPeriod"/>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Extrinsic muscles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mj-lt"/>
              <a:buAutoNum type="arabicPeriod"/>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Intrinsic muscles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50" b="1">
                <a:solidFill>
                  <a:srgbClr val="243B53"/>
                </a:solidFill>
                <a:latin typeface="Arial"/>
                <a:ea typeface="Arial"/>
                <a:cs typeface="Arial"/>
              </a:defRPr>
            </a:pPr>
            <a:r>
              <a:rPr kumimoji="0" lang="en-GB" sz="2250" b="1" i="0" u="none" strike="noStrike" kern="1200" cap="none" spc="0" normalizeH="0" baseline="0" noProof="0" dirty="0">
                <a:ln>
                  <a:noFill/>
                </a:ln>
                <a:solidFill>
                  <a:srgbClr val="243B53"/>
                </a:solidFill>
                <a:effectLst/>
                <a:uLnTx/>
                <a:uFillTx/>
                <a:latin typeface="Arial" panose="020F0502020204030204"/>
                <a:ea typeface="Arial"/>
                <a:cs typeface="Arial"/>
              </a:rPr>
              <a:t>The Extrinsic muscles are divided into 2 groups:</a:t>
            </a:r>
            <a:endParaRPr sz="2250" b="1">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Superficial posterior </a:t>
            </a:r>
            <a:r>
              <a:rPr kumimoji="0" lang="en-GB" sz="2200" b="0" i="0" u="none" strike="noStrike" kern="1200" cap="none" spc="0" normalizeH="0" baseline="0" noProof="0" dirty="0" err="1">
                <a:ln>
                  <a:noFill/>
                </a:ln>
                <a:solidFill>
                  <a:srgbClr val="243B53"/>
                </a:solidFill>
                <a:effectLst/>
                <a:uLnTx/>
                <a:uFillTx/>
                <a:latin typeface="Arial" panose="020F0502020204030204"/>
                <a:ea typeface="Arial"/>
                <a:cs typeface="Arial"/>
              </a:rPr>
              <a:t>thoracoappendicular</a:t>
            </a:r>
            <a:endPar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Deep posterior </a:t>
            </a:r>
            <a:r>
              <a:rPr kumimoji="0" lang="en-GB" sz="2200" b="0" i="0" u="none" strike="noStrike" kern="1200" cap="none" spc="0" normalizeH="0" baseline="0" noProof="0" dirty="0" err="1">
                <a:ln>
                  <a:noFill/>
                </a:ln>
                <a:solidFill>
                  <a:srgbClr val="243B53"/>
                </a:solidFill>
                <a:effectLst/>
                <a:uLnTx/>
                <a:uFillTx/>
                <a:latin typeface="Arial" panose="020F0502020204030204"/>
                <a:ea typeface="Arial"/>
                <a:cs typeface="Arial"/>
              </a:rPr>
              <a:t>thoracoappendcular</a:t>
            </a:r>
            <a:endPar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A5EDB6DB-A7A8-6543-BEDE-71D4D23B79FD}"/>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q"/>
              <a:tabLst/>
              <a:defRPr sz="2250" b="1">
                <a:solidFill>
                  <a:srgbClr val="243B53"/>
                </a:solidFill>
                <a:latin typeface="Arial"/>
                <a:ea typeface="Arial"/>
                <a:cs typeface="Arial"/>
              </a:defRPr>
            </a:pPr>
            <a:r>
              <a:rPr kumimoji="0" lang="en-GB" sz="2250" b="1" i="0" u="none" strike="noStrike" kern="1200" cap="none" spc="0" normalizeH="0" baseline="0" noProof="0" dirty="0">
                <a:ln>
                  <a:noFill/>
                </a:ln>
                <a:solidFill>
                  <a:srgbClr val="243B53"/>
                </a:solidFill>
                <a:effectLst/>
                <a:uLnTx/>
                <a:uFillTx/>
                <a:latin typeface="Arial" panose="020F0502020204030204"/>
                <a:ea typeface="Arial"/>
                <a:cs typeface="Arial"/>
              </a:rPr>
              <a:t>Examples:</a:t>
            </a:r>
            <a:endParaRPr sz="2250" b="1">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 Extrinsic superficial: trapezius and latissimus dorsi</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Extrinsic deep: levator scapulae and rhomboids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Intrinsic: deltoid, teres major and rotator cuff muscles</a:t>
            </a:r>
            <a:endParaRPr kumimoji="0" lang="en-NG" sz="2200" b="0" i="0" u="none" strike="noStrike" kern="1200" cap="none" spc="0" normalizeH="0" baseline="0" noProof="0" dirty="0">
              <a:ln>
                <a:noFill/>
              </a:ln>
              <a:solidFill>
                <a:srgbClr val="243B53"/>
              </a:solidFill>
              <a:effectLst/>
              <a:uLnTx/>
              <a:uFillTx/>
              <a:latin typeface="Arial" panose="020F0502020204030204"/>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0DF31125-FDAA-E59E-081E-A28B3051A2D1}"/>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3D7ABBC3-9764-4FBE-A0DA-0B4D7A8DA64E}"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75D06600-879F-B72F-8237-FE8EAE1CAED2}"/>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9</a:t>
            </a:fld>
            <a:endParaRPr lang="en-NG" sz="800" b="0">
              <a:solidFill>
                <a:srgbClr val="66809A"/>
              </a:solidFill>
              <a:latin typeface="Arial"/>
              <a:ea typeface="Arial"/>
              <a:cs typeface="Arial"/>
            </a:endParaRPr>
          </a:p>
        </p:txBody>
      </p:sp>
    </p:spTree>
    <p:extLst>
      <p:ext uri="{BB962C8B-B14F-4D97-AF65-F5344CB8AC3E}">
        <p14:creationId val="1780434126"/>
      </p:ext>
    </p:extLst>
  </p:cSld>
  <p:clrMapOvr>
    <a:masterClrMapping/>
  </p:clrMapOvr>
</p:sld>
</file>

<file path=ppt/slides/slide1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10"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BC406D32-7B4C-8FBF-69E5-2EB4AF0A042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Shoulder region- muscles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E8A706A-E7F0-1A9B-B04F-2B09CFCC8982}"/>
              </a:ext>
            </a:extLst>
          </p:cNvPr>
          <p:cNvSpPr>
            <a:spLocks noGrp="1"/>
          </p:cNvSpPr>
          <p:nvPr>
            <p:ph sz="half" idx="1"/>
          </p:nvPr>
        </p:nvSpPr>
        <p:spPr/>
        <p:txBody>
          <a:bodyPr/>
          <a:lstStyle/>
          <a:p>
            <a:endParaRPr lang="en-NG" dirty="0"/>
          </a:p>
        </p:txBody>
      </p:sp>
      <p:sp>
        <p:nvSpPr>
          <p:cNvPr id="4" name="Content Placeholder 3">
            <a:extLst>
              <a:ext uri="{FF2B5EF4-FFF2-40B4-BE49-F238E27FC236}">
                <a16:creationId id="{C80EC16A-6CC9-B4AE-80E2-F6D9BE9B68F3}"/>
              </a:ext>
            </a:extLst>
          </p:cNvPr>
          <p:cNvSpPr>
            <a:spLocks noGrp="1"/>
          </p:cNvSpPr>
          <p:nvPr>
            <p:ph sz="half" idx="2"/>
          </p:nvPr>
        </p:nvSpPr>
        <p:spPr/>
        <p:txBody>
          <a:bodyPr/>
          <a:lstStyle/>
          <a:p>
            <a:endParaRPr lang="en-NG" dirty="0"/>
          </a:p>
        </p:txBody>
      </p:sp>
      <p:pic>
        <p:nvPicPr>
          <p:cNvPr id="5" name="Content Placeholder 4">
            <a:extLst>
              <a:ext uri="{FF2B5EF4-FFF2-40B4-BE49-F238E27FC236}">
                <a16:creationId id="{2D6AD984-5C3A-C6EE-E5BC-E23F467ECE4A}"/>
              </a:ext>
            </a:extLst>
          </p:cNvPr>
          <p:cNvPicPr>
            <a:picLocks noChangeAspect="1"/>
          </p:cNvPicPr>
          <p:nvPr/>
        </p:nvPicPr>
        <p:blipFill>
          <a:blip r:embed="rId2"/>
          <a:stretch>
            <a:fillRect/>
          </a:stretch>
        </p:blipFill>
        <p:spPr>
          <a:xfrm>
            <a:off x="5604710" y="1748790"/>
            <a:ext cx="982580" cy="1383030"/>
          </a:xfrm>
          <a:prstGeom prst="rect">
            <a:avLst/>
          </a:prstGeom>
        </p:spPr>
      </p:pic>
      <p:pic>
        <p:nvPicPr>
          <p:cNvPr id="6" name="Picture 5">
            <a:extLst>
              <a:ext uri="{FF2B5EF4-FFF2-40B4-BE49-F238E27FC236}">
                <a16:creationId id="{5E749CB0-47F6-5F27-5EB4-725A6525D852}"/>
              </a:ext>
            </a:extLst>
          </p:cNvPr>
          <p:cNvPicPr>
            <a:picLocks noChangeAspect="1"/>
          </p:cNvPicPr>
          <p:nvPr/>
        </p:nvPicPr>
        <p:blipFill>
          <a:blip r:embed="rId3"/>
          <a:stretch>
            <a:fillRect/>
          </a:stretch>
        </p:blipFill>
        <p:spPr>
          <a:xfrm>
            <a:off x="5649011" y="3268980"/>
            <a:ext cx="893979" cy="1383030"/>
          </a:xfrm>
          <a:prstGeom prst="rect">
            <a:avLst/>
          </a:prstGeom>
        </p:spPr>
      </p:pic>
      <p:pic>
        <p:nvPicPr>
          <p:cNvPr id="7" name="Content Placeholder 6">
            <a:extLst>
              <a:ext uri="{FF2B5EF4-FFF2-40B4-BE49-F238E27FC236}">
                <a16:creationId id="{F861EFCC-F48F-509D-9A91-9E5EFBE5D8C5}"/>
              </a:ext>
            </a:extLst>
          </p:cNvPr>
          <p:cNvPicPr>
            <a:picLocks noChangeAspect="1"/>
          </p:cNvPicPr>
          <p:nvPr/>
        </p:nvPicPr>
        <p:blipFill>
          <a:blip r:embed="rId4"/>
          <a:stretch>
            <a:fillRect/>
          </a:stretch>
        </p:blipFill>
        <p:spPr>
          <a:xfrm>
            <a:off x="5493257" y="4789170"/>
            <a:ext cx="1205486" cy="1383030"/>
          </a:xfrm>
          <a:prstGeom prst="rect">
            <a:avLst/>
          </a:prstGeom>
        </p:spPr>
      </p:pic>
      <p:sp>
        <p:nvSpPr>
          <p:cNvPr id="8" name="Date Placeholder 7">
            <a:extLst>
              <a:ext uri="{FF2B5EF4-FFF2-40B4-BE49-F238E27FC236}">
                <a16:creationId id="{8600E2A1-A2B0-C804-BD4E-715AAE0C061B}"/>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01849824-7785-467A-A1ED-5E6626BB0559}"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9" name="Slide Number Placeholder 8">
            <a:extLst>
              <a:ext uri="{FF2B5EF4-FFF2-40B4-BE49-F238E27FC236}">
                <a16:creationId id="{C4A68B1B-76A8-3E85-BC1E-8214809F6805}"/>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10</a:t>
            </a:fld>
            <a:endParaRPr lang="en-NG" sz="800" b="0">
              <a:solidFill>
                <a:srgbClr val="66809A"/>
              </a:solidFill>
              <a:latin typeface="Arial"/>
              <a:ea typeface="Arial"/>
              <a:cs typeface="Arial"/>
            </a:endParaRPr>
          </a:p>
        </p:txBody>
      </p:sp>
    </p:spTree>
    <p:extLst>
      <p:ext uri="{BB962C8B-B14F-4D97-AF65-F5344CB8AC3E}">
        <p14:creationId val="3052382122"/>
      </p:ext>
    </p:extLst>
  </p:cSld>
  <p:clrMapOvr>
    <a:masterClrMapping/>
  </p:clrMapOvr>
</p:sld>
</file>

<file path=ppt/slides/slide1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A68FD3BA-E754-A138-B45C-256C52E72E60}"/>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The Shoulder region – Shoulder joint</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44438297-1B1E-5330-A2E2-14A62CF1934C}"/>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Also called glenohumeral joint</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Ball &amp; socket type of synovial joint</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Head of humerus articulates with the shallow glenoid cavity of the scapular</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Articular surfaces lined by hyaline cartilage</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glenoid cavity is slightly deepened by a ring-like fibrocartilaginous glenoid labrum</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accommodates just a little above a third of the humeral head</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pic>
        <p:nvPicPr>
          <p:cNvPr id="8" name="Content Placeholder 7" descr="The Anatomy of the Shoulder | Instinct Health">
            <a:extLst>
              <a:ext uri="{FF2B5EF4-FFF2-40B4-BE49-F238E27FC236}">
                <a16:creationId id="{CA907CCD-5F15-1596-8CB5-429E792E1B8F}"/>
              </a:ext>
            </a:extLst>
          </p:cNvPr>
          <p:cNvPicPr>
            <a:picLocks noGrp="1" noChangeAspect="1"/>
          </p:cNvPicPr>
          <p:nvPr>
            <p:ph sz="half" idx="2"/>
          </p:nvPr>
        </p:nvPicPr>
        <p:blipFill>
          <a:blip r:embed="rId2"/>
          <a:stretch>
            <a:fillRect/>
          </a:stretch>
        </p:blipFill>
        <p:spPr>
          <a:xfrm>
            <a:off x="7680960" y="2391344"/>
            <a:ext cx="3840480" cy="3138303"/>
          </a:xfrm>
          <a:prstGeom prst="rect">
            <a:avLst/>
          </a:prstGeom>
        </p:spPr>
      </p:pic>
      <p:sp>
        <p:nvSpPr>
          <p:cNvPr id="4" name="Date Placeholder 3">
            <a:extLst>
              <a:ext uri="{FF2B5EF4-FFF2-40B4-BE49-F238E27FC236}">
                <a16:creationId id="{4E49A9DD-B2B1-958E-1D4A-28E4C14FC5FB}"/>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D669A636-CA69-4EA9-A95C-E23441DC78C0}"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5" name="Slide Number Placeholder 4">
            <a:extLst>
              <a:ext uri="{FF2B5EF4-FFF2-40B4-BE49-F238E27FC236}">
                <a16:creationId id="{505B082F-8902-E7D2-2BDE-7E6E092DB3EA}"/>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11</a:t>
            </a:fld>
            <a:endParaRPr lang="en-NG" sz="800" b="0">
              <a:solidFill>
                <a:srgbClr val="66809A"/>
              </a:solidFill>
              <a:latin typeface="Arial"/>
              <a:ea typeface="Arial"/>
              <a:cs typeface="Arial"/>
            </a:endParaRPr>
          </a:p>
        </p:txBody>
      </p:sp>
    </p:spTree>
    <p:extLst>
      <p:ext uri="{BB962C8B-B14F-4D97-AF65-F5344CB8AC3E}">
        <p14:creationId val="3683380774"/>
      </p:ext>
    </p:extLst>
  </p:cSld>
  <p:clrMapOvr>
    <a:masterClrMapping/>
  </p:clrMapOvr>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FA33F10D-CE57-85F5-DA60-E63253D78180}"/>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The Shoulder region – Shoulder joint</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68B7A74D-6DDD-42F7-7DD4-A014BF410A39}"/>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1800" b="0">
                <a:solidFill>
                  <a:srgbClr val="243B53"/>
                </a:solidFill>
                <a:latin typeface="Arial"/>
                <a:ea typeface="Arial"/>
                <a:cs typeface="Arial"/>
              </a:defRPr>
            </a:pPr>
            <a:r>
              <a:rPr lang="en-US" dirty="0" sz="1800" b="0">
                <a:solidFill>
                  <a:srgbClr val="243B53"/>
                </a:solidFill>
                <a:latin typeface="Arial"/>
                <a:ea typeface="Arial"/>
                <a:cs typeface="Arial"/>
              </a:rPr>
              <a:t> </a:t>
            </a:r>
            <a:r>
              <a:rPr lang="en-US" sz="1800" b="0" dirty="0">
                <a:solidFill>
                  <a:srgbClr val="243B53"/>
                </a:solidFill>
                <a:latin typeface="Arial"/>
                <a:ea typeface="Arial"/>
                <a:cs typeface="Arial"/>
              </a:rPr>
              <a:t>Joint support</a:t>
            </a:r>
            <a:endParaRPr sz="1800" b="0">
              <a:solidFill>
                <a:srgbClr val="243B53"/>
              </a:solidFill>
              <a:latin typeface="Arial"/>
              <a:ea typeface="Arial"/>
              <a:cs typeface="Arial"/>
            </a:endParaRPr>
          </a:p>
          <a:p>
            <a:pPr algn="l" marL="0" indent="0">
              <a:lnSpc>
                <a:spcPct val="118000"/>
              </a:lnSpc>
              <a:spcBef>
                <a:spcPts val="0"/>
              </a:spcBef>
              <a:spcAft>
                <a:spcPts val="450"/>
              </a:spcAft>
              <a:defRPr sz="1800" b="0">
                <a:solidFill>
                  <a:srgbClr val="243B53"/>
                </a:solidFill>
                <a:latin typeface="Arial"/>
                <a:ea typeface="Arial"/>
                <a:cs typeface="Arial"/>
              </a:defRPr>
            </a:pPr>
            <a:r>
              <a:rPr lang="en-US" sz="1800" dirty="0" b="0">
                <a:solidFill>
                  <a:srgbClr val="243B53"/>
                </a:solidFill>
                <a:latin typeface="Arial"/>
                <a:ea typeface="Arial"/>
                <a:cs typeface="Arial"/>
              </a:rPr>
              <a:t>Several ligaments and muscles provide strength and support for the shoulder joint</a:t>
            </a:r>
            <a:endParaRPr sz="1800" b="0">
              <a:solidFill>
                <a:srgbClr val="243B53"/>
              </a:solidFill>
              <a:latin typeface="Arial"/>
              <a:ea typeface="Arial"/>
              <a:cs typeface="Arial"/>
            </a:endParaRPr>
          </a:p>
          <a:p>
            <a:pPr algn="l" marL="0" indent="0">
              <a:lnSpc>
                <a:spcPct val="118000"/>
              </a:lnSpc>
              <a:spcBef>
                <a:spcPts val="0"/>
              </a:spcBef>
              <a:spcAft>
                <a:spcPts val="450"/>
              </a:spcAft>
              <a:defRPr sz="1800" b="0">
                <a:solidFill>
                  <a:srgbClr val="243B53"/>
                </a:solidFill>
                <a:latin typeface="Arial"/>
                <a:ea typeface="Arial"/>
                <a:cs typeface="Arial"/>
              </a:defRPr>
            </a:pPr>
            <a:r>
              <a:rPr lang="en-US" sz="1800" dirty="0" b="0">
                <a:solidFill>
                  <a:srgbClr val="243B53"/>
                </a:solidFill>
                <a:latin typeface="Arial"/>
                <a:ea typeface="Arial"/>
                <a:cs typeface="Arial"/>
              </a:rPr>
              <a:t>Rotator cuff muscles (SITS) provide tone</a:t>
            </a:r>
            <a:endParaRPr sz="1800" b="0">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sz="1850" dirty="0" b="1">
                <a:solidFill>
                  <a:srgbClr val="243B53"/>
                </a:solidFill>
                <a:latin typeface="Arial"/>
                <a:ea typeface="Arial"/>
                <a:cs typeface="Arial"/>
              </a:rPr>
              <a:t>A loose fibrous articular capsule covers the joint leaving 2 openings: </a:t>
            </a:r>
            <a:endParaRPr sz="1850" b="1">
              <a:solidFill>
                <a:srgbClr val="243B53"/>
              </a:solidFill>
              <a:latin typeface="Arial"/>
              <a:ea typeface="Arial"/>
              <a:cs typeface="Arial"/>
            </a:endParaRPr>
          </a:p>
          <a:p>
            <a:pPr algn="l" marL="0" indent="0">
              <a:lnSpc>
                <a:spcPct val="118000"/>
              </a:lnSpc>
              <a:spcBef>
                <a:spcPts val="0"/>
              </a:spcBef>
              <a:spcAft>
                <a:spcPts val="450"/>
              </a:spcAft>
              <a:defRPr sz="1800" b="0">
                <a:solidFill>
                  <a:srgbClr val="243B53"/>
                </a:solidFill>
                <a:latin typeface="Arial"/>
                <a:ea typeface="Arial"/>
                <a:cs typeface="Arial"/>
              </a:defRPr>
            </a:pPr>
            <a:r>
              <a:rPr lang="en-US" sz="1800" dirty="0" b="0">
                <a:solidFill>
                  <a:srgbClr val="243B53"/>
                </a:solidFill>
                <a:latin typeface="Arial"/>
                <a:ea typeface="Arial"/>
                <a:cs typeface="Arial"/>
              </a:rPr>
              <a:t>Between greater and lesser tubercle for passage of tendon of long head of biceps brachii</a:t>
            </a:r>
            <a:endParaRPr sz="1800" b="0">
              <a:solidFill>
                <a:srgbClr val="243B53"/>
              </a:solidFill>
              <a:latin typeface="Arial"/>
              <a:ea typeface="Arial"/>
              <a:cs typeface="Arial"/>
            </a:endParaRPr>
          </a:p>
          <a:p>
            <a:pPr algn="l" marL="0" indent="0">
              <a:lnSpc>
                <a:spcPct val="118000"/>
              </a:lnSpc>
              <a:spcBef>
                <a:spcPts val="0"/>
              </a:spcBef>
              <a:spcAft>
                <a:spcPts val="450"/>
              </a:spcAft>
              <a:defRPr sz="1800" b="0">
                <a:solidFill>
                  <a:srgbClr val="243B53"/>
                </a:solidFill>
                <a:latin typeface="Arial"/>
                <a:ea typeface="Arial"/>
                <a:cs typeface="Arial"/>
              </a:defRPr>
            </a:pPr>
            <a:r>
              <a:rPr lang="en-US" sz="1800" dirty="0" b="0">
                <a:solidFill>
                  <a:srgbClr val="243B53"/>
                </a:solidFill>
                <a:latin typeface="Arial"/>
                <a:ea typeface="Arial"/>
                <a:cs typeface="Arial"/>
              </a:rPr>
              <a:t>Inferior to coracoid process allowing for communication between subscapular bursa and the synovial cavity</a:t>
            </a:r>
            <a:endParaRPr sz="18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D17F56CF-B5C3-9A6F-121A-2865455AABC8}"/>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1850" b="1">
                <a:solidFill>
                  <a:srgbClr val="243B53"/>
                </a:solidFill>
                <a:latin typeface="Arial"/>
                <a:ea typeface="Arial"/>
                <a:cs typeface="Arial"/>
              </a:defRPr>
            </a:pPr>
            <a:r>
              <a:rPr kumimoji="0" lang="en-GB" sz="1850" b="1" i="0" u="none" strike="noStrike" kern="1200" cap="none" spc="0" normalizeH="0" baseline="0" noProof="0" dirty="0">
                <a:ln>
                  <a:noFill/>
                </a:ln>
                <a:solidFill>
                  <a:srgbClr val="243B53"/>
                </a:solidFill>
                <a:effectLst/>
                <a:uLnTx/>
                <a:uFillTx/>
                <a:latin typeface="Arial"/>
                <a:ea typeface="Arial"/>
                <a:cs typeface="Arial"/>
              </a:rPr>
              <a:t>Shunt muscles prevent dislocation:</a:t>
            </a:r>
            <a:endParaRPr sz="1850" b="1">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800" b="0">
                <a:solidFill>
                  <a:srgbClr val="243B53"/>
                </a:solidFill>
                <a:latin typeface="Arial"/>
                <a:ea typeface="Arial"/>
                <a:cs typeface="Arial"/>
              </a:defRPr>
            </a:pPr>
            <a:r>
              <a:rPr kumimoji="0" lang="en-GB" sz="1800" b="0" i="0" u="none" strike="noStrike" kern="1200" cap="none" spc="0" normalizeH="0" baseline="0" noProof="0" dirty="0">
                <a:ln>
                  <a:noFill/>
                </a:ln>
                <a:solidFill>
                  <a:srgbClr val="243B53"/>
                </a:solidFill>
                <a:effectLst/>
                <a:uLnTx/>
                <a:uFillTx/>
                <a:latin typeface="Arial"/>
                <a:ea typeface="Arial"/>
                <a:cs typeface="Arial"/>
              </a:rPr>
              <a:t>coracobrachialis, short head of biceps, long head of triceps which assist deltoid in preventing inferior displacement</a:t>
            </a:r>
            <a:endParaRPr sz="18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1850" b="1">
                <a:solidFill>
                  <a:srgbClr val="243B53"/>
                </a:solidFill>
                <a:latin typeface="Arial"/>
                <a:ea typeface="Arial"/>
                <a:cs typeface="Arial"/>
              </a:defRPr>
            </a:pPr>
            <a:r>
              <a:rPr kumimoji="0" lang="en-GB" sz="1850" b="1" i="0" u="none" strike="noStrike" kern="1200" cap="none" spc="0" normalizeH="0" baseline="0" noProof="0" dirty="0">
                <a:ln>
                  <a:noFill/>
                </a:ln>
                <a:solidFill>
                  <a:srgbClr val="243B53"/>
                </a:solidFill>
                <a:effectLst/>
                <a:uLnTx/>
                <a:uFillTx/>
                <a:latin typeface="Arial"/>
                <a:ea typeface="Arial"/>
                <a:cs typeface="Arial"/>
              </a:rPr>
              <a:t> Ligaments strengthen the articular capsule:</a:t>
            </a:r>
            <a:endParaRPr sz="1850" b="1">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800" b="0">
                <a:solidFill>
                  <a:srgbClr val="243B53"/>
                </a:solidFill>
                <a:latin typeface="Arial"/>
                <a:ea typeface="Arial"/>
                <a:cs typeface="Arial"/>
              </a:defRPr>
            </a:pPr>
            <a:r>
              <a:rPr kumimoji="0" lang="en-GB" sz="1800" b="0" i="0" u="none" strike="noStrike" kern="1200" cap="none" spc="0" normalizeH="0" baseline="0" noProof="0" dirty="0">
                <a:ln>
                  <a:noFill/>
                </a:ln>
                <a:solidFill>
                  <a:srgbClr val="243B53"/>
                </a:solidFill>
                <a:effectLst/>
                <a:uLnTx/>
                <a:uFillTx/>
                <a:latin typeface="Arial"/>
                <a:ea typeface="Arial"/>
                <a:cs typeface="Arial"/>
              </a:rPr>
              <a:t>Glenohumeral ligament</a:t>
            </a:r>
            <a:endParaRPr sz="18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800" b="0">
                <a:solidFill>
                  <a:srgbClr val="243B53"/>
                </a:solidFill>
                <a:latin typeface="Arial"/>
                <a:ea typeface="Arial"/>
                <a:cs typeface="Arial"/>
              </a:defRPr>
            </a:pPr>
            <a:r>
              <a:rPr kumimoji="0" lang="en-GB" sz="1800" b="0" i="0" u="none" strike="noStrike" kern="1200" cap="none" spc="0" normalizeH="0" baseline="0" noProof="0" dirty="0">
                <a:ln>
                  <a:noFill/>
                </a:ln>
                <a:solidFill>
                  <a:srgbClr val="243B53"/>
                </a:solidFill>
                <a:effectLst/>
                <a:uLnTx/>
                <a:uFillTx/>
                <a:latin typeface="Arial"/>
                <a:ea typeface="Arial"/>
                <a:cs typeface="Arial"/>
              </a:rPr>
              <a:t>Coracohumeral ligament</a:t>
            </a:r>
            <a:endParaRPr sz="18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800" b="0">
                <a:solidFill>
                  <a:srgbClr val="243B53"/>
                </a:solidFill>
                <a:latin typeface="Arial"/>
                <a:ea typeface="Arial"/>
                <a:cs typeface="Arial"/>
              </a:defRPr>
            </a:pPr>
            <a:r>
              <a:rPr kumimoji="0" lang="en-GB" sz="1800" b="0" i="0" u="none" strike="noStrike" kern="1200" cap="none" spc="0" normalizeH="0" baseline="0" noProof="0" dirty="0">
                <a:ln>
                  <a:noFill/>
                </a:ln>
                <a:solidFill>
                  <a:srgbClr val="243B53"/>
                </a:solidFill>
                <a:effectLst/>
                <a:uLnTx/>
                <a:uFillTx/>
                <a:latin typeface="Arial"/>
                <a:ea typeface="Arial"/>
                <a:cs typeface="Arial"/>
              </a:rPr>
              <a:t>Transverse humeral ligament (bridges the intertubercular sulcus converting it a canal that holds the synovial sheath and biceps brachii tendon)</a:t>
            </a:r>
            <a:endParaRPr sz="18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800" b="0">
                <a:solidFill>
                  <a:srgbClr val="243B53"/>
                </a:solidFill>
                <a:latin typeface="Arial"/>
                <a:ea typeface="Arial"/>
                <a:cs typeface="Arial"/>
              </a:defRPr>
            </a:pPr>
            <a:r>
              <a:rPr kumimoji="0" lang="en-GB" sz="1800" b="0" i="0" u="none" strike="noStrike" kern="1200" cap="none" spc="0" normalizeH="0" baseline="0" noProof="0" dirty="0">
                <a:ln>
                  <a:noFill/>
                </a:ln>
                <a:solidFill>
                  <a:srgbClr val="243B53"/>
                </a:solidFill>
                <a:effectLst/>
                <a:uLnTx/>
                <a:uFillTx/>
                <a:latin typeface="Arial"/>
                <a:ea typeface="Arial"/>
                <a:cs typeface="Arial"/>
              </a:rPr>
              <a:t>Coracoacromial arch prevents superior displacement</a:t>
            </a:r>
            <a:endParaRPr kumimoji="0" lang="en-NG" sz="1800" b="0" i="0" u="none" strike="noStrike" kern="1200" cap="none" spc="0" normalizeH="0" baseline="0" noProof="0" dirty="0">
              <a:ln>
                <a:noFill/>
              </a:ln>
              <a:solidFill>
                <a:srgbClr val="243B53"/>
              </a:solidFill>
              <a:effectLst/>
              <a:uLnTx/>
              <a:uFillTx/>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9709C730-2982-DE5A-A0D7-B72E8E7D62B6}"/>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0A9C9DBB-B3EA-4D8A-B446-26750F67C3F7}"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3EA5FEE7-4108-15B6-AEC0-C53DC70C29D5}"/>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12</a:t>
            </a:fld>
            <a:endParaRPr lang="en-NG" sz="800" b="0">
              <a:solidFill>
                <a:srgbClr val="66809A"/>
              </a:solidFill>
              <a:latin typeface="Arial"/>
              <a:ea typeface="Arial"/>
              <a:cs typeface="Arial"/>
            </a:endParaRPr>
          </a:p>
        </p:txBody>
      </p:sp>
    </p:spTree>
    <p:extLst>
      <p:ext uri="{BB962C8B-B14F-4D97-AF65-F5344CB8AC3E}">
        <p14:creationId val="853521239"/>
      </p:ext>
    </p:extLst>
  </p:cSld>
  <p:clrMapOvr>
    <a:masterClrMapping/>
  </p:clrMapOvr>
</p:sld>
</file>

<file path=ppt/slides/slide13.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51869F7-26D9-C1B3-9097-0745180C151D}"/>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Shoulder joint - movements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4B746D27-DA6C-98AE-9113-343E49843B81}"/>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algn="l" marL="0" indent="0">
              <a:lnSpc>
                <a:spcPct val="118000"/>
              </a:lnSpc>
              <a:spcBef>
                <a:spcPts val="0"/>
              </a:spcBef>
              <a:spcAft>
                <a:spcPts val="450"/>
              </a:spcAft>
              <a:defRPr sz="2100" b="0">
                <a:solidFill>
                  <a:srgbClr val="243B53"/>
                </a:solidFill>
                <a:latin typeface="Arial"/>
                <a:ea typeface="Arial"/>
                <a:cs typeface="Arial"/>
              </a:defRPr>
            </a:pPr>
            <a:r>
              <a:rPr lang="en-US" sz="2100" dirty="0" b="0">
                <a:solidFill>
                  <a:srgbClr val="243B53"/>
                </a:solidFill>
                <a:latin typeface="Arial"/>
                <a:ea typeface="Arial"/>
                <a:cs typeface="Arial"/>
              </a:rPr>
              <a:t>Flexion: pectoralis major (clavicular part)(chief muscle) and anterior </a:t>
            </a:r>
            <a:r>
              <a:rPr lang="en-US" sz="2100" dirty="0" err="1" b="0">
                <a:solidFill>
                  <a:srgbClr val="243B53"/>
                </a:solidFill>
                <a:latin typeface="Arial"/>
                <a:ea typeface="Arial"/>
                <a:cs typeface="Arial"/>
              </a:rPr>
              <a:t>fibres</a:t>
            </a:r>
            <a:r>
              <a:rPr lang="en-US" sz="2100" dirty="0" b="0">
                <a:solidFill>
                  <a:srgbClr val="243B53"/>
                </a:solidFill>
                <a:latin typeface="Arial"/>
                <a:ea typeface="Arial"/>
                <a:cs typeface="Arial"/>
              </a:rPr>
              <a:t> of deltoid. assisted by coracobrachialis and biceps brachii</a:t>
            </a:r>
            <a:endParaRPr sz="2100" b="0">
              <a:solidFill>
                <a:srgbClr val="243B53"/>
              </a:solidFill>
              <a:latin typeface="Arial"/>
              <a:ea typeface="Arial"/>
              <a:cs typeface="Arial"/>
            </a:endParaRPr>
          </a:p>
          <a:p>
            <a:pPr algn="l" marL="0" indent="0">
              <a:lnSpc>
                <a:spcPct val="118000"/>
              </a:lnSpc>
              <a:spcBef>
                <a:spcPts val="0"/>
              </a:spcBef>
              <a:spcAft>
                <a:spcPts val="450"/>
              </a:spcAft>
              <a:defRPr sz="2100" b="0">
                <a:solidFill>
                  <a:srgbClr val="243B53"/>
                </a:solidFill>
                <a:latin typeface="Arial"/>
                <a:ea typeface="Arial"/>
                <a:cs typeface="Arial"/>
              </a:defRPr>
            </a:pPr>
            <a:r>
              <a:rPr lang="en-US" sz="2100" dirty="0" b="0">
                <a:solidFill>
                  <a:srgbClr val="243B53"/>
                </a:solidFill>
                <a:latin typeface="Arial"/>
                <a:ea typeface="Arial"/>
                <a:cs typeface="Arial"/>
              </a:rPr>
              <a:t>Extension: latissimus dorsi (chief), assisted by posterior </a:t>
            </a:r>
            <a:r>
              <a:rPr lang="en-US" sz="2100" dirty="0" err="1" b="0">
                <a:solidFill>
                  <a:srgbClr val="243B53"/>
                </a:solidFill>
                <a:latin typeface="Arial"/>
                <a:ea typeface="Arial"/>
                <a:cs typeface="Arial"/>
              </a:rPr>
              <a:t>fibres</a:t>
            </a:r>
            <a:r>
              <a:rPr lang="en-US" sz="2100" dirty="0" b="0">
                <a:solidFill>
                  <a:srgbClr val="243B53"/>
                </a:solidFill>
                <a:latin typeface="Arial"/>
                <a:ea typeface="Arial"/>
                <a:cs typeface="Arial"/>
              </a:rPr>
              <a:t> of deltoid</a:t>
            </a:r>
            <a:endParaRPr sz="2100" b="0">
              <a:solidFill>
                <a:srgbClr val="243B53"/>
              </a:solidFill>
              <a:latin typeface="Arial"/>
              <a:ea typeface="Arial"/>
              <a:cs typeface="Arial"/>
            </a:endParaRPr>
          </a:p>
          <a:p>
            <a:pPr algn="l" marL="0" indent="0">
              <a:lnSpc>
                <a:spcPct val="118000"/>
              </a:lnSpc>
              <a:spcBef>
                <a:spcPts val="0"/>
              </a:spcBef>
              <a:spcAft>
                <a:spcPts val="450"/>
              </a:spcAft>
              <a:defRPr sz="2100" b="0">
                <a:solidFill>
                  <a:srgbClr val="243B53"/>
                </a:solidFill>
                <a:latin typeface="Arial"/>
                <a:ea typeface="Arial"/>
                <a:cs typeface="Arial"/>
              </a:defRPr>
            </a:pPr>
            <a:r>
              <a:rPr lang="en-US" sz="2100" dirty="0" b="0">
                <a:solidFill>
                  <a:srgbClr val="243B53"/>
                </a:solidFill>
                <a:latin typeface="Arial"/>
                <a:ea typeface="Arial"/>
                <a:cs typeface="Arial"/>
              </a:rPr>
              <a:t>Abduction: entire deltoid (chief) esp. middle </a:t>
            </a:r>
            <a:r>
              <a:rPr lang="en-US" sz="2100" dirty="0" err="1" b="0">
                <a:solidFill>
                  <a:srgbClr val="243B53"/>
                </a:solidFill>
                <a:latin typeface="Arial"/>
                <a:ea typeface="Arial"/>
                <a:cs typeface="Arial"/>
              </a:rPr>
              <a:t>fibres</a:t>
            </a:r>
            <a:r>
              <a:rPr lang="en-US" sz="2100" dirty="0" b="0">
                <a:solidFill>
                  <a:srgbClr val="243B53"/>
                </a:solidFill>
                <a:latin typeface="Arial"/>
                <a:ea typeface="Arial"/>
                <a:cs typeface="Arial"/>
              </a:rPr>
              <a:t> after initiation of movement by supraspinatus</a:t>
            </a:r>
            <a:endParaRPr sz="2100" b="0">
              <a:solidFill>
                <a:srgbClr val="243B53"/>
              </a:solidFill>
              <a:latin typeface="Arial"/>
              <a:ea typeface="Arial"/>
              <a:cs typeface="Arial"/>
            </a:endParaRPr>
          </a:p>
          <a:p>
            <a:pPr algn="l" marL="0" indent="0">
              <a:lnSpc>
                <a:spcPct val="118000"/>
              </a:lnSpc>
              <a:spcBef>
                <a:spcPts val="0"/>
              </a:spcBef>
              <a:spcAft>
                <a:spcPts val="450"/>
              </a:spcAft>
              <a:defRPr sz="2100" b="0">
                <a:solidFill>
                  <a:srgbClr val="243B53"/>
                </a:solidFill>
                <a:latin typeface="Arial"/>
                <a:ea typeface="Arial"/>
                <a:cs typeface="Arial"/>
              </a:defRPr>
            </a:pPr>
            <a:r>
              <a:rPr lang="en-US" sz="2100" dirty="0" b="0">
                <a:solidFill>
                  <a:srgbClr val="243B53"/>
                </a:solidFill>
                <a:latin typeface="Arial"/>
                <a:ea typeface="Arial"/>
                <a:cs typeface="Arial"/>
              </a:rPr>
              <a:t>Adduction: P. major and latissimus dorsi</a:t>
            </a:r>
            <a:endParaRPr sz="2100" b="0">
              <a:solidFill>
                <a:srgbClr val="243B53"/>
              </a:solidFill>
              <a:latin typeface="Arial"/>
              <a:ea typeface="Arial"/>
              <a:cs typeface="Arial"/>
            </a:endParaRPr>
          </a:p>
          <a:p>
            <a:pPr algn="l" marL="0" indent="0">
              <a:lnSpc>
                <a:spcPct val="118000"/>
              </a:lnSpc>
              <a:spcBef>
                <a:spcPts val="0"/>
              </a:spcBef>
              <a:spcAft>
                <a:spcPts val="450"/>
              </a:spcAft>
              <a:defRPr sz="2100" b="0">
                <a:solidFill>
                  <a:srgbClr val="243B53"/>
                </a:solidFill>
                <a:latin typeface="Arial"/>
                <a:ea typeface="Arial"/>
                <a:cs typeface="Arial"/>
              </a:defRPr>
            </a:pPr>
            <a:r>
              <a:rPr lang="en-US" sz="2100" dirty="0" b="0">
                <a:solidFill>
                  <a:srgbClr val="243B53"/>
                </a:solidFill>
                <a:latin typeface="Arial"/>
                <a:ea typeface="Arial"/>
                <a:cs typeface="Arial"/>
              </a:rPr>
              <a:t>Medial rotation: subscapularis</a:t>
            </a:r>
            <a:endParaRPr sz="2100" b="0">
              <a:solidFill>
                <a:srgbClr val="243B53"/>
              </a:solidFill>
              <a:latin typeface="Arial"/>
              <a:ea typeface="Arial"/>
              <a:cs typeface="Arial"/>
            </a:endParaRPr>
          </a:p>
          <a:p>
            <a:pPr algn="l" marL="0" indent="0">
              <a:lnSpc>
                <a:spcPct val="118000"/>
              </a:lnSpc>
              <a:spcBef>
                <a:spcPts val="0"/>
              </a:spcBef>
              <a:spcAft>
                <a:spcPts val="450"/>
              </a:spcAft>
              <a:defRPr sz="2100" b="0">
                <a:solidFill>
                  <a:srgbClr val="243B53"/>
                </a:solidFill>
                <a:latin typeface="Arial"/>
                <a:ea typeface="Arial"/>
                <a:cs typeface="Arial"/>
              </a:defRPr>
            </a:pPr>
            <a:r>
              <a:rPr lang="en-US" sz="2100" dirty="0" b="0">
                <a:solidFill>
                  <a:srgbClr val="243B53"/>
                </a:solidFill>
                <a:latin typeface="Arial"/>
                <a:ea typeface="Arial"/>
                <a:cs typeface="Arial"/>
              </a:rPr>
              <a:t>Lateral  (external) rotation: infraspinatus</a:t>
            </a:r>
            <a:endParaRPr sz="2100" b="0">
              <a:solidFill>
                <a:srgbClr val="243B53"/>
              </a:solidFill>
              <a:latin typeface="Arial"/>
              <a:ea typeface="Arial"/>
              <a:cs typeface="Arial"/>
            </a:endParaRPr>
          </a:p>
          <a:p>
            <a:pPr algn="l" marL="0" indent="0">
              <a:lnSpc>
                <a:spcPct val="118000"/>
              </a:lnSpc>
              <a:spcBef>
                <a:spcPts val="0"/>
              </a:spcBef>
              <a:spcAft>
                <a:spcPts val="450"/>
              </a:spcAft>
              <a:defRPr sz="2100" b="0">
                <a:solidFill>
                  <a:srgbClr val="243B53"/>
                </a:solidFill>
                <a:latin typeface="Arial"/>
                <a:ea typeface="Arial"/>
                <a:cs typeface="Arial"/>
              </a:defRPr>
            </a:pPr>
            <a:r>
              <a:rPr lang="en-US" sz="2100" dirty="0" b="0">
                <a:solidFill>
                  <a:srgbClr val="243B53"/>
                </a:solidFill>
                <a:latin typeface="Arial"/>
                <a:ea typeface="Arial"/>
                <a:cs typeface="Arial"/>
              </a:rPr>
              <a:t>Circumduction</a:t>
            </a:r>
            <a:endParaRPr sz="2100" b="0">
              <a:solidFill>
                <a:srgbClr val="243B53"/>
              </a:solidFill>
              <a:latin typeface="Arial"/>
              <a:ea typeface="Arial"/>
              <a:cs typeface="Arial"/>
            </a:endParaRPr>
          </a:p>
        </p:txBody>
      </p:sp>
      <p:sp>
        <p:nvSpPr>
          <p:cNvPr id="4" name="Content Placeholder 3">
            <a:extLst>
              <a:ext uri="{FF2B5EF4-FFF2-40B4-BE49-F238E27FC236}">
                <a16:creationId id="{35AA5B5E-3B4E-33A4-F6CA-6BA112BCB6E3}"/>
              </a:ext>
            </a:extLst>
          </p:cNvPr>
          <p:cNvSpPr>
            <a:spLocks noGrp="1"/>
          </p:cNvSpPr>
          <p:nvPr>
            <p:ph sz="half" idx="2"/>
          </p:nvPr>
        </p:nvSpPr>
        <p:spPr>
          <a:xfrm>
            <a:off x="6172200" y="1304144"/>
            <a:ext cx="5181600" cy="4872819"/>
          </a:xfrm>
        </p:spPr>
        <p:txBody>
          <a:bodyPr>
            <a:normAutofit/>
          </a:bodyPr>
          <a:lstStyle/>
          <a:p>
            <a:endParaRPr lang="en-NG" dirty="0"/>
          </a:p>
        </p:txBody>
      </p:sp>
      <p:pic>
        <p:nvPicPr>
          <p:cNvPr id="5" name="Picture 4" descr="Shoulder Joint Ligament: Anatomy ...">
            <a:extLst>
              <a:ext uri="{FF2B5EF4-FFF2-40B4-BE49-F238E27FC236}">
                <a16:creationId id="{AA833262-8D06-EB8E-8951-61D4A011E1FF}"/>
              </a:ext>
            </a:extLst>
          </p:cNvPr>
          <p:cNvPicPr>
            <a:picLocks noChangeAspect="1" noChangeArrowheads="1"/>
          </p:cNvPicPr>
          <p:nvPr/>
        </p:nvPicPr>
        <p:blipFill>
          <a:blip r:embed="rId2">
            <a:extLst>
              <a:ext uri="{28A0092B-C50C-407E-A947-70E740481C1C}">
                <a14:useLocalDpi val="0"/>
              </a:ext>
            </a:extLst>
          </a:blip>
          <a:srcRect/>
          <a:stretch>
            <a:fillRect/>
          </a:stretch>
        </p:blipFill>
        <p:spPr bwMode="auto">
          <a:xfrm>
            <a:off x="7980916" y="1748790"/>
            <a:ext cx="3240568" cy="2143125"/>
          </a:xfrm>
          <a:prstGeom prst="rect">
            <a:avLst/>
          </a:prstGeom>
          <a:noFill/>
          <a:extLst>
            <a:ext uri="{909E8E84-426E-40DD-AFC4-6F175D3DCCD1}">
              <a14:hiddenFill>
                <a:solidFill>
                  <a:srgbClr val="FFFFFF"/>
                </a:solidFill>
              </a14:hiddenFill>
            </a:ext>
          </a:extLst>
        </p:spPr>
      </p:pic>
      <p:pic>
        <p:nvPicPr>
          <p:cNvPr id="6" name="Content Placeholder 4">
            <a:extLst>
              <a:ext uri="{FF2B5EF4-FFF2-40B4-BE49-F238E27FC236}">
                <a16:creationId id="{77955D49-60A9-9530-0F83-3FF7C64C969C}"/>
              </a:ext>
            </a:extLst>
          </p:cNvPr>
          <p:cNvPicPr>
            <a:picLocks noChangeAspect="1"/>
          </p:cNvPicPr>
          <p:nvPr/>
        </p:nvPicPr>
        <p:blipFill>
          <a:blip r:embed="rId3"/>
          <a:stretch>
            <a:fillRect/>
          </a:stretch>
        </p:blipFill>
        <p:spPr>
          <a:xfrm>
            <a:off x="7680960" y="4170837"/>
            <a:ext cx="3840480" cy="1859602"/>
          </a:xfrm>
          <a:prstGeom prst="rect">
            <a:avLst/>
          </a:prstGeom>
        </p:spPr>
      </p:pic>
      <p:sp>
        <p:nvSpPr>
          <p:cNvPr id="7" name="Date Placeholder 6">
            <a:extLst>
              <a:ext uri="{FF2B5EF4-FFF2-40B4-BE49-F238E27FC236}">
                <a16:creationId id="{C4135D2C-48F2-FD8A-D5AD-3F7CC2F5EEBD}"/>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EC50BA77-DD5B-41DE-AB7A-6C43D71EAC49}"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8" name="Slide Number Placeholder 7">
            <a:extLst>
              <a:ext uri="{FF2B5EF4-FFF2-40B4-BE49-F238E27FC236}">
                <a16:creationId id="{A2F26587-FCE0-2F8F-4109-BD9ADD036072}"/>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13</a:t>
            </a:fld>
            <a:endParaRPr lang="en-NG" sz="800" b="0">
              <a:solidFill>
                <a:srgbClr val="66809A"/>
              </a:solidFill>
              <a:latin typeface="Arial"/>
              <a:ea typeface="Arial"/>
              <a:cs typeface="Arial"/>
            </a:endParaRPr>
          </a:p>
        </p:txBody>
      </p:sp>
    </p:spTree>
    <p:extLst>
      <p:ext uri="{BB962C8B-B14F-4D97-AF65-F5344CB8AC3E}">
        <p14:creationId val="3180617868"/>
      </p:ext>
    </p:extLst>
  </p:cSld>
  <p:clrMapOvr>
    <a:masterClrMapping/>
  </p:clrMapOvr>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867DC9D1-B5DD-7A46-41AA-F1C032E65F9D}"/>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Shoulder joint</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3A0E1A3D-C5C5-7BEF-D4CC-89529851249A}"/>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R="0" lvl="0" algn="l" defTabSz="914400" rtl="0" eaLnBrk="1" fontAlgn="auto" latinLnBrk="0" hangingPunct="1" marL="0" indent="0">
              <a:lnSpc>
                <a:spcPct val="118000"/>
              </a:lnSpc>
              <a:spcBef>
                <a:spcPts val="0"/>
              </a:spcBef>
              <a:spcAft>
                <a:spcPts val="450"/>
              </a:spcAft>
              <a:buClrTx/>
              <a:buSzTx/>
              <a:buFont typeface="Wingdings" panose="05000000000000000000" pitchFamily="2" charset="2"/>
              <a:buChar char="Ø"/>
              <a:tabLst/>
              <a:defRPr sz="2200" b="0">
                <a:solidFill>
                  <a:srgbClr val="243B53"/>
                </a:solidFill>
                <a:latin typeface="Arial"/>
                <a:ea typeface="Arial"/>
                <a:cs typeface="Arial"/>
              </a:defRPr>
            </a:pPr>
            <a:r>
              <a:rPr lang="en-US" dirty="0" sz="2200" b="0">
                <a:solidFill>
                  <a:srgbClr val="243B53"/>
                </a:solidFill>
                <a:latin typeface="Arial"/>
                <a:ea typeface="Arial"/>
                <a:cs typeface="Arial"/>
              </a:rPr>
              <a:t>Blood supply: </a:t>
            </a:r>
            <a:r>
              <a:rPr kumimoji="0" lang="en-GB" sz="2200" b="0" i="0" u="none" strike="noStrike" kern="1200" cap="none" spc="0" normalizeH="0" baseline="0" noProof="0" dirty="0">
                <a:ln>
                  <a:noFill/>
                </a:ln>
                <a:solidFill>
                  <a:srgbClr val="243B53"/>
                </a:solidFill>
                <a:effectLst/>
                <a:uLnTx/>
                <a:uFillTx/>
                <a:latin typeface="Arial"/>
                <a:ea typeface="Arial"/>
                <a:cs typeface="Arial"/>
              </a:rPr>
              <a:t>Anterior and posterior circumflex humeral arteries and branches of suprascapular artery</a:t>
            </a:r>
            <a:endParaRPr lang="en-US" sz="2200" b="0" dirty="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Ø"/>
              <a:tabLst/>
              <a:defRPr sz="2200" b="0">
                <a:solidFill>
                  <a:srgbClr val="243B53"/>
                </a:solidFill>
                <a:latin typeface="Arial"/>
                <a:ea typeface="Arial"/>
                <a:cs typeface="Arial"/>
              </a:defRPr>
            </a:pPr>
            <a:r>
              <a:rPr lang="en-US" dirty="0" sz="2200" b="0">
                <a:solidFill>
                  <a:srgbClr val="243B53"/>
                </a:solidFill>
                <a:latin typeface="Arial"/>
                <a:ea typeface="Arial"/>
                <a:cs typeface="Arial"/>
              </a:rPr>
              <a:t>Innervation: </a:t>
            </a: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Suprascapular nerve, Axillary nerve, Lateral pectoral nerves</a:t>
            </a:r>
            <a:endParaRPr sz="2200" b="0">
              <a:solidFill>
                <a:srgbClr val="243B53"/>
              </a:solidFill>
              <a:latin typeface="Arial"/>
              <a:ea typeface="Arial"/>
              <a:cs typeface="Arial"/>
            </a:endParaRPr>
          </a:p>
          <a:p>
            <a:pPr marL="0" marR="0" lvl="0" indent="0" algn="l" defTabSz="914400" rtl="0" eaLnBrk="1" fontAlgn="auto" latinLnBrk="0" hangingPunct="1">
              <a:lnSpc>
                <a:spcPts val="100"/>
              </a:lnSpc>
              <a:spcBef>
                <a:spcPts val="0"/>
              </a:spcBef>
              <a:spcAft>
                <a:spcPts val="0"/>
              </a:spcAft>
              <a:buClrTx/>
              <a:buSzTx/>
              <a:buNone/>
              <a:tabLst/>
              <a:defRPr sz="100" b="0">
                <a:solidFill>
                  <a:srgbClr val="243B53"/>
                </a:solidFill>
                <a:latin typeface="Arial"/>
                <a:ea typeface="Arial"/>
                <a:cs typeface="Arial"/>
              </a:defRPr>
            </a:pPr>
            <a:endParaRPr kumimoji="0" lang="en-GB" sz="100" b="0" i="0" u="none" strike="noStrike" kern="1200" cap="none" spc="0" normalizeH="0" baseline="0" noProof="0" dirty="0">
              <a:ln>
                <a:noFill/>
              </a:ln>
              <a:solidFill>
                <a:srgbClr val="243B53"/>
              </a:solidFill>
              <a:effectLst/>
              <a:uLnTx/>
              <a:uFillTx/>
              <a:latin typeface="Arial" panose="020F0502020204030204"/>
              <a:ea typeface="Arial"/>
              <a:cs typeface="Arial"/>
            </a:endParaRPr>
          </a:p>
        </p:txBody>
      </p:sp>
      <p:sp>
        <p:nvSpPr>
          <p:cNvPr id="4" name="Content Placeholder 3">
            <a:extLst>
              <a:ext uri="{FF2B5EF4-FFF2-40B4-BE49-F238E27FC236}">
                <a16:creationId id="{868A4C84-B1B3-DD2D-DFBB-DF0A828B8A9A}"/>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q"/>
              <a:tabLst/>
              <a:defRPr sz="2200" b="0">
                <a:solidFill>
                  <a:srgbClr val="243B53"/>
                </a:solidFill>
                <a:latin typeface="Arial"/>
                <a:ea typeface="Arial"/>
                <a:cs typeface="Arial"/>
              </a:defRPr>
            </a:pPr>
            <a:r>
              <a:rPr kumimoji="0" lang="en-GB" b="0" i="0" u="sng" strike="noStrike" kern="1200" cap="none" spc="0" normalizeH="0" baseline="0" noProof="0" dirty="0" sz="2200">
                <a:ln>
                  <a:noFill/>
                </a:ln>
                <a:solidFill>
                  <a:srgbClr val="243B53"/>
                </a:solidFill>
                <a:effectLst/>
                <a:uLnTx/>
                <a:uFillTx/>
                <a:latin typeface="Arial"/>
                <a:ea typeface="Arial"/>
                <a:cs typeface="Arial"/>
              </a:rPr>
              <a:t>Clinical importance</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a:ea typeface="Arial"/>
                <a:cs typeface="Arial"/>
              </a:rPr>
              <a:t>Rotator tendon tears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a:ea typeface="Arial"/>
                <a:cs typeface="Arial"/>
              </a:rPr>
              <a:t>Shoulder dislocation</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a:ea typeface="Arial"/>
                <a:cs typeface="Arial"/>
              </a:rPr>
              <a:t>Bursitis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a:ea typeface="Arial"/>
                <a:cs typeface="Arial"/>
              </a:rPr>
              <a:t>Synovitis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a:ea typeface="Arial"/>
                <a:cs typeface="Arial"/>
              </a:rPr>
              <a:t>osteoarthritis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a:ea typeface="Arial"/>
                <a:cs typeface="Arial"/>
              </a:rPr>
              <a:t>Subluxation</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a:ea typeface="Arial"/>
                <a:cs typeface="Arial"/>
              </a:rPr>
              <a:t>Tendinitis</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098A1EA7-96F1-5D05-2EF4-5D3D48696AAC}"/>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92FA01CE-3588-4469-A298-0ED8039FD1A3}"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13250325-7921-D14F-121E-628056B56FCD}"/>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14</a:t>
            </a:fld>
            <a:endParaRPr lang="en-NG" sz="800" b="0">
              <a:solidFill>
                <a:srgbClr val="66809A"/>
              </a:solidFill>
              <a:latin typeface="Arial"/>
              <a:ea typeface="Arial"/>
              <a:cs typeface="Arial"/>
            </a:endParaRPr>
          </a:p>
        </p:txBody>
      </p:sp>
    </p:spTree>
    <p:extLst>
      <p:ext uri="{BB962C8B-B14F-4D97-AF65-F5344CB8AC3E}">
        <p14:creationId val="384511858"/>
      </p:ext>
    </p:extLst>
  </p:cSld>
  <p:clrMapOvr>
    <a:masterClrMapping/>
  </p:clrMapOvr>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6BA90AE-A9DA-8794-D430-9414373C1AC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Shoulder joint – clinical importance</a:t>
            </a:r>
            <a:endParaRPr lang="en-NG" dirty="0" sz="3200" b="1">
              <a:solidFill>
                <a:srgbClr val="0056D2"/>
              </a:solidFill>
              <a:latin typeface="Poppins SemiBold"/>
              <a:ea typeface="Poppins SemiBold"/>
              <a:cs typeface="Poppins SemiBold"/>
            </a:endParaRPr>
          </a:p>
        </p:txBody>
      </p:sp>
      <p:pic>
        <p:nvPicPr>
          <p:cNvPr id="6" name="Content Placeholder 5">
            <a:extLst>
              <a:ext uri="{FF2B5EF4-FFF2-40B4-BE49-F238E27FC236}">
                <a16:creationId id="{31817FF3-EC31-8504-5955-89CCEBF7E466}"/>
              </a:ext>
            </a:extLst>
          </p:cNvPr>
          <p:cNvPicPr>
            <a:picLocks noGrp="1" noChangeAspect="1"/>
          </p:cNvPicPr>
          <p:nvPr>
            <p:ph sz="half" idx="1"/>
          </p:nvPr>
        </p:nvPicPr>
        <p:blipFill>
          <a:blip r:embed="rId2"/>
          <a:stretch>
            <a:fillRect/>
          </a:stretch>
        </p:blipFill>
        <p:spPr>
          <a:xfrm>
            <a:off x="4657699" y="1748790"/>
            <a:ext cx="2876602" cy="2143125"/>
          </a:xfrm>
          <a:prstGeom prst="rect">
            <a:avLst/>
          </a:prstGeom>
        </p:spPr>
      </p:pic>
      <p:pic>
        <p:nvPicPr>
          <p:cNvPr id="8" name="Content Placeholder 7">
            <a:extLst>
              <a:ext uri="{FF2B5EF4-FFF2-40B4-BE49-F238E27FC236}">
                <a16:creationId id="{D7DE9CF6-DEBF-DF28-DB60-B8275A6C62CE}"/>
              </a:ext>
            </a:extLst>
          </p:cNvPr>
          <p:cNvPicPr>
            <a:picLocks noGrp="1" noChangeAspect="1"/>
          </p:cNvPicPr>
          <p:nvPr>
            <p:ph sz="half" idx="2"/>
          </p:nvPr>
        </p:nvPicPr>
        <p:blipFill>
          <a:blip r:embed="rId3"/>
          <a:stretch>
            <a:fillRect/>
          </a:stretch>
        </p:blipFill>
        <p:spPr>
          <a:xfrm>
            <a:off x="4676528" y="4029075"/>
            <a:ext cx="2838944" cy="2143125"/>
          </a:xfrm>
          <a:prstGeom prst="rect">
            <a:avLst/>
          </a:prstGeom>
        </p:spPr>
      </p:pic>
      <p:sp>
        <p:nvSpPr>
          <p:cNvPr id="3" name="Date Placeholder 2">
            <a:extLst>
              <a:ext uri="{FF2B5EF4-FFF2-40B4-BE49-F238E27FC236}">
                <a16:creationId id="{2FAEB6CD-ABA8-2B1F-D4C3-2F02D9DF5ADE}"/>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8C14A172-5E1F-4A9A-AA84-BA005342BE50}"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4" name="Slide Number Placeholder 3">
            <a:extLst>
              <a:ext uri="{FF2B5EF4-FFF2-40B4-BE49-F238E27FC236}">
                <a16:creationId id="{A833CBCE-7E8C-5789-4561-1F2C722DE099}"/>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15</a:t>
            </a:fld>
            <a:endParaRPr lang="en-NG" sz="800" b="0">
              <a:solidFill>
                <a:srgbClr val="66809A"/>
              </a:solidFill>
              <a:latin typeface="Arial"/>
              <a:ea typeface="Arial"/>
              <a:cs typeface="Arial"/>
            </a:endParaRPr>
          </a:p>
        </p:txBody>
      </p:sp>
    </p:spTree>
    <p:extLst>
      <p:ext uri="{BB962C8B-B14F-4D97-AF65-F5344CB8AC3E}">
        <p14:creationId val="317112934"/>
      </p:ext>
    </p:extLst>
  </p:cSld>
  <p:clrMapOvr>
    <a:masterClrMapping/>
  </p:clrMapOvr>
</p:sld>
</file>

<file path=ppt/slides/slide1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FF6E1B8-EFB1-94DA-E60E-853AFF79EB49}"/>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The pectoral region</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89C8298-709C-52DF-46C2-0AEF99DD00DE}"/>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This is the most anterior  part of the upper chest wall</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It contains primarily four muscles: the pectoralis major and minor, subclavius and serratus anterior</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muscles act to stabilize the shoulder and upper limb</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And also bears the breast and wall of the axilla</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pic>
        <p:nvPicPr>
          <p:cNvPr id="5" name="Content Placeholder 4" descr="Breast and Pectoral Region | Basicmedical Key">
            <a:extLst>
              <a:ext uri="{FF2B5EF4-FFF2-40B4-BE49-F238E27FC236}">
                <a16:creationId id="{226B41B0-C0D7-CFC8-4AA5-A5F08B37B006}"/>
              </a:ext>
            </a:extLst>
          </p:cNvPr>
          <p:cNvPicPr>
            <a:picLocks noGrp="1" noChangeAspect="1"/>
          </p:cNvPicPr>
          <p:nvPr>
            <p:ph sz="half" idx="2"/>
          </p:nvPr>
        </p:nvPicPr>
        <p:blipFill>
          <a:blip r:embed="rId2"/>
          <a:stretch>
            <a:fillRect/>
          </a:stretch>
        </p:blipFill>
        <p:spPr>
          <a:xfrm>
            <a:off x="7680960" y="1894481"/>
            <a:ext cx="3840480" cy="4132029"/>
          </a:xfrm>
          <a:prstGeom prst="rect">
            <a:avLst/>
          </a:prstGeom>
        </p:spPr>
      </p:pic>
      <p:sp>
        <p:nvSpPr>
          <p:cNvPr id="4" name="Date Placeholder 3">
            <a:extLst>
              <a:ext uri="{FF2B5EF4-FFF2-40B4-BE49-F238E27FC236}">
                <a16:creationId id="{CF90E477-600E-8A0E-AF62-367543FDA05B}"/>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4D0A5CBB-19F7-44E8-B4A1-CA66FDC8E1DC}"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233B1378-EDFF-8011-D3CF-6FAB6FF4F4D8}"/>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16</a:t>
            </a:fld>
            <a:endParaRPr lang="en-NG" sz="800" b="0">
              <a:solidFill>
                <a:srgbClr val="66809A"/>
              </a:solidFill>
              <a:latin typeface="Arial"/>
              <a:ea typeface="Arial"/>
              <a:cs typeface="Arial"/>
            </a:endParaRPr>
          </a:p>
        </p:txBody>
      </p:sp>
    </p:spTree>
    <p:extLst>
      <p:ext uri="{BB962C8B-B14F-4D97-AF65-F5344CB8AC3E}">
        <p14:creationId val="1403411383"/>
      </p:ext>
    </p:extLst>
  </p:cSld>
  <p:clrMapOvr>
    <a:masterClrMapping/>
  </p:clrMapOvr>
</p:sld>
</file>

<file path=ppt/slides/slide1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5A0237A-9ABA-751F-3DD4-83CF87654E4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The pectoral region</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48035200-A1DB-4524-297B-38A73D8D859B}"/>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US" b="1" dirty="0" sz="2250">
                <a:solidFill>
                  <a:srgbClr val="243B53"/>
                </a:solidFill>
                <a:latin typeface="Arial"/>
                <a:ea typeface="Arial"/>
                <a:cs typeface="Arial"/>
              </a:rPr>
              <a:t>Pectoralis Major: </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largest and most superficial muscle of the chest</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shaped like a fan</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Origin: clavicle, sternum, and upper costal cartilages</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Insertion: humerus </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Action: adducts and medially rotates the arm</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Innervation: Medial and Lateral pectoral nerves</a:t>
            </a:r>
            <a:endParaRPr lang="en-NG" dirty="0" sz="2200" b="0">
              <a:solidFill>
                <a:srgbClr val="243B53"/>
              </a:solidFill>
              <a:latin typeface="Arial"/>
              <a:ea typeface="Arial"/>
              <a:cs typeface="Arial"/>
            </a:endParaRPr>
          </a:p>
        </p:txBody>
      </p:sp>
      <p:sp>
        <p:nvSpPr>
          <p:cNvPr id="4" name="Content Placeholder 3">
            <a:extLst>
              <a:ext uri="{FF2B5EF4-FFF2-40B4-BE49-F238E27FC236}">
                <a16:creationId id="{FF839352-4EF3-E0DD-7E2C-10F337CE78FF}"/>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NG" b="1" u="none" strike="noStrike" dirty="0" sz="2250">
                <a:solidFill>
                  <a:srgbClr val="243B53"/>
                </a:solidFill>
                <a:effectLst/>
                <a:latin typeface="Arial"/>
                <a:ea typeface="Arial"/>
                <a:cs typeface="Arial"/>
              </a:rPr>
              <a:t>Pectoralis Minor</a:t>
            </a:r>
            <a:r>
              <a:rPr lang="en-NG" dirty="0" sz="2250" b="1">
                <a:solidFill>
                  <a:srgbClr val="243B53"/>
                </a:solidFill>
                <a:latin typeface="Arial"/>
                <a:ea typeface="Arial"/>
                <a:cs typeface="Arial"/>
              </a:rPr>
              <a:t>:</a:t>
            </a:r>
            <a:endParaRPr lang="en-US" dirty="0"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NG" dirty="0" sz="2200" b="0">
                <a:solidFill>
                  <a:srgbClr val="243B53"/>
                </a:solidFill>
                <a:latin typeface="Arial"/>
                <a:ea typeface="Arial"/>
                <a:cs typeface="Arial"/>
              </a:rPr>
              <a:t>smaller, triangular muscle</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NG" dirty="0" sz="2200" b="0">
                <a:solidFill>
                  <a:srgbClr val="243B53"/>
                </a:solidFill>
                <a:latin typeface="Arial"/>
                <a:ea typeface="Arial"/>
                <a:cs typeface="Arial"/>
              </a:rPr>
              <a:t>located directly beneath the pectoralis major</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Origin:</a:t>
            </a:r>
            <a:r>
              <a:rPr lang="en-NG" dirty="0" sz="2200" b="0">
                <a:solidFill>
                  <a:srgbClr val="243B53"/>
                </a:solidFill>
                <a:latin typeface="Arial"/>
                <a:ea typeface="Arial"/>
                <a:cs typeface="Arial"/>
              </a:rPr>
              <a:t> 3rd to 5th ribs </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Insertion:</a:t>
            </a:r>
            <a:r>
              <a:rPr lang="en-NG" dirty="0" sz="2200" b="0">
                <a:solidFill>
                  <a:srgbClr val="243B53"/>
                </a:solidFill>
                <a:latin typeface="Arial"/>
                <a:ea typeface="Arial"/>
                <a:cs typeface="Arial"/>
              </a:rPr>
              <a:t> coracoid process of the scapula</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
              <a:defRPr sz="2200" b="0">
                <a:solidFill>
                  <a:srgbClr val="243B53"/>
                </a:solidFill>
                <a:latin typeface="Arial"/>
                <a:ea typeface="Arial"/>
                <a:cs typeface="Arial"/>
              </a:defRPr>
            </a:pPr>
            <a:r>
              <a:rPr lang="en-US" dirty="0" sz="2200" b="0">
                <a:solidFill>
                  <a:srgbClr val="243B53"/>
                </a:solidFill>
                <a:latin typeface="Arial"/>
                <a:ea typeface="Arial"/>
                <a:cs typeface="Arial"/>
              </a:rPr>
              <a:t>Action:</a:t>
            </a:r>
            <a:r>
              <a:rPr lang="en-NG" dirty="0" sz="2200" b="0">
                <a:solidFill>
                  <a:srgbClr val="243B53"/>
                </a:solidFill>
                <a:latin typeface="Arial"/>
                <a:ea typeface="Arial"/>
                <a:cs typeface="Arial"/>
              </a:rPr>
              <a:t> protract and depress the scapula</a:t>
            </a:r>
            <a:endParaRPr lang="en-US" dirty="0"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
              <a:tabLst/>
              <a:defRPr sz="2200" b="0">
                <a:solidFill>
                  <a:srgbClr val="243B53"/>
                </a:solidFill>
                <a:latin typeface="Arial"/>
                <a:ea typeface="Arial"/>
                <a:cs typeface="Arial"/>
              </a:defRPr>
            </a:pPr>
            <a:r>
              <a:rPr kumimoji="0" lang="en-US" sz="2200" b="0" i="0" u="none" strike="noStrike" kern="1200" cap="none" spc="0" normalizeH="0" baseline="0" noProof="0" dirty="0">
                <a:ln>
                  <a:noFill/>
                </a:ln>
                <a:solidFill>
                  <a:srgbClr val="243B53"/>
                </a:solidFill>
                <a:effectLst/>
                <a:uLnTx/>
                <a:uFillTx/>
                <a:latin typeface="Arial" panose="02110004020202020204"/>
                <a:ea typeface="Arial"/>
                <a:cs typeface="Arial"/>
              </a:rPr>
              <a:t>Innervation: Medial and Lateral pectoral nerves</a:t>
            </a:r>
            <a:endParaRPr kumimoji="0" lang="en-NG" sz="2200" b="0" i="0" u="none" strike="noStrike" kern="1200" cap="none" spc="0" normalizeH="0" baseline="0" noProof="0" dirty="0">
              <a:ln>
                <a:noFill/>
              </a:ln>
              <a:solidFill>
                <a:srgbClr val="243B53"/>
              </a:solidFill>
              <a:effectLst/>
              <a:uLnTx/>
              <a:uFillTx/>
              <a:latin typeface="Arial" panose="02110004020202020204"/>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ts val="100"/>
              </a:lnSpc>
              <a:spcBef>
                <a:spcPts val="0"/>
              </a:spcBef>
              <a:spcAft>
                <a:spcPts val="0"/>
              </a:spcAft>
              <a:buFont typeface="Wingdings" panose="05000000000000000000" pitchFamily="2" charset="2"/>
              <a:buChar char="§"/>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6131BC87-E117-5760-9028-637135A9056E}"/>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DCA1ABA5-F873-4E4D-8EC7-DE16FFF1FA5B}"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38E9A2B9-869E-1C74-1D86-CBE4ECB4B88D}"/>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17</a:t>
            </a:fld>
            <a:endParaRPr lang="en-NG" sz="800" b="0">
              <a:solidFill>
                <a:srgbClr val="66809A"/>
              </a:solidFill>
              <a:latin typeface="Arial"/>
              <a:ea typeface="Arial"/>
              <a:cs typeface="Arial"/>
            </a:endParaRPr>
          </a:p>
        </p:txBody>
      </p:sp>
    </p:spTree>
    <p:extLst>
      <p:ext uri="{BB962C8B-B14F-4D97-AF65-F5344CB8AC3E}">
        <p14:creationId val="3575365917"/>
      </p:ext>
    </p:extLst>
  </p:cSld>
  <p:clrMapOvr>
    <a:masterClrMapping/>
  </p:clrMapOvr>
</p:sld>
</file>

<file path=ppt/slides/slide1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97473CCB-84C0-92D3-4B7A-B336A888B288}"/>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The pectoral region</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2EA3092A-16CB-51AD-23AC-D2BC60F7B622}"/>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marR="0" algn="l" indent="0">
              <a:lnSpc>
                <a:spcPct val="118000"/>
              </a:lnSpc>
              <a:spcBef>
                <a:spcPts val="0"/>
              </a:spcBef>
              <a:spcAft>
                <a:spcPts val="450"/>
              </a:spcAft>
              <a:buNone/>
              <a:defRPr sz="1950" b="0">
                <a:solidFill>
                  <a:srgbClr val="243B53"/>
                </a:solidFill>
                <a:latin typeface="Arial"/>
                <a:ea typeface="Arial"/>
                <a:cs typeface="Arial"/>
              </a:defRPr>
            </a:pPr>
            <a:r>
              <a:rPr lang="en-NG" sz="1950" b="0" u="none" strike="noStrike" dirty="0">
                <a:solidFill>
                  <a:srgbClr val="243B53"/>
                </a:solidFill>
                <a:effectLst/>
                <a:latin typeface="Arial"/>
                <a:ea typeface="Arial"/>
                <a:cs typeface="Arial"/>
              </a:rPr>
              <a:t>Subclavius Muscle</a:t>
            </a:r>
            <a:endParaRPr sz="1950" b="0">
              <a:solidFill>
                <a:srgbClr val="243B53"/>
              </a:solidFill>
              <a:latin typeface="Arial"/>
              <a:ea typeface="Arial"/>
              <a:cs typeface="Arial"/>
            </a:endParaRPr>
          </a:p>
          <a:p>
            <a:pPr marL="0" marR="0" lvl="0" indent="0" algn="l">
              <a:lnSpc>
                <a:spcPct val="118000"/>
              </a:lnSpc>
              <a:spcBef>
                <a:spcPts val="0"/>
              </a:spcBef>
              <a:spcAft>
                <a:spcPts val="450"/>
              </a:spcAft>
              <a:buFont typeface="Arial" panose="020B0604020202020204" pitchFamily="34" charset="0"/>
              <a:buChar char="•"/>
              <a:defRPr sz="1950" b="0">
                <a:solidFill>
                  <a:srgbClr val="243B53"/>
                </a:solidFill>
                <a:latin typeface="Arial"/>
                <a:ea typeface="Arial"/>
                <a:cs typeface="Arial"/>
              </a:defRPr>
            </a:pPr>
            <a:r>
              <a:rPr lang="en-NG" sz="1950" b="0" u="none" strike="noStrike" dirty="0">
                <a:solidFill>
                  <a:srgbClr val="243B53"/>
                </a:solidFill>
                <a:effectLst/>
                <a:latin typeface="Arial"/>
                <a:ea typeface="Arial"/>
                <a:cs typeface="Arial"/>
              </a:rPr>
              <a:t>Origin:</a:t>
            </a:r>
            <a:r>
              <a:rPr lang="en-NG" sz="1950" b="0" u="none" strike="noStrike" dirty="0">
                <a:solidFill>
                  <a:srgbClr val="243B53"/>
                </a:solidFill>
                <a:effectLst/>
                <a:latin typeface="Arial"/>
                <a:ea typeface="Arial"/>
                <a:cs typeface="Arial"/>
              </a:rPr>
              <a:t> Junction of the </a:t>
            </a:r>
            <a:r>
              <a:rPr lang="en-NG" sz="1950" b="0" u="none" strike="noStrike" dirty="0">
                <a:solidFill>
                  <a:srgbClr val="243B53"/>
                </a:solidFill>
                <a:effectLst/>
                <a:latin typeface="Arial"/>
                <a:ea typeface="Arial"/>
                <a:cs typeface="Arial"/>
              </a:rPr>
              <a:t>first rib</a:t>
            </a:r>
            <a:r>
              <a:rPr lang="en-NG" sz="1950" b="0" u="none" strike="noStrike" dirty="0">
                <a:solidFill>
                  <a:srgbClr val="243B53"/>
                </a:solidFill>
                <a:effectLst/>
                <a:latin typeface="Arial"/>
                <a:ea typeface="Arial"/>
                <a:cs typeface="Arial"/>
              </a:rPr>
              <a:t> and its costal cartilage</a:t>
            </a:r>
            <a:endParaRPr sz="1950" b="0">
              <a:solidFill>
                <a:srgbClr val="243B53"/>
              </a:solidFill>
              <a:latin typeface="Arial"/>
              <a:ea typeface="Arial"/>
              <a:cs typeface="Arial"/>
            </a:endParaRPr>
          </a:p>
          <a:p>
            <a:pPr marL="0" marR="0" lvl="0" indent="0" algn="l">
              <a:lnSpc>
                <a:spcPct val="118000"/>
              </a:lnSpc>
              <a:spcBef>
                <a:spcPts val="0"/>
              </a:spcBef>
              <a:spcAft>
                <a:spcPts val="450"/>
              </a:spcAft>
              <a:buFont typeface="Arial" panose="020B0604020202020204" pitchFamily="34" charset="0"/>
              <a:buChar char="•"/>
              <a:defRPr sz="1950" b="0">
                <a:solidFill>
                  <a:srgbClr val="243B53"/>
                </a:solidFill>
                <a:latin typeface="Arial"/>
                <a:ea typeface="Arial"/>
                <a:cs typeface="Arial"/>
              </a:defRPr>
            </a:pPr>
            <a:r>
              <a:rPr lang="en-NG" sz="1950" b="0" u="none" strike="noStrike" dirty="0">
                <a:solidFill>
                  <a:srgbClr val="243B53"/>
                </a:solidFill>
                <a:effectLst/>
                <a:latin typeface="Arial"/>
                <a:ea typeface="Arial"/>
                <a:cs typeface="Arial"/>
              </a:rPr>
              <a:t>Insertion:</a:t>
            </a:r>
            <a:r>
              <a:rPr lang="en-NG" sz="1950" b="0" u="none" strike="noStrike" dirty="0">
                <a:solidFill>
                  <a:srgbClr val="243B53"/>
                </a:solidFill>
                <a:effectLst/>
                <a:latin typeface="Arial"/>
                <a:ea typeface="Arial"/>
                <a:cs typeface="Arial"/>
              </a:rPr>
              <a:t> Subclavian groove on the inferior (underside) surface of the middle third of the </a:t>
            </a:r>
            <a:r>
              <a:rPr lang="en-NG" sz="1950" b="0" u="none" strike="noStrike" dirty="0">
                <a:solidFill>
                  <a:srgbClr val="243B53"/>
                </a:solidFill>
                <a:effectLst/>
                <a:latin typeface="Arial"/>
                <a:ea typeface="Arial"/>
                <a:cs typeface="Arial"/>
              </a:rPr>
              <a:t>clavicle</a:t>
            </a:r>
            <a:endParaRPr lang="en-NG" sz="1950" b="0" u="none" strike="noStrike" dirty="0">
              <a:solidFill>
                <a:srgbClr val="243B53"/>
              </a:solidFill>
              <a:effectLst/>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A1CEB35A-E190-5F3E-F8B7-0A118C79D2D9}"/>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marR="0" algn="l" indent="0">
              <a:lnSpc>
                <a:spcPct val="118000"/>
              </a:lnSpc>
              <a:spcBef>
                <a:spcPts val="0"/>
              </a:spcBef>
              <a:spcAft>
                <a:spcPts val="450"/>
              </a:spcAft>
              <a:buNone/>
              <a:defRPr sz="1950" b="0">
                <a:solidFill>
                  <a:srgbClr val="243B53"/>
                </a:solidFill>
                <a:latin typeface="Arial"/>
                <a:ea typeface="Arial"/>
                <a:cs typeface="Arial"/>
              </a:defRPr>
            </a:pPr>
            <a:r>
              <a:rPr lang="en-NG" sz="1950" b="0" u="none" strike="noStrike" dirty="0">
                <a:solidFill>
                  <a:srgbClr val="243B53"/>
                </a:solidFill>
                <a:effectLst/>
                <a:latin typeface="Arial"/>
                <a:ea typeface="Arial"/>
                <a:cs typeface="Arial"/>
              </a:rPr>
              <a:t>Serratus Anterior Muscle</a:t>
            </a:r>
            <a:endParaRPr sz="1950" b="0">
              <a:solidFill>
                <a:srgbClr val="243B53"/>
              </a:solidFill>
              <a:latin typeface="Arial"/>
              <a:ea typeface="Arial"/>
              <a:cs typeface="Arial"/>
            </a:endParaRPr>
          </a:p>
          <a:p>
            <a:pPr marL="0" marR="0" lvl="0" indent="0" algn="l">
              <a:lnSpc>
                <a:spcPct val="118000"/>
              </a:lnSpc>
              <a:spcBef>
                <a:spcPts val="0"/>
              </a:spcBef>
              <a:spcAft>
                <a:spcPts val="450"/>
              </a:spcAft>
              <a:buFont typeface="Arial" panose="020B0604020202020204" pitchFamily="34" charset="0"/>
              <a:buChar char="•"/>
              <a:defRPr sz="1950" b="0">
                <a:solidFill>
                  <a:srgbClr val="243B53"/>
                </a:solidFill>
                <a:latin typeface="Arial"/>
                <a:ea typeface="Arial"/>
                <a:cs typeface="Arial"/>
              </a:defRPr>
            </a:pPr>
            <a:r>
              <a:rPr lang="en-NG" sz="1950" b="0" u="none" strike="noStrike" dirty="0">
                <a:solidFill>
                  <a:srgbClr val="243B53"/>
                </a:solidFill>
                <a:effectLst/>
                <a:latin typeface="Arial"/>
                <a:ea typeface="Arial"/>
                <a:cs typeface="Arial"/>
              </a:rPr>
              <a:t>Origin:</a:t>
            </a:r>
            <a:r>
              <a:rPr lang="en-NG" sz="1950" b="0" u="none" strike="noStrike" dirty="0">
                <a:solidFill>
                  <a:srgbClr val="243B53"/>
                </a:solidFill>
                <a:effectLst/>
                <a:latin typeface="Arial"/>
                <a:ea typeface="Arial"/>
                <a:cs typeface="Arial"/>
              </a:rPr>
              <a:t> Outer surfaces and superior borders of the</a:t>
            </a:r>
            <a:r>
              <a:rPr lang="en-NG" sz="1950" b="0" u="none" strike="noStrike" dirty="0">
                <a:solidFill>
                  <a:srgbClr val="243B53"/>
                </a:solidFill>
                <a:effectLst/>
                <a:latin typeface="Arial"/>
                <a:ea typeface="Arial"/>
                <a:cs typeface="Arial"/>
              </a:rPr>
              <a:t> ribs</a:t>
            </a:r>
            <a:r>
              <a:rPr lang="en-US" sz="1950" b="0" u="none" strike="noStrike" dirty="0">
                <a:solidFill>
                  <a:srgbClr val="243B53"/>
                </a:solidFill>
                <a:effectLst/>
                <a:latin typeface="Arial"/>
                <a:ea typeface="Arial"/>
                <a:cs typeface="Arial"/>
              </a:rPr>
              <a:t> 1-8 and sometimes 9</a:t>
            </a:r>
            <a:r>
              <a:rPr lang="en-US" sz="1950" b="0" u="none" strike="noStrike" baseline="30000" dirty="0">
                <a:solidFill>
                  <a:srgbClr val="243B53"/>
                </a:solidFill>
                <a:effectLst/>
                <a:latin typeface="Arial"/>
                <a:ea typeface="Arial"/>
                <a:cs typeface="Arial"/>
              </a:rPr>
              <a:t>th</a:t>
            </a:r>
            <a:r>
              <a:rPr lang="en-US" sz="1950" b="0" u="none" strike="noStrike" dirty="0">
                <a:solidFill>
                  <a:srgbClr val="243B53"/>
                </a:solidFill>
                <a:effectLst/>
                <a:latin typeface="Arial"/>
                <a:ea typeface="Arial"/>
                <a:cs typeface="Arial"/>
              </a:rPr>
              <a:t> rib</a:t>
            </a:r>
            <a:r>
              <a:rPr lang="en-NG" sz="1950" b="0" u="none" strike="noStrike" dirty="0">
                <a:solidFill>
                  <a:srgbClr val="243B53"/>
                </a:solidFill>
                <a:effectLst/>
                <a:latin typeface="Arial"/>
                <a:ea typeface="Arial"/>
                <a:cs typeface="Arial"/>
              </a:rPr>
              <a:t>.</a:t>
            </a:r>
            <a:endParaRPr sz="1950" b="0">
              <a:solidFill>
                <a:srgbClr val="243B53"/>
              </a:solidFill>
              <a:latin typeface="Arial"/>
              <a:ea typeface="Arial"/>
              <a:cs typeface="Arial"/>
            </a:endParaRPr>
          </a:p>
          <a:p>
            <a:pPr marL="0" marR="0" lvl="0" indent="0" algn="l">
              <a:lnSpc>
                <a:spcPct val="118000"/>
              </a:lnSpc>
              <a:spcBef>
                <a:spcPts val="0"/>
              </a:spcBef>
              <a:spcAft>
                <a:spcPts val="450"/>
              </a:spcAft>
              <a:buFont typeface="Arial" panose="020B0604020202020204" pitchFamily="34" charset="0"/>
              <a:buChar char="•"/>
              <a:defRPr sz="1950" b="0">
                <a:solidFill>
                  <a:srgbClr val="243B53"/>
                </a:solidFill>
                <a:latin typeface="Arial"/>
                <a:ea typeface="Arial"/>
                <a:cs typeface="Arial"/>
              </a:defRPr>
            </a:pPr>
            <a:r>
              <a:rPr lang="en-NG" sz="1950" b="0" u="none" strike="noStrike" dirty="0">
                <a:solidFill>
                  <a:srgbClr val="243B53"/>
                </a:solidFill>
                <a:effectLst/>
                <a:latin typeface="Arial"/>
                <a:ea typeface="Arial"/>
                <a:cs typeface="Arial"/>
              </a:rPr>
              <a:t>Insertion:</a:t>
            </a:r>
            <a:r>
              <a:rPr lang="en-NG" sz="1950" b="0" u="none" strike="noStrike" dirty="0">
                <a:solidFill>
                  <a:srgbClr val="243B53"/>
                </a:solidFill>
                <a:effectLst/>
                <a:latin typeface="Arial"/>
                <a:ea typeface="Arial"/>
                <a:cs typeface="Arial"/>
              </a:rPr>
              <a:t> Costal (anterior) surface of the </a:t>
            </a:r>
            <a:r>
              <a:rPr lang="en-NG" sz="1950" b="0" u="none" strike="noStrike" dirty="0">
                <a:solidFill>
                  <a:srgbClr val="243B53"/>
                </a:solidFill>
                <a:effectLst/>
                <a:latin typeface="Arial"/>
                <a:ea typeface="Arial"/>
                <a:cs typeface="Arial"/>
              </a:rPr>
              <a:t>medial border of the scapula</a:t>
            </a:r>
            <a:r>
              <a:rPr lang="en-NG" sz="1950" b="0" u="none" strike="noStrike" dirty="0">
                <a:solidFill>
                  <a:srgbClr val="243B53"/>
                </a:solidFill>
                <a:effectLst/>
                <a:latin typeface="Arial"/>
                <a:ea typeface="Arial"/>
                <a:cs typeface="Arial"/>
              </a:rPr>
              <a:t> (shoulder blade), spanning from the superior angle down to the inferior angle</a:t>
            </a:r>
            <a:endParaRPr lang="en-US" sz="1950" b="0" u="none" strike="noStrike" dirty="0">
              <a:solidFill>
                <a:srgbClr val="243B53"/>
              </a:solidFill>
              <a:effectLst/>
              <a:latin typeface="Arial"/>
              <a:ea typeface="Arial"/>
              <a:cs typeface="Arial"/>
            </a:endParaRPr>
          </a:p>
          <a:p>
            <a:pPr marL="0" marR="0" lvl="0" indent="0" algn="l">
              <a:lnSpc>
                <a:spcPct val="118000"/>
              </a:lnSpc>
              <a:spcBef>
                <a:spcPts val="0"/>
              </a:spcBef>
              <a:spcAft>
                <a:spcPts val="450"/>
              </a:spcAft>
              <a:buFont typeface="Arial" panose="020B0604020202020204" pitchFamily="34" charset="0"/>
              <a:buChar char="•"/>
              <a:defRPr sz="1950" b="0">
                <a:solidFill>
                  <a:srgbClr val="243B53"/>
                </a:solidFill>
                <a:latin typeface="Arial"/>
                <a:ea typeface="Arial"/>
                <a:cs typeface="Arial"/>
              </a:defRPr>
            </a:pPr>
            <a:r>
              <a:rPr lang="en-US" sz="1950" b="0" u="none" strike="noStrike" dirty="0">
                <a:solidFill>
                  <a:srgbClr val="243B53"/>
                </a:solidFill>
                <a:effectLst/>
                <a:latin typeface="Arial"/>
                <a:ea typeface="Arial"/>
                <a:cs typeface="Arial"/>
              </a:rPr>
              <a:t>Action: Anchors the scapula to the thoracic cage, as in </a:t>
            </a:r>
            <a:r>
              <a:rPr lang="en-US" dirty="0" sz="1950" b="0">
                <a:solidFill>
                  <a:srgbClr val="243B53"/>
                </a:solidFill>
                <a:latin typeface="Arial"/>
                <a:ea typeface="Arial"/>
                <a:cs typeface="Arial"/>
              </a:rPr>
              <a:t>pro</a:t>
            </a:r>
            <a:r>
              <a:rPr lang="en-US" sz="1950" b="0" u="none" strike="noStrike" dirty="0">
                <a:solidFill>
                  <a:srgbClr val="243B53"/>
                </a:solidFill>
                <a:effectLst/>
                <a:latin typeface="Arial"/>
                <a:ea typeface="Arial"/>
                <a:cs typeface="Arial"/>
              </a:rPr>
              <a:t>traction</a:t>
            </a:r>
            <a:endParaRPr sz="1950" b="0">
              <a:solidFill>
                <a:srgbClr val="243B53"/>
              </a:solidFill>
              <a:latin typeface="Arial"/>
              <a:ea typeface="Arial"/>
              <a:cs typeface="Arial"/>
            </a:endParaRPr>
          </a:p>
          <a:p>
            <a:pPr marL="0" marR="0" lvl="0" indent="0" algn="l">
              <a:lnSpc>
                <a:spcPct val="118000"/>
              </a:lnSpc>
              <a:spcBef>
                <a:spcPts val="0"/>
              </a:spcBef>
              <a:spcAft>
                <a:spcPts val="450"/>
              </a:spcAft>
              <a:buFont typeface="Arial" panose="020B0604020202020204" pitchFamily="34" charset="0"/>
              <a:buChar char="•"/>
              <a:defRPr sz="1950" b="0">
                <a:solidFill>
                  <a:srgbClr val="243B53"/>
                </a:solidFill>
                <a:latin typeface="Arial"/>
                <a:ea typeface="Arial"/>
                <a:cs typeface="Arial"/>
              </a:defRPr>
            </a:pPr>
            <a:r>
              <a:rPr lang="en-US" sz="1950" b="0" u="none" strike="noStrike" dirty="0">
                <a:solidFill>
                  <a:srgbClr val="243B53"/>
                </a:solidFill>
                <a:effectLst/>
                <a:latin typeface="Arial"/>
                <a:ea typeface="Arial"/>
                <a:cs typeface="Arial"/>
              </a:rPr>
              <a:t>Nerve supply: Long thoracic nerve of Bell</a:t>
            </a:r>
            <a:endParaRPr sz="1950" b="0">
              <a:solidFill>
                <a:srgbClr val="243B53"/>
              </a:solidFill>
              <a:latin typeface="Arial"/>
              <a:ea typeface="Arial"/>
              <a:cs typeface="Arial"/>
            </a:endParaRPr>
          </a:p>
          <a:p>
            <a:pPr marL="0" marR="0" lvl="0" indent="0" algn="l">
              <a:lnSpc>
                <a:spcPct val="118000"/>
              </a:lnSpc>
              <a:spcBef>
                <a:spcPts val="0"/>
              </a:spcBef>
              <a:spcAft>
                <a:spcPts val="450"/>
              </a:spcAft>
              <a:buFont typeface="Arial" panose="020B0604020202020204" pitchFamily="34" charset="0"/>
              <a:buChar char="•"/>
              <a:defRPr sz="1950" b="0">
                <a:solidFill>
                  <a:srgbClr val="243B53"/>
                </a:solidFill>
                <a:latin typeface="Arial"/>
                <a:ea typeface="Arial"/>
                <a:cs typeface="Arial"/>
              </a:defRPr>
            </a:pPr>
            <a:r>
              <a:rPr lang="en-US" dirty="0" sz="1950" b="0">
                <a:solidFill>
                  <a:srgbClr val="243B53"/>
                </a:solidFill>
                <a:latin typeface="Arial"/>
                <a:ea typeface="Arial"/>
                <a:cs typeface="Arial"/>
              </a:rPr>
              <a:t>Clinicals: Winging of the scapula</a:t>
            </a:r>
            <a:endParaRPr lang="en-NG" sz="1950" b="0" u="none" strike="noStrike" dirty="0">
              <a:solidFill>
                <a:srgbClr val="243B53"/>
              </a:solidFill>
              <a:effectLst/>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BA1293ED-53E3-B8E6-F769-FC0754FCC172}"/>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5A650A00-F5DF-46CD-A7A5-020C8B269F38}"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56F422B4-21A1-0E6F-7015-B463A40A5E1B}"/>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18</a:t>
            </a:fld>
            <a:endParaRPr lang="en-NG" sz="800" b="0">
              <a:solidFill>
                <a:srgbClr val="66809A"/>
              </a:solidFill>
              <a:latin typeface="Arial"/>
              <a:ea typeface="Arial"/>
              <a:cs typeface="Arial"/>
            </a:endParaRPr>
          </a:p>
        </p:txBody>
      </p:sp>
    </p:spTree>
    <p:extLst>
      <p:ext uri="{BB962C8B-B14F-4D97-AF65-F5344CB8AC3E}">
        <p14:creationId val="3653856682"/>
      </p:ext>
    </p:extLst>
  </p:cSld>
  <p:clrMapOvr>
    <a:masterClrMapping/>
  </p:clrMapOvr>
</p:sld>
</file>

<file path=ppt/slides/slide1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8"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726D535E-6EC2-E2C3-0519-A1035900168D}"/>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The pectoral region - clinicals</a:t>
            </a:r>
            <a:endParaRPr lang="en-NG" dirty="0" sz="3200" b="1">
              <a:solidFill>
                <a:srgbClr val="0056D2"/>
              </a:solidFill>
              <a:latin typeface="Poppins SemiBold"/>
              <a:ea typeface="Poppins SemiBold"/>
              <a:cs typeface="Poppins SemiBold"/>
            </a:endParaRPr>
          </a:p>
        </p:txBody>
      </p:sp>
      <p:pic>
        <p:nvPicPr>
          <p:cNvPr id="5" name="Content Placeholder 4" descr="Scapular Winging | Winged Scapula | Best Shoulder Doctor in Bangalore">
            <a:extLst>
              <a:ext uri="{FF2B5EF4-FFF2-40B4-BE49-F238E27FC236}">
                <a16:creationId id="{D61205A3-723B-BCF9-7E4E-1AF9F95EADF7}"/>
              </a:ext>
            </a:extLst>
          </p:cNvPr>
          <p:cNvPicPr>
            <a:picLocks noGrp="1" noChangeAspect="1"/>
          </p:cNvPicPr>
          <p:nvPr>
            <p:ph sz="half" idx="1"/>
          </p:nvPr>
        </p:nvPicPr>
        <p:blipFill>
          <a:blip r:embed="rId2"/>
          <a:stretch>
            <a:fillRect/>
          </a:stretch>
        </p:blipFill>
        <p:spPr>
          <a:xfrm>
            <a:off x="5012239" y="1748790"/>
            <a:ext cx="2167523" cy="2143125"/>
          </a:xfrm>
          <a:prstGeom prst="rect">
            <a:avLst/>
          </a:prstGeom>
        </p:spPr>
      </p:pic>
      <p:pic>
        <p:nvPicPr>
          <p:cNvPr id="7" name="Content Placeholder 6">
            <a:extLst>
              <a:ext uri="{FF2B5EF4-FFF2-40B4-BE49-F238E27FC236}">
                <a16:creationId id="{50229075-DC3C-52FB-5DF1-AD08ECECC56A}"/>
              </a:ext>
            </a:extLst>
          </p:cNvPr>
          <p:cNvPicPr>
            <a:picLocks noGrp="1" noChangeAspect="1"/>
          </p:cNvPicPr>
          <p:nvPr>
            <p:ph sz="half" idx="2"/>
          </p:nvPr>
        </p:nvPicPr>
        <p:blipFill>
          <a:blip r:embed="rId3"/>
          <a:stretch>
            <a:fillRect/>
          </a:stretch>
        </p:blipFill>
        <p:spPr>
          <a:xfrm>
            <a:off x="5142295" y="4029075"/>
            <a:ext cx="1907410" cy="2143125"/>
          </a:xfrm>
          <a:prstGeom prst="rect">
            <a:avLst/>
          </a:prstGeom>
        </p:spPr>
      </p:pic>
      <p:sp>
        <p:nvSpPr>
          <p:cNvPr id="3" name="Date Placeholder 2">
            <a:extLst>
              <a:ext uri="{FF2B5EF4-FFF2-40B4-BE49-F238E27FC236}">
                <a16:creationId id="{4522212A-7C9A-1BD4-0958-1E6DF8403233}"/>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44598F27-CB52-4224-8AAE-1B8410302741}"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4" name="Slide Number Placeholder 3">
            <a:extLst>
              <a:ext uri="{FF2B5EF4-FFF2-40B4-BE49-F238E27FC236}">
                <a16:creationId id="{735C981F-DD53-15E8-2B37-6D7F12743637}"/>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19</a:t>
            </a:fld>
            <a:endParaRPr lang="en-NG" sz="800" b="0">
              <a:solidFill>
                <a:srgbClr val="66809A"/>
              </a:solidFill>
              <a:latin typeface="Arial"/>
              <a:ea typeface="Arial"/>
              <a:cs typeface="Arial"/>
            </a:endParaRPr>
          </a:p>
        </p:txBody>
      </p:sp>
    </p:spTree>
    <p:extLst>
      <p:ext uri="{BB962C8B-B14F-4D97-AF65-F5344CB8AC3E}">
        <p14:creationId val="3494740562"/>
      </p:ext>
    </p:extLst>
  </p:cSld>
  <p:clrMapOvr>
    <a:masterClrMapping/>
  </p:clrMapOvr>
</p:sld>
</file>

<file path=ppt/slides/slide2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10"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AED7959-5B21-A391-53CC-EC22DA57860F}"/>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The Axilla</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11B5BE14-2B54-6836-ADB9-3F81045AB886}"/>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Introduction</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Boundaries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Contents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Clinical anatomy</a:t>
            </a:r>
            <a:endParaRPr kumimoji="0" lang="en-NG" sz="2200" b="0" i="0" u="none" strike="noStrike" kern="1200" cap="none" spc="0" normalizeH="0" baseline="0" noProof="0" dirty="0">
              <a:ln>
                <a:noFill/>
              </a:ln>
              <a:solidFill>
                <a:srgbClr val="243B53"/>
              </a:solidFill>
              <a:effectLst/>
              <a:uLnTx/>
              <a:uFillTx/>
              <a:latin typeface="Arial" panose="020F0502020204030204"/>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36C6ABAE-B3B4-618E-197C-65AE21EB34CC}"/>
              </a:ext>
            </a:extLst>
          </p:cNvPr>
          <p:cNvSpPr>
            <a:spLocks noGrp="1"/>
          </p:cNvSpPr>
          <p:nvPr>
            <p:ph sz="half" idx="2"/>
          </p:nvPr>
        </p:nvSpPr>
        <p:spPr>
          <a:xfrm>
            <a:off x="5025990" y="1109272"/>
            <a:ext cx="6327810" cy="5067691"/>
          </a:xfrm>
        </p:spPr>
        <p:txBody>
          <a:bodyPr/>
          <a:lstStyle/>
          <a:p>
            <a:endParaRPr lang="en-NG" dirty="0"/>
          </a:p>
        </p:txBody>
      </p:sp>
      <p:pic>
        <p:nvPicPr>
          <p:cNvPr id="5" name="Content Placeholder 4">
            <a:extLst>
              <a:ext uri="{FF2B5EF4-FFF2-40B4-BE49-F238E27FC236}">
                <a16:creationId id="{3DF5E563-BF30-C822-B7E0-6BDDC46832D1}"/>
              </a:ext>
            </a:extLst>
          </p:cNvPr>
          <p:cNvPicPr>
            <a:picLocks noChangeAspect="1"/>
          </p:cNvPicPr>
          <p:nvPr/>
        </p:nvPicPr>
        <p:blipFill>
          <a:blip r:embed="rId2"/>
          <a:stretch>
            <a:fillRect/>
          </a:stretch>
        </p:blipFill>
        <p:spPr>
          <a:xfrm>
            <a:off x="8677992" y="1748790"/>
            <a:ext cx="1846416" cy="1383030"/>
          </a:xfrm>
          <a:prstGeom prst="rect">
            <a:avLst/>
          </a:prstGeom>
        </p:spPr>
      </p:pic>
      <p:pic>
        <p:nvPicPr>
          <p:cNvPr id="6" name="Picture 5">
            <a:extLst>
              <a:ext uri="{FF2B5EF4-FFF2-40B4-BE49-F238E27FC236}">
                <a16:creationId id="{A9DAB6B5-3E39-C00A-5E99-D4E75513CBC3}"/>
              </a:ext>
            </a:extLst>
          </p:cNvPr>
          <p:cNvPicPr>
            <a:picLocks noChangeAspect="1"/>
          </p:cNvPicPr>
          <p:nvPr/>
        </p:nvPicPr>
        <p:blipFill>
          <a:blip r:embed="rId3"/>
          <a:stretch>
            <a:fillRect/>
          </a:stretch>
        </p:blipFill>
        <p:spPr>
          <a:xfrm>
            <a:off x="8980159" y="3268980"/>
            <a:ext cx="1242082" cy="1383030"/>
          </a:xfrm>
          <a:prstGeom prst="rect">
            <a:avLst/>
          </a:prstGeom>
        </p:spPr>
      </p:pic>
      <p:pic>
        <p:nvPicPr>
          <p:cNvPr id="7" name="Picture 6">
            <a:extLst>
              <a:ext uri="{FF2B5EF4-FFF2-40B4-BE49-F238E27FC236}">
                <a16:creationId id="{40E9613C-E320-B474-8CDC-5A8070675FD7}"/>
              </a:ext>
            </a:extLst>
          </p:cNvPr>
          <p:cNvPicPr>
            <a:picLocks noChangeAspect="1"/>
          </p:cNvPicPr>
          <p:nvPr/>
        </p:nvPicPr>
        <p:blipFill>
          <a:blip r:embed="rId4"/>
          <a:stretch>
            <a:fillRect/>
          </a:stretch>
        </p:blipFill>
        <p:spPr>
          <a:xfrm>
            <a:off x="9048539" y="4789170"/>
            <a:ext cx="1105321" cy="1383030"/>
          </a:xfrm>
          <a:prstGeom prst="rect">
            <a:avLst/>
          </a:prstGeom>
        </p:spPr>
      </p:pic>
      <p:sp>
        <p:nvSpPr>
          <p:cNvPr id="8" name="Date Placeholder 7">
            <a:extLst>
              <a:ext uri="{FF2B5EF4-FFF2-40B4-BE49-F238E27FC236}">
                <a16:creationId id="{431E1EE3-4FB7-4292-6BA5-4C1BBA95DFAF}"/>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1C54B832-DA0E-48FB-A075-5D0D439F30AF}"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9" name="Slide Number Placeholder 8">
            <a:extLst>
              <a:ext uri="{FF2B5EF4-FFF2-40B4-BE49-F238E27FC236}">
                <a16:creationId id="{7037B2F0-31B5-0B56-94CC-73B288A1BF86}"/>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20</a:t>
            </a:fld>
            <a:endParaRPr lang="en-NG" sz="800" b="0">
              <a:solidFill>
                <a:srgbClr val="66809A"/>
              </a:solidFill>
              <a:latin typeface="Arial"/>
              <a:ea typeface="Arial"/>
              <a:cs typeface="Arial"/>
            </a:endParaRPr>
          </a:p>
        </p:txBody>
      </p:sp>
    </p:spTree>
    <p:extLst>
      <p:ext uri="{BB962C8B-B14F-4D97-AF65-F5344CB8AC3E}">
        <p14:creationId val="1308573238"/>
      </p:ext>
    </p:extLst>
  </p:cSld>
  <p:clrMapOvr>
    <a:masterClrMapping/>
  </p:clrMapOvr>
</p:sld>
</file>

<file path=ppt/slides/slide2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E792506A-FB85-6522-E6E8-8509261EFEE8}"/>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The Arm</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0CE04DBB-73A2-A92C-4B0C-2DCF8CAEA50B}"/>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Region of upper limb between the shoulder and elbow</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Divided into anterior and posterior compartments</a:t>
            </a:r>
            <a:endParaRPr sz="2200" b="0">
              <a:solidFill>
                <a:srgbClr val="243B53"/>
              </a:solidFill>
              <a:latin typeface="Arial"/>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dirty="0" sz="2250" b="1">
                <a:solidFill>
                  <a:srgbClr val="243B53"/>
                </a:solidFill>
                <a:latin typeface="Arial"/>
                <a:ea typeface="Arial"/>
                <a:cs typeface="Arial"/>
              </a:rPr>
              <a:t>Anterior (flexors):</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Muscles include biceps brachii, brachialis and coracobrachialis</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Innervation by musculocutaneous nerve</a:t>
            </a:r>
            <a:endParaRPr lang="en-NG" dirty="0" sz="2200" b="0">
              <a:solidFill>
                <a:srgbClr val="243B53"/>
              </a:solidFill>
              <a:latin typeface="Arial"/>
              <a:ea typeface="Arial"/>
              <a:cs typeface="Arial"/>
            </a:endParaRPr>
          </a:p>
        </p:txBody>
      </p:sp>
      <p:sp>
        <p:nvSpPr>
          <p:cNvPr id="4" name="Content Placeholder 3">
            <a:extLst>
              <a:ext uri="{FF2B5EF4-FFF2-40B4-BE49-F238E27FC236}">
                <a16:creationId id="{AD99EAD5-31B8-8A1A-904A-F44E55532DC5}"/>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2250" b="1">
                <a:solidFill>
                  <a:srgbClr val="243B53"/>
                </a:solidFill>
                <a:latin typeface="Arial"/>
                <a:ea typeface="Arial"/>
                <a:cs typeface="Arial"/>
              </a:defRPr>
            </a:pPr>
            <a:r>
              <a:rPr lang="en-US" dirty="0" sz="2250" b="1">
                <a:solidFill>
                  <a:srgbClr val="243B53"/>
                </a:solidFill>
                <a:latin typeface="Arial"/>
                <a:ea typeface="Arial"/>
                <a:cs typeface="Arial"/>
              </a:rPr>
              <a:t>Posterior (extensors):</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Muscles include triceps brachii (long head, lateral and medial heads) and a small triangular muscle near the elbow joint called anconeus</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Innervation by radial nerve</a:t>
            </a:r>
            <a:endParaRPr sz="2200" b="0">
              <a:solidFill>
                <a:srgbClr val="243B53"/>
              </a:solidFill>
              <a:latin typeface="Arial"/>
              <a:ea typeface="Arial"/>
              <a:cs typeface="Arial"/>
            </a:endParaRPr>
          </a:p>
          <a:p>
            <a:pPr algn="l" marL="0" indent="0">
              <a:lnSpc>
                <a:spcPts val="100"/>
              </a:lnSpc>
              <a:spcBef>
                <a:spcPts val="0"/>
              </a:spcBef>
              <a:spcAft>
                <a:spcPts val="0"/>
              </a:spcAft>
              <a:buFont typeface="Wingdings" panose="05000000000000000000" pitchFamily="2" charset="2"/>
              <a:buChar char="ü"/>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Ø"/>
              <a:defRPr sz="2200" b="0">
                <a:solidFill>
                  <a:srgbClr val="243B53"/>
                </a:solidFill>
                <a:latin typeface="Arial"/>
                <a:ea typeface="Arial"/>
                <a:cs typeface="Arial"/>
              </a:defRPr>
            </a:pPr>
            <a:r>
              <a:rPr lang="en-US" dirty="0" sz="2200" b="0">
                <a:solidFill>
                  <a:srgbClr val="243B53"/>
                </a:solidFill>
                <a:latin typeface="Arial"/>
                <a:ea typeface="Arial"/>
                <a:cs typeface="Arial"/>
              </a:rPr>
              <a:t> </a:t>
            </a:r>
            <a:r>
              <a:rPr lang="en-US" b="0" dirty="0" sz="2200">
                <a:solidFill>
                  <a:srgbClr val="243B53"/>
                </a:solidFill>
                <a:latin typeface="Arial"/>
                <a:ea typeface="Arial"/>
                <a:cs typeface="Arial"/>
              </a:rPr>
              <a:t>Look up elbow joint and elbow anastomosis</a:t>
            </a:r>
            <a:endParaRPr lang="en-NG" b="0" dirty="0" sz="2200">
              <a:solidFill>
                <a:srgbClr val="243B53"/>
              </a:solidFill>
              <a:latin typeface="Arial"/>
              <a:ea typeface="Arial"/>
              <a:cs typeface="Arial"/>
            </a:endParaRPr>
          </a:p>
        </p:txBody>
      </p:sp>
      <p:sp>
        <p:nvSpPr>
          <p:cNvPr id="5" name="Date Placeholder 4">
            <a:extLst>
              <a:ext uri="{FF2B5EF4-FFF2-40B4-BE49-F238E27FC236}">
                <a16:creationId id="{51A79211-C6FE-DC64-9A05-C96EDB59FFAE}"/>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7AD4241A-96FD-4D39-95A2-E2B2A1156953}"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0CE8A437-71E7-DC96-E8D7-5D12E928505B}"/>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21</a:t>
            </a:fld>
            <a:endParaRPr lang="en-NG" sz="800" b="0">
              <a:solidFill>
                <a:srgbClr val="66809A"/>
              </a:solidFill>
              <a:latin typeface="Arial"/>
              <a:ea typeface="Arial"/>
              <a:cs typeface="Arial"/>
            </a:endParaRPr>
          </a:p>
        </p:txBody>
      </p:sp>
    </p:spTree>
    <p:extLst>
      <p:ext uri="{BB962C8B-B14F-4D97-AF65-F5344CB8AC3E}">
        <p14:creationId val="860101135"/>
      </p:ext>
    </p:extLst>
  </p:cSld>
  <p:clrMapOvr>
    <a:masterClrMapping/>
  </p:clrMapOvr>
</p:sld>
</file>

<file path=ppt/slides/slide2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F568B420-2525-E3D4-F192-2395519F1240}"/>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The Arm – cubital fossa</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54DC5A15-B338-FF6A-C969-4EC19DC96A97}"/>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Introduction</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Boundaries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Contents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clinicals</a:t>
            </a:r>
            <a:endParaRPr lang="en-NG" dirty="0" sz="2200" b="0">
              <a:solidFill>
                <a:srgbClr val="243B53"/>
              </a:solidFill>
              <a:latin typeface="Arial"/>
              <a:ea typeface="Arial"/>
              <a:cs typeface="Arial"/>
            </a:endParaRPr>
          </a:p>
        </p:txBody>
      </p:sp>
      <p:pic>
        <p:nvPicPr>
          <p:cNvPr id="5" name="Content Placeholder 4" descr="The Cubital Fossa - Borders - Contents - TeachMeAnatomy">
            <a:extLst>
              <a:ext uri="{FF2B5EF4-FFF2-40B4-BE49-F238E27FC236}">
                <a16:creationId id="{FB240E51-3E80-6E51-C75E-5A4771E5D686}"/>
              </a:ext>
            </a:extLst>
          </p:cNvPr>
          <p:cNvPicPr>
            <a:picLocks noGrp="1" noChangeAspect="1"/>
          </p:cNvPicPr>
          <p:nvPr>
            <p:ph sz="half" idx="2"/>
          </p:nvPr>
        </p:nvPicPr>
        <p:blipFill>
          <a:blip r:embed="rId2"/>
          <a:stretch>
            <a:fillRect/>
          </a:stretch>
        </p:blipFill>
        <p:spPr>
          <a:xfrm>
            <a:off x="7680960" y="2047175"/>
            <a:ext cx="3840480" cy="3826641"/>
          </a:xfrm>
          <a:prstGeom prst="rect">
            <a:avLst/>
          </a:prstGeom>
        </p:spPr>
      </p:pic>
      <p:sp>
        <p:nvSpPr>
          <p:cNvPr id="4" name="Date Placeholder 3">
            <a:extLst>
              <a:ext uri="{FF2B5EF4-FFF2-40B4-BE49-F238E27FC236}">
                <a16:creationId id="{D16BD5F4-EBFF-3F77-7915-9BAF9BBE82EF}"/>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94683023-8F54-4419-A3E3-D85A53C6AD40}"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24CD7B82-AB3C-9225-006B-4B1BDE47D224}"/>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22</a:t>
            </a:fld>
            <a:endParaRPr lang="en-NG" sz="800" b="0">
              <a:solidFill>
                <a:srgbClr val="66809A"/>
              </a:solidFill>
              <a:latin typeface="Arial"/>
              <a:ea typeface="Arial"/>
              <a:cs typeface="Arial"/>
            </a:endParaRPr>
          </a:p>
        </p:txBody>
      </p:sp>
    </p:spTree>
    <p:extLst>
      <p:ext uri="{BB962C8B-B14F-4D97-AF65-F5344CB8AC3E}">
        <p14:creationId val="2874317386"/>
      </p:ext>
    </p:extLst>
  </p:cSld>
  <p:clrMapOvr>
    <a:masterClrMapping/>
  </p:clrMapOvr>
</p:sld>
</file>

<file path=ppt/slides/slide2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9AB2C455-F0D4-7360-EB85-7C0F0B363115}"/>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The Forearm</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6E818ADF-A0EF-9128-12E1-B9A96A483E4A}"/>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Lies btw the elbow and the wrist and contains two bones: the ulna and radius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Both bones are joined by the interosseous membrane</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It is made up of two compartments: Anterior and Posterior compartments</a:t>
            </a:r>
            <a:endParaRPr sz="22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200" b="0">
                <a:solidFill>
                  <a:srgbClr val="243B53"/>
                </a:solidFill>
                <a:latin typeface="Arial"/>
                <a:ea typeface="Arial"/>
                <a:cs typeface="Arial"/>
              </a:defRPr>
            </a:pPr>
            <a:r>
              <a:rPr kumimoji="0" lang="en-GB" sz="2200" b="0" i="0" u="none" strike="noStrike" kern="1200" cap="none" spc="0" normalizeH="0" baseline="0" noProof="0" dirty="0">
                <a:ln>
                  <a:noFill/>
                </a:ln>
                <a:solidFill>
                  <a:srgbClr val="243B53"/>
                </a:solidFill>
                <a:effectLst/>
                <a:uLnTx/>
                <a:uFillTx/>
                <a:latin typeface="Arial" panose="020F0502020204030204"/>
                <a:ea typeface="Arial"/>
                <a:cs typeface="Arial"/>
              </a:rPr>
              <a:t>The muscles of the forearm pass as tendons into the wrist, hand and digits</a:t>
            </a:r>
            <a:endParaRPr kumimoji="0" lang="en-NG" sz="2200" b="0" i="0" u="none" strike="noStrike" kern="1200" cap="none" spc="0" normalizeH="0" baseline="0" noProof="0" dirty="0">
              <a:ln>
                <a:noFill/>
              </a:ln>
              <a:solidFill>
                <a:srgbClr val="243B53"/>
              </a:solidFill>
              <a:effectLst/>
              <a:uLnTx/>
              <a:uFillTx/>
              <a:latin typeface="Arial" panose="020F0502020204030204"/>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FCB27852-9B04-6FE1-30B8-16C7B335FF50}"/>
              </a:ext>
            </a:extLst>
          </p:cNvPr>
          <p:cNvSpPr>
            <a:spLocks noGrp="1"/>
          </p:cNvSpPr>
          <p:nvPr>
            <p:ph sz="half" idx="2"/>
          </p:nvPr>
        </p:nvSpPr>
        <p:spPr/>
        <p:txBody>
          <a:bodyPr>
            <a:normAutofit lnSpcReduction="10000"/>
          </a:bodyPr>
          <a:lstStyle/>
          <a:p>
            <a:endParaRPr lang="en-NG" dirty="0"/>
          </a:p>
        </p:txBody>
      </p:sp>
      <p:pic>
        <p:nvPicPr>
          <p:cNvPr id="5" name="Picture 4">
            <a:extLst>
              <a:ext uri="{FF2B5EF4-FFF2-40B4-BE49-F238E27FC236}">
                <a16:creationId id="{432B4B03-F0F6-D11F-0ABB-A04FFF5C5F6A}"/>
              </a:ext>
            </a:extLst>
          </p:cNvPr>
          <p:cNvPicPr>
            <a:picLocks noChangeAspect="1"/>
          </p:cNvPicPr>
          <p:nvPr/>
        </p:nvPicPr>
        <p:blipFill>
          <a:blip r:embed="rId2"/>
          <a:stretch>
            <a:fillRect/>
          </a:stretch>
        </p:blipFill>
        <p:spPr>
          <a:xfrm>
            <a:off x="8000584" y="1748790"/>
            <a:ext cx="3201232" cy="2143125"/>
          </a:xfrm>
          <a:prstGeom prst="rect">
            <a:avLst/>
          </a:prstGeom>
        </p:spPr>
      </p:pic>
      <p:pic>
        <p:nvPicPr>
          <p:cNvPr id="6" name="Content Placeholder 4">
            <a:extLst>
              <a:ext uri="{FF2B5EF4-FFF2-40B4-BE49-F238E27FC236}">
                <a16:creationId id="{1924ABF2-E543-F103-7961-E654818CBC40}"/>
              </a:ext>
            </a:extLst>
          </p:cNvPr>
          <p:cNvPicPr>
            <a:picLocks noChangeAspect="1"/>
          </p:cNvPicPr>
          <p:nvPr/>
        </p:nvPicPr>
        <p:blipFill>
          <a:blip r:embed="rId3"/>
          <a:stretch>
            <a:fillRect/>
          </a:stretch>
        </p:blipFill>
        <p:spPr>
          <a:xfrm>
            <a:off x="7680960" y="4228393"/>
            <a:ext cx="3840480" cy="1744490"/>
          </a:xfrm>
          <a:prstGeom prst="rect">
            <a:avLst/>
          </a:prstGeom>
        </p:spPr>
      </p:pic>
      <p:sp>
        <p:nvSpPr>
          <p:cNvPr id="7" name="Date Placeholder 6">
            <a:extLst>
              <a:ext uri="{FF2B5EF4-FFF2-40B4-BE49-F238E27FC236}">
                <a16:creationId id="{12D04330-77A9-4565-375F-9DE384F643B1}"/>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4B736D94-63DA-4485-B5B0-149FF4B0DB7C}"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8" name="Slide Number Placeholder 7">
            <a:extLst>
              <a:ext uri="{FF2B5EF4-FFF2-40B4-BE49-F238E27FC236}">
                <a16:creationId id="{D32E3C25-0172-ECFA-426B-9001DC35EE70}"/>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23</a:t>
            </a:fld>
            <a:endParaRPr lang="en-NG" sz="800" b="0">
              <a:solidFill>
                <a:srgbClr val="66809A"/>
              </a:solidFill>
              <a:latin typeface="Arial"/>
              <a:ea typeface="Arial"/>
              <a:cs typeface="Arial"/>
            </a:endParaRPr>
          </a:p>
        </p:txBody>
      </p:sp>
    </p:spTree>
    <p:extLst>
      <p:ext uri="{BB962C8B-B14F-4D97-AF65-F5344CB8AC3E}">
        <p14:creationId val="1106530145"/>
      </p:ext>
    </p:extLst>
  </p:cSld>
  <p:clrMapOvr>
    <a:masterClrMapping/>
  </p:clrMapOvr>
</p:sld>
</file>

<file path=ppt/slides/slide2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EBD4C4C7-873E-1139-78E5-AA85C3CA7922}"/>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Forearm- Anterior compartment</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3EFAA5B-0E5B-3217-2442-6E942D606DE9}"/>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Also termed flexor-pronator compartment</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Contains the flexor muscles with origin from the common flexor origin (the medial epicondyle of the humerus)</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They are responsible for the pronation of the forearm, hence the name</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These muscles on exit into the hand are held in place at the wrist by the flexor retinaculum (transverse carpal ligament) and palmar carpal ligament</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Ligaments are the thickenings of the antebrachial fascia</a:t>
            </a:r>
            <a:endParaRPr kumimoji="0" lang="en-NG" sz="2000" b="0" i="0" u="none" strike="noStrike" kern="1200" cap="none" spc="0" normalizeH="0" baseline="0" noProof="0" dirty="0">
              <a:ln>
                <a:noFill/>
              </a:ln>
              <a:solidFill>
                <a:srgbClr val="243B53"/>
              </a:solidFill>
              <a:effectLst/>
              <a:uLnTx/>
              <a:uFillTx/>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3AFB91C6-A6D6-BD3D-1A96-0F57FD85C427}"/>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The muscles are divided into 3 layers</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A superficial layer: pronator teres, flexor carpi radialis, palmaris longus, and flexor carpi </a:t>
            </a:r>
            <a:r>
              <a:rPr kumimoji="0" lang="en-GB" sz="2000" b="0" i="0" u="none" strike="noStrike" kern="1200" cap="none" spc="0" normalizeH="0" baseline="0" noProof="0" dirty="0" err="1">
                <a:ln>
                  <a:noFill/>
                </a:ln>
                <a:solidFill>
                  <a:srgbClr val="243B53"/>
                </a:solidFill>
                <a:effectLst/>
                <a:uLnTx/>
                <a:uFillTx/>
                <a:latin typeface="Arial"/>
                <a:ea typeface="Arial"/>
                <a:cs typeface="Arial"/>
              </a:rPr>
              <a:t>ulnaris</a:t>
            </a:r>
            <a:r>
              <a:rPr kumimoji="0" lang="en-GB" sz="2000" b="0" i="0" u="none" strike="noStrike" kern="1200" cap="none" spc="0" normalizeH="0" baseline="0" noProof="0" dirty="0">
                <a:ln>
                  <a:noFill/>
                </a:ln>
                <a:solidFill>
                  <a:srgbClr val="243B53"/>
                </a:solidFill>
                <a:effectLst/>
                <a:uLnTx/>
                <a:uFillTx/>
                <a:latin typeface="Arial"/>
                <a:ea typeface="Arial"/>
                <a:cs typeface="Arial"/>
              </a:rPr>
              <a:t> (FCU)</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 An intermediate layer or group, consisting of one muscle: flexor digitorum superficialis (FDS)</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Wingdings" panose="05000000000000000000" pitchFamily="2" charset="2"/>
              <a:buChar char="ü"/>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A deep layer or group of three muscles: flexor digitorum </a:t>
            </a:r>
            <a:r>
              <a:rPr kumimoji="0" lang="en-GB" sz="2000" b="0" i="0" u="none" strike="noStrike" kern="1200" cap="none" spc="0" normalizeH="0" baseline="0" noProof="0" dirty="0" err="1">
                <a:ln>
                  <a:noFill/>
                </a:ln>
                <a:solidFill>
                  <a:srgbClr val="243B53"/>
                </a:solidFill>
                <a:effectLst/>
                <a:uLnTx/>
                <a:uFillTx/>
                <a:latin typeface="Arial"/>
                <a:ea typeface="Arial"/>
                <a:cs typeface="Arial"/>
              </a:rPr>
              <a:t>profundus</a:t>
            </a:r>
            <a:r>
              <a:rPr kumimoji="0" lang="en-GB" sz="2000" b="0" i="0" u="none" strike="noStrike" kern="1200" cap="none" spc="0" normalizeH="0" baseline="0" noProof="0" dirty="0">
                <a:ln>
                  <a:noFill/>
                </a:ln>
                <a:solidFill>
                  <a:srgbClr val="243B53"/>
                </a:solidFill>
                <a:effectLst/>
                <a:uLnTx/>
                <a:uFillTx/>
                <a:latin typeface="Arial"/>
                <a:ea typeface="Arial"/>
                <a:cs typeface="Arial"/>
              </a:rPr>
              <a:t> (FDP), flexor pollicis longus (FPL), and pronator quadratus</a:t>
            </a:r>
            <a:endParaRPr kumimoji="0" lang="en-NG" sz="2000" b="0" i="0" u="none" strike="noStrike" kern="1200" cap="none" spc="0" normalizeH="0" baseline="0" noProof="0" dirty="0">
              <a:ln>
                <a:noFill/>
              </a:ln>
              <a:solidFill>
                <a:srgbClr val="243B53"/>
              </a:solidFill>
              <a:effectLst/>
              <a:uLnTx/>
              <a:uFillTx/>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46B3ADC0-C719-0603-0D23-E9F1760109D2}"/>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B8E1C41F-048D-4903-8C64-0D2D70679B11}"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EED7D53A-C1A1-2D6F-1579-B9F8618D5B81}"/>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24</a:t>
            </a:fld>
            <a:endParaRPr lang="en-NG" sz="800" b="0">
              <a:solidFill>
                <a:srgbClr val="66809A"/>
              </a:solidFill>
              <a:latin typeface="Arial"/>
              <a:ea typeface="Arial"/>
              <a:cs typeface="Arial"/>
            </a:endParaRPr>
          </a:p>
        </p:txBody>
      </p:sp>
    </p:spTree>
    <p:extLst>
      <p:ext uri="{BB962C8B-B14F-4D97-AF65-F5344CB8AC3E}">
        <p14:creationId val="843305034"/>
      </p:ext>
    </p:extLst>
  </p:cSld>
  <p:clrMapOvr>
    <a:masterClrMapping/>
  </p:clrMapOvr>
</p:sld>
</file>

<file path=ppt/slides/slide2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8BED5259-EB8E-16EA-37BC-01BBF3813E8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Forearm- Anterior compartment</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AC3D0DB0-17FE-D1E5-919D-83C264DB1943}"/>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750" b="0">
                <a:solidFill>
                  <a:srgbClr val="243B53"/>
                </a:solidFill>
                <a:latin typeface="Arial"/>
                <a:ea typeface="Arial"/>
                <a:cs typeface="Arial"/>
              </a:defRPr>
            </a:pPr>
            <a:r>
              <a:rPr kumimoji="0" lang="en-GB" sz="1750" b="0" i="0" u="none" strike="noStrike" kern="1200" cap="none" spc="0" normalizeH="0" baseline="0" noProof="0" dirty="0">
                <a:ln>
                  <a:noFill/>
                </a:ln>
                <a:solidFill>
                  <a:srgbClr val="243B53"/>
                </a:solidFill>
                <a:effectLst/>
                <a:uLnTx/>
                <a:uFillTx/>
                <a:latin typeface="Arial"/>
                <a:ea typeface="Arial"/>
                <a:cs typeface="Arial"/>
              </a:rPr>
              <a:t>The five superficial and intermediate muscles cross the elbow joint but the three deep muscles do not</a:t>
            </a:r>
            <a:endParaRPr sz="17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750" b="0">
                <a:solidFill>
                  <a:srgbClr val="243B53"/>
                </a:solidFill>
                <a:latin typeface="Arial"/>
                <a:ea typeface="Arial"/>
                <a:cs typeface="Arial"/>
              </a:defRPr>
            </a:pPr>
            <a:r>
              <a:rPr kumimoji="0" lang="en-GB" sz="1750" b="0" i="0" u="none" strike="noStrike" kern="1200" cap="none" spc="0" normalizeH="0" baseline="0" noProof="0" dirty="0">
                <a:ln>
                  <a:noFill/>
                </a:ln>
                <a:solidFill>
                  <a:srgbClr val="243B53"/>
                </a:solidFill>
                <a:effectLst/>
                <a:uLnTx/>
                <a:uFillTx/>
                <a:latin typeface="Arial"/>
                <a:ea typeface="Arial"/>
                <a:cs typeface="Arial"/>
              </a:rPr>
              <a:t>Functionally, the brachioradialis is a flexor of the forearm, but it is located in the extensor (posterior) compartment and is thus supplied by the radial nerve </a:t>
            </a:r>
            <a:endParaRPr sz="17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750" b="0">
                <a:solidFill>
                  <a:srgbClr val="243B53"/>
                </a:solidFill>
                <a:latin typeface="Arial"/>
                <a:ea typeface="Arial"/>
                <a:cs typeface="Arial"/>
              </a:defRPr>
            </a:pPr>
            <a:r>
              <a:rPr kumimoji="0" lang="en-GB" sz="1750" b="0" i="0" u="none" strike="noStrike" kern="1200" cap="none" spc="0" normalizeH="0" baseline="0" noProof="0" dirty="0">
                <a:ln>
                  <a:noFill/>
                </a:ln>
                <a:solidFill>
                  <a:srgbClr val="243B53"/>
                </a:solidFill>
                <a:effectLst/>
                <a:uLnTx/>
                <a:uFillTx/>
                <a:latin typeface="Arial"/>
                <a:ea typeface="Arial"/>
                <a:cs typeface="Arial"/>
              </a:rPr>
              <a:t>Therefore, the brachioradialis is a major exception to the generalization that the radial nerve supplies only extensor muscles and that all flexors lie in the anterior compartment</a:t>
            </a:r>
            <a:endParaRPr sz="17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750" b="0">
                <a:solidFill>
                  <a:srgbClr val="243B53"/>
                </a:solidFill>
                <a:latin typeface="Arial"/>
                <a:ea typeface="Arial"/>
                <a:cs typeface="Arial"/>
              </a:defRPr>
            </a:pPr>
            <a:r>
              <a:rPr kumimoji="0" lang="en-GB" sz="1750" b="0" i="0" u="none" strike="noStrike" kern="1200" cap="none" spc="0" normalizeH="0" baseline="0" noProof="0" dirty="0">
                <a:ln>
                  <a:noFill/>
                </a:ln>
                <a:solidFill>
                  <a:srgbClr val="243B53"/>
                </a:solidFill>
                <a:effectLst/>
                <a:uLnTx/>
                <a:uFillTx/>
                <a:latin typeface="Arial"/>
                <a:ea typeface="Arial"/>
                <a:cs typeface="Arial"/>
              </a:rPr>
              <a:t>The long flexors of the digits (FDS and FDP) also flex the metacarpophalangeal and wrist joints</a:t>
            </a:r>
            <a:endParaRPr kumimoji="0" lang="en-NG" sz="1750" b="0" i="0" u="none" strike="noStrike" kern="1200" cap="none" spc="0" normalizeH="0" baseline="0" noProof="0" dirty="0">
              <a:ln>
                <a:noFill/>
              </a:ln>
              <a:solidFill>
                <a:srgbClr val="243B53"/>
              </a:solidFill>
              <a:effectLst/>
              <a:uLnTx/>
              <a:uFillTx/>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81F94487-E7E0-5A36-DC95-B8040A6050F5}"/>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750" b="0">
                <a:solidFill>
                  <a:srgbClr val="243B53"/>
                </a:solidFill>
                <a:latin typeface="Arial"/>
                <a:ea typeface="Arial"/>
                <a:cs typeface="Arial"/>
              </a:defRPr>
            </a:pPr>
            <a:r>
              <a:rPr kumimoji="0" lang="en-GB" sz="1750" b="0" i="0" u="sng" strike="noStrike" kern="1200" cap="none" spc="0" normalizeH="0" baseline="0" noProof="0" dirty="0">
                <a:ln>
                  <a:noFill/>
                </a:ln>
                <a:solidFill>
                  <a:srgbClr val="243B53"/>
                </a:solidFill>
                <a:effectLst/>
                <a:uLnTx/>
                <a:uFillTx/>
                <a:latin typeface="Arial"/>
                <a:ea typeface="Arial"/>
                <a:cs typeface="Arial"/>
              </a:rPr>
              <a:t>Innervation</a:t>
            </a:r>
            <a:endParaRPr sz="17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750" b="0">
                <a:solidFill>
                  <a:srgbClr val="243B53"/>
                </a:solidFill>
                <a:latin typeface="Arial"/>
                <a:ea typeface="Arial"/>
                <a:cs typeface="Arial"/>
              </a:defRPr>
            </a:pPr>
            <a:r>
              <a:rPr kumimoji="0" lang="en-GB" sz="1750" b="0" i="0" u="none" strike="noStrike" kern="1200" cap="none" spc="0" normalizeH="0" baseline="0" noProof="0" dirty="0">
                <a:ln>
                  <a:noFill/>
                </a:ln>
                <a:solidFill>
                  <a:srgbClr val="243B53"/>
                </a:solidFill>
                <a:effectLst/>
                <a:uLnTx/>
                <a:uFillTx/>
                <a:latin typeface="Arial"/>
                <a:ea typeface="Arial"/>
                <a:cs typeface="Arial"/>
              </a:rPr>
              <a:t>Median nerve supplies medial 3 1/2 </a:t>
            </a:r>
            <a:endParaRPr sz="17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1750" b="0">
                <a:solidFill>
                  <a:srgbClr val="243B53"/>
                </a:solidFill>
                <a:latin typeface="Arial"/>
                <a:ea typeface="Arial"/>
                <a:cs typeface="Arial"/>
              </a:defRPr>
            </a:pPr>
            <a:r>
              <a:rPr kumimoji="0" lang="en-GB" sz="1750" b="0" i="0" u="none" strike="noStrike" kern="1200" cap="none" spc="0" normalizeH="0" baseline="0" noProof="0" dirty="0">
                <a:ln>
                  <a:noFill/>
                </a:ln>
                <a:solidFill>
                  <a:srgbClr val="243B53"/>
                </a:solidFill>
                <a:effectLst/>
                <a:uLnTx/>
                <a:uFillTx/>
                <a:latin typeface="Arial"/>
                <a:ea typeface="Arial"/>
                <a:cs typeface="Arial"/>
              </a:rPr>
              <a:t>Ulnar nerve supplies lateral 1 1/2</a:t>
            </a:r>
            <a:endParaRPr kumimoji="0" lang="en-NG" sz="1750" b="0" i="0" u="none" strike="noStrike" kern="1200" cap="none" spc="0" normalizeH="0" baseline="0" noProof="0" dirty="0">
              <a:ln>
                <a:noFill/>
              </a:ln>
              <a:solidFill>
                <a:srgbClr val="243B53"/>
              </a:solidFill>
              <a:effectLst/>
              <a:uLnTx/>
              <a:uFillTx/>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8CFC7F25-AECA-A514-E1CA-371B7C134247}"/>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442A570A-AF3E-43AC-A005-1E0AE4D22994}"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251D016B-A8B2-EA35-6EBF-05A4666AFC25}"/>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25</a:t>
            </a:fld>
            <a:endParaRPr lang="en-NG" sz="800" b="0">
              <a:solidFill>
                <a:srgbClr val="66809A"/>
              </a:solidFill>
              <a:latin typeface="Arial"/>
              <a:ea typeface="Arial"/>
              <a:cs typeface="Arial"/>
            </a:endParaRPr>
          </a:p>
        </p:txBody>
      </p:sp>
    </p:spTree>
    <p:extLst>
      <p:ext uri="{BB962C8B-B14F-4D97-AF65-F5344CB8AC3E}">
        <p14:creationId val="282984025"/>
      </p:ext>
    </p:extLst>
  </p:cSld>
  <p:clrMapOvr>
    <a:masterClrMapping/>
  </p:clrMapOvr>
</p:sld>
</file>

<file path=ppt/slides/slide2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9DF47049-FB59-A276-D55C-438677ADAB65}"/>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Forearm- Posterior compartment</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BF204233-0570-A031-98E9-4DAAEB106F38}"/>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Also termed extensor-supinator compartment</a:t>
            </a:r>
            <a:endParaRPr sz="1900" b="0">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Contains the extensor group of muscles responsible for the supination of the forearm</a:t>
            </a:r>
            <a:endParaRPr sz="1900" b="0">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These muscles are divided into 3 groups based on their action or function</a:t>
            </a:r>
            <a:endParaRPr sz="1900" b="0">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They originate from their common extensor origin (lateral epicondyle of the humerus)</a:t>
            </a:r>
            <a:endParaRPr sz="1900" b="0">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All supplied by the radial nerve</a:t>
            </a:r>
            <a:endParaRPr lang="en-NG" dirty="0" sz="19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69A4919E-A1B7-5C17-DE89-236992457A4E}"/>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1950" b="1">
                <a:solidFill>
                  <a:srgbClr val="243B53"/>
                </a:solidFill>
                <a:latin typeface="Arial"/>
                <a:ea typeface="Arial"/>
                <a:cs typeface="Arial"/>
              </a:defRPr>
            </a:pPr>
            <a:r>
              <a:rPr lang="en-GB" dirty="0" sz="1950" b="1">
                <a:solidFill>
                  <a:srgbClr val="243B53"/>
                </a:solidFill>
                <a:latin typeface="Arial"/>
                <a:ea typeface="Arial"/>
                <a:cs typeface="Arial"/>
              </a:rPr>
              <a:t>Muscles that extend and abduct or adduct the hand at the wrist joint:</a:t>
            </a:r>
            <a:endParaRPr sz="1950" b="1">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extensor carpi radialis longus, extensor carpi radialis brevis, and extensor carpi </a:t>
            </a:r>
            <a:r>
              <a:rPr lang="en-GB" dirty="0" err="1" sz="1900" b="0">
                <a:solidFill>
                  <a:srgbClr val="243B53"/>
                </a:solidFill>
                <a:latin typeface="Arial"/>
                <a:ea typeface="Arial"/>
                <a:cs typeface="Arial"/>
              </a:rPr>
              <a:t>ulnaris</a:t>
            </a:r>
            <a:endParaRPr lang="en-GB" dirty="0" sz="1900" b="0">
              <a:solidFill>
                <a:srgbClr val="243B53"/>
              </a:solidFill>
              <a:latin typeface="Arial"/>
              <a:ea typeface="Arial"/>
              <a:cs typeface="Arial"/>
            </a:endParaRPr>
          </a:p>
          <a:p>
            <a:pPr algn="l" marL="0" indent="0">
              <a:lnSpc>
                <a:spcPct val="118000"/>
              </a:lnSpc>
              <a:spcBef>
                <a:spcPts val="0"/>
              </a:spcBef>
              <a:spcAft>
                <a:spcPts val="450"/>
              </a:spcAft>
              <a:defRPr sz="1950" b="1">
                <a:solidFill>
                  <a:srgbClr val="243B53"/>
                </a:solidFill>
                <a:latin typeface="Arial"/>
                <a:ea typeface="Arial"/>
                <a:cs typeface="Arial"/>
              </a:defRPr>
            </a:pPr>
            <a:r>
              <a:rPr lang="en-GB" dirty="0" sz="1950" b="1">
                <a:solidFill>
                  <a:srgbClr val="243B53"/>
                </a:solidFill>
                <a:latin typeface="Arial"/>
                <a:ea typeface="Arial"/>
                <a:cs typeface="Arial"/>
              </a:rPr>
              <a:t>Muscles that extend the medial four digits: </a:t>
            </a:r>
            <a:endParaRPr sz="1950" b="1">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extensor digitorum, extensor indicis, and extensor digiti </a:t>
            </a:r>
            <a:r>
              <a:rPr lang="en-GB" dirty="0" err="1" sz="1900" b="0">
                <a:solidFill>
                  <a:srgbClr val="243B53"/>
                </a:solidFill>
                <a:latin typeface="Arial"/>
                <a:ea typeface="Arial"/>
                <a:cs typeface="Arial"/>
              </a:rPr>
              <a:t>minimi</a:t>
            </a:r>
            <a:endParaRPr lang="en-GB" dirty="0" sz="1900" b="0">
              <a:solidFill>
                <a:srgbClr val="243B53"/>
              </a:solidFill>
              <a:latin typeface="Arial"/>
              <a:ea typeface="Arial"/>
              <a:cs typeface="Arial"/>
            </a:endParaRPr>
          </a:p>
          <a:p>
            <a:pPr algn="l" marL="0" indent="0">
              <a:lnSpc>
                <a:spcPct val="118000"/>
              </a:lnSpc>
              <a:spcBef>
                <a:spcPts val="0"/>
              </a:spcBef>
              <a:spcAft>
                <a:spcPts val="450"/>
              </a:spcAft>
              <a:defRPr sz="1950" b="1">
                <a:solidFill>
                  <a:srgbClr val="243B53"/>
                </a:solidFill>
                <a:latin typeface="Arial"/>
                <a:ea typeface="Arial"/>
                <a:cs typeface="Arial"/>
              </a:defRPr>
            </a:pPr>
            <a:r>
              <a:rPr lang="en-GB" dirty="0" sz="1950" b="1">
                <a:solidFill>
                  <a:srgbClr val="243B53"/>
                </a:solidFill>
                <a:latin typeface="Arial"/>
                <a:ea typeface="Arial"/>
                <a:cs typeface="Arial"/>
              </a:rPr>
              <a:t>Muscles that extend or abduct the thumb: </a:t>
            </a:r>
            <a:endParaRPr sz="1950" b="1">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GB" dirty="0" sz="1900" b="0">
                <a:solidFill>
                  <a:srgbClr val="243B53"/>
                </a:solidFill>
                <a:latin typeface="Arial"/>
                <a:ea typeface="Arial"/>
                <a:cs typeface="Arial"/>
              </a:rPr>
              <a:t>abductor pollicis longus (APL), extensor pollicis brevis (EPB), and extensor pollicis longus (EPL)</a:t>
            </a:r>
            <a:endParaRPr lang="en-NG" dirty="0" sz="19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AB224BF8-7160-4C2F-A308-8E96E7659400}"/>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787AFB4A-7DA8-40CF-AD69-8653A7318059}"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7019D3C3-EDD3-7039-5B2B-53843B6BB6AD}"/>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26</a:t>
            </a:fld>
            <a:endParaRPr lang="en-NG" sz="800" b="0">
              <a:solidFill>
                <a:srgbClr val="66809A"/>
              </a:solidFill>
              <a:latin typeface="Arial"/>
              <a:ea typeface="Arial"/>
              <a:cs typeface="Arial"/>
            </a:endParaRPr>
          </a:p>
        </p:txBody>
      </p:sp>
    </p:spTree>
    <p:extLst>
      <p:ext uri="{BB962C8B-B14F-4D97-AF65-F5344CB8AC3E}">
        <p14:creationId val="714765751"/>
      </p:ext>
    </p:extLst>
  </p:cSld>
  <p:clrMapOvr>
    <a:masterClrMapping/>
  </p:clrMapOvr>
</p:sld>
</file>

<file path=ppt/slides/slide2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430AEE30-6D0D-8802-F5D2-AF5B371F2251}"/>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GB" sz="3200" b="1" i="0" u="none" strike="noStrike" kern="1200" cap="none" spc="0" normalizeH="0" baseline="0" noProof="0" dirty="0">
                <a:ln>
                  <a:noFill/>
                </a:ln>
                <a:solidFill>
                  <a:srgbClr val="0056D2"/>
                </a:solidFill>
                <a:effectLst/>
                <a:uLnTx/>
                <a:uFillTx/>
                <a:latin typeface="Poppins SemiBold" panose="020F0302020204030204"/>
                <a:ea typeface="Poppins SemiBold"/>
                <a:cs typeface="Poppins SemiBold"/>
              </a:rPr>
              <a:t>Forearm- clinicals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162C9252-B6E6-B0F9-3CC6-A29973765838}"/>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None/>
              <a:tabLst/>
              <a:defRPr sz="2000" b="0">
                <a:solidFill>
                  <a:srgbClr val="243B53"/>
                </a:solidFill>
                <a:latin typeface="Arial"/>
                <a:ea typeface="Arial"/>
                <a:cs typeface="Arial"/>
              </a:defRPr>
            </a:pPr>
            <a:r>
              <a:rPr kumimoji="0" lang="en-GB" sz="2000" b="0" i="0" u="sng" strike="noStrike" kern="1200" cap="none" spc="0" normalizeH="0" baseline="0" noProof="0" dirty="0">
                <a:ln>
                  <a:noFill/>
                </a:ln>
                <a:solidFill>
                  <a:srgbClr val="243B53"/>
                </a:solidFill>
                <a:effectLst/>
                <a:uLnTx/>
                <a:uFillTx/>
                <a:latin typeface="Arial"/>
                <a:ea typeface="Arial"/>
                <a:cs typeface="Arial"/>
              </a:rPr>
              <a:t>Carpal tunnel syndrome</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The tunnel is formed btw the carpal bones (pisiform and hamate medially as well as scaphoid and trapezoid laterally)</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Carpal bones are overlaid by the flexor retinaculum which converts it into a tunnel</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Flexor tendons run under (FDP) and above it (FDS)</a:t>
            </a:r>
            <a:endParaRPr sz="200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a:ea typeface="Arial"/>
                <a:cs typeface="Arial"/>
              </a:rPr>
              <a:t>Compression of the median nerve within this tunnel following trauma leads to median nerve palsy</a:t>
            </a:r>
            <a:endParaRPr kumimoji="0" lang="en-NG" sz="2000" b="0" i="0" u="none" strike="noStrike" kern="1200" cap="none" spc="0" normalizeH="0" baseline="0" noProof="0" dirty="0">
              <a:ln>
                <a:noFill/>
              </a:ln>
              <a:solidFill>
                <a:srgbClr val="243B53"/>
              </a:solidFill>
              <a:effectLst/>
              <a:uLnTx/>
              <a:uFillTx/>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90E8CE0F-B81A-0F0F-57E8-FFF6A91B668F}"/>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000" b="0">
                <a:solidFill>
                  <a:srgbClr val="243B53"/>
                </a:solidFill>
                <a:latin typeface="Arial"/>
                <a:ea typeface="Arial"/>
                <a:cs typeface="Arial"/>
              </a:defRPr>
            </a:pPr>
            <a:r>
              <a:rPr kumimoji="0" lang="en-GB" sz="2000" b="0" i="0" u="none" strike="noStrike" kern="1200" cap="none" spc="0" normalizeH="0" baseline="0" noProof="0" dirty="0">
                <a:ln>
                  <a:noFill/>
                </a:ln>
                <a:solidFill>
                  <a:srgbClr val="243B53"/>
                </a:solidFill>
                <a:effectLst/>
                <a:uLnTx/>
                <a:uFillTx/>
                <a:latin typeface="Arial" panose="020F0302020204030204"/>
                <a:ea typeface="Arial"/>
                <a:cs typeface="Arial"/>
              </a:rPr>
              <a:t>Forearm – Blood supply</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GB" sz="2000" dirty="0" b="0">
                <a:solidFill>
                  <a:srgbClr val="243B53"/>
                </a:solidFill>
                <a:latin typeface="Arial"/>
                <a:ea typeface="Arial"/>
                <a:cs typeface="Arial"/>
              </a:rPr>
              <a:t>The brachial artery ends in the distal part of the cubital fossa opposite the neck of the radius by dividing into the ulnar and radial arteries, the main arteries of the forearm </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GB" sz="100" dirty="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GB" sz="2000" dirty="0" b="0">
                <a:solidFill>
                  <a:srgbClr val="243B53"/>
                </a:solidFill>
                <a:latin typeface="Arial"/>
                <a:ea typeface="Arial"/>
                <a:cs typeface="Arial"/>
              </a:rPr>
              <a:t>The ulnar artery descends through the anterior (flexor-pronator) compartment of the forearm, deep to the pronator teres</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sz="100" dirty="0" b="0">
              <a:solidFill>
                <a:srgbClr val="243B53"/>
              </a:solidFill>
              <a:latin typeface="Arial"/>
              <a:ea typeface="Arial"/>
              <a:cs typeface="Arial"/>
            </a:endParaRPr>
          </a:p>
        </p:txBody>
      </p:sp>
      <p:sp>
        <p:nvSpPr>
          <p:cNvPr id="5" name="Date Placeholder 4">
            <a:extLst>
              <a:ext uri="{FF2B5EF4-FFF2-40B4-BE49-F238E27FC236}">
                <a16:creationId id="{BFD7C0C6-4CAB-FE49-69FE-FDEAA686761B}"/>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016AA468-E9DA-47A3-B16F-C73A9E158FFA}"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99167B6A-23ED-0C79-209B-8FACB3070D29}"/>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27</a:t>
            </a:fld>
            <a:endParaRPr lang="en-NG" sz="800" b="0">
              <a:solidFill>
                <a:srgbClr val="66809A"/>
              </a:solidFill>
              <a:latin typeface="Arial"/>
              <a:ea typeface="Arial"/>
              <a:cs typeface="Arial"/>
            </a:endParaRPr>
          </a:p>
        </p:txBody>
      </p:sp>
    </p:spTree>
    <p:extLst>
      <p:ext uri="{BB962C8B-B14F-4D97-AF65-F5344CB8AC3E}">
        <p14:creationId val="3899234234"/>
      </p:ext>
    </p:extLst>
  </p:cSld>
  <p:clrMapOvr>
    <a:masterClrMapping/>
  </p:clrMapOvr>
</p:sld>
</file>

<file path=ppt/slides/slide2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44736FB8-6344-44D2-9802-F4B70784441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marL="0" marR="0" lvl="0" indent="0" defTabSz="914400" rtl="0" eaLnBrk="1" fontAlgn="auto" latinLnBrk="0" hangingPunct="1" algn="l">
              <a:lnSpc>
                <a:spcPct val="108000"/>
              </a:lnSpc>
              <a:spcBef>
                <a:spcPts val="0"/>
              </a:spcBef>
              <a:spcAft>
                <a:spcPts val="0"/>
              </a:spcAft>
              <a:tabLst/>
              <a:defRPr sz="3200" b="1">
                <a:solidFill>
                  <a:srgbClr val="0056D2"/>
                </a:solidFill>
                <a:latin typeface="Poppins SemiBold"/>
                <a:ea typeface="Poppins SemiBold"/>
                <a:cs typeface="Poppins SemiBold"/>
              </a:defRPr>
            </a:pPr>
            <a:br>
              <a:rPr kumimoji="0" lang="en-GB" sz="3300" b="1" i="0" u="none" strike="noStrike" kern="1200" cap="none" spc="0" normalizeH="0" baseline="0" noProof="0" dirty="0">
                <a:ln>
                  <a:noFill/>
                </a:ln>
                <a:solidFill>
                  <a:prstClr val="black"/>
                </a:solidFill>
                <a:effectLst/>
                <a:uLnTx/>
                <a:uFillTx/>
                <a:latin typeface="+mn-lt"/>
                <a:ea typeface="+mn-ea"/>
                <a:cs typeface="+mn-cs"/>
              </a:rPr>
            </a:br>
            <a:br>
              <a:rPr kumimoji="0" lang="en-GB" sz="3300" b="1" i="0" u="none" strike="noStrike" kern="1200" cap="none" spc="0" normalizeH="0" baseline="0" noProof="0" dirty="0">
                <a:ln>
                  <a:noFill/>
                </a:ln>
                <a:solidFill>
                  <a:prstClr val="black"/>
                </a:solidFill>
                <a:effectLst/>
                <a:uLnTx/>
                <a:uFillTx/>
                <a:latin typeface="+mn-lt"/>
                <a:ea typeface="+mn-ea"/>
                <a:cs typeface="+mn-cs"/>
              </a:rPr>
            </a:br>
            <a:r>
              <a:rPr kumimoji="0" lang="en-GB" sz="3200" b="1" i="0" u="none" strike="noStrike" kern="1200" cap="none" spc="0" normalizeH="0" baseline="0" noProof="0" dirty="0">
                <a:ln>
                  <a:noFill/>
                </a:ln>
                <a:solidFill>
                  <a:srgbClr val="0056D2"/>
                </a:solidFill>
                <a:effectLst/>
                <a:uLnTx/>
                <a:uFillTx/>
                <a:latin typeface="Poppins SemiBold"/>
                <a:ea typeface="Poppins SemiBold"/>
                <a:cs typeface="Poppins SemiBold"/>
              </a:rPr>
              <a:t>Forearm – Blood supply</a:t>
            </a:r>
            <a:br>
              <a:rPr kumimoji="0" lang="en-GB" sz="3300" b="0" i="0" u="none" strike="noStrike" kern="1200" cap="none" spc="0" normalizeH="0" baseline="0" noProof="0" dirty="0">
                <a:ln>
                  <a:noFill/>
                </a:ln>
                <a:solidFill>
                  <a:prstClr val="black"/>
                </a:solidFill>
                <a:effectLst/>
                <a:uLnTx/>
                <a:uFillTx/>
                <a:latin typeface="Calibri Light" panose="020F0302020204030204"/>
                <a:ea typeface="+mn-ea"/>
                <a:cs typeface="+mn-cs"/>
              </a:rPr>
            </a:b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92B08615-5D06-BDB9-C01E-2C7A69FBF24C}"/>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2050" b="0">
                <a:solidFill>
                  <a:srgbClr val="243B53"/>
                </a:solidFill>
                <a:latin typeface="Arial"/>
                <a:ea typeface="Arial"/>
                <a:cs typeface="Arial"/>
              </a:defRPr>
            </a:pPr>
            <a:r>
              <a:rPr lang="en-GB" dirty="0" sz="2050" b="0">
                <a:solidFill>
                  <a:srgbClr val="243B53"/>
                </a:solidFill>
                <a:latin typeface="Arial"/>
                <a:ea typeface="Arial"/>
                <a:cs typeface="Arial"/>
              </a:rPr>
              <a:t>Pulsations of the ulnar artery can be palpated on the lateral side of the FCU tendon, where it lies anterior to the ulnar head </a:t>
            </a:r>
            <a:endParaRPr sz="2050" b="0">
              <a:solidFill>
                <a:srgbClr val="243B53"/>
              </a:solidFill>
              <a:latin typeface="Arial"/>
              <a:ea typeface="Arial"/>
              <a:cs typeface="Arial"/>
            </a:endParaRPr>
          </a:p>
          <a:p>
            <a:pPr algn="l" marL="0" indent="0">
              <a:lnSpc>
                <a:spcPct val="118000"/>
              </a:lnSpc>
              <a:spcBef>
                <a:spcPts val="0"/>
              </a:spcBef>
              <a:spcAft>
                <a:spcPts val="450"/>
              </a:spcAft>
              <a:defRPr sz="2050" b="0">
                <a:solidFill>
                  <a:srgbClr val="243B53"/>
                </a:solidFill>
                <a:latin typeface="Arial"/>
                <a:ea typeface="Arial"/>
                <a:cs typeface="Arial"/>
              </a:defRPr>
            </a:pPr>
            <a:r>
              <a:rPr lang="en-GB" dirty="0" sz="2050" b="0">
                <a:solidFill>
                  <a:srgbClr val="243B53"/>
                </a:solidFill>
                <a:latin typeface="Arial"/>
                <a:ea typeface="Arial"/>
                <a:cs typeface="Arial"/>
              </a:rPr>
              <a:t>The ulnar nerve is on the medial side of the ulnar artery</a:t>
            </a:r>
            <a:endParaRPr lang="en-NG" dirty="0" sz="20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2A7EB89D-2052-1349-CEAF-518033CA870D}"/>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50" b="0">
                <a:solidFill>
                  <a:srgbClr val="243B53"/>
                </a:solidFill>
                <a:latin typeface="Arial"/>
                <a:ea typeface="Arial"/>
                <a:cs typeface="Arial"/>
              </a:defRPr>
            </a:pPr>
            <a:r>
              <a:rPr kumimoji="0" lang="en-GB" sz="2050" b="0" i="0" u="none" strike="noStrike" kern="1200" cap="none" spc="0" normalizeH="0" baseline="0" noProof="0" dirty="0">
                <a:ln>
                  <a:noFill/>
                </a:ln>
                <a:solidFill>
                  <a:srgbClr val="243B53"/>
                </a:solidFill>
                <a:effectLst/>
                <a:uLnTx/>
                <a:uFillTx/>
                <a:latin typeface="Arial"/>
                <a:ea typeface="Arial"/>
                <a:cs typeface="Arial"/>
              </a:rPr>
              <a:t>The radial artery leaves the forearm by winding around the lateral aspect of the wrist and crossing the floor of the anatomical snuff box to reach the hand</a:t>
            </a:r>
            <a:endParaRPr sz="20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50" b="0">
                <a:solidFill>
                  <a:srgbClr val="243B53"/>
                </a:solidFill>
                <a:latin typeface="Arial"/>
                <a:ea typeface="Arial"/>
                <a:cs typeface="Arial"/>
              </a:defRPr>
            </a:pPr>
            <a:r>
              <a:rPr kumimoji="0" lang="en-GB" sz="2050" b="0" i="0" u="none" strike="noStrike" kern="1200" cap="none" spc="0" normalizeH="0" baseline="0" noProof="0" dirty="0">
                <a:ln>
                  <a:noFill/>
                </a:ln>
                <a:solidFill>
                  <a:srgbClr val="243B53"/>
                </a:solidFill>
                <a:effectLst/>
                <a:uLnTx/>
                <a:uFillTx/>
                <a:latin typeface="Arial"/>
                <a:ea typeface="Arial"/>
                <a:cs typeface="Arial"/>
              </a:rPr>
              <a:t>The pulsation of the radial artery is usually measured on the distal radius between the tendons of flexor carpi radialis and abductor pollicis longus </a:t>
            </a:r>
            <a:endParaRPr sz="2050" b="0">
              <a:solidFill>
                <a:srgbClr val="243B53"/>
              </a:solidFill>
              <a:latin typeface="Arial"/>
              <a:ea typeface="Arial"/>
              <a:cs typeface="Arial"/>
            </a:endParaRPr>
          </a:p>
          <a:p>
            <a:pPr marL="0" marR="0" lvl="0" indent="0" algn="l" defTabSz="914400" rtl="0" eaLnBrk="1" fontAlgn="auto" latinLnBrk="0" hangingPunct="1">
              <a:lnSpc>
                <a:spcPct val="118000"/>
              </a:lnSpc>
              <a:spcBef>
                <a:spcPts val="0"/>
              </a:spcBef>
              <a:spcAft>
                <a:spcPts val="450"/>
              </a:spcAft>
              <a:buClrTx/>
              <a:buSzTx/>
              <a:buFont typeface="Arial" panose="020B0604020202020204" pitchFamily="34" charset="0"/>
              <a:buChar char="•"/>
              <a:tabLst/>
              <a:defRPr sz="2050" b="0">
                <a:solidFill>
                  <a:srgbClr val="243B53"/>
                </a:solidFill>
                <a:latin typeface="Arial"/>
                <a:ea typeface="Arial"/>
                <a:cs typeface="Arial"/>
              </a:defRPr>
            </a:pPr>
            <a:r>
              <a:rPr kumimoji="0" lang="en-GB" sz="2050" b="0" i="0" u="none" strike="noStrike" kern="1200" cap="none" spc="0" normalizeH="0" baseline="0" noProof="0" dirty="0">
                <a:ln>
                  <a:noFill/>
                </a:ln>
                <a:solidFill>
                  <a:srgbClr val="243B53"/>
                </a:solidFill>
                <a:effectLst/>
                <a:uLnTx/>
                <a:uFillTx/>
                <a:latin typeface="Arial"/>
                <a:ea typeface="Arial"/>
                <a:cs typeface="Arial"/>
              </a:rPr>
              <a:t>There are superficial and deep veins in the forearm: superficial veins ascend in the subcutaneous tissue; deep veins accompany the deep arteries</a:t>
            </a:r>
            <a:endParaRPr kumimoji="0" lang="en-NG" sz="2050" b="0" i="0" u="none" strike="noStrike" kern="1200" cap="none" spc="0" normalizeH="0" baseline="0" noProof="0" dirty="0">
              <a:ln>
                <a:noFill/>
              </a:ln>
              <a:solidFill>
                <a:srgbClr val="243B53"/>
              </a:solidFill>
              <a:effectLst/>
              <a:uLnTx/>
              <a:uFillTx/>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43300A60-1A36-B639-67FA-391524EC0E09}"/>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EAEE2291-55CA-463E-97CB-4A22BBA344E8}"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10662521-E880-072E-F81B-C1DEB55613C2}"/>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28</a:t>
            </a:fld>
            <a:endParaRPr lang="en-NG" sz="800" b="0">
              <a:solidFill>
                <a:srgbClr val="66809A"/>
              </a:solidFill>
              <a:latin typeface="Arial"/>
              <a:ea typeface="Arial"/>
              <a:cs typeface="Arial"/>
            </a:endParaRPr>
          </a:p>
        </p:txBody>
      </p:sp>
    </p:spTree>
    <p:extLst>
      <p:ext uri="{BB962C8B-B14F-4D97-AF65-F5344CB8AC3E}">
        <p14:creationId val="3428357819"/>
      </p:ext>
    </p:extLst>
  </p:cSld>
  <p:clrMapOvr>
    <a:masterClrMapping/>
  </p:clrMapOvr>
</p:sld>
</file>

<file path=ppt/slides/slide2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8054E1A-61E0-8596-FD6C-FDC8C7FA9EFA}"/>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Blood supply to the Upper limbs</a:t>
            </a:r>
            <a:endParaRPr lang="en-NG" dirty="0" sz="3200" b="1">
              <a:solidFill>
                <a:srgbClr val="0056D2"/>
              </a:solidFill>
              <a:latin typeface="Poppins SemiBold"/>
              <a:ea typeface="Poppins SemiBold"/>
              <a:cs typeface="Poppins SemiBold"/>
            </a:endParaRPr>
          </a:p>
        </p:txBody>
      </p:sp>
      <p:pic>
        <p:nvPicPr>
          <p:cNvPr id="5" name="Content Placeholder 4" descr="Blood Supply of the Upper Limb | Anatomy | Geeky Medics">
            <a:extLst>
              <a:ext uri="{FF2B5EF4-FFF2-40B4-BE49-F238E27FC236}">
                <a16:creationId id="{5745685C-667E-4417-320A-AE2E71F1CFF5}"/>
              </a:ext>
            </a:extLst>
          </p:cNvPr>
          <p:cNvPicPr>
            <a:picLocks noGrp="1" noChangeAspect="1"/>
          </p:cNvPicPr>
          <p:nvPr>
            <p:ph sz="half" idx="1"/>
          </p:nvPr>
        </p:nvPicPr>
        <p:blipFill>
          <a:blip r:embed="rId2"/>
          <a:stretch>
            <a:fillRect/>
          </a:stretch>
        </p:blipFill>
        <p:spPr>
          <a:xfrm>
            <a:off x="5336757" y="1748790"/>
            <a:ext cx="1518486" cy="2143125"/>
          </a:xfrm>
          <a:prstGeom prst="rect">
            <a:avLst/>
          </a:prstGeom>
        </p:spPr>
      </p:pic>
      <p:pic>
        <p:nvPicPr>
          <p:cNvPr id="6" name="Content Placeholder 5" descr="Blood Supply to Hand - Hand - Orthobullets">
            <a:extLst>
              <a:ext uri="{FF2B5EF4-FFF2-40B4-BE49-F238E27FC236}">
                <a16:creationId id="{5328E1BE-975B-0CCC-5F53-84946560343C}"/>
              </a:ext>
            </a:extLst>
          </p:cNvPr>
          <p:cNvPicPr>
            <a:picLocks noGrp="1" noChangeAspect="1"/>
          </p:cNvPicPr>
          <p:nvPr>
            <p:ph sz="half" idx="2"/>
          </p:nvPr>
        </p:nvPicPr>
        <p:blipFill>
          <a:blip r:embed="rId3"/>
          <a:stretch>
            <a:fillRect/>
          </a:stretch>
        </p:blipFill>
        <p:spPr>
          <a:xfrm>
            <a:off x="5259504" y="4029075"/>
            <a:ext cx="1672993" cy="2143125"/>
          </a:xfrm>
          <a:prstGeom prst="rect">
            <a:avLst/>
          </a:prstGeom>
        </p:spPr>
      </p:pic>
      <p:sp>
        <p:nvSpPr>
          <p:cNvPr id="3" name="Date Placeholder 2">
            <a:extLst>
              <a:ext uri="{FF2B5EF4-FFF2-40B4-BE49-F238E27FC236}">
                <a16:creationId id="{ED0037A2-DA4E-042B-C156-204D7DBC1329}"/>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729D0CD2-1207-4FEA-B89F-4E82EF6B1B67}"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4" name="Slide Number Placeholder 3">
            <a:extLst>
              <a:ext uri="{FF2B5EF4-FFF2-40B4-BE49-F238E27FC236}">
                <a16:creationId id="{D66337D5-C91B-34F9-6CFD-38DFC6E2F7A6}"/>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29</a:t>
            </a:fld>
            <a:endParaRPr lang="en-NG" sz="800" b="0">
              <a:solidFill>
                <a:srgbClr val="66809A"/>
              </a:solidFill>
              <a:latin typeface="Arial"/>
              <a:ea typeface="Arial"/>
              <a:cs typeface="Arial"/>
            </a:endParaRPr>
          </a:p>
        </p:txBody>
      </p:sp>
    </p:spTree>
    <p:extLst>
      <p:ext uri="{BB962C8B-B14F-4D97-AF65-F5344CB8AC3E}">
        <p14:creationId val="2064157705"/>
      </p:ext>
    </p:extLst>
  </p:cSld>
  <p:clrMapOvr>
    <a:masterClrMapping/>
  </p:clrMapOvr>
</p:sld>
</file>

<file path=ppt/slides/slide3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0F7E1038-E154-85A0-AF66-108FAAB4E558}"/>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The hand</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8B0341E-4416-6CB1-D1D6-B29600CB9D08}"/>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2150" b="0">
                <a:solidFill>
                  <a:srgbClr val="243B53"/>
                </a:solidFill>
                <a:latin typeface="Arial"/>
                <a:ea typeface="Arial"/>
                <a:cs typeface="Arial"/>
              </a:defRPr>
            </a:pPr>
            <a:r>
              <a:rPr lang="en-US" dirty="0" sz="2150" b="0">
                <a:solidFill>
                  <a:srgbClr val="243B53"/>
                </a:solidFill>
                <a:latin typeface="Arial"/>
                <a:ea typeface="Arial"/>
                <a:cs typeface="Arial"/>
              </a:rPr>
              <a:t>The hand is a musculoskeletal region </a:t>
            </a:r>
            <a:endParaRPr sz="2150" b="0">
              <a:solidFill>
                <a:srgbClr val="243B53"/>
              </a:solidFill>
              <a:latin typeface="Arial"/>
              <a:ea typeface="Arial"/>
              <a:cs typeface="Arial"/>
            </a:endParaRPr>
          </a:p>
          <a:p>
            <a:pPr algn="l" marL="0" indent="0">
              <a:lnSpc>
                <a:spcPct val="118000"/>
              </a:lnSpc>
              <a:spcBef>
                <a:spcPts val="0"/>
              </a:spcBef>
              <a:spcAft>
                <a:spcPts val="450"/>
              </a:spcAft>
              <a:defRPr sz="2150" b="0">
                <a:solidFill>
                  <a:srgbClr val="243B53"/>
                </a:solidFill>
                <a:latin typeface="Arial"/>
                <a:ea typeface="Arial"/>
                <a:cs typeface="Arial"/>
              </a:defRPr>
            </a:pPr>
            <a:r>
              <a:rPr lang="en-US" dirty="0" sz="2150" b="0">
                <a:solidFill>
                  <a:srgbClr val="243B53"/>
                </a:solidFill>
                <a:latin typeface="Arial"/>
                <a:ea typeface="Arial"/>
                <a:cs typeface="Arial"/>
              </a:rPr>
              <a:t>It consists of 8 carpal bones, 5 metacarpals and 14 phalanges, as well muscles and tendons </a:t>
            </a:r>
            <a:endParaRPr sz="2150" b="0">
              <a:solidFill>
                <a:srgbClr val="243B53"/>
              </a:solidFill>
              <a:latin typeface="Arial"/>
              <a:ea typeface="Arial"/>
              <a:cs typeface="Arial"/>
            </a:endParaRPr>
          </a:p>
          <a:p>
            <a:pPr algn="l" marL="0" indent="0">
              <a:lnSpc>
                <a:spcPct val="118000"/>
              </a:lnSpc>
              <a:spcBef>
                <a:spcPts val="0"/>
              </a:spcBef>
              <a:spcAft>
                <a:spcPts val="450"/>
              </a:spcAft>
              <a:defRPr sz="2150" b="0">
                <a:solidFill>
                  <a:srgbClr val="243B53"/>
                </a:solidFill>
                <a:latin typeface="Arial"/>
                <a:ea typeface="Arial"/>
                <a:cs typeface="Arial"/>
              </a:defRPr>
            </a:pPr>
            <a:r>
              <a:rPr lang="en-US" dirty="0" sz="2150" b="0">
                <a:solidFill>
                  <a:srgbClr val="243B53"/>
                </a:solidFill>
                <a:latin typeface="Arial"/>
                <a:ea typeface="Arial"/>
                <a:cs typeface="Arial"/>
              </a:rPr>
              <a:t>Muscles: extrinsic and intrinsic groups</a:t>
            </a:r>
            <a:endParaRPr sz="215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q"/>
              <a:defRPr sz="2150" b="0">
                <a:solidFill>
                  <a:srgbClr val="243B53"/>
                </a:solidFill>
                <a:latin typeface="Arial"/>
                <a:ea typeface="Arial"/>
                <a:cs typeface="Arial"/>
              </a:defRPr>
            </a:pPr>
            <a:r>
              <a:rPr lang="en-US" dirty="0" sz="2150" b="0">
                <a:solidFill>
                  <a:srgbClr val="243B53"/>
                </a:solidFill>
                <a:latin typeface="Arial"/>
                <a:ea typeface="Arial"/>
                <a:cs typeface="Arial"/>
              </a:rPr>
              <a:t>The extrinsic groups arise from both medial (flexors) and lateral (extensors) epicondyles</a:t>
            </a:r>
            <a:endParaRPr sz="215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150" b="0">
                <a:solidFill>
                  <a:srgbClr val="243B53"/>
                </a:solidFill>
                <a:latin typeface="Arial"/>
                <a:ea typeface="Arial"/>
                <a:cs typeface="Arial"/>
              </a:defRPr>
            </a:pPr>
            <a:r>
              <a:rPr lang="en-US" dirty="0" sz="2150" b="0">
                <a:solidFill>
                  <a:srgbClr val="243B53"/>
                </a:solidFill>
                <a:latin typeface="Arial"/>
                <a:ea typeface="Arial"/>
                <a:cs typeface="Arial"/>
              </a:rPr>
              <a:t>They cross the wrist through the carpal tunnel deep to the flexor retinaculum </a:t>
            </a:r>
            <a:endParaRPr lang="en-NG" dirty="0" sz="2150" b="0">
              <a:solidFill>
                <a:srgbClr val="243B53"/>
              </a:solidFill>
              <a:latin typeface="Arial"/>
              <a:ea typeface="Arial"/>
              <a:cs typeface="Arial"/>
            </a:endParaRPr>
          </a:p>
        </p:txBody>
      </p:sp>
      <p:sp>
        <p:nvSpPr>
          <p:cNvPr id="4" name="Content Placeholder 3">
            <a:extLst>
              <a:ext uri="{FF2B5EF4-FFF2-40B4-BE49-F238E27FC236}">
                <a16:creationId id="{4911F00C-50E8-AE9A-7B7F-90D8BEB1C911}"/>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200" b="1">
                <a:solidFill>
                  <a:srgbClr val="243B53"/>
                </a:solidFill>
                <a:latin typeface="Arial"/>
                <a:ea typeface="Arial"/>
                <a:cs typeface="Arial"/>
              </a:defRPr>
            </a:pPr>
            <a:r>
              <a:rPr lang="en-US" dirty="0" sz="2200" b="1">
                <a:solidFill>
                  <a:srgbClr val="243B53"/>
                </a:solidFill>
                <a:latin typeface="Arial"/>
                <a:ea typeface="Arial"/>
                <a:cs typeface="Arial"/>
              </a:rPr>
              <a:t>The Intrinsic groups: </a:t>
            </a:r>
            <a:endParaRPr sz="220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150" b="0">
                <a:solidFill>
                  <a:srgbClr val="243B53"/>
                </a:solidFill>
                <a:latin typeface="Arial"/>
                <a:ea typeface="Arial"/>
                <a:cs typeface="Arial"/>
              </a:defRPr>
            </a:pPr>
            <a:r>
              <a:rPr lang="en-US" dirty="0" sz="2150" b="0">
                <a:solidFill>
                  <a:srgbClr val="243B53"/>
                </a:solidFill>
                <a:latin typeface="Arial"/>
                <a:ea typeface="Arial"/>
                <a:cs typeface="Arial"/>
              </a:rPr>
              <a:t>Thenar group: Form the base of the thumb (abductor pollicis brevis, flexor pollicis brevis, </a:t>
            </a:r>
            <a:r>
              <a:rPr lang="en-US" dirty="0" err="1" sz="2150" b="0">
                <a:solidFill>
                  <a:srgbClr val="243B53"/>
                </a:solidFill>
                <a:latin typeface="Arial"/>
                <a:ea typeface="Arial"/>
                <a:cs typeface="Arial"/>
              </a:rPr>
              <a:t>opponens</a:t>
            </a:r>
            <a:r>
              <a:rPr lang="en-US" dirty="0" sz="2150" b="0">
                <a:solidFill>
                  <a:srgbClr val="243B53"/>
                </a:solidFill>
                <a:latin typeface="Arial"/>
                <a:ea typeface="Arial"/>
                <a:cs typeface="Arial"/>
              </a:rPr>
              <a:t> pollicis)</a:t>
            </a:r>
            <a:endParaRPr sz="215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150" b="0">
                <a:solidFill>
                  <a:srgbClr val="243B53"/>
                </a:solidFill>
                <a:latin typeface="Arial"/>
                <a:ea typeface="Arial"/>
                <a:cs typeface="Arial"/>
              </a:defRPr>
            </a:pPr>
            <a:r>
              <a:rPr lang="en-US" dirty="0" sz="2150" b="0">
                <a:solidFill>
                  <a:srgbClr val="243B53"/>
                </a:solidFill>
                <a:latin typeface="Arial"/>
                <a:ea typeface="Arial"/>
                <a:cs typeface="Arial"/>
              </a:rPr>
              <a:t>Hypothenar group: Form the base of the little finger (abductor, flexor, and </a:t>
            </a:r>
            <a:r>
              <a:rPr lang="en-US" dirty="0" err="1" sz="2150" b="0">
                <a:solidFill>
                  <a:srgbClr val="243B53"/>
                </a:solidFill>
                <a:latin typeface="Arial"/>
                <a:ea typeface="Arial"/>
                <a:cs typeface="Arial"/>
              </a:rPr>
              <a:t>opponens</a:t>
            </a:r>
            <a:r>
              <a:rPr lang="en-US" dirty="0" sz="2150" b="0">
                <a:solidFill>
                  <a:srgbClr val="243B53"/>
                </a:solidFill>
                <a:latin typeface="Arial"/>
                <a:ea typeface="Arial"/>
                <a:cs typeface="Arial"/>
              </a:rPr>
              <a:t> digiti </a:t>
            </a:r>
            <a:r>
              <a:rPr lang="en-US" dirty="0" err="1" sz="2150" b="0">
                <a:solidFill>
                  <a:srgbClr val="243B53"/>
                </a:solidFill>
                <a:latin typeface="Arial"/>
                <a:ea typeface="Arial"/>
                <a:cs typeface="Arial"/>
              </a:rPr>
              <a:t>minimi</a:t>
            </a:r>
            <a:r>
              <a:rPr lang="en-US" sz="2150" b="0">
                <a:solidFill>
                  <a:srgbClr val="243B53"/>
                </a:solidFill>
                <a:latin typeface="Arial"/>
                <a:ea typeface="Arial"/>
                <a:cs typeface="Arial"/>
              </a:rPr>
              <a:t>)</a:t>
            </a:r>
            <a:br>
              <a:rPr lang="en-US"/>
            </a:br>
            <a:endParaRPr lang="en-US" dirty="0" sz="215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150" b="0">
                <a:solidFill>
                  <a:srgbClr val="243B53"/>
                </a:solidFill>
                <a:latin typeface="Arial"/>
                <a:ea typeface="Arial"/>
                <a:cs typeface="Arial"/>
              </a:defRPr>
            </a:pPr>
            <a:r>
              <a:rPr lang="en-US" dirty="0" err="1" sz="2150" b="0">
                <a:solidFill>
                  <a:srgbClr val="243B53"/>
                </a:solidFill>
                <a:latin typeface="Arial"/>
                <a:ea typeface="Arial"/>
                <a:cs typeface="Arial"/>
              </a:rPr>
              <a:t>Midpalmar</a:t>
            </a:r>
            <a:r>
              <a:rPr lang="en-US" dirty="0" sz="2150" b="0">
                <a:solidFill>
                  <a:srgbClr val="243B53"/>
                </a:solidFill>
                <a:latin typeface="Arial"/>
                <a:ea typeface="Arial"/>
                <a:cs typeface="Arial"/>
              </a:rPr>
              <a:t> group: Includes the lumbricals and interossei (dorsal and palmar) </a:t>
            </a:r>
            <a:endParaRPr sz="21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5" name="Date Placeholder 4">
            <a:extLst>
              <a:ext uri="{FF2B5EF4-FFF2-40B4-BE49-F238E27FC236}">
                <a16:creationId id="{A614E96D-4F15-2049-1A87-E00375C33767}"/>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F7750FD3-23A1-496F-B898-A143C04B552C}"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13F7848E-CD11-9B66-96B9-B4CCD2FEAEAC}"/>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30</a:t>
            </a:fld>
            <a:endParaRPr lang="en-NG" sz="800" b="0">
              <a:solidFill>
                <a:srgbClr val="66809A"/>
              </a:solidFill>
              <a:latin typeface="Arial"/>
              <a:ea typeface="Arial"/>
              <a:cs typeface="Arial"/>
            </a:endParaRPr>
          </a:p>
        </p:txBody>
      </p:sp>
    </p:spTree>
    <p:extLst>
      <p:ext uri="{BB962C8B-B14F-4D97-AF65-F5344CB8AC3E}">
        <p14:creationId val="2105111508"/>
      </p:ext>
    </p:extLst>
  </p:cSld>
  <p:clrMapOvr>
    <a:masterClrMapping/>
  </p:clrMapOvr>
</p:sld>
</file>

<file path=ppt/slides/slide3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4D52DB82-9FEF-DF27-2EF8-A7A42F605EAF}"/>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Hand compartments and spaces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BF16DC38-B90D-3F91-B4F0-3907708DDEBD}"/>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NG" dirty="0" sz="2200" b="0">
                <a:solidFill>
                  <a:srgbClr val="243B53"/>
                </a:solidFill>
                <a:latin typeface="Arial"/>
                <a:ea typeface="Arial"/>
                <a:cs typeface="Arial"/>
              </a:rPr>
              <a:t>The palm and hand are divided by deep fascial septa into primary spaces housing specific muscles, nerves, and vessels</a:t>
            </a:r>
            <a:endParaRPr lang="en-US" dirty="0"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US" dirty="0" sz="2250" b="1">
                <a:solidFill>
                  <a:srgbClr val="243B53"/>
                </a:solidFill>
                <a:latin typeface="Arial"/>
                <a:ea typeface="Arial"/>
                <a:cs typeface="Arial"/>
              </a:rPr>
              <a:t>Thenar compartment: </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Base of thumb</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Contents: Abductor pollicis brevis, </a:t>
            </a:r>
            <a:r>
              <a:rPr lang="en-NG" dirty="0" err="1" sz="2200" b="0">
                <a:solidFill>
                  <a:srgbClr val="243B53"/>
                </a:solidFill>
                <a:latin typeface="Arial"/>
                <a:ea typeface="Arial"/>
                <a:cs typeface="Arial"/>
              </a:rPr>
              <a:t>opponens</a:t>
            </a:r>
            <a:r>
              <a:rPr lang="en-NG" dirty="0" sz="2200" b="0">
                <a:solidFill>
                  <a:srgbClr val="243B53"/>
                </a:solidFill>
                <a:latin typeface="Arial"/>
                <a:ea typeface="Arial"/>
                <a:cs typeface="Arial"/>
              </a:rPr>
              <a:t> pollicis, flexor pollicis brevis, and branches of the median nerve</a:t>
            </a:r>
            <a:endParaRPr lang="en-US" dirty="0" sz="2200" b="0">
              <a:solidFill>
                <a:srgbClr val="243B53"/>
              </a:solidFill>
              <a:latin typeface="Arial"/>
              <a:ea typeface="Arial"/>
              <a:cs typeface="Arial"/>
            </a:endParaRPr>
          </a:p>
        </p:txBody>
      </p:sp>
      <p:sp>
        <p:nvSpPr>
          <p:cNvPr id="4" name="Content Placeholder 3">
            <a:extLst>
              <a:ext uri="{FF2B5EF4-FFF2-40B4-BE49-F238E27FC236}">
                <a16:creationId id="{7208FD59-9FA7-EEAB-299B-116DF7944F68}"/>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US" dirty="0" sz="2250" b="1">
                <a:solidFill>
                  <a:srgbClr val="243B53"/>
                </a:solidFill>
                <a:latin typeface="Arial"/>
                <a:ea typeface="Arial"/>
                <a:cs typeface="Arial"/>
              </a:rPr>
              <a:t> Hypothenar compartment:</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Base of little finger</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Contents: Abductor digiti </a:t>
            </a:r>
            <a:r>
              <a:rPr lang="en-NG" dirty="0" err="1" sz="2200" b="0">
                <a:solidFill>
                  <a:srgbClr val="243B53"/>
                </a:solidFill>
                <a:latin typeface="Arial"/>
                <a:ea typeface="Arial"/>
                <a:cs typeface="Arial"/>
              </a:rPr>
              <a:t>minimi</a:t>
            </a:r>
            <a:r>
              <a:rPr lang="en-NG" dirty="0" sz="2200" b="0">
                <a:solidFill>
                  <a:srgbClr val="243B53"/>
                </a:solidFill>
                <a:latin typeface="Arial"/>
                <a:ea typeface="Arial"/>
                <a:cs typeface="Arial"/>
              </a:rPr>
              <a:t>, flexor digiti </a:t>
            </a:r>
            <a:r>
              <a:rPr lang="en-NG" dirty="0" err="1" sz="2200" b="0">
                <a:solidFill>
                  <a:srgbClr val="243B53"/>
                </a:solidFill>
                <a:latin typeface="Arial"/>
                <a:ea typeface="Arial"/>
                <a:cs typeface="Arial"/>
              </a:rPr>
              <a:t>minimi</a:t>
            </a:r>
            <a:r>
              <a:rPr lang="en-NG" dirty="0" sz="2200" b="0">
                <a:solidFill>
                  <a:srgbClr val="243B53"/>
                </a:solidFill>
                <a:latin typeface="Arial"/>
                <a:ea typeface="Arial"/>
                <a:cs typeface="Arial"/>
              </a:rPr>
              <a:t> brevis, </a:t>
            </a:r>
            <a:r>
              <a:rPr lang="en-NG" dirty="0" err="1" sz="2200" b="0">
                <a:solidFill>
                  <a:srgbClr val="243B53"/>
                </a:solidFill>
                <a:latin typeface="Arial"/>
                <a:ea typeface="Arial"/>
                <a:cs typeface="Arial"/>
              </a:rPr>
              <a:t>opponens</a:t>
            </a:r>
            <a:r>
              <a:rPr lang="en-NG" dirty="0" sz="2200" b="0">
                <a:solidFill>
                  <a:srgbClr val="243B53"/>
                </a:solidFill>
                <a:latin typeface="Arial"/>
                <a:ea typeface="Arial"/>
                <a:cs typeface="Arial"/>
              </a:rPr>
              <a:t> digiti </a:t>
            </a:r>
            <a:r>
              <a:rPr lang="en-NG" dirty="0" err="1" sz="2200" b="0">
                <a:solidFill>
                  <a:srgbClr val="243B53"/>
                </a:solidFill>
                <a:latin typeface="Arial"/>
                <a:ea typeface="Arial"/>
                <a:cs typeface="Arial"/>
              </a:rPr>
              <a:t>minimi</a:t>
            </a:r>
            <a:r>
              <a:rPr lang="en-NG" dirty="0" sz="2200" b="0">
                <a:solidFill>
                  <a:srgbClr val="243B53"/>
                </a:solidFill>
                <a:latin typeface="Arial"/>
                <a:ea typeface="Arial"/>
                <a:cs typeface="Arial"/>
              </a:rPr>
              <a:t>, and branches of the ulnar </a:t>
            </a:r>
            <a:r>
              <a:rPr lang="en-US" dirty="0" sz="2200" b="0">
                <a:solidFill>
                  <a:srgbClr val="243B53"/>
                </a:solidFill>
                <a:latin typeface="Arial"/>
                <a:ea typeface="Arial"/>
                <a:cs typeface="Arial"/>
              </a:rPr>
              <a:t>n</a:t>
            </a:r>
            <a:r>
              <a:rPr lang="en-NG" dirty="0" err="1" sz="2200" b="0">
                <a:solidFill>
                  <a:srgbClr val="243B53"/>
                </a:solidFill>
                <a:latin typeface="Arial"/>
                <a:ea typeface="Arial"/>
                <a:cs typeface="Arial"/>
              </a:rPr>
              <a:t>erve</a:t>
            </a:r>
            <a:endParaRPr lang="en-US" dirty="0"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US" dirty="0" sz="2250" b="1">
                <a:solidFill>
                  <a:srgbClr val="243B53"/>
                </a:solidFill>
                <a:latin typeface="Arial"/>
                <a:ea typeface="Arial"/>
                <a:cs typeface="Arial"/>
              </a:rPr>
              <a:t> Adductor compartment:</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 deep in the central palm</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Contents: Adductor pollicis muscle</a:t>
            </a:r>
            <a:endParaRPr sz="2200" b="0">
              <a:solidFill>
                <a:srgbClr val="243B53"/>
              </a:solidFill>
              <a:latin typeface="Arial"/>
              <a:ea typeface="Arial"/>
              <a:cs typeface="Arial"/>
            </a:endParaRPr>
          </a:p>
        </p:txBody>
      </p:sp>
      <p:sp>
        <p:nvSpPr>
          <p:cNvPr id="5" name="Date Placeholder 4">
            <a:extLst>
              <a:ext uri="{FF2B5EF4-FFF2-40B4-BE49-F238E27FC236}">
                <a16:creationId id="{46627A02-AD43-EDC4-8284-9FD25C5856F5}"/>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33E6352B-7371-4C7B-A97D-A79E7E6F3516}"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68F8EED8-01C3-68C1-87B0-5074A0FB102B}"/>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31</a:t>
            </a:fld>
            <a:endParaRPr lang="en-NG" sz="800" b="0">
              <a:solidFill>
                <a:srgbClr val="66809A"/>
              </a:solidFill>
              <a:latin typeface="Arial"/>
              <a:ea typeface="Arial"/>
              <a:cs typeface="Arial"/>
            </a:endParaRPr>
          </a:p>
        </p:txBody>
      </p:sp>
    </p:spTree>
    <p:extLst>
      <p:ext uri="{BB962C8B-B14F-4D97-AF65-F5344CB8AC3E}">
        <p14:creationId val="2544402270"/>
      </p:ext>
    </p:extLst>
  </p:cSld>
  <p:clrMapOvr>
    <a:masterClrMapping/>
  </p:clrMapOvr>
</p:sld>
</file>

<file path=ppt/slides/slide3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BD4B3F2B-4A84-3E30-0566-CF8F4325EAEF}"/>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Hand compartments and spaces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8222E8A4-C85A-2164-E34C-AC346B6B7270}"/>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NG" dirty="0" sz="2250" b="1">
                <a:solidFill>
                  <a:srgbClr val="243B53"/>
                </a:solidFill>
                <a:latin typeface="Arial"/>
                <a:ea typeface="Arial"/>
                <a:cs typeface="Arial"/>
              </a:rPr>
              <a:t>Central (</a:t>
            </a:r>
            <a:r>
              <a:rPr lang="en-NG" dirty="0" err="1" sz="2250" b="1">
                <a:solidFill>
                  <a:srgbClr val="243B53"/>
                </a:solidFill>
                <a:latin typeface="Arial"/>
                <a:ea typeface="Arial"/>
                <a:cs typeface="Arial"/>
              </a:rPr>
              <a:t>Midpalmar</a:t>
            </a:r>
            <a:r>
              <a:rPr lang="en-NG" dirty="0" sz="2250" b="1">
                <a:solidFill>
                  <a:srgbClr val="243B53"/>
                </a:solidFill>
                <a:latin typeface="Arial"/>
                <a:ea typeface="Arial"/>
                <a:cs typeface="Arial"/>
              </a:rPr>
              <a:t>) Compartment: </a:t>
            </a:r>
            <a:endParaRPr lang="en-US" dirty="0" sz="2250" b="1">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middle of the palm</a:t>
            </a:r>
            <a:endParaRPr lang="en-US" dirty="0" sz="2200" b="0">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Contents: Long flexor tendons, lumbrical muscles, superficial/deep palmar arterial arches, and portions of the median and ulnar nerves</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sp>
        <p:nvSpPr>
          <p:cNvPr id="4" name="Content Placeholder 3">
            <a:extLst>
              <a:ext uri="{FF2B5EF4-FFF2-40B4-BE49-F238E27FC236}">
                <a16:creationId id="{53B3DB52-CBDD-7F44-8790-13B0F6F4A87F}"/>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NG" dirty="0" sz="2250" b="1">
                <a:solidFill>
                  <a:srgbClr val="243B53"/>
                </a:solidFill>
                <a:latin typeface="Arial"/>
                <a:ea typeface="Arial"/>
                <a:cs typeface="Arial"/>
              </a:rPr>
              <a:t>Interossei and Other Spaces: </a:t>
            </a:r>
            <a:endParaRPr lang="en-US" dirty="0"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Includes dorsal and volar (palmar) interossei compartments between the metacarpal bones</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And</a:t>
            </a:r>
            <a:r>
              <a:rPr lang="en-NG" dirty="0" sz="2200" b="0">
                <a:solidFill>
                  <a:srgbClr val="243B53"/>
                </a:solidFill>
                <a:latin typeface="Arial"/>
                <a:ea typeface="Arial"/>
                <a:cs typeface="Arial"/>
              </a:rPr>
              <a:t> spaces like the carpal tunnel and digit compartments</a:t>
            </a:r>
            <a:endParaRPr sz="2200" b="0">
              <a:solidFill>
                <a:srgbClr val="243B53"/>
              </a:solidFill>
              <a:latin typeface="Arial"/>
              <a:ea typeface="Arial"/>
              <a:cs typeface="Arial"/>
            </a:endParaRPr>
          </a:p>
        </p:txBody>
      </p:sp>
      <p:sp>
        <p:nvSpPr>
          <p:cNvPr id="5" name="Date Placeholder 4">
            <a:extLst>
              <a:ext uri="{FF2B5EF4-FFF2-40B4-BE49-F238E27FC236}">
                <a16:creationId id="{D0E62EFC-B0F4-BD6D-BA99-ED1EE1D38D37}"/>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84C624C4-BD3B-45D9-B7A2-F240464CF22A}"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5398E940-5455-0BAA-5869-AE14C8064D11}"/>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32</a:t>
            </a:fld>
            <a:endParaRPr lang="en-NG" sz="800" b="0">
              <a:solidFill>
                <a:srgbClr val="66809A"/>
              </a:solidFill>
              <a:latin typeface="Arial"/>
              <a:ea typeface="Arial"/>
              <a:cs typeface="Arial"/>
            </a:endParaRPr>
          </a:p>
        </p:txBody>
      </p:sp>
    </p:spTree>
    <p:extLst>
      <p:ext uri="{BB962C8B-B14F-4D97-AF65-F5344CB8AC3E}">
        <p14:creationId val="1089551105"/>
      </p:ext>
    </p:extLst>
  </p:cSld>
  <p:clrMapOvr>
    <a:masterClrMapping/>
  </p:clrMapOvr>
</p:sld>
</file>

<file path=ppt/slides/slide3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4E94C27A-1C21-4FD0-E14E-A4541B0B3E1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Hand compartments and spaces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A416C63C-D5B8-8181-12D2-453964984154}"/>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 hand spaces are potential anatomical spaces within the hand</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Formed by septa and deep fascia penetration into the hand</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They are filled with loose connective tissues and are thus tightly closed</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They are important clinically in localizing infections and pus discharge</a:t>
            </a:r>
            <a:endParaRPr lang="en-NG" dirty="0" sz="2200" b="0">
              <a:solidFill>
                <a:srgbClr val="243B53"/>
              </a:solidFill>
              <a:latin typeface="Arial"/>
              <a:ea typeface="Arial"/>
              <a:cs typeface="Arial"/>
            </a:endParaRPr>
          </a:p>
        </p:txBody>
      </p:sp>
      <p:sp>
        <p:nvSpPr>
          <p:cNvPr id="4" name="Content Placeholder 3">
            <a:extLst>
              <a:ext uri="{FF2B5EF4-FFF2-40B4-BE49-F238E27FC236}">
                <a16:creationId id="{9D9FA7F8-EE05-0C79-356D-F731D3AF0178}"/>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US" dirty="0" sz="2250" b="1">
                <a:solidFill>
                  <a:srgbClr val="243B53"/>
                </a:solidFill>
                <a:latin typeface="Arial"/>
                <a:ea typeface="Arial"/>
                <a:cs typeface="Arial"/>
              </a:rPr>
              <a:t> Deep palmar spaces:</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err="1" sz="2200" b="0">
                <a:solidFill>
                  <a:srgbClr val="243B53"/>
                </a:solidFill>
                <a:latin typeface="Arial"/>
                <a:ea typeface="Arial"/>
                <a:cs typeface="Arial"/>
              </a:rPr>
              <a:t>Midpalmar</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Thenar</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Hypothenar</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Forearm space of </a:t>
            </a:r>
            <a:r>
              <a:rPr lang="en-US" dirty="0" err="1" sz="2200" b="0">
                <a:solidFill>
                  <a:srgbClr val="243B53"/>
                </a:solidFill>
                <a:latin typeface="Arial"/>
                <a:ea typeface="Arial"/>
                <a:cs typeface="Arial"/>
              </a:rPr>
              <a:t>Parona</a:t>
            </a:r>
            <a:endParaRPr lang="en-US" dirty="0" sz="2200" b="0">
              <a:solidFill>
                <a:srgbClr val="243B53"/>
              </a:solidFill>
              <a:latin typeface="Arial"/>
              <a:ea typeface="Arial"/>
              <a:cs typeface="Arial"/>
            </a:endParaRPr>
          </a:p>
          <a:p>
            <a:pPr algn="l" marL="0" indent="0">
              <a:lnSpc>
                <a:spcPts val="100"/>
              </a:lnSpc>
              <a:spcBef>
                <a:spcPts val="0"/>
              </a:spcBef>
              <a:spcAft>
                <a:spcPts val="0"/>
              </a:spcAft>
              <a:buFont typeface="Wingdings" panose="05000000000000000000" pitchFamily="2" charset="2"/>
              <a:buChar char="ü"/>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US" dirty="0" sz="2250" b="1">
                <a:solidFill>
                  <a:srgbClr val="243B53"/>
                </a:solidFill>
                <a:latin typeface="Arial"/>
                <a:ea typeface="Arial"/>
                <a:cs typeface="Arial"/>
              </a:rPr>
              <a:t> Digital spaces:</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Pulp space of the fingers</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a:ea typeface="Arial"/>
                <a:cs typeface="Arial"/>
              </a:rPr>
              <a:t>Interdigital or web spaces</a:t>
            </a:r>
            <a:endParaRPr sz="2200" b="0">
              <a:solidFill>
                <a:srgbClr val="243B53"/>
              </a:solidFill>
              <a:latin typeface="Arial"/>
              <a:ea typeface="Arial"/>
              <a:cs typeface="Arial"/>
            </a:endParaRPr>
          </a:p>
          <a:p>
            <a:pPr algn="l" marL="0" indent="0">
              <a:lnSpc>
                <a:spcPts val="100"/>
              </a:lnSpc>
              <a:spcBef>
                <a:spcPts val="0"/>
              </a:spcBef>
              <a:spcAft>
                <a:spcPts val="0"/>
              </a:spcAft>
              <a:buFont typeface="Wingdings" panose="05000000000000000000" pitchFamily="2" charset="2"/>
              <a:buChar char="ü"/>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5" name="Date Placeholder 4">
            <a:extLst>
              <a:ext uri="{FF2B5EF4-FFF2-40B4-BE49-F238E27FC236}">
                <a16:creationId id="{8E29AA8F-0233-C540-A5B5-735F98C88D4B}"/>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9F3D4ACB-5BBA-4C90-A15F-8493B611BC59}"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6" name="Slide Number Placeholder 5">
            <a:extLst>
              <a:ext uri="{FF2B5EF4-FFF2-40B4-BE49-F238E27FC236}">
                <a16:creationId id="{62E38BC3-6736-90DC-3CAE-29C64F0C8190}"/>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33</a:t>
            </a:fld>
            <a:endParaRPr lang="en-NG" sz="800" b="0">
              <a:solidFill>
                <a:srgbClr val="66809A"/>
              </a:solidFill>
              <a:latin typeface="Arial"/>
              <a:ea typeface="Arial"/>
              <a:cs typeface="Arial"/>
            </a:endParaRPr>
          </a:p>
        </p:txBody>
      </p:sp>
    </p:spTree>
    <p:extLst>
      <p:ext uri="{BB962C8B-B14F-4D97-AF65-F5344CB8AC3E}">
        <p14:creationId val="1227115426"/>
      </p:ext>
    </p:extLst>
  </p:cSld>
  <p:clrMapOvr>
    <a:masterClrMapping/>
  </p:clrMapOvr>
</p:sld>
</file>

<file path=ppt/slides/slide3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8EBECEFB-19DB-827A-64A7-87FF538A7225}"/>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kumimoji="0" lang="en-US" sz="3200" b="1" i="0" u="none" strike="noStrike" kern="1200" cap="none" spc="0" normalizeH="0" baseline="0" noProof="0" dirty="0">
                <a:ln>
                  <a:noFill/>
                </a:ln>
                <a:solidFill>
                  <a:srgbClr val="0056D2"/>
                </a:solidFill>
                <a:effectLst/>
                <a:uLnTx/>
                <a:uFillTx/>
                <a:latin typeface="Poppins SemiBold" panose="02110004020202020204"/>
                <a:ea typeface="Poppins SemiBold"/>
                <a:cs typeface="Poppins SemiBold"/>
              </a:rPr>
              <a:t>Hand compartments and spaces</a:t>
            </a:r>
            <a:endParaRPr lang="en-NG"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8953B479-37CB-2708-B22F-3D779A4194ED}"/>
              </a:ext>
            </a:extLst>
          </p:cNvPr>
          <p:cNvSpPr>
            <a:spLocks noGrp="1"/>
          </p:cNvSpPr>
          <p:nvPr>
            <p:ph sz="half" idx="1"/>
          </p:nvPr>
        </p:nvSpPr>
        <p:spPr>
          <a:xfrm>
            <a:off x="670560" y="1748790"/>
            <a:ext cx="6461760" cy="442341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anose="05000000000000000000" pitchFamily="2" charset="2"/>
              <a:buChar char="q"/>
              <a:defRPr sz="2250" b="1">
                <a:solidFill>
                  <a:srgbClr val="243B53"/>
                </a:solidFill>
                <a:latin typeface="Arial"/>
                <a:ea typeface="Arial"/>
                <a:cs typeface="Arial"/>
              </a:defRPr>
            </a:pPr>
            <a:r>
              <a:rPr lang="en-US" dirty="0" sz="2250" b="1">
                <a:solidFill>
                  <a:srgbClr val="243B53"/>
                </a:solidFill>
                <a:latin typeface="Arial"/>
                <a:ea typeface="Arial"/>
                <a:cs typeface="Arial"/>
              </a:rPr>
              <a:t>Dorsal spaces:</a:t>
            </a:r>
            <a:endParaRPr sz="2250" b="1">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Dorsal Subcutaneous Space</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NG" dirty="0" sz="2200" b="0">
                <a:solidFill>
                  <a:srgbClr val="243B53"/>
                </a:solidFill>
                <a:latin typeface="Arial"/>
                <a:ea typeface="Arial"/>
                <a:cs typeface="Arial"/>
              </a:rPr>
              <a:t>Dorsal Sub</a:t>
            </a:r>
            <a:r>
              <a:rPr lang="en-US" dirty="0" sz="2200" b="0">
                <a:solidFill>
                  <a:srgbClr val="243B53"/>
                </a:solidFill>
                <a:latin typeface="Arial"/>
                <a:ea typeface="Arial"/>
                <a:cs typeface="Arial"/>
              </a:rPr>
              <a:t>aponeurotic</a:t>
            </a:r>
            <a:r>
              <a:rPr lang="en-NG" dirty="0" sz="2200" b="0">
                <a:solidFill>
                  <a:srgbClr val="243B53"/>
                </a:solidFill>
                <a:latin typeface="Arial"/>
                <a:ea typeface="Arial"/>
                <a:cs typeface="Arial"/>
              </a:rPr>
              <a:t> Space</a:t>
            </a:r>
            <a:endParaRPr lang="en-US" dirty="0" sz="2200" b="0">
              <a:solidFill>
                <a:srgbClr val="243B53"/>
              </a:solidFill>
              <a:latin typeface="Arial"/>
              <a:ea typeface="Arial"/>
              <a:cs typeface="Arial"/>
            </a:endParaRPr>
          </a:p>
          <a:p>
            <a:pPr algn="l" marL="0" indent="0">
              <a:lnSpc>
                <a:spcPts val="100"/>
              </a:lnSpc>
              <a:spcBef>
                <a:spcPts val="0"/>
              </a:spcBef>
              <a:spcAft>
                <a:spcPts val="0"/>
              </a:spcAft>
              <a:buFont typeface="Wingdings" panose="05000000000000000000" pitchFamily="2" charset="2"/>
              <a:buChar char="ü"/>
              <a:defRPr sz="100" b="0">
                <a:solidFill>
                  <a:srgbClr val="243B53"/>
                </a:solidFill>
                <a:latin typeface="Arial"/>
                <a:ea typeface="Arial"/>
                <a:cs typeface="Arial"/>
              </a:defRPr>
            </a:pPr>
            <a:endParaRPr lang="en-NG" dirty="0" sz="100" b="0">
              <a:solidFill>
                <a:srgbClr val="243B53"/>
              </a:solidFill>
              <a:latin typeface="Arial"/>
              <a:ea typeface="Arial"/>
              <a:cs typeface="Arial"/>
            </a:endParaRPr>
          </a:p>
        </p:txBody>
      </p:sp>
      <p:pic>
        <p:nvPicPr>
          <p:cNvPr id="5" name="Content Placeholder 4" descr="The eleven compartments of the hand [12]. | Download Scientific Diagram">
            <a:extLst>
              <a:ext uri="{FF2B5EF4-FFF2-40B4-BE49-F238E27FC236}">
                <a16:creationId id="{6A551BAC-4908-C403-5F6C-7CEC4F8E531F}"/>
              </a:ext>
            </a:extLst>
          </p:cNvPr>
          <p:cNvPicPr>
            <a:picLocks noGrp="1" noChangeAspect="1"/>
          </p:cNvPicPr>
          <p:nvPr>
            <p:ph sz="half" idx="2"/>
          </p:nvPr>
        </p:nvPicPr>
        <p:blipFill>
          <a:blip r:embed="rId2"/>
          <a:stretch>
            <a:fillRect/>
          </a:stretch>
        </p:blipFill>
        <p:spPr>
          <a:xfrm>
            <a:off x="8370316" y="1748790"/>
            <a:ext cx="2461767" cy="2143125"/>
          </a:xfrm>
          <a:prstGeom prst="rect">
            <a:avLst/>
          </a:prstGeom>
        </p:spPr>
      </p:pic>
      <p:pic>
        <p:nvPicPr>
          <p:cNvPr id="6" name="Picture 5" descr="Anatomical illustration of the spaces within the hand. The radial and... | Download Scientific Diagram">
            <a:extLst>
              <a:ext uri="{FF2B5EF4-FFF2-40B4-BE49-F238E27FC236}">
                <a16:creationId id="{B4D89D21-0E0C-51C5-0B67-F9EE2A0DD5B6}"/>
              </a:ext>
            </a:extLst>
          </p:cNvPr>
          <p:cNvPicPr>
            <a:picLocks noChangeAspect="1"/>
          </p:cNvPicPr>
          <p:nvPr/>
        </p:nvPicPr>
        <p:blipFill>
          <a:blip r:embed="rId3"/>
          <a:stretch>
            <a:fillRect/>
          </a:stretch>
        </p:blipFill>
        <p:spPr>
          <a:xfrm>
            <a:off x="8272527" y="4029075"/>
            <a:ext cx="2657346" cy="2143125"/>
          </a:xfrm>
          <a:prstGeom prst="rect">
            <a:avLst/>
          </a:prstGeom>
        </p:spPr>
      </p:pic>
      <p:sp>
        <p:nvSpPr>
          <p:cNvPr id="7" name="Date Placeholder 6">
            <a:extLst>
              <a:ext uri="{FF2B5EF4-FFF2-40B4-BE49-F238E27FC236}">
                <a16:creationId id="{CB247440-EB08-D5F9-0B81-DF756EA9AC3C}"/>
              </a:ext>
            </a:extLst>
          </p:cNvPr>
          <p:cNvSpPr>
            <a:spLocks noGrp="1"/>
          </p:cNvSpPr>
          <p:nvPr>
            <p:ph type="dt" sz="half" idx="10"/>
          </p:nvPr>
        </p:nvSpPr>
        <p:spPr>
          <a:xfrm>
            <a:off x="670560" y="6480810"/>
            <a:ext cx="8534400" cy="205740"/>
          </a:xfrm>
        </p:spPr>
        <p:txBody>
          <a:bodyPr wrap="square" anchor="t" lIns="0" rIns="0" tIns="0" bIns="0">
            <a:normAutofit fontScale="100000" lnSpcReduction="0"/>
          </a:bodyPr>
          <a:lstStyle/>
          <a:p>
            <a:pPr algn="l" marL="0" indent="0">
              <a:lnSpc>
                <a:spcPct val="118000"/>
              </a:lnSpc>
              <a:spcBef>
                <a:spcPts val="0"/>
              </a:spcBef>
              <a:spcAft>
                <a:spcPts val="0"/>
              </a:spcAft>
              <a:defRPr sz="800" b="0">
                <a:solidFill>
                  <a:srgbClr val="66809A"/>
                </a:solidFill>
                <a:latin typeface="Arial"/>
                <a:ea typeface="Arial"/>
                <a:cs typeface="Arial"/>
              </a:defRPr>
            </a:pPr>
            <a:fld id="{1329AF07-C5DC-444F-83BD-9501A3687ADA}" type="datetime8">
              <a:rPr lang="en-NG" smtClean="0" sz="800" b="0">
                <a:solidFill>
                  <a:srgbClr val="66809A"/>
                </a:solidFill>
                <a:latin typeface="Arial"/>
                <a:ea typeface="Arial"/>
                <a:cs typeface="Arial"/>
              </a:rPr>
              <a:t>18/10/2026 08:13</a:t>
            </a:fld>
            <a:endParaRPr lang="en-NG" sz="800" b="0">
              <a:solidFill>
                <a:srgbClr val="66809A"/>
              </a:solidFill>
              <a:latin typeface="Arial"/>
              <a:ea typeface="Arial"/>
              <a:cs typeface="Arial"/>
            </a:endParaRPr>
          </a:p>
        </p:txBody>
      </p:sp>
      <p:sp>
        <p:nvSpPr>
          <p:cNvPr id="8" name="Slide Number Placeholder 7">
            <a:extLst>
              <a:ext uri="{FF2B5EF4-FFF2-40B4-BE49-F238E27FC236}">
                <a16:creationId id="{D24BD69E-012F-C07A-9FD3-F801E3D949F0}"/>
              </a:ext>
            </a:extLst>
          </p:cNvPr>
          <p:cNvSpPr>
            <a:spLocks noGrp="1"/>
          </p:cNvSpPr>
          <p:nvPr>
            <p:ph type="sldNum" sz="quarter" idx="12"/>
          </p:nvPr>
        </p:nvSpPr>
        <p:spPr>
          <a:xfrm>
            <a:off x="10728960" y="6480810"/>
            <a:ext cx="792480" cy="205740"/>
          </a:xfrm>
        </p:spPr>
        <p:txBody>
          <a:bodyPr wrap="square" anchor="t" lIns="0" rIns="0" tIns="0" bIns="0">
            <a:normAutofit fontScale="100000" lnSpcReduction="0"/>
          </a:bodyPr>
          <a:lstStyle/>
          <a:p>
            <a:pPr algn="r" marL="0" indent="0">
              <a:lnSpc>
                <a:spcPct val="118000"/>
              </a:lnSpc>
              <a:spcBef>
                <a:spcPts val="0"/>
              </a:spcBef>
              <a:spcAft>
                <a:spcPts val="0"/>
              </a:spcAft>
              <a:defRPr sz="800" b="0">
                <a:solidFill>
                  <a:srgbClr val="66809A"/>
                </a:solidFill>
                <a:latin typeface="Arial"/>
                <a:ea typeface="Arial"/>
                <a:cs typeface="Arial"/>
              </a:defRPr>
            </a:pPr>
            <a:fld id="{AF15468F-FAE6-4D8E-9204-DF6230E3F4CD}" type="slidenum">
              <a:rPr lang="en-NG" smtClean="0" sz="800" b="0">
                <a:solidFill>
                  <a:srgbClr val="66809A"/>
                </a:solidFill>
                <a:latin typeface="Arial"/>
                <a:ea typeface="Arial"/>
                <a:cs typeface="Arial"/>
              </a:rPr>
              <a:t>34</a:t>
            </a:fld>
            <a:endParaRPr lang="en-NG" sz="800" b="0">
              <a:solidFill>
                <a:srgbClr val="66809A"/>
              </a:solidFill>
              <a:latin typeface="Arial"/>
              <a:ea typeface="Arial"/>
              <a:cs typeface="Arial"/>
            </a:endParaRPr>
          </a:p>
        </p:txBody>
      </p:sp>
    </p:spTree>
    <p:extLst>
      <p:ext uri="{BB962C8B-B14F-4D97-AF65-F5344CB8AC3E}">
        <p14:creationId val="2180426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645</TotalTime>
  <Words>2343</Words>
  <Application>Microsoft Office PowerPoint</Application>
  <PresentationFormat>Widescreen</PresentationFormat>
  <Paragraphs>330</Paragraphs>
  <Slides>34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vt:lpstr>
      <vt:lpstr>Aptos Display</vt:lpstr>
      <vt:lpstr>Arial</vt:lpstr>
      <vt:lpstr>Calibri</vt:lpstr>
      <vt:lpstr>Calibri Light</vt:lpstr>
      <vt:lpstr>Google Sans</vt:lpstr>
      <vt:lpstr>Wingdings</vt:lpstr>
      <vt:lpstr>Office Theme</vt:lpstr>
      <vt:lpstr>Anatomy of the Upper Limbs</vt:lpstr>
      <vt:lpstr>Table of contents</vt:lpstr>
      <vt:lpstr>Introduction</vt:lpstr>
      <vt:lpstr>Introduction – Innervation of the upper limbs</vt:lpstr>
      <vt:lpstr>Osteology - clavicle</vt:lpstr>
      <vt:lpstr>Ossification of the clavicle</vt:lpstr>
      <vt:lpstr>Osteology -Humerus</vt:lpstr>
      <vt:lpstr>Osteology - The carpal bones</vt:lpstr>
      <vt:lpstr>The shoulder region</vt:lpstr>
      <vt:lpstr>Shoulder region- muscles</vt:lpstr>
      <vt:lpstr>The Shoulder region – Shoulder joint</vt:lpstr>
      <vt:lpstr>The Shoulder region – Shoulder joint</vt:lpstr>
      <vt:lpstr>Shoulder joint - movements</vt:lpstr>
      <vt:lpstr>Shoulder joint</vt:lpstr>
      <vt:lpstr>Shoulder joint – clinical importance</vt:lpstr>
      <vt:lpstr>The pectoral region</vt:lpstr>
      <vt:lpstr>The pectoral region</vt:lpstr>
      <vt:lpstr>The pectoral region</vt:lpstr>
      <vt:lpstr>The pectoral region - clinicals</vt:lpstr>
      <vt:lpstr>The Axilla</vt:lpstr>
      <vt:lpstr>The Arm</vt:lpstr>
      <vt:lpstr>The Arm – cubital fossa</vt:lpstr>
      <vt:lpstr>The Forearm</vt:lpstr>
      <vt:lpstr>Forearm- Anterior compartment</vt:lpstr>
      <vt:lpstr>Forearm- Anterior compartment</vt:lpstr>
      <vt:lpstr>Forearm- Posterior compartment</vt:lpstr>
      <vt:lpstr>Forearm- clinicals</vt:lpstr>
      <vt:lpstr>  Forearm – Blood supply </vt:lpstr>
      <vt:lpstr>Blood supply to the Upper limbs</vt:lpstr>
      <vt:lpstr>The hand</vt:lpstr>
      <vt:lpstr>Hand compartments and spaces</vt:lpstr>
      <vt:lpstr>Hand compartments and spaces</vt:lpstr>
      <vt:lpstr>Hand compartments and spaces</vt:lpstr>
      <vt:lpstr>Hand compartments and spaces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71</cp:revision>
  <dcterms:created xsi:type="dcterms:W3CDTF">2026-10-16T15:51:15Z</dcterms:created>
  <dcterms:modified xsi:type="dcterms:W3CDTF">2026-10-18T07:14:15Z</dcterms:modified>
</cp:coreProperties>
</file>