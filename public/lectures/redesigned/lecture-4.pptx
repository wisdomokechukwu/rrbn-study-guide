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8"/>
  </p:notesMasterIdLst>
  <p:sldIdLst>
    <p:sldId id="319" r:id="rId2"/>
    <p:sldId id="256" r:id="rId3"/>
    <p:sldId id="257" r:id="rId4"/>
    <p:sldId id="329" r:id="rId5"/>
    <p:sldId id="258" r:id="rId6"/>
    <p:sldId id="259" r:id="rId7"/>
    <p:sldId id="261" r:id="rId8"/>
    <p:sldId id="323" r:id="rId9"/>
    <p:sldId id="262" r:id="rId10"/>
    <p:sldId id="263" r:id="rId11"/>
    <p:sldId id="264" r:id="rId12"/>
    <p:sldId id="265" r:id="rId13"/>
    <p:sldId id="324" r:id="rId14"/>
    <p:sldId id="266" r:id="rId15"/>
    <p:sldId id="320" r:id="rId16"/>
    <p:sldId id="267" r:id="rId17"/>
    <p:sldId id="268" r:id="rId18"/>
    <p:sldId id="269" r:id="rId19"/>
    <p:sldId id="270" r:id="rId20"/>
    <p:sldId id="271" r:id="rId21"/>
    <p:sldId id="275" r:id="rId22"/>
    <p:sldId id="327" r:id="rId23"/>
    <p:sldId id="328" r:id="rId24"/>
    <p:sldId id="277" r:id="rId25"/>
    <p:sldId id="278" r:id="rId26"/>
    <p:sldId id="279" r:id="rId27"/>
    <p:sldId id="281" r:id="rId28"/>
    <p:sldId id="330" r:id="rId29"/>
    <p:sldId id="282" r:id="rId30"/>
    <p:sldId id="283" r:id="rId31"/>
    <p:sldId id="284" r:id="rId32"/>
    <p:sldId id="285" r:id="rId33"/>
    <p:sldId id="286" r:id="rId34"/>
    <p:sldId id="321" r:id="rId35"/>
    <p:sldId id="292" r:id="rId36"/>
    <p:sldId id="325" r:id="rId37"/>
    <p:sldId id="326" r:id="rId38"/>
    <p:sldId id="299" r:id="rId39"/>
    <p:sldId id="303" r:id="rId40"/>
    <p:sldId id="304" r:id="rId41"/>
    <p:sldId id="305" r:id="rId42"/>
    <p:sldId id="313" r:id="rId43"/>
    <p:sldId id="314" r:id="rId44"/>
    <p:sldId id="317" r:id="rId45"/>
    <p:sldId id="322" r:id="rId46"/>
    <p:sldId id="331"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AB2AFF-1C0B-45C0-91C5-6BC97D477330}" type="datetimeFigureOut">
              <a:rPr lang="en-US" smtClean="0"/>
              <a:t>10/21/2026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EFC8463-693C-4AC3-B16F-DD211D0F4155}" type="slidenum">
              <a:rPr lang="en-US" smtClean="0"/>
              <a:t>‹#›</a:t>
            </a:fld>
            <a:endParaRPr lang="en-US"/>
          </a:p>
        </p:txBody>
      </p:sp>
    </p:spTree>
    <p:extLst>
      <p:ext uri="{BB962C8B-B14F-4D97-AF65-F5344CB8AC3E}">
        <p14:creationId xmlns:p14="http://schemas.microsoft.com/office/powerpoint/2010/main" val="2345838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9F5AC19-71E6-477B-8EAD-4EB70840E73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C0B2E-5239-4394-83F4-3CA767B901F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F5AC19-71E6-477B-8EAD-4EB70840E73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C0B2E-5239-4394-83F4-3CA767B901FC}" type="slidenum">
              <a:rPr lang="en-US" smtClean="0"/>
              <a:t>‹#›</a:t>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9F5AC19-71E6-477B-8EAD-4EB70840E73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C0B2E-5239-4394-83F4-3CA767B901F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69F5AC19-71E6-477B-8EAD-4EB70840E738}"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C0B2E-5239-4394-83F4-3CA767B901FC}" type="slidenum">
              <a:rPr lang="en-US" smtClean="0"/>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9F5AC19-71E6-477B-8EAD-4EB70840E738}"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BC0B2E-5239-4394-83F4-3CA767B901F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9F5AC19-71E6-477B-8EAD-4EB70840E738}"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BC0B2E-5239-4394-83F4-3CA767B901F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69F5AC19-71E6-477B-8EAD-4EB70840E738}"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BC0B2E-5239-4394-83F4-3CA767B901F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69F5AC19-71E6-477B-8EAD-4EB70840E738}"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C0B2E-5239-4394-83F4-3CA767B901FC}" type="slidenum">
              <a:rPr lang="en-US" smtClean="0"/>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9F5AC19-71E6-477B-8EAD-4EB70840E738}"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C0B2E-5239-4394-83F4-3CA767B901FC}" type="slidenum">
              <a:rPr lang="en-US" smtClean="0"/>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F5AC19-71E6-477B-8EAD-4EB70840E73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C0B2E-5239-4394-83F4-3CA767B901F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69F5AC19-71E6-477B-8EAD-4EB70840E73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C0B2E-5239-4394-83F4-3CA767B901FC}" type="slidenum">
              <a:rPr lang="en-US" smtClean="0"/>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69F5AC19-71E6-477B-8EAD-4EB70840E738}" type="datetimeFigureOut">
              <a:rPr lang="en-US" smtClean="0"/>
              <a:t>10/21/2026</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9CBC0B2E-5239-4394-83F4-3CA767B901FC}" type="slidenum">
              <a:rPr lang="en-US" smtClean="0"/>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pic>
        <p:nvPicPr>
          <p:cNvPr id="9218" name="Picture 2" descr="C:\Users\HELLO\Desktop\MXT LECTURES\IMG-20261018-WA0005.jpg"/>
          <p:cNvPicPr>
            <a:picLocks noChangeAspect="1" noChangeArrowheads="1"/>
          </p:cNvPicPr>
          <p:nvPr/>
        </p:nvPicPr>
        <p:blipFill>
          <a:blip r:embed="rId2">
            <a:extLst>
              <a:ext uri="{28A0092B-C50C-407E-A947-70E740481C1C}">
                <a14:useLocalDpi val="0"/>
              </a:ext>
            </a:extLst>
          </a:blip>
          <a:srcRect/>
          <a:stretch>
            <a:fillRect/>
          </a:stretch>
        </p:blipFill>
        <p:spPr bwMode="auto">
          <a:xfrm>
            <a:off x="845819" y="582930"/>
            <a:ext cx="7452361" cy="5589270"/>
          </a:xfrm>
          <a:prstGeom prst="rect">
            <a:avLst/>
          </a:prstGeom>
          <a:noFill/>
          <a:extLst>
            <a:ext uri="{909E8E84-426E-40DD-AFC4-6F175D3DCCD1}">
              <a14:hiddenFill>
                <a:solidFill>
                  <a:srgbClr val="FFFFFF"/>
                </a:solidFill>
              </a14:hiddenFill>
            </a:ext>
          </a:extLst>
        </p:spPr>
      </p:pic>
    </p:spTree>
    <p:extLst>
      <p:ext uri="{BB962C8B-B14F-4D97-AF65-F5344CB8AC3E}">
        <p14:creationId val="4200332582"/>
      </p:ext>
    </p:extLst>
  </p:cSld>
  <p:clrMapOvr>
    <a:masterClrMapping/>
  </p:clrMapOvr>
</p:sld>
</file>

<file path=ppt/slides/slide2.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Radia accent line"/>
          <p:cNvSpPr/>
          <p:nvPr/>
        </p:nvSpPr>
        <p:spPr>
          <a:xfrm>
            <a:off x="502920" y="1405890"/>
            <a:ext cx="594360" cy="41148"/>
          </a:xfrm>
          <a:prstGeom prst="rect">
            <a:avLst/>
          </a:prstGeom>
          <a:solidFill>
            <a:srgbClr val="0056D2"/>
          </a:solidFill>
          <a:ln>
            <a:noFill/>
          </a:ln>
        </p:spPr>
      </p:sp>
      <p:sp>
        <p:nvSpPr>
          <p:cNvPr id="2" name="Title 1"/>
          <p:cNvSpPr>
            <a:spLocks noGrp="1"/>
          </p:cNvSpPr>
          <p:nvPr>
            <p:ph type="ctr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150" b="1">
                <a:solidFill>
                  <a:srgbClr val="0056D2"/>
                </a:solidFill>
                <a:latin typeface="Poppins SemiBold"/>
                <a:ea typeface="Poppins SemiBold"/>
                <a:cs typeface="Poppins SemiBold"/>
              </a:defRPr>
            </a:pPr>
            <a:r>
              <a:rPr lang="en-US" dirty="0" smtClean="0" sz="2150" b="1">
                <a:solidFill>
                  <a:srgbClr val="0056D2"/>
                </a:solidFill>
                <a:latin typeface="Poppins SemiBold" panose="02040602050305030304" pitchFamily="18" charset="0"/>
                <a:ea typeface="Poppins SemiBold"/>
                <a:cs typeface="Poppins SemiBold"/>
              </a:rPr>
              <a:t/>
            </a:r>
            <a:br>
              <a:rPr lang="en-US" dirty="0" smtClean="0">
                <a:latin typeface="Book Antiqua" panose="02040602050305030304" pitchFamily="18" charset="0"/>
              </a:rPr>
            </a:br>
            <a:r>
              <a:rPr lang="en-US" b="1" dirty="0" sz="2150">
                <a:solidFill>
                  <a:srgbClr val="0056D2"/>
                </a:solidFill>
                <a:latin typeface="Poppins SemiBold" panose="02040602050305030304" pitchFamily="18" charset="0"/>
                <a:ea typeface="Poppins SemiBold"/>
                <a:cs typeface="Poppins SemiBold"/>
              </a:rPr>
              <a:t/>
            </a:r>
            <a:br>
              <a:rPr lang="en-US" b="1" dirty="0">
                <a:latin typeface="Book Antiqua" panose="02040602050305030304" pitchFamily="18" charset="0"/>
              </a:rPr>
            </a:br>
            <a:r>
              <a:rPr lang="en-US" sz="2150" b="1" dirty="0" smtClean="0">
                <a:solidFill>
                  <a:srgbClr val="0056D2"/>
                </a:solidFill>
                <a:latin typeface="Poppins SemiBold" panose="02040602050305030304" pitchFamily="18" charset="0"/>
                <a:ea typeface="Poppins SemiBold"/>
                <a:cs typeface="Poppins SemiBold"/>
              </a:rPr>
              <a:t>LECTURES ON INTRODUCTION TO DAYLIGHT AND DIGITAL IMAGE PROCESSING </a:t>
            </a:r>
            <a:r>
              <a:rPr lang="en-US" dirty="0" smtClean="0" sz="2150" b="1">
                <a:solidFill>
                  <a:srgbClr val="0056D2"/>
                </a:solidFill>
                <a:latin typeface="Poppins SemiBold" panose="02040602050305030304" pitchFamily="18" charset="0"/>
                <a:ea typeface="Poppins SemiBold"/>
                <a:cs typeface="Poppins SemiBold"/>
              </a:rPr>
              <a:t/>
            </a:r>
            <a:br>
              <a:rPr lang="en-US" dirty="0" smtClean="0">
                <a:latin typeface="Book Antiqua" panose="02040602050305030304" pitchFamily="18" charset="0"/>
              </a:rPr>
            </a:br>
            <a:r>
              <a:rPr lang="en-US" dirty="0" sz="2150" b="1">
                <a:solidFill>
                  <a:srgbClr val="0056D2"/>
                </a:solidFill>
                <a:latin typeface="Poppins SemiBold" panose="02040602050305030304" pitchFamily="18" charset="0"/>
                <a:ea typeface="Poppins SemiBold"/>
                <a:cs typeface="Poppins SemiBold"/>
              </a:rPr>
              <a:t/>
            </a:r>
            <a:br>
              <a:rPr lang="en-US" dirty="0">
                <a:latin typeface="Book Antiqua" panose="02040602050305030304" pitchFamily="18" charset="0"/>
              </a:rPr>
            </a:br>
            <a:r>
              <a:rPr lang="en-US" sz="2150" b="1" dirty="0" smtClean="0">
                <a:solidFill>
                  <a:srgbClr val="0056D2"/>
                </a:solidFill>
                <a:latin typeface="Poppins SemiBold" panose="02040602050305030304" pitchFamily="18" charset="0"/>
                <a:ea typeface="Poppins SemiBold"/>
                <a:cs typeface="Poppins SemiBold"/>
              </a:rPr>
              <a:t>(MXT 303)</a:t>
            </a:r>
            <a:br>
              <a:rPr lang="en-US" sz="4000" b="1" dirty="0" smtClean="0">
                <a:latin typeface="Book Antiqua" panose="02040602050305030304" pitchFamily="18" charset="0"/>
              </a:rPr>
            </a:br>
            <a:r>
              <a:rPr lang="en-US" sz="2150" b="1" dirty="0" smtClean="0">
                <a:solidFill>
                  <a:srgbClr val="0056D2"/>
                </a:solidFill>
                <a:latin typeface="Poppins SemiBold" panose="02040602050305030304" pitchFamily="18" charset="0"/>
                <a:ea typeface="Poppins SemiBold"/>
                <a:cs typeface="Poppins SemiBold"/>
              </a:rPr>
              <a:t/>
            </a:r>
            <a:br>
              <a:rPr lang="en-US" sz="4000" b="1" dirty="0" smtClean="0">
                <a:latin typeface="Book Antiqua" panose="02040602050305030304" pitchFamily="18" charset="0"/>
              </a:rPr>
            </a:br>
            <a:r>
              <a:rPr lang="en-US" sz="2150" b="1" dirty="0" smtClean="0">
                <a:solidFill>
                  <a:srgbClr val="0056D2"/>
                </a:solidFill>
                <a:latin typeface="Poppins SemiBold" panose="02040602050305030304" pitchFamily="18" charset="0"/>
                <a:ea typeface="Poppins SemiBold"/>
                <a:cs typeface="Poppins SemiBold"/>
              </a:rPr>
              <a:t>BY </a:t>
            </a:r>
            <a:br>
              <a:rPr lang="en-US" sz="4000" b="1" dirty="0" smtClean="0">
                <a:latin typeface="Book Antiqua" panose="02040602050305030304" pitchFamily="18" charset="0"/>
              </a:rPr>
            </a:br>
            <a:r>
              <a:rPr lang="en-US" b="1" dirty="0" sz="2150">
                <a:solidFill>
                  <a:srgbClr val="0056D2"/>
                </a:solidFill>
                <a:latin typeface="Poppins SemiBold" panose="02040602050305030304" pitchFamily="18" charset="0"/>
                <a:ea typeface="Poppins SemiBold"/>
                <a:cs typeface="Poppins SemiBold"/>
              </a:rPr>
              <a:t/>
            </a:r>
            <a:br>
              <a:rPr lang="en-US" b="1" dirty="0">
                <a:latin typeface="Book Antiqua" panose="02040602050305030304" pitchFamily="18" charset="0"/>
              </a:rPr>
            </a:br>
            <a:r>
              <a:rPr lang="en-US" b="1" dirty="0" smtClean="0" sz="2150">
                <a:solidFill>
                  <a:srgbClr val="0056D2"/>
                </a:solidFill>
                <a:latin typeface="Poppins SemiBold" panose="02040602050305030304" pitchFamily="18" charset="0"/>
                <a:ea typeface="Poppins SemiBold"/>
                <a:cs typeface="Poppins SemiBold"/>
              </a:rPr>
              <a:t>DIR. GBARABE, </a:t>
            </a:r>
            <a:r>
              <a:rPr lang="en-US" b="1" dirty="0" sz="2150">
                <a:solidFill>
                  <a:srgbClr val="0056D2"/>
                </a:solidFill>
                <a:latin typeface="Poppins SemiBold" panose="02040602050305030304" pitchFamily="18" charset="0"/>
                <a:ea typeface="Poppins SemiBold"/>
                <a:cs typeface="Poppins SemiBold"/>
              </a:rPr>
              <a:t>KENT</a:t>
            </a:r>
            <a:r>
              <a:rPr lang="en-US" b="1" dirty="0" smtClean="0" sz="2150">
                <a:solidFill>
                  <a:srgbClr val="0056D2"/>
                </a:solidFill>
                <a:latin typeface="Poppins SemiBold" panose="02040602050305030304" pitchFamily="18" charset="0"/>
                <a:ea typeface="Poppins SemiBold"/>
                <a:cs typeface="Poppins SemiBold"/>
              </a:rPr>
              <a:t/>
            </a:r>
            <a:br>
              <a:rPr lang="en-US" b="1" dirty="0" smtClean="0">
                <a:latin typeface="Book Antiqua" panose="02040602050305030304" pitchFamily="18" charset="0"/>
              </a:rPr>
            </a:br>
            <a:endParaRPr lang="en-US" b="1" dirty="0" sz="2150">
              <a:solidFill>
                <a:srgbClr val="0056D2"/>
              </a:solidFill>
              <a:latin typeface="Poppins SemiBold" panose="02040602050305030304" pitchFamily="18" charset="0"/>
              <a:ea typeface="Poppins SemiBold"/>
              <a:cs typeface="Poppins SemiBold"/>
            </a:endParaRPr>
          </a:p>
        </p:txBody>
      </p:sp>
    </p:spTree>
    <p:extLst>
      <p:ext uri="{BB962C8B-B14F-4D97-AF65-F5344CB8AC3E}">
        <p14:creationId val="3894764238"/>
      </p:ext>
    </p:extLst>
  </p:cSld>
  <p:clrMapOvr>
    <a:masterClrMapping/>
  </p:clrMapOvr>
</p:sld>
</file>

<file path=ppt/slides/slide3.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150" b="1">
                <a:solidFill>
                  <a:srgbClr val="243B53"/>
                </a:solidFill>
                <a:latin typeface="Arial"/>
                <a:ea typeface="Arial"/>
                <a:cs typeface="Arial"/>
              </a:defRPr>
            </a:pPr>
            <a:r>
              <a:rPr lang="en-US" dirty="0" smtClean="0" sz="2150" b="1">
                <a:solidFill>
                  <a:srgbClr val="243B53"/>
                </a:solidFill>
                <a:latin typeface="Arial"/>
                <a:ea typeface="Arial"/>
                <a:cs typeface="Arial"/>
              </a:rPr>
              <a:t>INTRODUCTION/THE </a:t>
            </a:r>
            <a:r>
              <a:rPr lang="en-US" dirty="0" sz="2150" b="1">
                <a:solidFill>
                  <a:srgbClr val="243B53"/>
                </a:solidFill>
                <a:latin typeface="Arial"/>
                <a:ea typeface="Arial"/>
                <a:cs typeface="Arial"/>
              </a:rPr>
              <a:t>CONCEPT OF DAYLIGHT FILM </a:t>
            </a:r>
            <a:r>
              <a:rPr lang="en-US" dirty="0" smtClean="0" sz="2150" b="1">
                <a:solidFill>
                  <a:srgbClr val="243B53"/>
                </a:solidFill>
                <a:latin typeface="Arial"/>
                <a:ea typeface="Arial"/>
                <a:cs typeface="Arial"/>
              </a:rPr>
              <a:t>PROCESSING</a:t>
            </a:r>
            <a:endParaRPr sz="2150" b="1">
              <a:solidFill>
                <a:srgbClr val="243B53"/>
              </a:solidFill>
              <a:latin typeface="Arial"/>
              <a:ea typeface="Arial"/>
              <a:cs typeface="Arial"/>
            </a:endParaRPr>
          </a:p>
          <a:p>
            <a:pPr algn="l" marL="0" indent="0">
              <a:lnSpc>
                <a:spcPct val="118000"/>
              </a:lnSpc>
              <a:spcBef>
                <a:spcPts val="0"/>
              </a:spcBef>
              <a:spcAft>
                <a:spcPts val="450"/>
              </a:spcAft>
              <a:defRPr sz="2150" b="1">
                <a:solidFill>
                  <a:srgbClr val="243B53"/>
                </a:solidFill>
                <a:latin typeface="Arial"/>
                <a:ea typeface="Arial"/>
                <a:cs typeface="Arial"/>
              </a:defRPr>
            </a:pPr>
            <a:r>
              <a:rPr lang="en-US" dirty="0" smtClean="0" sz="2150" b="1">
                <a:solidFill>
                  <a:srgbClr val="243B53"/>
                </a:solidFill>
                <a:latin typeface="Arial"/>
                <a:ea typeface="Arial"/>
                <a:cs typeface="Arial"/>
              </a:rPr>
              <a:t>MODE OF OPERATION OF DAYLIGHT FILM PROCESSOR</a:t>
            </a:r>
            <a:endParaRPr sz="2150" b="1">
              <a:solidFill>
                <a:srgbClr val="243B53"/>
              </a:solidFill>
              <a:latin typeface="Arial"/>
              <a:ea typeface="Arial"/>
              <a:cs typeface="Arial"/>
            </a:endParaRPr>
          </a:p>
          <a:p>
            <a:pPr algn="l" marL="0" indent="0">
              <a:lnSpc>
                <a:spcPct val="118000"/>
              </a:lnSpc>
              <a:spcBef>
                <a:spcPts val="0"/>
              </a:spcBef>
              <a:spcAft>
                <a:spcPts val="450"/>
              </a:spcAft>
              <a:defRPr sz="2150" b="1">
                <a:solidFill>
                  <a:srgbClr val="243B53"/>
                </a:solidFill>
                <a:latin typeface="Arial"/>
                <a:ea typeface="Arial"/>
                <a:cs typeface="Arial"/>
              </a:defRPr>
            </a:pPr>
            <a:r>
              <a:rPr lang="en-US" dirty="0" smtClean="0" sz="2150" b="1">
                <a:solidFill>
                  <a:srgbClr val="243B53"/>
                </a:solidFill>
                <a:latin typeface="Arial"/>
                <a:ea typeface="Arial"/>
                <a:cs typeface="Arial"/>
              </a:rPr>
              <a:t>COMPONENT OF A DAYLIGHT FILM PROCESSOR</a:t>
            </a:r>
            <a:endParaRPr sz="2150" b="1">
              <a:solidFill>
                <a:srgbClr val="243B53"/>
              </a:solidFill>
              <a:latin typeface="Arial"/>
              <a:ea typeface="Arial"/>
              <a:cs typeface="Arial"/>
            </a:endParaRPr>
          </a:p>
          <a:p>
            <a:pPr algn="l" marL="0" indent="0">
              <a:lnSpc>
                <a:spcPct val="118000"/>
              </a:lnSpc>
              <a:spcBef>
                <a:spcPts val="0"/>
              </a:spcBef>
              <a:spcAft>
                <a:spcPts val="450"/>
              </a:spcAft>
              <a:defRPr sz="2150" b="1">
                <a:solidFill>
                  <a:srgbClr val="243B53"/>
                </a:solidFill>
                <a:latin typeface="Arial"/>
                <a:ea typeface="Arial"/>
                <a:cs typeface="Arial"/>
              </a:defRPr>
            </a:pPr>
            <a:r>
              <a:rPr lang="en-US" dirty="0" smtClean="0" sz="2150" b="1">
                <a:solidFill>
                  <a:srgbClr val="243B53"/>
                </a:solidFill>
                <a:latin typeface="Arial"/>
                <a:ea typeface="Arial"/>
                <a:cs typeface="Arial"/>
              </a:rPr>
              <a:t>ADVANTAGE AND DISADVANTAGES OF DAYLIGHT PROCESSING</a:t>
            </a:r>
            <a:endParaRPr sz="2150" b="1">
              <a:solidFill>
                <a:srgbClr val="243B53"/>
              </a:solidFill>
              <a:latin typeface="Arial"/>
              <a:ea typeface="Arial"/>
              <a:cs typeface="Arial"/>
            </a:endParaRPr>
          </a:p>
          <a:p>
            <a:pPr algn="l" marL="0" indent="0">
              <a:lnSpc>
                <a:spcPct val="118000"/>
              </a:lnSpc>
              <a:spcBef>
                <a:spcPts val="0"/>
              </a:spcBef>
              <a:spcAft>
                <a:spcPts val="450"/>
              </a:spcAft>
              <a:defRPr sz="2150" b="1">
                <a:solidFill>
                  <a:srgbClr val="243B53"/>
                </a:solidFill>
                <a:latin typeface="Arial"/>
                <a:ea typeface="Arial"/>
                <a:cs typeface="Arial"/>
              </a:defRPr>
            </a:pPr>
            <a:r>
              <a:rPr lang="en-US" dirty="0" smtClean="0" sz="2150" b="1">
                <a:solidFill>
                  <a:srgbClr val="243B53"/>
                </a:solidFill>
                <a:latin typeface="Arial"/>
                <a:ea typeface="Arial"/>
                <a:cs typeface="Arial"/>
              </a:rPr>
              <a:t>DAYLIGHT FILM PROCESSOR VERSUS DARKROOM PROCESSING</a:t>
            </a:r>
            <a:endParaRPr sz="2150" b="1">
              <a:solidFill>
                <a:srgbClr val="243B53"/>
              </a:solidFill>
              <a:latin typeface="Arial"/>
              <a:ea typeface="Arial"/>
              <a:cs typeface="Arial"/>
            </a:endParaRPr>
          </a:p>
          <a:p>
            <a:pPr algn="l" marL="0" indent="0">
              <a:lnSpc>
                <a:spcPct val="118000"/>
              </a:lnSpc>
              <a:spcBef>
                <a:spcPts val="0"/>
              </a:spcBef>
              <a:spcAft>
                <a:spcPts val="450"/>
              </a:spcAft>
              <a:defRPr sz="2150" b="1">
                <a:solidFill>
                  <a:srgbClr val="243B53"/>
                </a:solidFill>
                <a:latin typeface="Arial"/>
                <a:ea typeface="Arial"/>
                <a:cs typeface="Arial"/>
              </a:defRPr>
            </a:pPr>
            <a:r>
              <a:rPr lang="en-US" dirty="0" smtClean="0" sz="2150" b="1">
                <a:solidFill>
                  <a:srgbClr val="243B53"/>
                </a:solidFill>
                <a:latin typeface="Arial"/>
                <a:ea typeface="Arial"/>
                <a:cs typeface="Arial"/>
              </a:rPr>
              <a:t>PRECAUTION IN FILM PROCESSING </a:t>
            </a:r>
            <a:endParaRPr lang="en-US" dirty="0" sz="2150" b="1">
              <a:solidFill>
                <a:srgbClr val="243B53"/>
              </a:solidFill>
              <a:latin typeface="Arial"/>
              <a:ea typeface="Arial"/>
              <a:cs typeface="Arial"/>
            </a:endParaRPr>
          </a:p>
          <a:p>
            <a:pPr algn="l" marL="0" indent="0">
              <a:lnSpc>
                <a:spcPct val="118000"/>
              </a:lnSpc>
              <a:spcBef>
                <a:spcPts val="0"/>
              </a:spcBef>
              <a:spcAft>
                <a:spcPts val="450"/>
              </a:spcAft>
              <a:defRPr sz="2150" b="1">
                <a:solidFill>
                  <a:srgbClr val="243B53"/>
                </a:solidFill>
                <a:latin typeface="Arial"/>
                <a:ea typeface="Arial"/>
                <a:cs typeface="Arial"/>
              </a:defRPr>
            </a:pPr>
            <a:r>
              <a:rPr lang="en-US" dirty="0" sz="2150" b="1">
                <a:solidFill>
                  <a:srgbClr val="243B53"/>
                </a:solidFill>
                <a:latin typeface="Arial"/>
                <a:ea typeface="Arial"/>
                <a:cs typeface="Arial"/>
              </a:rPr>
              <a:t>BASIC PRINCIPLES OF DIGITAL </a:t>
            </a:r>
            <a:r>
              <a:rPr lang="en-US" dirty="0" smtClean="0" sz="2150" b="1">
                <a:solidFill>
                  <a:srgbClr val="243B53"/>
                </a:solidFill>
                <a:latin typeface="Arial"/>
                <a:ea typeface="Arial"/>
                <a:cs typeface="Arial"/>
              </a:rPr>
              <a:t>IMAGING</a:t>
            </a:r>
            <a:endParaRPr sz="2150" b="1">
              <a:solidFill>
                <a:srgbClr val="243B53"/>
              </a:solidFill>
              <a:latin typeface="Arial"/>
              <a:ea typeface="Arial"/>
              <a:cs typeface="Arial"/>
            </a:endParaRPr>
          </a:p>
          <a:p>
            <a:pPr algn="l" marL="0" indent="0">
              <a:lnSpc>
                <a:spcPct val="118000"/>
              </a:lnSpc>
              <a:spcBef>
                <a:spcPts val="0"/>
              </a:spcBef>
              <a:spcAft>
                <a:spcPts val="450"/>
              </a:spcAft>
              <a:defRPr sz="2150" b="1">
                <a:solidFill>
                  <a:srgbClr val="243B53"/>
                </a:solidFill>
                <a:latin typeface="Arial"/>
                <a:ea typeface="Arial"/>
                <a:cs typeface="Arial"/>
              </a:defRPr>
            </a:pPr>
            <a:r>
              <a:rPr lang="en-US" dirty="0" smtClean="0" sz="2150" b="1">
                <a:solidFill>
                  <a:srgbClr val="243B53"/>
                </a:solidFill>
                <a:latin typeface="Arial"/>
                <a:ea typeface="Arial"/>
                <a:cs typeface="Arial"/>
              </a:rPr>
              <a:t>TYPES OF DIGITAL X RAY RECEPTOR</a:t>
            </a:r>
            <a:endParaRPr lang="en-US" dirty="0" sz="2150" b="1">
              <a:solidFill>
                <a:srgbClr val="243B53"/>
              </a:solidFill>
              <a:latin typeface="Arial"/>
              <a:ea typeface="Arial"/>
              <a:cs typeface="Arial"/>
            </a:endParaRPr>
          </a:p>
          <a:p>
            <a:pPr algn="l" marL="0" indent="0">
              <a:lnSpc>
                <a:spcPct val="118000"/>
              </a:lnSpc>
              <a:spcBef>
                <a:spcPts val="0"/>
              </a:spcBef>
              <a:spcAft>
                <a:spcPts val="450"/>
              </a:spcAft>
              <a:defRPr sz="2150" b="1">
                <a:solidFill>
                  <a:srgbClr val="243B53"/>
                </a:solidFill>
                <a:latin typeface="Arial"/>
                <a:ea typeface="Arial"/>
                <a:cs typeface="Arial"/>
              </a:defRPr>
            </a:pPr>
            <a:r>
              <a:rPr lang="en-US" dirty="0" smtClean="0" sz="2150" b="1">
                <a:solidFill>
                  <a:srgbClr val="243B53"/>
                </a:solidFill>
                <a:latin typeface="Arial"/>
                <a:ea typeface="Arial"/>
                <a:cs typeface="Arial"/>
              </a:rPr>
              <a:t>MAIN STAGES IN </a:t>
            </a:r>
            <a:r>
              <a:rPr lang="en-US" dirty="0" sz="2150" b="1">
                <a:solidFill>
                  <a:srgbClr val="243B53"/>
                </a:solidFill>
                <a:latin typeface="Arial"/>
                <a:ea typeface="Arial"/>
                <a:cs typeface="Arial"/>
              </a:rPr>
              <a:t>DIGITAL IMAGE </a:t>
            </a:r>
            <a:r>
              <a:rPr lang="en-US" dirty="0" smtClean="0" sz="2150" b="1">
                <a:solidFill>
                  <a:srgbClr val="243B53"/>
                </a:solidFill>
                <a:latin typeface="Arial"/>
                <a:ea typeface="Arial"/>
                <a:cs typeface="Arial"/>
              </a:rPr>
              <a:t>PROCESSING</a:t>
            </a:r>
            <a:endParaRPr sz="2150" b="1">
              <a:solidFill>
                <a:srgbClr val="243B53"/>
              </a:solidFill>
              <a:latin typeface="Arial"/>
              <a:ea typeface="Arial"/>
              <a:cs typeface="Arial"/>
            </a:endParaRPr>
          </a:p>
          <a:p>
            <a:pPr algn="l" marL="0" indent="0">
              <a:lnSpc>
                <a:spcPct val="118000"/>
              </a:lnSpc>
              <a:spcBef>
                <a:spcPts val="0"/>
              </a:spcBef>
              <a:spcAft>
                <a:spcPts val="450"/>
              </a:spcAft>
              <a:defRPr sz="2150" b="1">
                <a:solidFill>
                  <a:srgbClr val="243B53"/>
                </a:solidFill>
                <a:latin typeface="Arial"/>
                <a:ea typeface="Arial"/>
                <a:cs typeface="Arial"/>
              </a:defRPr>
            </a:pPr>
            <a:r>
              <a:rPr lang="en-US" dirty="0" smtClean="0" sz="2150" b="1">
                <a:solidFill>
                  <a:srgbClr val="243B53"/>
                </a:solidFill>
                <a:latin typeface="Arial"/>
                <a:ea typeface="Arial"/>
                <a:cs typeface="Arial"/>
              </a:rPr>
              <a:t>THE COMPUTED RADIOGRAPHY IMAGING RECEPTOR (CR)</a:t>
            </a:r>
            <a:endParaRPr sz="2150" b="1">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a:ea typeface="Poppins SemiBold"/>
                <a:cs typeface="Poppins SemiBold"/>
              </a:rPr>
              <a:t>COURSE OUTLINE</a:t>
            </a:r>
            <a:br>
              <a:rPr lang="en-US" dirty="0" smtClean="0"/>
            </a:br>
            <a:endParaRPr lang="en-US" dirty="0" sz="3200" b="1">
              <a:solidFill>
                <a:srgbClr val="0056D2"/>
              </a:solidFill>
              <a:latin typeface="Poppins SemiBold"/>
              <a:ea typeface="Poppins SemiBold"/>
              <a:cs typeface="Poppins SemiBold"/>
            </a:endParaRPr>
          </a:p>
        </p:txBody>
      </p:sp>
    </p:spTree>
    <p:extLst>
      <p:ext uri="{BB962C8B-B14F-4D97-AF65-F5344CB8AC3E}">
        <p14:creationId val="1699690102"/>
      </p:ext>
    </p:extLst>
  </p:cSld>
  <p:clrMapOvr>
    <a:masterClrMapping/>
  </p:clrMapOvr>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2" name="Content Placeholder 1"/>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1850" b="1">
                <a:solidFill>
                  <a:srgbClr val="243B53"/>
                </a:solidFill>
                <a:latin typeface="Arial"/>
                <a:ea typeface="Arial"/>
                <a:cs typeface="Arial"/>
              </a:defRPr>
            </a:pPr>
            <a:r>
              <a:rPr lang="en-US" dirty="0" sz="1850" b="1">
                <a:solidFill>
                  <a:srgbClr val="243B53"/>
                </a:solidFill>
                <a:latin typeface="Arial"/>
                <a:ea typeface="Arial"/>
                <a:cs typeface="Arial"/>
              </a:rPr>
              <a:t>STAGES OF </a:t>
            </a:r>
            <a:r>
              <a:rPr lang="en-US" dirty="0" smtClean="0" sz="1850" b="1">
                <a:solidFill>
                  <a:srgbClr val="243B53"/>
                </a:solidFill>
                <a:latin typeface="Arial"/>
                <a:ea typeface="Arial"/>
                <a:cs typeface="Arial"/>
              </a:rPr>
              <a:t>CR DETECTOR </a:t>
            </a:r>
            <a:r>
              <a:rPr lang="en-US" dirty="0" sz="1850" b="1">
                <a:solidFill>
                  <a:srgbClr val="243B53"/>
                </a:solidFill>
                <a:latin typeface="Arial"/>
                <a:ea typeface="Arial"/>
                <a:cs typeface="Arial"/>
              </a:rPr>
              <a:t>IMAGE PROCESSING</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mtClean="0" sz="1850" b="1">
                <a:solidFill>
                  <a:srgbClr val="243B53"/>
                </a:solidFill>
                <a:latin typeface="Arial"/>
                <a:ea typeface="Arial"/>
                <a:cs typeface="Arial"/>
              </a:rPr>
              <a:t>SCIENTIFIC </a:t>
            </a:r>
            <a:r>
              <a:rPr lang="en-US" dirty="0" sz="1850" b="1">
                <a:solidFill>
                  <a:srgbClr val="243B53"/>
                </a:solidFill>
                <a:latin typeface="Arial"/>
                <a:ea typeface="Arial"/>
                <a:cs typeface="Arial"/>
              </a:rPr>
              <a:t>PRINCIPLES OF CR </a:t>
            </a:r>
            <a:r>
              <a:rPr lang="en-US" dirty="0" smtClean="0" sz="1850" b="1">
                <a:solidFill>
                  <a:srgbClr val="243B53"/>
                </a:solidFill>
                <a:latin typeface="Arial"/>
                <a:ea typeface="Arial"/>
                <a:cs typeface="Arial"/>
              </a:rPr>
              <a:t>DETECTOR</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mtClean="0" sz="1850" b="1">
                <a:solidFill>
                  <a:srgbClr val="243B53"/>
                </a:solidFill>
                <a:latin typeface="Arial"/>
                <a:ea typeface="Arial"/>
                <a:cs typeface="Arial"/>
              </a:rPr>
              <a:t>COMPONENTS OF CR DETECTOR</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mtClean="0" sz="1850" b="1">
                <a:solidFill>
                  <a:srgbClr val="243B53"/>
                </a:solidFill>
                <a:latin typeface="Arial"/>
                <a:ea typeface="Arial"/>
                <a:cs typeface="Arial"/>
              </a:rPr>
              <a:t>ADVANTAGES OF CR IMAGING DETECTOR</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mtClean="0" sz="1850" b="1">
                <a:solidFill>
                  <a:srgbClr val="243B53"/>
                </a:solidFill>
                <a:latin typeface="Arial"/>
                <a:ea typeface="Arial"/>
                <a:cs typeface="Arial"/>
              </a:rPr>
              <a:t>DISADVANTAGES OF CR IMAGING DETECTOR</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mtClean="0" sz="1850" b="1">
                <a:solidFill>
                  <a:srgbClr val="243B53"/>
                </a:solidFill>
                <a:latin typeface="Arial"/>
                <a:ea typeface="Arial"/>
                <a:cs typeface="Arial"/>
              </a:rPr>
              <a:t>SUMMARY OF CR IMAGING  OPERATION</a:t>
            </a:r>
            <a:endParaRPr lang="en-US" dirty="0"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z="1850" b="1">
                <a:solidFill>
                  <a:srgbClr val="243B53"/>
                </a:solidFill>
                <a:latin typeface="Arial"/>
                <a:ea typeface="Arial"/>
                <a:cs typeface="Arial"/>
              </a:rPr>
              <a:t>THE DIGITAL IMAGING (DR ) RECEPTOR</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z="1850" b="1">
                <a:solidFill>
                  <a:srgbClr val="243B53"/>
                </a:solidFill>
                <a:latin typeface="Arial"/>
                <a:ea typeface="Arial"/>
                <a:cs typeface="Arial"/>
              </a:rPr>
              <a:t>TYPES OF </a:t>
            </a:r>
            <a:r>
              <a:rPr lang="en-US" dirty="0" smtClean="0" sz="1850" b="1">
                <a:solidFill>
                  <a:srgbClr val="243B53"/>
                </a:solidFill>
                <a:latin typeface="Arial"/>
                <a:ea typeface="Arial"/>
                <a:cs typeface="Arial"/>
              </a:rPr>
              <a:t>( DR )DIGITAL </a:t>
            </a:r>
            <a:r>
              <a:rPr lang="en-US" dirty="0" sz="1850" b="1">
                <a:solidFill>
                  <a:srgbClr val="243B53"/>
                </a:solidFill>
                <a:latin typeface="Arial"/>
                <a:ea typeface="Arial"/>
                <a:cs typeface="Arial"/>
              </a:rPr>
              <a:t>IMAGE </a:t>
            </a:r>
            <a:r>
              <a:rPr lang="en-US" dirty="0" smtClean="0" sz="1850" b="1">
                <a:solidFill>
                  <a:srgbClr val="243B53"/>
                </a:solidFill>
                <a:latin typeface="Arial"/>
                <a:ea typeface="Arial"/>
                <a:cs typeface="Arial"/>
              </a:rPr>
              <a:t>PROCESSING</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mtClean="0" sz="1850" b="1">
                <a:solidFill>
                  <a:srgbClr val="243B53"/>
                </a:solidFill>
                <a:latin typeface="Arial"/>
                <a:ea typeface="Arial"/>
                <a:cs typeface="Arial"/>
              </a:rPr>
              <a:t>COMPONENTS/CROSS SECTION OF DR PLATE</a:t>
            </a:r>
            <a:endParaRPr lang="en-US" dirty="0"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mtClean="0" sz="1850" b="1">
                <a:solidFill>
                  <a:srgbClr val="243B53"/>
                </a:solidFill>
                <a:latin typeface="Arial"/>
                <a:ea typeface="Arial"/>
                <a:cs typeface="Arial"/>
              </a:rPr>
              <a:t>SUMMARY OF DR </a:t>
            </a:r>
            <a:r>
              <a:rPr lang="en-US" dirty="0" sz="1850" b="1">
                <a:solidFill>
                  <a:srgbClr val="243B53"/>
                </a:solidFill>
                <a:latin typeface="Arial"/>
                <a:ea typeface="Arial"/>
                <a:cs typeface="Arial"/>
              </a:rPr>
              <a:t>IMAGING PROCESSING OPERATIONS</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mtClean="0" sz="1850" b="1">
                <a:solidFill>
                  <a:srgbClr val="243B53"/>
                </a:solidFill>
                <a:latin typeface="Arial"/>
                <a:ea typeface="Arial"/>
                <a:cs typeface="Arial"/>
              </a:rPr>
              <a:t>ADVANTAGES AND DISADVANTAGES </a:t>
            </a:r>
            <a:r>
              <a:rPr lang="en-US" dirty="0" sz="1850" b="1">
                <a:solidFill>
                  <a:srgbClr val="243B53"/>
                </a:solidFill>
                <a:latin typeface="Arial"/>
                <a:ea typeface="Arial"/>
                <a:cs typeface="Arial"/>
              </a:rPr>
              <a:t>OF </a:t>
            </a:r>
            <a:r>
              <a:rPr lang="en-US" dirty="0" smtClean="0" sz="1850" b="1">
                <a:solidFill>
                  <a:srgbClr val="243B53"/>
                </a:solidFill>
                <a:latin typeface="Arial"/>
                <a:ea typeface="Arial"/>
                <a:cs typeface="Arial"/>
              </a:rPr>
              <a:t>DR  </a:t>
            </a:r>
            <a:r>
              <a:rPr lang="en-US" dirty="0" sz="1850" b="1">
                <a:solidFill>
                  <a:srgbClr val="243B53"/>
                </a:solidFill>
                <a:latin typeface="Arial"/>
                <a:ea typeface="Arial"/>
                <a:cs typeface="Arial"/>
              </a:rPr>
              <a:t>IMAGING PROCESSING</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z="1850" b="1">
                <a:solidFill>
                  <a:srgbClr val="243B53"/>
                </a:solidFill>
                <a:latin typeface="Arial"/>
                <a:ea typeface="Arial"/>
                <a:cs typeface="Arial"/>
              </a:rPr>
              <a:t>DIFFERENCES BETWEEN CONVENTIONAL AND DIGITAL IMAGING </a:t>
            </a:r>
            <a:r>
              <a:rPr lang="en-US" dirty="0" smtClean="0" sz="1850" b="1">
                <a:solidFill>
                  <a:srgbClr val="243B53"/>
                </a:solidFill>
                <a:latin typeface="Arial"/>
                <a:ea typeface="Arial"/>
                <a:cs typeface="Arial"/>
              </a:rPr>
              <a:t>PROCESSING</a:t>
            </a:r>
            <a:endParaRPr sz="1850" b="1">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3" name="Title 2"/>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dirty="0" smtClean="0" b="1">
                <a:solidFill>
                  <a:srgbClr val="0056D2"/>
                </a:solidFill>
                <a:latin typeface="Poppins SemiBold"/>
                <a:ea typeface="Poppins SemiBold"/>
                <a:cs typeface="Poppins SemiBold"/>
              </a:rPr>
              <a:t>COURSE OUTLINE CONTD</a:t>
            </a:r>
            <a:endParaRPr lang="en-US" sz="3200" dirty="0" b="1">
              <a:solidFill>
                <a:srgbClr val="0056D2"/>
              </a:solidFill>
              <a:latin typeface="Poppins SemiBold"/>
              <a:ea typeface="Poppins SemiBold"/>
              <a:cs typeface="Poppins SemiBold"/>
            </a:endParaRPr>
          </a:p>
        </p:txBody>
      </p:sp>
    </p:spTree>
    <p:extLst>
      <p:ext uri="{BB962C8B-B14F-4D97-AF65-F5344CB8AC3E}">
        <p14:creationId val="3172270830"/>
      </p:ext>
    </p:extLst>
  </p:cSld>
  <p:clrMapOvr>
    <a:masterClrMapping/>
  </p:clrMapOvr>
</p:sld>
</file>

<file path=ppt/slides/slide5.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a:ea typeface="Arial"/>
                <a:cs typeface="Arial"/>
              </a:rPr>
              <a:t>A </a:t>
            </a:r>
            <a:r>
              <a:rPr lang="en-US" dirty="0" sz="2200" b="0">
                <a:solidFill>
                  <a:srgbClr val="243B53"/>
                </a:solidFill>
                <a:latin typeface="Arial"/>
                <a:ea typeface="Arial"/>
                <a:cs typeface="Arial"/>
              </a:rPr>
              <a:t>daylight film processor is a radiographic film processing system that allows radiographers to handle and process X-ray films in normal room light without using a darkroom.</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It uses a special light-tight system to protect the unexposed film from unwanted light while the film is being loaded, processed, and removed.</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150" b="1">
                <a:solidFill>
                  <a:srgbClr val="0056D2"/>
                </a:solidFill>
                <a:latin typeface="Poppins SemiBold"/>
                <a:ea typeface="Poppins SemiBold"/>
                <a:cs typeface="Poppins SemiBold"/>
              </a:defRPr>
            </a:pPr>
            <a:r>
              <a:rPr lang="en-US" b="1" dirty="0" smtClean="0" sz="3150">
                <a:solidFill>
                  <a:srgbClr val="0056D2"/>
                </a:solidFill>
                <a:latin typeface="Poppins SemiBold"/>
                <a:ea typeface="Poppins SemiBold"/>
                <a:cs typeface="Poppins SemiBold"/>
              </a:rPr>
              <a:t>CONCEPT OF DAYLIGHT FILM PROCESSING </a:t>
            </a:r>
            <a:r>
              <a:rPr lang="en-US" dirty="0" sz="3150" b="1">
                <a:solidFill>
                  <a:srgbClr val="0056D2"/>
                </a:solidFill>
                <a:latin typeface="Poppins SemiBold"/>
                <a:ea typeface="Poppins SemiBold"/>
                <a:cs typeface="Poppins SemiBold"/>
              </a:rPr>
              <a:t/>
            </a:r>
            <a:br>
              <a:rPr lang="en-US" dirty="0"/>
            </a:br>
            <a:endParaRPr lang="en-US" dirty="0" sz="3150" b="1">
              <a:solidFill>
                <a:srgbClr val="0056D2"/>
              </a:solidFill>
              <a:latin typeface="Poppins SemiBold"/>
              <a:ea typeface="Poppins SemiBold"/>
              <a:cs typeface="Poppins SemiBold"/>
            </a:endParaRPr>
          </a:p>
        </p:txBody>
      </p:sp>
    </p:spTree>
    <p:extLst>
      <p:ext uri="{BB962C8B-B14F-4D97-AF65-F5344CB8AC3E}">
        <p14:creationId val="26205581"/>
      </p:ext>
    </p:extLst>
  </p:cSld>
  <p:clrMapOvr>
    <a:masterClrMapping/>
  </p:clrMapOvr>
</p:sld>
</file>

<file path=ppt/slides/slide6.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1800" b="1">
                <a:solidFill>
                  <a:srgbClr val="243B53"/>
                </a:solidFill>
                <a:latin typeface="Arial"/>
                <a:ea typeface="Arial"/>
                <a:cs typeface="Arial"/>
              </a:defRPr>
            </a:pPr>
            <a:r>
              <a:rPr lang="en-US" dirty="0" smtClean="0" sz="1800" b="1">
                <a:solidFill>
                  <a:srgbClr val="243B53"/>
                </a:solidFill>
                <a:latin typeface="Arial"/>
                <a:ea typeface="Arial"/>
                <a:cs typeface="Arial"/>
              </a:rPr>
              <a:t>The </a:t>
            </a:r>
            <a:r>
              <a:rPr lang="en-US" dirty="0" sz="1800" b="1">
                <a:solidFill>
                  <a:srgbClr val="243B53"/>
                </a:solidFill>
                <a:latin typeface="Arial"/>
                <a:ea typeface="Arial"/>
                <a:cs typeface="Arial"/>
              </a:rPr>
              <a:t>process generally follows these steps:</a:t>
            </a:r>
            <a:endParaRPr sz="1800" b="1">
              <a:solidFill>
                <a:srgbClr val="243B53"/>
              </a:solidFill>
              <a:latin typeface="Arial"/>
              <a:ea typeface="Arial"/>
              <a:cs typeface="Arial"/>
            </a:endParaRPr>
          </a:p>
          <a:p>
            <a:pPr algn="l" marL="0" indent="0">
              <a:lnSpc>
                <a:spcPct val="118000"/>
              </a:lnSpc>
              <a:spcBef>
                <a:spcPts val="0"/>
              </a:spcBef>
              <a:spcAft>
                <a:spcPts val="450"/>
              </a:spcAft>
              <a:defRPr sz="1750" b="0">
                <a:solidFill>
                  <a:srgbClr val="243B53"/>
                </a:solidFill>
                <a:latin typeface="Arial"/>
                <a:ea typeface="Arial"/>
                <a:cs typeface="Arial"/>
              </a:defRPr>
            </a:pPr>
            <a:r>
              <a:rPr lang="en-US" dirty="0" sz="1750" b="0">
                <a:solidFill>
                  <a:srgbClr val="243B53"/>
                </a:solidFill>
                <a:latin typeface="Arial"/>
                <a:ea typeface="Arial"/>
                <a:cs typeface="Arial"/>
              </a:rPr>
              <a:t>1. Film loading</a:t>
            </a:r>
            <a:endParaRPr sz="1750" b="0">
              <a:solidFill>
                <a:srgbClr val="243B53"/>
              </a:solidFill>
              <a:latin typeface="Arial"/>
              <a:ea typeface="Arial"/>
              <a:cs typeface="Arial"/>
            </a:endParaRPr>
          </a:p>
          <a:p>
            <a:pPr marL="0" indent="0" algn="l">
              <a:lnSpc>
                <a:spcPct val="118000"/>
              </a:lnSpc>
              <a:spcBef>
                <a:spcPts val="0"/>
              </a:spcBef>
              <a:spcAft>
                <a:spcPts val="450"/>
              </a:spcAft>
              <a:buNone/>
              <a:defRPr sz="1750" b="0">
                <a:solidFill>
                  <a:srgbClr val="243B53"/>
                </a:solidFill>
                <a:latin typeface="Arial"/>
                <a:ea typeface="Arial"/>
                <a:cs typeface="Arial"/>
              </a:defRPr>
            </a:pPr>
            <a:r>
              <a:rPr lang="en-US" dirty="0" sz="1750" b="0">
                <a:solidFill>
                  <a:srgbClr val="243B53"/>
                </a:solidFill>
                <a:latin typeface="Arial"/>
                <a:ea typeface="Arial"/>
                <a:cs typeface="Arial"/>
              </a:rPr>
              <a:t>The exposed X-ray cassette is placed into the daylight loading compartment</a:t>
            </a:r>
            <a:r>
              <a:rPr lang="en-US" dirty="0" smtClean="0" sz="1750" b="0">
                <a:solidFill>
                  <a:srgbClr val="243B53"/>
                </a:solidFill>
                <a:latin typeface="Arial"/>
                <a:ea typeface="Arial"/>
                <a:cs typeface="Arial"/>
              </a:rPr>
              <a:t>.</a:t>
            </a:r>
            <a:endParaRPr lang="en-US" dirty="0" sz="1750" b="0">
              <a:solidFill>
                <a:srgbClr val="243B53"/>
              </a:solidFill>
              <a:latin typeface="Arial"/>
              <a:ea typeface="Arial"/>
              <a:cs typeface="Arial"/>
            </a:endParaRPr>
          </a:p>
          <a:p>
            <a:pPr algn="l" marL="0" indent="0">
              <a:lnSpc>
                <a:spcPct val="118000"/>
              </a:lnSpc>
              <a:spcBef>
                <a:spcPts val="0"/>
              </a:spcBef>
              <a:spcAft>
                <a:spcPts val="450"/>
              </a:spcAft>
              <a:defRPr sz="1750" b="0">
                <a:solidFill>
                  <a:srgbClr val="243B53"/>
                </a:solidFill>
                <a:latin typeface="Arial"/>
                <a:ea typeface="Arial"/>
                <a:cs typeface="Arial"/>
              </a:defRPr>
            </a:pPr>
            <a:r>
              <a:rPr lang="en-US" dirty="0" smtClean="0" sz="1750" b="0">
                <a:solidFill>
                  <a:srgbClr val="243B53"/>
                </a:solidFill>
                <a:latin typeface="Arial"/>
                <a:ea typeface="Arial"/>
                <a:cs typeface="Arial"/>
              </a:rPr>
              <a:t> </a:t>
            </a:r>
            <a:r>
              <a:rPr lang="en-US" dirty="0" sz="1750" b="0">
                <a:solidFill>
                  <a:srgbClr val="243B53"/>
                </a:solidFill>
                <a:latin typeface="Arial"/>
                <a:ea typeface="Arial"/>
                <a:cs typeface="Arial"/>
              </a:rPr>
              <a:t>Film extraction</a:t>
            </a:r>
            <a:endParaRPr sz="1750" b="0">
              <a:solidFill>
                <a:srgbClr val="243B53"/>
              </a:solidFill>
              <a:latin typeface="Arial"/>
              <a:ea typeface="Arial"/>
              <a:cs typeface="Arial"/>
            </a:endParaRPr>
          </a:p>
          <a:p>
            <a:pPr marL="0" indent="0" algn="l">
              <a:lnSpc>
                <a:spcPct val="118000"/>
              </a:lnSpc>
              <a:spcBef>
                <a:spcPts val="0"/>
              </a:spcBef>
              <a:spcAft>
                <a:spcPts val="450"/>
              </a:spcAft>
              <a:buNone/>
              <a:defRPr sz="1750" b="0">
                <a:solidFill>
                  <a:srgbClr val="243B53"/>
                </a:solidFill>
                <a:latin typeface="Arial"/>
                <a:ea typeface="Arial"/>
                <a:cs typeface="Arial"/>
              </a:defRPr>
            </a:pPr>
            <a:r>
              <a:rPr lang="en-US" dirty="0" sz="1750" b="0">
                <a:solidFill>
                  <a:srgbClr val="243B53"/>
                </a:solidFill>
                <a:latin typeface="Arial"/>
                <a:ea typeface="Arial"/>
                <a:cs typeface="Arial"/>
              </a:rPr>
              <a:t>The system opens the cassette inside a light-protected compartment and removes the exposed film</a:t>
            </a:r>
            <a:r>
              <a:rPr lang="en-US" dirty="0" smtClean="0" sz="1750" b="0">
                <a:solidFill>
                  <a:srgbClr val="243B53"/>
                </a:solidFill>
                <a:latin typeface="Arial"/>
                <a:ea typeface="Arial"/>
                <a:cs typeface="Arial"/>
              </a:rPr>
              <a:t>.</a:t>
            </a:r>
            <a:endParaRPr sz="1750" b="0">
              <a:solidFill>
                <a:srgbClr val="243B53"/>
              </a:solidFill>
              <a:latin typeface="Arial"/>
              <a:ea typeface="Arial"/>
              <a:cs typeface="Arial"/>
            </a:endParaRPr>
          </a:p>
          <a:p>
            <a:pPr algn="l" marL="0" indent="0">
              <a:lnSpc>
                <a:spcPct val="118000"/>
              </a:lnSpc>
              <a:spcBef>
                <a:spcPts val="0"/>
              </a:spcBef>
              <a:spcAft>
                <a:spcPts val="450"/>
              </a:spcAft>
              <a:defRPr sz="1750" b="0">
                <a:solidFill>
                  <a:srgbClr val="243B53"/>
                </a:solidFill>
                <a:latin typeface="Arial"/>
                <a:ea typeface="Arial"/>
                <a:cs typeface="Arial"/>
              </a:defRPr>
            </a:pPr>
            <a:r>
              <a:rPr lang="en-US" dirty="0" smtClean="0" sz="1750" b="0">
                <a:solidFill>
                  <a:srgbClr val="243B53"/>
                </a:solidFill>
                <a:latin typeface="Arial"/>
                <a:ea typeface="Arial"/>
                <a:cs typeface="Arial"/>
              </a:rPr>
              <a:t> </a:t>
            </a:r>
            <a:r>
              <a:rPr lang="en-US" dirty="0" sz="1750" b="0">
                <a:solidFill>
                  <a:srgbClr val="243B53"/>
                </a:solidFill>
                <a:latin typeface="Arial"/>
                <a:ea typeface="Arial"/>
                <a:cs typeface="Arial"/>
              </a:rPr>
              <a:t>Film processing</a:t>
            </a:r>
            <a:endParaRPr sz="1750" b="0">
              <a:solidFill>
                <a:srgbClr val="243B53"/>
              </a:solidFill>
              <a:latin typeface="Arial"/>
              <a:ea typeface="Arial"/>
              <a:cs typeface="Arial"/>
            </a:endParaRPr>
          </a:p>
          <a:p>
            <a:pPr marL="0" indent="0" algn="l">
              <a:lnSpc>
                <a:spcPct val="118000"/>
              </a:lnSpc>
              <a:spcBef>
                <a:spcPts val="0"/>
              </a:spcBef>
              <a:spcAft>
                <a:spcPts val="450"/>
              </a:spcAft>
              <a:buNone/>
              <a:defRPr sz="1750" b="0">
                <a:solidFill>
                  <a:srgbClr val="243B53"/>
                </a:solidFill>
                <a:latin typeface="Arial"/>
                <a:ea typeface="Arial"/>
                <a:cs typeface="Arial"/>
              </a:defRPr>
            </a:pPr>
            <a:r>
              <a:rPr lang="en-US" dirty="0" sz="1750" b="0">
                <a:solidFill>
                  <a:srgbClr val="243B53"/>
                </a:solidFill>
                <a:latin typeface="Arial"/>
                <a:ea typeface="Arial"/>
                <a:cs typeface="Arial"/>
              </a:rPr>
              <a:t>The film passes through the processing stages: developing, fixing, washing, and drying. Some systems integrate these stages into an automatic processor</a:t>
            </a:r>
            <a:r>
              <a:rPr lang="en-US" dirty="0" smtClean="0" sz="1750" b="0">
                <a:solidFill>
                  <a:srgbClr val="243B53"/>
                </a:solidFill>
                <a:latin typeface="Arial"/>
                <a:ea typeface="Arial"/>
                <a:cs typeface="Arial"/>
              </a:rPr>
              <a:t>.</a:t>
            </a:r>
            <a:endParaRPr lang="en-US" dirty="0" sz="1750" b="0">
              <a:solidFill>
                <a:srgbClr val="243B53"/>
              </a:solidFill>
              <a:latin typeface="Arial"/>
              <a:ea typeface="Arial"/>
              <a:cs typeface="Arial"/>
            </a:endParaRPr>
          </a:p>
          <a:p>
            <a:pPr algn="l" marL="0" indent="0">
              <a:lnSpc>
                <a:spcPct val="118000"/>
              </a:lnSpc>
              <a:spcBef>
                <a:spcPts val="0"/>
              </a:spcBef>
              <a:spcAft>
                <a:spcPts val="450"/>
              </a:spcAft>
              <a:defRPr sz="1750" b="0">
                <a:solidFill>
                  <a:srgbClr val="243B53"/>
                </a:solidFill>
                <a:latin typeface="Arial"/>
                <a:ea typeface="Arial"/>
                <a:cs typeface="Arial"/>
              </a:defRPr>
            </a:pPr>
            <a:r>
              <a:rPr lang="en-US" dirty="0" smtClean="0" sz="1750" b="0">
                <a:solidFill>
                  <a:srgbClr val="243B53"/>
                </a:solidFill>
                <a:latin typeface="Arial"/>
                <a:ea typeface="Arial"/>
                <a:cs typeface="Arial"/>
              </a:rPr>
              <a:t> </a:t>
            </a:r>
            <a:r>
              <a:rPr lang="en-US" dirty="0" sz="1750" b="0">
                <a:solidFill>
                  <a:srgbClr val="243B53"/>
                </a:solidFill>
                <a:latin typeface="Arial"/>
                <a:ea typeface="Arial"/>
                <a:cs typeface="Arial"/>
              </a:rPr>
              <a:t>Film collection</a:t>
            </a:r>
            <a:endParaRPr sz="1750" b="0">
              <a:solidFill>
                <a:srgbClr val="243B53"/>
              </a:solidFill>
              <a:latin typeface="Arial"/>
              <a:ea typeface="Arial"/>
              <a:cs typeface="Arial"/>
            </a:endParaRPr>
          </a:p>
          <a:p>
            <a:pPr marL="0" indent="0" algn="l">
              <a:lnSpc>
                <a:spcPct val="118000"/>
              </a:lnSpc>
              <a:spcBef>
                <a:spcPts val="0"/>
              </a:spcBef>
              <a:spcAft>
                <a:spcPts val="450"/>
              </a:spcAft>
              <a:buNone/>
              <a:defRPr sz="1750" b="0">
                <a:solidFill>
                  <a:srgbClr val="243B53"/>
                </a:solidFill>
                <a:latin typeface="Arial"/>
                <a:ea typeface="Arial"/>
                <a:cs typeface="Arial"/>
              </a:defRPr>
            </a:pPr>
            <a:r>
              <a:rPr lang="en-US" dirty="0" sz="1750" b="0">
                <a:solidFill>
                  <a:srgbClr val="243B53"/>
                </a:solidFill>
                <a:latin typeface="Arial"/>
                <a:ea typeface="Arial"/>
                <a:cs typeface="Arial"/>
              </a:rPr>
              <a:t>The processed, dry radiograph is delivered for viewing and interpretation.</a:t>
            </a:r>
            <a:endParaRPr sz="17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a:ea typeface="Poppins SemiBold"/>
                <a:cs typeface="Poppins SemiBold"/>
              </a:rPr>
              <a:t>MODE OF OPERATION </a:t>
            </a:r>
            <a:endParaRPr lang="en-US" dirty="0" sz="3200" b="1">
              <a:solidFill>
                <a:srgbClr val="0056D2"/>
              </a:solidFill>
              <a:latin typeface="Poppins SemiBold"/>
              <a:ea typeface="Poppins SemiBold"/>
              <a:cs typeface="Poppins SemiBold"/>
            </a:endParaRPr>
          </a:p>
        </p:txBody>
      </p:sp>
    </p:spTree>
    <p:extLst>
      <p:ext uri="{BB962C8B-B14F-4D97-AF65-F5344CB8AC3E}">
        <p14:creationId val="352111403"/>
      </p:ext>
    </p:extLst>
  </p:cSld>
  <p:clrMapOvr>
    <a:masterClrMapping/>
  </p:clrMapOvr>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050" b="1">
                <a:solidFill>
                  <a:srgbClr val="243B53"/>
                </a:solidFill>
                <a:latin typeface="Arial"/>
                <a:ea typeface="Arial"/>
                <a:cs typeface="Arial"/>
              </a:defRPr>
            </a:pPr>
            <a:r>
              <a:rPr lang="en-US" dirty="0" smtClean="0" sz="2050" b="1">
                <a:solidFill>
                  <a:srgbClr val="243B53"/>
                </a:solidFill>
                <a:latin typeface="Arial"/>
                <a:ea typeface="Arial"/>
                <a:cs typeface="Arial"/>
              </a:rPr>
              <a:t>The </a:t>
            </a:r>
            <a:r>
              <a:rPr lang="en-US" dirty="0" sz="2050" b="1">
                <a:solidFill>
                  <a:srgbClr val="243B53"/>
                </a:solidFill>
                <a:latin typeface="Arial"/>
                <a:ea typeface="Arial"/>
                <a:cs typeface="Arial"/>
              </a:rPr>
              <a:t>main components may include:</a:t>
            </a:r>
            <a:endParaRPr sz="2050" b="1">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Film loading compartment — receives the exposed cassette.</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Cassette opening mechanism — opens the cassette safely within the protected chamber.</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Film extraction mechanism — removes the film from the cassette.</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Light-tight chamber — prevents unwanted light from reaching the film.</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Film transport system — moves the film through the processor.</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Processing unit — carries out developing, fixing, washing, and drying.</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Film collection tray — receives the finished radiograph.</a:t>
            </a:r>
            <a:endParaRPr sz="20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050" b="1">
                <a:solidFill>
                  <a:srgbClr val="0056D2"/>
                </a:solidFill>
                <a:latin typeface="Poppins SemiBold"/>
                <a:ea typeface="Poppins SemiBold"/>
                <a:cs typeface="Poppins SemiBold"/>
              </a:defRPr>
            </a:pPr>
            <a:r>
              <a:rPr lang="en-US" b="1" dirty="0" smtClean="0" sz="3050">
                <a:solidFill>
                  <a:srgbClr val="0056D2"/>
                </a:solidFill>
                <a:latin typeface="Poppins SemiBold"/>
                <a:ea typeface="Poppins SemiBold"/>
                <a:cs typeface="Poppins SemiBold"/>
              </a:rPr>
              <a:t/>
            </a:r>
            <a:br>
              <a:rPr lang="en-US" b="1" dirty="0" smtClean="0"/>
            </a:br>
            <a:r>
              <a:rPr lang="en-US" b="1" dirty="0" smtClean="0" sz="3050">
                <a:solidFill>
                  <a:srgbClr val="0056D2"/>
                </a:solidFill>
                <a:latin typeface="Poppins SemiBold"/>
                <a:ea typeface="Poppins SemiBold"/>
                <a:cs typeface="Poppins SemiBold"/>
              </a:rPr>
              <a:t>Components </a:t>
            </a:r>
            <a:r>
              <a:rPr lang="en-US" b="1" dirty="0" sz="3050">
                <a:solidFill>
                  <a:srgbClr val="0056D2"/>
                </a:solidFill>
                <a:latin typeface="Poppins SemiBold"/>
                <a:ea typeface="Poppins SemiBold"/>
                <a:cs typeface="Poppins SemiBold"/>
              </a:rPr>
              <a:t>of a daylight film processor</a:t>
            </a:r>
            <a:r>
              <a:rPr lang="en-US" dirty="0" sz="3050" b="1">
                <a:solidFill>
                  <a:srgbClr val="0056D2"/>
                </a:solidFill>
                <a:latin typeface="Poppins SemiBold"/>
                <a:ea typeface="Poppins SemiBold"/>
                <a:cs typeface="Poppins SemiBold"/>
              </a:rPr>
              <a:t/>
            </a:r>
            <a:br>
              <a:rPr lang="en-US" dirty="0"/>
            </a:br>
            <a:endParaRPr lang="en-US" dirty="0" sz="3050" b="1">
              <a:solidFill>
                <a:srgbClr val="0056D2"/>
              </a:solidFill>
              <a:latin typeface="Poppins SemiBold"/>
              <a:ea typeface="Poppins SemiBold"/>
              <a:cs typeface="Poppins SemiBold"/>
            </a:endParaRPr>
          </a:p>
        </p:txBody>
      </p:sp>
    </p:spTree>
    <p:extLst>
      <p:ext uri="{BB962C8B-B14F-4D97-AF65-F5344CB8AC3E}">
        <p14:creationId val="3739746388"/>
      </p:ext>
    </p:extLst>
  </p:cSld>
  <p:clrMapOvr>
    <a:masterClrMapping/>
  </p:clrMapOvr>
</p:sld>
</file>

<file path=ppt/slides/slide8.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502920" y="1405890"/>
            <a:ext cx="594360" cy="41148"/>
          </a:xfrm>
          <a:prstGeom prst="rect">
            <a:avLst/>
          </a:prstGeom>
          <a:solidFill>
            <a:srgbClr val="0056D2"/>
          </a:solidFill>
          <a:ln>
            <a:noFill/>
          </a:ln>
        </p:spPr>
      </p:sp>
      <p:sp>
        <p:nvSpPr>
          <p:cNvPr id="3" name="Title 2"/>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a:ea typeface="Poppins SemiBold"/>
                <a:cs typeface="Poppins SemiBold"/>
              </a:rPr>
              <a:t>A DAYLIGHT FILM PROCESSOR</a:t>
            </a:r>
            <a:endParaRPr lang="en-US" dirty="0" sz="3200" b="1">
              <a:solidFill>
                <a:srgbClr val="0056D2"/>
              </a:solidFill>
              <a:latin typeface="Poppins SemiBold"/>
              <a:ea typeface="Poppins SemiBold"/>
              <a:cs typeface="Poppins SemiBold"/>
            </a:endParaRPr>
          </a:p>
        </p:txBody>
      </p:sp>
      <p:pic>
        <p:nvPicPr>
          <p:cNvPr id="4" name="Content Placeholder 3" descr="Dental Film Processing | PPT"/>
          <p:cNvPicPr>
            <a:picLocks noGrp="1"/>
          </p:cNvPicPr>
          <p:nvPr>
            <p:ph idx="1"/>
          </p:nvPr>
        </p:nvPicPr>
        <p:blipFill>
          <a:blip r:embed="rId2">
            <a:extLst>
              <a:ext uri="{28A0092B-C50C-407E-A947-70E740481C1C}">
                <a14:useLocalDpi val="0"/>
              </a:ext>
            </a:extLst>
          </a:blip>
          <a:srcRect/>
          <a:stretch>
            <a:fillRect/>
          </a:stretch>
        </p:blipFill>
        <p:spPr bwMode="auto">
          <a:xfrm>
            <a:off x="1172626" y="1748790"/>
            <a:ext cx="6798749" cy="4423410"/>
          </a:xfrm>
          <a:prstGeom prst="rect">
            <a:avLst/>
          </a:prstGeom>
          <a:noFill/>
          <a:ln>
            <a:noFill/>
          </a:ln>
        </p:spPr>
      </p:pic>
    </p:spTree>
    <p:extLst>
      <p:ext uri="{BB962C8B-B14F-4D97-AF65-F5344CB8AC3E}">
        <p14:creationId val="1366696385"/>
      </p:ext>
    </p:extLst>
  </p:cSld>
  <p:clrMapOvr>
    <a:masterClrMapping/>
  </p:clrMapOvr>
</p:sld>
</file>

<file path=ppt/slides/slide9.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1800" b="0">
                <a:solidFill>
                  <a:srgbClr val="243B53"/>
                </a:solidFill>
                <a:latin typeface="Arial"/>
                <a:ea typeface="Arial"/>
                <a:cs typeface="Arial"/>
              </a:defRPr>
            </a:pPr>
            <a:r>
              <a:rPr lang="en-US" b="0" dirty="0" sz="1800">
                <a:solidFill>
                  <a:srgbClr val="243B53"/>
                </a:solidFill>
                <a:latin typeface="Arial"/>
                <a:ea typeface="Arial"/>
                <a:cs typeface="Arial"/>
              </a:rPr>
              <a:t>Advantages</a:t>
            </a:r>
            <a:endParaRPr lang="en-US" dirty="0" sz="1800" b="0">
              <a:solidFill>
                <a:srgbClr val="243B53"/>
              </a:solidFill>
              <a:latin typeface="Arial"/>
              <a:ea typeface="Arial"/>
              <a:cs typeface="Arial"/>
            </a:endParaRPr>
          </a:p>
          <a:p>
            <a:pPr lvl="0" algn="l" marL="0" indent="0">
              <a:lnSpc>
                <a:spcPct val="118000"/>
              </a:lnSpc>
              <a:spcBef>
                <a:spcPts val="0"/>
              </a:spcBef>
              <a:spcAft>
                <a:spcPts val="450"/>
              </a:spcAft>
              <a:defRPr sz="1800" b="0">
                <a:solidFill>
                  <a:srgbClr val="243B53"/>
                </a:solidFill>
                <a:latin typeface="Arial"/>
                <a:ea typeface="Arial"/>
                <a:cs typeface="Arial"/>
              </a:defRPr>
            </a:pPr>
            <a:r>
              <a:rPr lang="en-US" dirty="0" sz="1800" b="0">
                <a:solidFill>
                  <a:srgbClr val="243B53"/>
                </a:solidFill>
                <a:latin typeface="Arial"/>
                <a:ea typeface="Arial"/>
                <a:cs typeface="Arial"/>
              </a:rPr>
              <a:t>Eliminates the need for a conventional darkroom for routine film handling.</a:t>
            </a:r>
            <a:endParaRPr sz="1800" b="0">
              <a:solidFill>
                <a:srgbClr val="243B53"/>
              </a:solidFill>
              <a:latin typeface="Arial"/>
              <a:ea typeface="Arial"/>
              <a:cs typeface="Arial"/>
            </a:endParaRPr>
          </a:p>
          <a:p>
            <a:pPr lvl="0" algn="l" marL="0" indent="0">
              <a:lnSpc>
                <a:spcPct val="118000"/>
              </a:lnSpc>
              <a:spcBef>
                <a:spcPts val="0"/>
              </a:spcBef>
              <a:spcAft>
                <a:spcPts val="450"/>
              </a:spcAft>
              <a:defRPr sz="1800" b="0">
                <a:solidFill>
                  <a:srgbClr val="243B53"/>
                </a:solidFill>
                <a:latin typeface="Arial"/>
                <a:ea typeface="Arial"/>
                <a:cs typeface="Arial"/>
              </a:defRPr>
            </a:pPr>
            <a:r>
              <a:rPr lang="en-US" dirty="0" sz="1800" b="0">
                <a:solidFill>
                  <a:srgbClr val="243B53"/>
                </a:solidFill>
                <a:latin typeface="Arial"/>
                <a:ea typeface="Arial"/>
                <a:cs typeface="Arial"/>
              </a:rPr>
              <a:t>Reduces the risk of accidental film fogging.</a:t>
            </a:r>
            <a:endParaRPr sz="1800" b="0">
              <a:solidFill>
                <a:srgbClr val="243B53"/>
              </a:solidFill>
              <a:latin typeface="Arial"/>
              <a:ea typeface="Arial"/>
              <a:cs typeface="Arial"/>
            </a:endParaRPr>
          </a:p>
          <a:p>
            <a:pPr lvl="0" algn="l" marL="0" indent="0">
              <a:lnSpc>
                <a:spcPct val="118000"/>
              </a:lnSpc>
              <a:spcBef>
                <a:spcPts val="0"/>
              </a:spcBef>
              <a:spcAft>
                <a:spcPts val="450"/>
              </a:spcAft>
              <a:defRPr sz="1800" b="0">
                <a:solidFill>
                  <a:srgbClr val="243B53"/>
                </a:solidFill>
                <a:latin typeface="Arial"/>
                <a:ea typeface="Arial"/>
                <a:cs typeface="Arial"/>
              </a:defRPr>
            </a:pPr>
            <a:r>
              <a:rPr lang="en-US" dirty="0" sz="1800" b="0">
                <a:solidFill>
                  <a:srgbClr val="243B53"/>
                </a:solidFill>
                <a:latin typeface="Arial"/>
                <a:ea typeface="Arial"/>
                <a:cs typeface="Arial"/>
              </a:rPr>
              <a:t>Speeds up the film-handling workflow.</a:t>
            </a:r>
            <a:endParaRPr sz="1800" b="0">
              <a:solidFill>
                <a:srgbClr val="243B53"/>
              </a:solidFill>
              <a:latin typeface="Arial"/>
              <a:ea typeface="Arial"/>
              <a:cs typeface="Arial"/>
            </a:endParaRPr>
          </a:p>
          <a:p>
            <a:pPr lvl="0" algn="l" marL="0" indent="0">
              <a:lnSpc>
                <a:spcPct val="118000"/>
              </a:lnSpc>
              <a:spcBef>
                <a:spcPts val="0"/>
              </a:spcBef>
              <a:spcAft>
                <a:spcPts val="450"/>
              </a:spcAft>
              <a:defRPr sz="1800" b="0">
                <a:solidFill>
                  <a:srgbClr val="243B53"/>
                </a:solidFill>
                <a:latin typeface="Arial"/>
                <a:ea typeface="Arial"/>
                <a:cs typeface="Arial"/>
              </a:defRPr>
            </a:pPr>
            <a:r>
              <a:rPr lang="en-US" dirty="0" sz="1800" b="0">
                <a:solidFill>
                  <a:srgbClr val="243B53"/>
                </a:solidFill>
                <a:latin typeface="Arial"/>
                <a:ea typeface="Arial"/>
                <a:cs typeface="Arial"/>
              </a:rPr>
              <a:t>Improves convenience and cleanliness.</a:t>
            </a:r>
            <a:endParaRPr sz="1800" b="0">
              <a:solidFill>
                <a:srgbClr val="243B53"/>
              </a:solidFill>
              <a:latin typeface="Arial"/>
              <a:ea typeface="Arial"/>
              <a:cs typeface="Arial"/>
            </a:endParaRPr>
          </a:p>
          <a:p>
            <a:pPr lvl="0" algn="l" marL="0" indent="0">
              <a:lnSpc>
                <a:spcPct val="118000"/>
              </a:lnSpc>
              <a:spcBef>
                <a:spcPts val="0"/>
              </a:spcBef>
              <a:spcAft>
                <a:spcPts val="450"/>
              </a:spcAft>
              <a:defRPr sz="1800" b="0">
                <a:solidFill>
                  <a:srgbClr val="243B53"/>
                </a:solidFill>
                <a:latin typeface="Arial"/>
                <a:ea typeface="Arial"/>
                <a:cs typeface="Arial"/>
              </a:defRPr>
            </a:pPr>
            <a:r>
              <a:rPr lang="en-US" dirty="0" sz="1800" b="0">
                <a:solidFill>
                  <a:srgbClr val="243B53"/>
                </a:solidFill>
                <a:latin typeface="Arial"/>
                <a:ea typeface="Arial"/>
                <a:cs typeface="Arial"/>
              </a:rPr>
              <a:t>Allows films to be loaded and unloaded in normal room lighting.</a:t>
            </a:r>
            <a:endParaRPr sz="1800" b="0">
              <a:solidFill>
                <a:srgbClr val="243B53"/>
              </a:solidFill>
              <a:latin typeface="Arial"/>
              <a:ea typeface="Arial"/>
              <a:cs typeface="Arial"/>
            </a:endParaRPr>
          </a:p>
          <a:p>
            <a:pPr algn="l" marL="0" indent="0">
              <a:lnSpc>
                <a:spcPct val="118000"/>
              </a:lnSpc>
              <a:spcBef>
                <a:spcPts val="0"/>
              </a:spcBef>
              <a:spcAft>
                <a:spcPts val="450"/>
              </a:spcAft>
              <a:defRPr sz="1800" b="0">
                <a:solidFill>
                  <a:srgbClr val="243B53"/>
                </a:solidFill>
                <a:latin typeface="Arial"/>
                <a:ea typeface="Arial"/>
                <a:cs typeface="Arial"/>
              </a:defRPr>
            </a:pPr>
            <a:r>
              <a:rPr lang="en-US" b="0" dirty="0" sz="1800">
                <a:solidFill>
                  <a:srgbClr val="243B53"/>
                </a:solidFill>
                <a:latin typeface="Arial"/>
                <a:ea typeface="Arial"/>
                <a:cs typeface="Arial"/>
              </a:rPr>
              <a:t>Disadvantages</a:t>
            </a:r>
            <a:endParaRPr lang="en-US" dirty="0" sz="1800" b="0">
              <a:solidFill>
                <a:srgbClr val="243B53"/>
              </a:solidFill>
              <a:latin typeface="Arial"/>
              <a:ea typeface="Arial"/>
              <a:cs typeface="Arial"/>
            </a:endParaRPr>
          </a:p>
          <a:p>
            <a:pPr lvl="0" algn="l" marL="0" indent="0">
              <a:lnSpc>
                <a:spcPct val="118000"/>
              </a:lnSpc>
              <a:spcBef>
                <a:spcPts val="0"/>
              </a:spcBef>
              <a:spcAft>
                <a:spcPts val="450"/>
              </a:spcAft>
              <a:defRPr sz="1800" b="0">
                <a:solidFill>
                  <a:srgbClr val="243B53"/>
                </a:solidFill>
                <a:latin typeface="Arial"/>
                <a:ea typeface="Arial"/>
                <a:cs typeface="Arial"/>
              </a:defRPr>
            </a:pPr>
            <a:r>
              <a:rPr lang="en-US" dirty="0" sz="1800" b="0">
                <a:solidFill>
                  <a:srgbClr val="243B53"/>
                </a:solidFill>
                <a:latin typeface="Arial"/>
                <a:ea typeface="Arial"/>
                <a:cs typeface="Arial"/>
              </a:rPr>
              <a:t>Equipment can be expensive to purchase and maintain.</a:t>
            </a:r>
            <a:endParaRPr sz="1800" b="0">
              <a:solidFill>
                <a:srgbClr val="243B53"/>
              </a:solidFill>
              <a:latin typeface="Arial"/>
              <a:ea typeface="Arial"/>
              <a:cs typeface="Arial"/>
            </a:endParaRPr>
          </a:p>
          <a:p>
            <a:pPr lvl="0" algn="l" marL="0" indent="0">
              <a:lnSpc>
                <a:spcPct val="118000"/>
              </a:lnSpc>
              <a:spcBef>
                <a:spcPts val="0"/>
              </a:spcBef>
              <a:spcAft>
                <a:spcPts val="450"/>
              </a:spcAft>
              <a:defRPr sz="1800" b="0">
                <a:solidFill>
                  <a:srgbClr val="243B53"/>
                </a:solidFill>
                <a:latin typeface="Arial"/>
                <a:ea typeface="Arial"/>
                <a:cs typeface="Arial"/>
              </a:defRPr>
            </a:pPr>
            <a:r>
              <a:rPr lang="en-US" dirty="0" sz="1800" b="0">
                <a:solidFill>
                  <a:srgbClr val="243B53"/>
                </a:solidFill>
                <a:latin typeface="Arial"/>
                <a:ea typeface="Arial"/>
                <a:cs typeface="Arial"/>
              </a:rPr>
              <a:t>Mechanical faults may interrupt film processing.</a:t>
            </a:r>
            <a:endParaRPr sz="1800" b="0">
              <a:solidFill>
                <a:srgbClr val="243B53"/>
              </a:solidFill>
              <a:latin typeface="Arial"/>
              <a:ea typeface="Arial"/>
              <a:cs typeface="Arial"/>
            </a:endParaRPr>
          </a:p>
          <a:p>
            <a:pPr lvl="0" algn="l" marL="0" indent="0">
              <a:lnSpc>
                <a:spcPct val="118000"/>
              </a:lnSpc>
              <a:spcBef>
                <a:spcPts val="0"/>
              </a:spcBef>
              <a:spcAft>
                <a:spcPts val="450"/>
              </a:spcAft>
              <a:defRPr sz="1800" b="0">
                <a:solidFill>
                  <a:srgbClr val="243B53"/>
                </a:solidFill>
                <a:latin typeface="Arial"/>
                <a:ea typeface="Arial"/>
                <a:cs typeface="Arial"/>
              </a:defRPr>
            </a:pPr>
            <a:r>
              <a:rPr lang="en-US" dirty="0" sz="1800" b="0">
                <a:solidFill>
                  <a:srgbClr val="243B53"/>
                </a:solidFill>
                <a:latin typeface="Arial"/>
                <a:ea typeface="Arial"/>
                <a:cs typeface="Arial"/>
              </a:rPr>
              <a:t>Processing chemicals require regular maintenance and replacement.</a:t>
            </a:r>
            <a:endParaRPr sz="1800" b="0">
              <a:solidFill>
                <a:srgbClr val="243B53"/>
              </a:solidFill>
              <a:latin typeface="Arial"/>
              <a:ea typeface="Arial"/>
              <a:cs typeface="Arial"/>
            </a:endParaRPr>
          </a:p>
          <a:p>
            <a:pPr lvl="0" algn="l" marL="0" indent="0">
              <a:lnSpc>
                <a:spcPct val="118000"/>
              </a:lnSpc>
              <a:spcBef>
                <a:spcPts val="0"/>
              </a:spcBef>
              <a:spcAft>
                <a:spcPts val="450"/>
              </a:spcAft>
              <a:defRPr sz="1800" b="0">
                <a:solidFill>
                  <a:srgbClr val="243B53"/>
                </a:solidFill>
                <a:latin typeface="Arial"/>
                <a:ea typeface="Arial"/>
                <a:cs typeface="Arial"/>
              </a:defRPr>
            </a:pPr>
            <a:r>
              <a:rPr lang="en-US" dirty="0" sz="1800" b="0">
                <a:solidFill>
                  <a:srgbClr val="243B53"/>
                </a:solidFill>
                <a:latin typeface="Arial"/>
                <a:ea typeface="Arial"/>
                <a:cs typeface="Arial"/>
              </a:rPr>
              <a:t>It is mainly used with conventional screen-film radiography, not as the normal processing method for digital radiography.</a:t>
            </a:r>
            <a:endParaRPr sz="18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150" b="1">
                <a:solidFill>
                  <a:srgbClr val="0056D2"/>
                </a:solidFill>
                <a:latin typeface="Poppins SemiBold"/>
                <a:ea typeface="Poppins SemiBold"/>
                <a:cs typeface="Poppins SemiBold"/>
              </a:defRPr>
            </a:pPr>
            <a:r>
              <a:rPr lang="en-US" sz="2150" dirty="0" smtClean="0" b="1">
                <a:solidFill>
                  <a:srgbClr val="0056D2"/>
                </a:solidFill>
                <a:latin typeface="Poppins SemiBold"/>
                <a:ea typeface="Poppins SemiBold"/>
                <a:cs typeface="Poppins SemiBold"/>
              </a:rPr>
              <a:t>ADVANTAGES AND DISADVANTAGES OF DAYLIGHT PROCESSING</a:t>
            </a:r>
            <a:endParaRPr lang="en-US" sz="2150" dirty="0" b="1">
              <a:solidFill>
                <a:srgbClr val="0056D2"/>
              </a:solidFill>
              <a:latin typeface="Poppins SemiBold"/>
              <a:ea typeface="Poppins SemiBold"/>
              <a:cs typeface="Poppins SemiBold"/>
            </a:endParaRPr>
          </a:p>
        </p:txBody>
      </p:sp>
    </p:spTree>
    <p:extLst>
      <p:ext uri="{BB962C8B-B14F-4D97-AF65-F5344CB8AC3E}">
        <p14:creationId val="3166458661"/>
      </p:ext>
    </p:extLst>
  </p:cSld>
  <p:clrMapOvr>
    <a:masterClrMapping/>
  </p:clrMapOvr>
</p:sld>
</file>

<file path=ppt/slides/slide10.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502920" y="1405890"/>
            <a:ext cx="594360" cy="41148"/>
          </a:xfrm>
          <a:prstGeom prst="rect">
            <a:avLst/>
          </a:prstGeom>
          <a:solidFill>
            <a:srgbClr val="0056D2"/>
          </a:solidFill>
          <a:ln>
            <a:noFill/>
          </a:ln>
        </p:spPr>
      </p:sp>
      <p:graphicFrame>
        <p:nvGraphicFramePr>
          <p:cNvPr id="6" name="Content Placeholder 5"/>
          <p:cNvGraphicFramePr>
            <a:graphicFrameLocks noGrp="1"/>
          </p:cNvGraphicFramePr>
          <p:nvPr>
            <p:ph idx="1"/>
            <p:extLst>
              <p:ext uri="{D42A27DB-BD31-4B8C-83A1-F6EECF244321}">
                <p14:modId val="2668017558"/>
              </p:ext>
            </p:extLst>
          </p:nvPr>
        </p:nvGraphicFramePr>
        <p:xfrm>
          <a:off x="502920" y="1748790"/>
          <a:ext cx="8138160" cy="4423410"/>
        </p:xfrm>
        <a:graphic>
          <a:graphicData uri="http://schemas.openxmlformats.org/drawingml/2006/table">
            <a:tbl>
              <a:tblPr firstRow="1" firstCol="1" bandRow="1">
                <a:tableStyleId>{5C22544A-7EE6-4342-B048-85BDC9FD1C3A}</a:tableStyleId>
              </a:tblPr>
              <a:tblGrid>
                <a:gridCol w="2712720"/>
                <a:gridCol w="2712720"/>
                <a:gridCol w="2712720"/>
              </a:tblGrid>
              <a:tr h="386924">
                <a:tc>
                  <a:txBody>
                    <a:bodyPr/>
                    <a:lstStyle/>
                    <a:p>
                      <a:pPr algn="l">
                        <a:lnSpc>
                          <a:spcPct val="115000"/>
                        </a:lnSpc>
                        <a:spcAft>
                          <a:spcPts val="1000"/>
                        </a:spcAft>
                        <a:defRPr sz="1700" b="1">
                          <a:solidFill>
                            <a:srgbClr val="FFFFFF"/>
                          </a:solidFill>
                          <a:latin typeface="Arial"/>
                          <a:ea typeface="Arial"/>
                          <a:cs typeface="Arial"/>
                        </a:defRPr>
                      </a:pPr>
                      <a:r>
                        <a:rPr lang="en-US" sz="1700" b="1">
                          <a:solidFill>
                            <a:srgbClr val="FFFFFF"/>
                          </a:solidFill>
                          <a:effectLst/>
                          <a:latin typeface="Arial"/>
                          <a:ea typeface="Arial"/>
                          <a:cs typeface="Arial"/>
                        </a:rPr>
                        <a:t>Feature</a:t>
                      </a:r>
                      <a:endParaRPr lang="en-US" sz="1700" b="1">
                        <a:solidFill>
                          <a:srgbClr val="FFFFFF"/>
                        </a:solidFill>
                        <a:effectLst/>
                        <a:latin typeface="Arial"/>
                        <a:ea typeface="Arial"/>
                        <a:cs typeface="Arial"/>
                      </a:endParaRPr>
                    </a:p>
                  </a:txBody>
                  <a:tcPr marL="63500" marR="63500" marT="50800" marB="50800" anchor="ctr">
                    <a:solidFill>
                      <a:srgbClr val="243B53"/>
                    </a:solidFill>
                  </a:tcPr>
                </a:tc>
                <a:tc>
                  <a:txBody>
                    <a:bodyPr/>
                    <a:lstStyle/>
                    <a:p>
                      <a:pPr algn="l">
                        <a:lnSpc>
                          <a:spcPct val="115000"/>
                        </a:lnSpc>
                        <a:spcAft>
                          <a:spcPts val="1000"/>
                        </a:spcAft>
                        <a:defRPr sz="1700" b="1">
                          <a:solidFill>
                            <a:srgbClr val="FFFFFF"/>
                          </a:solidFill>
                          <a:latin typeface="Arial"/>
                          <a:ea typeface="Arial"/>
                          <a:cs typeface="Arial"/>
                        </a:defRPr>
                      </a:pPr>
                      <a:r>
                        <a:rPr lang="en-US" sz="1700" b="1">
                          <a:solidFill>
                            <a:srgbClr val="FFFFFF"/>
                          </a:solidFill>
                          <a:effectLst/>
                          <a:latin typeface="Arial"/>
                          <a:ea typeface="Arial"/>
                          <a:cs typeface="Arial"/>
                        </a:rPr>
                        <a:t>Daylight processor</a:t>
                      </a:r>
                      <a:endParaRPr lang="en-US" sz="1700" b="1">
                        <a:solidFill>
                          <a:srgbClr val="FFFFFF"/>
                        </a:solidFill>
                        <a:effectLst/>
                        <a:latin typeface="Arial"/>
                        <a:ea typeface="Arial"/>
                        <a:cs typeface="Arial"/>
                      </a:endParaRPr>
                    </a:p>
                  </a:txBody>
                  <a:tcPr marL="63500" marR="63500" marT="50800" marB="50800" anchor="ctr">
                    <a:solidFill>
                      <a:srgbClr val="243B53"/>
                    </a:solidFill>
                  </a:tcPr>
                </a:tc>
                <a:tc>
                  <a:txBody>
                    <a:bodyPr/>
                    <a:lstStyle/>
                    <a:p>
                      <a:pPr algn="l">
                        <a:lnSpc>
                          <a:spcPct val="115000"/>
                        </a:lnSpc>
                        <a:spcAft>
                          <a:spcPts val="1000"/>
                        </a:spcAft>
                        <a:defRPr sz="1700" b="1">
                          <a:solidFill>
                            <a:srgbClr val="FFFFFF"/>
                          </a:solidFill>
                          <a:latin typeface="Arial"/>
                          <a:ea typeface="Arial"/>
                          <a:cs typeface="Arial"/>
                        </a:defRPr>
                      </a:pPr>
                      <a:r>
                        <a:rPr lang="en-US" sz="1700" b="1">
                          <a:solidFill>
                            <a:srgbClr val="FFFFFF"/>
                          </a:solidFill>
                          <a:effectLst/>
                          <a:latin typeface="Arial"/>
                          <a:ea typeface="Arial"/>
                          <a:cs typeface="Arial"/>
                        </a:rPr>
                        <a:t>Darkroom processing</a:t>
                      </a:r>
                      <a:endParaRPr lang="en-US" sz="1700" b="1">
                        <a:solidFill>
                          <a:srgbClr val="FFFFFF"/>
                        </a:solidFill>
                        <a:effectLst/>
                        <a:latin typeface="Arial"/>
                        <a:ea typeface="Arial"/>
                        <a:cs typeface="Arial"/>
                      </a:endParaRPr>
                    </a:p>
                  </a:txBody>
                  <a:tcPr marL="63500" marR="63500" marT="50800" marB="50800" anchor="ctr">
                    <a:solidFill>
                      <a:srgbClr val="243B53"/>
                    </a:solidFill>
                  </a:tcPr>
                </a:tc>
              </a:tr>
              <a:tr h="912390">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Room required</a:t>
                      </a:r>
                      <a:endParaRPr lang="en-US" sz="170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Normal room lighting</a:t>
                      </a:r>
                      <a:endParaRPr lang="en-US" sz="170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Darkroom or appropriate safelight conditions</a:t>
                      </a:r>
                      <a:endParaRPr lang="en-US" sz="1700" b="0">
                        <a:solidFill>
                          <a:srgbClr val="243B53"/>
                        </a:solidFill>
                        <a:effectLst/>
                        <a:latin typeface="Arial"/>
                        <a:ea typeface="Arial"/>
                        <a:cs typeface="Arial"/>
                      </a:endParaRPr>
                    </a:p>
                  </a:txBody>
                  <a:tcPr marL="63500" marR="63500" marT="50800" marB="50800" anchor="ctr">
                    <a:solidFill>
                      <a:srgbClr val="F1F5FB"/>
                    </a:solidFill>
                  </a:tcPr>
                </a:tc>
              </a:tr>
              <a:tr h="912390">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Film handling</a:t>
                      </a:r>
                      <a:endParaRPr lang="en-US" sz="1700" b="0">
                        <a:solidFill>
                          <a:srgbClr val="243B53"/>
                        </a:solidFill>
                        <a:effectLst/>
                        <a:latin typeface="Arial"/>
                        <a:ea typeface="Arial"/>
                        <a:cs typeface="Arial"/>
                      </a:endParaRPr>
                    </a:p>
                  </a:txBody>
                  <a:tcPr marL="63500" marR="63500" marT="50800" marB="50800" anchor="ctr">
                    <a:solidFill>
                      <a:srgbClr val="FFFFFF"/>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Enclosed, light-protected system</a:t>
                      </a:r>
                      <a:endParaRPr lang="en-US" sz="1700" b="0">
                        <a:solidFill>
                          <a:srgbClr val="243B53"/>
                        </a:solidFill>
                        <a:effectLst/>
                        <a:latin typeface="Arial"/>
                        <a:ea typeface="Arial"/>
                        <a:cs typeface="Arial"/>
                      </a:endParaRPr>
                    </a:p>
                  </a:txBody>
                  <a:tcPr marL="63500" marR="63500" marT="50800" marB="50800" anchor="ctr">
                    <a:solidFill>
                      <a:srgbClr val="FFFFFF"/>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Manual handling in darkness or under a suitable safelight</a:t>
                      </a:r>
                      <a:endParaRPr lang="en-US" sz="1700" b="0">
                        <a:solidFill>
                          <a:srgbClr val="243B53"/>
                        </a:solidFill>
                        <a:effectLst/>
                        <a:latin typeface="Arial"/>
                        <a:ea typeface="Arial"/>
                        <a:cs typeface="Arial"/>
                      </a:endParaRPr>
                    </a:p>
                  </a:txBody>
                  <a:tcPr marL="63500" marR="63500" marT="50800" marB="50800" anchor="ctr">
                    <a:solidFill>
                      <a:srgbClr val="FFFFFF"/>
                    </a:solidFill>
                  </a:tcPr>
                </a:tc>
              </a:tr>
              <a:tr h="649657">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Workflow</a:t>
                      </a:r>
                      <a:endParaRPr lang="en-US" sz="170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Usually faster and more convenient</a:t>
                      </a:r>
                      <a:endParaRPr lang="en-US" sz="170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Often more labour-intensive</a:t>
                      </a:r>
                      <a:endParaRPr lang="en-US" sz="1700" b="0">
                        <a:solidFill>
                          <a:srgbClr val="243B53"/>
                        </a:solidFill>
                        <a:effectLst/>
                        <a:latin typeface="Arial"/>
                        <a:ea typeface="Arial"/>
                        <a:cs typeface="Arial"/>
                      </a:endParaRPr>
                    </a:p>
                  </a:txBody>
                  <a:tcPr marL="63500" marR="63500" marT="50800" marB="50800" anchor="ctr">
                    <a:solidFill>
                      <a:srgbClr val="F1F5FB"/>
                    </a:solidFill>
                  </a:tcPr>
                </a:tc>
              </a:tr>
              <a:tr h="649657">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Film protection</a:t>
                      </a:r>
                      <a:endParaRPr lang="en-US" sz="1700" b="0">
                        <a:solidFill>
                          <a:srgbClr val="243B53"/>
                        </a:solidFill>
                        <a:effectLst/>
                        <a:latin typeface="Arial"/>
                        <a:ea typeface="Arial"/>
                        <a:cs typeface="Arial"/>
                      </a:endParaRPr>
                    </a:p>
                  </a:txBody>
                  <a:tcPr marL="63500" marR="63500" marT="50800" marB="50800" anchor="ctr">
                    <a:solidFill>
                      <a:srgbClr val="FFFFFF"/>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Light-tight loading system</a:t>
                      </a:r>
                      <a:endParaRPr lang="en-US" sz="1700" b="0">
                        <a:solidFill>
                          <a:srgbClr val="243B53"/>
                        </a:solidFill>
                        <a:effectLst/>
                        <a:latin typeface="Arial"/>
                        <a:ea typeface="Arial"/>
                        <a:cs typeface="Arial"/>
                      </a:endParaRPr>
                    </a:p>
                  </a:txBody>
                  <a:tcPr marL="63500" marR="63500" marT="50800" marB="50800" anchor="ctr">
                    <a:solidFill>
                      <a:srgbClr val="FFFFFF"/>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Controlled lighting environment</a:t>
                      </a:r>
                      <a:endParaRPr lang="en-US" sz="1700" b="0">
                        <a:solidFill>
                          <a:srgbClr val="243B53"/>
                        </a:solidFill>
                        <a:effectLst/>
                        <a:latin typeface="Arial"/>
                        <a:ea typeface="Arial"/>
                        <a:cs typeface="Arial"/>
                      </a:endParaRPr>
                    </a:p>
                  </a:txBody>
                  <a:tcPr marL="63500" marR="63500" marT="50800" marB="50800" anchor="ctr">
                    <a:solidFill>
                      <a:srgbClr val="FFFFFF"/>
                    </a:solidFill>
                  </a:tcPr>
                </a:tc>
              </a:tr>
              <a:tr h="912390">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Common use</a:t>
                      </a:r>
                      <a:endParaRPr lang="en-US" sz="170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Conventional film-based radiography</a:t>
                      </a:r>
                      <a:endParaRPr lang="en-US" sz="170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dirty="0" b="0">
                          <a:solidFill>
                            <a:srgbClr val="243B53"/>
                          </a:solidFill>
                          <a:effectLst/>
                          <a:latin typeface="Arial"/>
                          <a:ea typeface="Arial"/>
                          <a:cs typeface="Arial"/>
                        </a:rPr>
                        <a:t>Conventional film-based radiography</a:t>
                      </a:r>
                      <a:endParaRPr lang="en-US" sz="1700" dirty="0" b="0">
                        <a:solidFill>
                          <a:srgbClr val="243B53"/>
                        </a:solidFill>
                        <a:effectLst/>
                        <a:latin typeface="Arial"/>
                        <a:ea typeface="Arial"/>
                        <a:cs typeface="Arial"/>
                      </a:endParaRPr>
                    </a:p>
                  </a:txBody>
                  <a:tcPr marL="63500" marR="63500" marT="50800" marB="50800" anchor="ctr">
                    <a:solidFill>
                      <a:srgbClr val="F1F5FB"/>
                    </a:solidFill>
                  </a:tcPr>
                </a:tc>
              </a:tr>
            </a:tbl>
          </a:graphicData>
        </a:graphic>
      </p:graphicFrame>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400" b="1">
                <a:solidFill>
                  <a:srgbClr val="0056D2"/>
                </a:solidFill>
                <a:latin typeface="Poppins SemiBold"/>
                <a:ea typeface="Poppins SemiBold"/>
                <a:cs typeface="Poppins SemiBold"/>
              </a:defRPr>
            </a:pPr>
            <a:r>
              <a:rPr lang="en-US" b="1" dirty="0" smtClean="0" sz="2400">
                <a:solidFill>
                  <a:srgbClr val="0056D2"/>
                </a:solidFill>
                <a:latin typeface="Poppins SemiBold"/>
                <a:ea typeface="Poppins SemiBold"/>
                <a:cs typeface="Poppins SemiBold"/>
              </a:rPr>
              <a:t/>
            </a:r>
            <a:br>
              <a:rPr lang="en-US" b="1" dirty="0" smtClean="0"/>
            </a:br>
            <a:r>
              <a:rPr lang="en-US" b="1" dirty="0" smtClean="0" sz="2400">
                <a:solidFill>
                  <a:srgbClr val="0056D2"/>
                </a:solidFill>
                <a:latin typeface="Poppins SemiBold"/>
                <a:ea typeface="Poppins SemiBold"/>
                <a:cs typeface="Poppins SemiBold"/>
              </a:rPr>
              <a:t>Daylight </a:t>
            </a:r>
            <a:r>
              <a:rPr lang="en-US" b="1" dirty="0" sz="2400">
                <a:solidFill>
                  <a:srgbClr val="0056D2"/>
                </a:solidFill>
                <a:latin typeface="Poppins SemiBold"/>
                <a:ea typeface="Poppins SemiBold"/>
                <a:cs typeface="Poppins SemiBold"/>
              </a:rPr>
              <a:t>film processor versus darkroom processing</a:t>
            </a:r>
            <a:r>
              <a:rPr lang="en-US" dirty="0" sz="2400" b="1">
                <a:solidFill>
                  <a:srgbClr val="0056D2"/>
                </a:solidFill>
                <a:latin typeface="Poppins SemiBold"/>
                <a:ea typeface="Poppins SemiBold"/>
                <a:cs typeface="Poppins SemiBold"/>
              </a:rPr>
              <a:t/>
            </a:r>
            <a:br>
              <a:rPr lang="en-US" dirty="0"/>
            </a:br>
            <a:endParaRPr lang="en-US" dirty="0" sz="2400" b="1">
              <a:solidFill>
                <a:srgbClr val="0056D2"/>
              </a:solidFill>
              <a:latin typeface="Poppins SemiBold"/>
              <a:ea typeface="Poppins SemiBold"/>
              <a:cs typeface="Poppins SemiBold"/>
            </a:endParaRPr>
          </a:p>
        </p:txBody>
      </p:sp>
    </p:spTree>
    <p:extLst>
      <p:ext uri="{BB962C8B-B14F-4D97-AF65-F5344CB8AC3E}">
        <p14:creationId val="4136271404"/>
      </p:ext>
    </p:extLst>
  </p:cSld>
  <p:clrMapOvr>
    <a:masterClrMapping/>
  </p:clrMapOvr>
</p:sld>
</file>

<file path=ppt/slides/slide11.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a:ea typeface="Arial"/>
                <a:cs typeface="Arial"/>
              </a:rPr>
              <a:t> </a:t>
            </a:r>
            <a:r>
              <a:rPr lang="en-US" dirty="0" sz="2200" b="0">
                <a:solidFill>
                  <a:srgbClr val="243B53"/>
                </a:solidFill>
                <a:latin typeface="Arial"/>
                <a:ea typeface="Arial"/>
                <a:cs typeface="Arial"/>
              </a:rPr>
              <a:t>A daylight film processor does not mean that X-ray film can be exposed directly to ordinary light. The film remains protected inside a light-tight compartment until it has been processed.</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mtClean="0" sz="1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a:ea typeface="Arial"/>
                <a:cs typeface="Arial"/>
              </a:rPr>
              <a:t>Also</a:t>
            </a:r>
            <a:r>
              <a:rPr lang="en-US" dirty="0" sz="2200" b="0">
                <a:solidFill>
                  <a:srgbClr val="243B53"/>
                </a:solidFill>
                <a:latin typeface="Arial"/>
                <a:ea typeface="Arial"/>
                <a:cs typeface="Arial"/>
              </a:rPr>
              <a:t>, a daylight loader and an automatic film processor are not necessarily the same device: the daylight loader protects and transfers the film, while the processor performs the chemical processing.</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a:ea typeface="Poppins SemiBold"/>
                <a:cs typeface="Poppins SemiBold"/>
              </a:rPr>
              <a:t>PRECAUTIONS</a:t>
            </a:r>
            <a:endParaRPr lang="en-US" dirty="0" sz="3200" b="1">
              <a:solidFill>
                <a:srgbClr val="0056D2"/>
              </a:solidFill>
              <a:latin typeface="Poppins SemiBold"/>
              <a:ea typeface="Poppins SemiBold"/>
              <a:cs typeface="Poppins SemiBold"/>
            </a:endParaRPr>
          </a:p>
        </p:txBody>
      </p:sp>
    </p:spTree>
    <p:extLst>
      <p:ext uri="{BB962C8B-B14F-4D97-AF65-F5344CB8AC3E}">
        <p14:creationId val="3705741337"/>
      </p:ext>
    </p:extLst>
  </p:cSld>
  <p:clrMapOvr>
    <a:masterClrMapping/>
  </p:clrMapOvr>
</p:sld>
</file>

<file path=ppt/slides/slide12.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000" b="0">
                <a:solidFill>
                  <a:srgbClr val="243B53"/>
                </a:solidFill>
                <a:latin typeface="Arial"/>
                <a:ea typeface="Arial"/>
                <a:cs typeface="Arial"/>
              </a:defRPr>
            </a:pPr>
            <a:r>
              <a:rPr lang="en-US" dirty="0" smtClean="0" sz="2000" b="0">
                <a:solidFill>
                  <a:srgbClr val="243B53"/>
                </a:solidFill>
                <a:latin typeface="Arial"/>
                <a:ea typeface="Arial"/>
                <a:cs typeface="Arial"/>
              </a:rPr>
              <a:t>The </a:t>
            </a:r>
            <a:r>
              <a:rPr lang="en-US" dirty="0" sz="2000" b="0">
                <a:solidFill>
                  <a:srgbClr val="243B53"/>
                </a:solidFill>
                <a:latin typeface="Arial"/>
                <a:ea typeface="Arial"/>
                <a:cs typeface="Arial"/>
              </a:rPr>
              <a:t>concept of digital X-ray processing is the acquisition of X-ray information by a digital detector, conversion of the information into numerical data, computer processing of the data to form an image, and subsequent display, storage and transmission of that image for diagnostic purposes.</a:t>
            </a:r>
            <a:endParaRPr sz="20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mtClean="0" sz="1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mtClean="0" sz="2000" b="0">
                <a:solidFill>
                  <a:srgbClr val="243B53"/>
                </a:solidFill>
                <a:latin typeface="Arial"/>
                <a:ea typeface="Arial"/>
                <a:cs typeface="Arial"/>
              </a:rPr>
              <a:t>Unlike </a:t>
            </a:r>
            <a:r>
              <a:rPr lang="en-US" dirty="0" sz="2000" b="0">
                <a:solidFill>
                  <a:srgbClr val="243B53"/>
                </a:solidFill>
                <a:latin typeface="Arial"/>
                <a:ea typeface="Arial"/>
                <a:cs typeface="Arial"/>
              </a:rPr>
              <a:t>conventional film-screen radiography, which uses photographic film and chemical processing, digital radiography uses electronic detectors and computer technology to produce images.</a:t>
            </a:r>
            <a:endParaRPr sz="20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a:ea typeface="Poppins SemiBold"/>
                <a:cs typeface="Poppins SemiBold"/>
              </a:rPr>
              <a:t/>
            </a:r>
            <a:br>
              <a:rPr lang="en-US" dirty="0" smtClean="0"/>
            </a:br>
            <a:r>
              <a:rPr lang="en-US" dirty="0" smtClean="0" sz="3200" b="1">
                <a:solidFill>
                  <a:srgbClr val="0056D2"/>
                </a:solidFill>
                <a:latin typeface="Poppins SemiBold"/>
                <a:ea typeface="Poppins SemiBold"/>
                <a:cs typeface="Poppins SemiBold"/>
              </a:rPr>
              <a:t>BASIC </a:t>
            </a:r>
            <a:r>
              <a:rPr lang="en-US" dirty="0" sz="3200" b="1">
                <a:solidFill>
                  <a:srgbClr val="0056D2"/>
                </a:solidFill>
                <a:latin typeface="Poppins SemiBold"/>
                <a:ea typeface="Poppins SemiBold"/>
                <a:cs typeface="Poppins SemiBold"/>
              </a:rPr>
              <a:t>PRINCIPLES OF DIGITAL IMAGING</a:t>
            </a:r>
            <a:br>
              <a:rPr lang="en-US" dirty="0"/>
            </a:br>
            <a:endParaRPr lang="en-US" dirty="0" sz="3200" b="1">
              <a:solidFill>
                <a:srgbClr val="0056D2"/>
              </a:solidFill>
              <a:latin typeface="Poppins SemiBold"/>
              <a:ea typeface="Poppins SemiBold"/>
              <a:cs typeface="Poppins SemiBold"/>
            </a:endParaRPr>
          </a:p>
        </p:txBody>
      </p:sp>
    </p:spTree>
    <p:extLst>
      <p:ext uri="{BB962C8B-B14F-4D97-AF65-F5344CB8AC3E}">
        <p14:creationId val="1809357806"/>
      </p:ext>
    </p:extLst>
  </p:cSld>
  <p:clrMapOvr>
    <a:masterClrMapping/>
  </p:clrMapOvr>
</p:sld>
</file>

<file path=ppt/slides/slide13.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2" name="Content Placeholder 1"/>
          <p:cNvSpPr>
            <a:spLocks noGrp="1"/>
          </p:cNvSpPr>
          <p:nvPr>
            <p:ph idx="1"/>
          </p:nvPr>
        </p:nvSpPr>
        <p:spPr>
          <a:xfrm>
            <a:off x="502920" y="1748790"/>
            <a:ext cx="8138160" cy="4423410"/>
          </a:xfrm>
        </p:spPr>
        <p:txBody>
          <a:bodyPr wrap="square" anchor="t" lIns="0" rIns="0" tIns="0" bIns="0">
            <a:normAutofit fontScale="100000" lnSpcReduction="0"/>
          </a:bodyPr>
          <a:lstStyle/>
          <a:p>
            <a:pPr lvl="0" algn="l" marL="0" indent="0">
              <a:lnSpc>
                <a:spcPts val="100"/>
              </a:lnSpc>
              <a:spcBef>
                <a:spcPts val="0"/>
              </a:spcBef>
              <a:spcAft>
                <a:spcPts val="0"/>
              </a:spcAft>
              <a:defRPr sz="100" b="0">
                <a:solidFill>
                  <a:srgbClr val="243B53"/>
                </a:solidFill>
                <a:latin typeface="Arial"/>
                <a:ea typeface="Arial"/>
                <a:cs typeface="Arial"/>
              </a:defRPr>
            </a:pPr>
            <a:endParaRPr lang="en-US" dirty="0" smtClean="0" sz="100" b="0">
              <a:solidFill>
                <a:srgbClr val="243B53"/>
              </a:solidFill>
              <a:latin typeface="Arial"/>
              <a:ea typeface="Arial"/>
              <a:cs typeface="Arial"/>
            </a:endParaRPr>
          </a:p>
          <a:p>
            <a:pPr lvl="0" algn="l" marL="0" indent="0">
              <a:lnSpc>
                <a:spcPct val="118000"/>
              </a:lnSpc>
              <a:spcBef>
                <a:spcPts val="0"/>
              </a:spcBef>
              <a:spcAft>
                <a:spcPts val="450"/>
              </a:spcAft>
              <a:defRPr sz="2250" b="1">
                <a:solidFill>
                  <a:srgbClr val="243B53"/>
                </a:solidFill>
                <a:latin typeface="Arial"/>
                <a:ea typeface="Arial"/>
                <a:cs typeface="Arial"/>
              </a:defRPr>
            </a:pPr>
            <a:r>
              <a:rPr lang="en-US" dirty="0" sz="2250" b="1">
                <a:solidFill>
                  <a:srgbClr val="243B53"/>
                </a:solidFill>
                <a:latin typeface="Arial"/>
                <a:ea typeface="Arial"/>
                <a:cs typeface="Arial"/>
              </a:rPr>
              <a:t>There are two main types of digital X-ray receptors:</a:t>
            </a:r>
            <a:br>
              <a:rPr lang="en-US" dirty="0"/>
            </a:br>
            <a:endParaRPr lang="en-US" dirty="0" sz="2250" b="1">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a:ea typeface="Arial"/>
                <a:cs typeface="Arial"/>
              </a:rPr>
              <a:t>Computed </a:t>
            </a:r>
            <a:r>
              <a:rPr lang="en-US" dirty="0" sz="2200" b="0">
                <a:solidFill>
                  <a:srgbClr val="243B53"/>
                </a:solidFill>
                <a:latin typeface="Arial"/>
                <a:ea typeface="Arial"/>
                <a:cs typeface="Arial"/>
              </a:rPr>
              <a:t>Radiography (CR) — uses a photostimulable phosphor imaging plate.</a:t>
            </a:r>
            <a:endParaRPr sz="2200" b="0">
              <a:solidFill>
                <a:srgbClr val="243B53"/>
              </a:solidFill>
              <a:latin typeface="Arial"/>
              <a:ea typeface="Arial"/>
              <a:cs typeface="Arial"/>
            </a:endParaRPr>
          </a:p>
          <a:p>
            <a:pPr lvl="0"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Digital Radiography (DR) — uses a digital detector panel to convert X-rays into digital signals.</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3" name="Title 2"/>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dirty="0" smtClean="0" b="1">
                <a:solidFill>
                  <a:srgbClr val="0056D2"/>
                </a:solidFill>
                <a:latin typeface="Poppins SemiBold"/>
                <a:ea typeface="Poppins SemiBold"/>
                <a:cs typeface="Poppins SemiBold"/>
              </a:rPr>
              <a:t>TYPES OF DIGITAL X RAY RECEPTORS</a:t>
            </a:r>
            <a:r>
              <a:rPr lang="en-US" sz="3200" dirty="0" b="1">
                <a:solidFill>
                  <a:srgbClr val="0056D2"/>
                </a:solidFill>
                <a:latin typeface="Poppins SemiBold"/>
                <a:ea typeface="Poppins SemiBold"/>
                <a:cs typeface="Poppins SemiBold"/>
              </a:rPr>
              <a:t/>
            </a:r>
            <a:br>
              <a:rPr lang="en-US" sz="3600" dirty="0"/>
            </a:br>
            <a:endParaRPr lang="en-US" sz="3200" dirty="0" b="1">
              <a:solidFill>
                <a:srgbClr val="0056D2"/>
              </a:solidFill>
              <a:latin typeface="Poppins SemiBold"/>
              <a:ea typeface="Poppins SemiBold"/>
              <a:cs typeface="Poppins SemiBold"/>
            </a:endParaRPr>
          </a:p>
        </p:txBody>
      </p:sp>
    </p:spTree>
    <p:extLst>
      <p:ext uri="{BB962C8B-B14F-4D97-AF65-F5344CB8AC3E}">
        <p14:creationId val="886248283"/>
      </p:ext>
    </p:extLst>
  </p:cSld>
  <p:clrMapOvr>
    <a:masterClrMapping/>
  </p:clrMapOvr>
</p:sld>
</file>

<file path=ppt/slides/slide14.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000" b="0">
                <a:solidFill>
                  <a:srgbClr val="243B53"/>
                </a:solidFill>
                <a:latin typeface="Arial"/>
                <a:ea typeface="Arial"/>
                <a:cs typeface="Arial"/>
              </a:defRPr>
            </a:pPr>
            <a:r>
              <a:rPr lang="en-US" dirty="0" smtClean="0" sz="2000" b="0">
                <a:solidFill>
                  <a:srgbClr val="243B53"/>
                </a:solidFill>
                <a:latin typeface="Arial"/>
                <a:ea typeface="Arial"/>
                <a:cs typeface="Arial"/>
              </a:rPr>
              <a:t> </a:t>
            </a:r>
            <a:r>
              <a:rPr lang="en-US" dirty="0" sz="2000" b="0">
                <a:solidFill>
                  <a:srgbClr val="243B53"/>
                </a:solidFill>
                <a:latin typeface="Arial"/>
                <a:ea typeface="Arial"/>
                <a:cs typeface="Arial"/>
              </a:rPr>
              <a:t>Image acquisition: The detector captures the X-ray information after the beam passes through he patient.</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v"/>
              <a:defRPr sz="2000" b="0">
                <a:solidFill>
                  <a:srgbClr val="243B53"/>
                </a:solidFill>
                <a:latin typeface="Arial"/>
                <a:ea typeface="Arial"/>
                <a:cs typeface="Arial"/>
              </a:defRPr>
            </a:pPr>
            <a:r>
              <a:rPr lang="en-US" dirty="0" smtClean="0" sz="2000" b="0">
                <a:solidFill>
                  <a:srgbClr val="243B53"/>
                </a:solidFill>
                <a:latin typeface="Arial"/>
                <a:ea typeface="Arial"/>
                <a:cs typeface="Arial"/>
              </a:rPr>
              <a:t> </a:t>
            </a:r>
            <a:r>
              <a:rPr lang="en-US" dirty="0" sz="2000" b="0">
                <a:solidFill>
                  <a:srgbClr val="243B53"/>
                </a:solidFill>
                <a:latin typeface="Arial"/>
                <a:ea typeface="Arial"/>
                <a:cs typeface="Arial"/>
              </a:rPr>
              <a:t>Signal conversion: The detected information is converted into an electrical signal and then into digital data. In indirect digital detectors, X-rays first produce light; in direct detectors, they produce electrical charge.</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mtClean="0" sz="2000" b="0">
                <a:solidFill>
                  <a:srgbClr val="243B53"/>
                </a:solidFill>
                <a:latin typeface="Arial"/>
                <a:ea typeface="Arial"/>
                <a:cs typeface="Arial"/>
              </a:rPr>
              <a:t> </a:t>
            </a:r>
            <a:r>
              <a:rPr lang="en-US" dirty="0" sz="2000" b="0">
                <a:solidFill>
                  <a:srgbClr val="243B53"/>
                </a:solidFill>
                <a:latin typeface="Arial"/>
                <a:ea typeface="Arial"/>
                <a:cs typeface="Arial"/>
              </a:rPr>
              <a:t>Analog-to-digital conversion: Where an analog signal is used, an analog-to-digital converter (ADC) converts it into numerical values</a:t>
            </a:r>
            <a:r>
              <a:rPr lang="en-US" dirty="0" smtClean="0" sz="2000" b="0">
                <a:solidFill>
                  <a:srgbClr val="243B53"/>
                </a:solidFill>
                <a:latin typeface="Arial"/>
                <a:ea typeface="Arial"/>
                <a:cs typeface="Arial"/>
              </a:rPr>
              <a:t>.</a:t>
            </a:r>
            <a:endParaRPr lang="en-US" dirty="0" sz="20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Main stages of digital X-ray </a:t>
            </a:r>
            <a:r>
              <a:rPr lang="en-US" sz="3200" b="1" dirty="0">
                <a:solidFill>
                  <a:srgbClr val="0056D2"/>
                </a:solidFill>
                <a:latin typeface="Poppins SemiBold"/>
                <a:ea typeface="Poppins SemiBold"/>
                <a:cs typeface="Poppins SemiBold"/>
              </a:rPr>
              <a:t>processing</a:t>
            </a:r>
            <a:r>
              <a:rPr lang="en-US" b="1" dirty="0" sz="3200">
                <a:solidFill>
                  <a:srgbClr val="0056D2"/>
                </a:solidFill>
                <a:latin typeface="Poppins SemiBold"/>
                <a:ea typeface="Poppins SemiBold"/>
                <a:cs typeface="Poppins SemiBold"/>
              </a:rPr>
              <a:t>	</a:t>
            </a:r>
            <a:r>
              <a:rPr lang="en-US" dirty="0" sz="3200" b="1">
                <a:solidFill>
                  <a:srgbClr val="0056D2"/>
                </a:solidFill>
                <a:latin typeface="Poppins SemiBold"/>
                <a:ea typeface="Poppins SemiBold"/>
                <a:cs typeface="Poppins SemiBold"/>
              </a:rPr>
              <a:t/>
            </a:r>
            <a:br>
              <a:rPr lang="en-US" dirty="0"/>
            </a:br>
            <a:endParaRPr lang="en-US" dirty="0" sz="3200" b="1">
              <a:solidFill>
                <a:srgbClr val="0056D2"/>
              </a:solidFill>
              <a:latin typeface="Poppins SemiBold"/>
              <a:ea typeface="Poppins SemiBold"/>
              <a:cs typeface="Poppins SemiBold"/>
            </a:endParaRPr>
          </a:p>
        </p:txBody>
      </p:sp>
    </p:spTree>
    <p:extLst>
      <p:ext uri="{BB962C8B-B14F-4D97-AF65-F5344CB8AC3E}">
        <p14:creationId val="3456820422"/>
      </p:ext>
    </p:extLst>
  </p:cSld>
  <p:clrMapOvr>
    <a:masterClrMapping/>
  </p:clrMapOvr>
</p:sld>
</file>

<file path=ppt/slides/slide15.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2" name="Content Placeholder 1"/>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buFont typeface="Wingdings" panose="05000000000000000000" pitchFamily="2" charset="2"/>
              <a:buChar char="v"/>
              <a:defRPr sz="2200" b="0">
                <a:solidFill>
                  <a:srgbClr val="243B53"/>
                </a:solidFill>
                <a:latin typeface="Arial"/>
                <a:ea typeface="Arial"/>
                <a:cs typeface="Arial"/>
              </a:defRPr>
            </a:pPr>
            <a:r>
              <a:rPr lang="en-US" dirty="0" smtClean="0" sz="2200" b="0">
                <a:solidFill>
                  <a:srgbClr val="243B53"/>
                </a:solidFill>
                <a:latin typeface="Arial"/>
                <a:ea typeface="Arial"/>
                <a:cs typeface="Arial"/>
              </a:rPr>
              <a:t> </a:t>
            </a:r>
            <a:r>
              <a:rPr lang="en-US" dirty="0" sz="2200" b="0">
                <a:solidFill>
                  <a:srgbClr val="243B53"/>
                </a:solidFill>
                <a:latin typeface="Arial"/>
                <a:ea typeface="Arial"/>
                <a:cs typeface="Arial"/>
              </a:rPr>
              <a:t>Image processing: The computer adjusts image characteristics, such as brightness, contrast, sharpness and noise, using appropriate processing algorithms.</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a:ea typeface="Arial"/>
                <a:cs typeface="Arial"/>
              </a:rPr>
              <a:t> </a:t>
            </a:r>
            <a:r>
              <a:rPr lang="en-US" dirty="0" sz="2200" b="0">
                <a:solidFill>
                  <a:srgbClr val="243B53"/>
                </a:solidFill>
                <a:latin typeface="Arial"/>
                <a:ea typeface="Arial"/>
                <a:cs typeface="Arial"/>
              </a:rPr>
              <a:t>Image display: The processed image is displayed on a diagnostic monitor.</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a:ea typeface="Arial"/>
                <a:cs typeface="Arial"/>
              </a:rPr>
              <a:t> </a:t>
            </a:r>
            <a:r>
              <a:rPr lang="en-US" dirty="0" sz="2200" b="0">
                <a:solidFill>
                  <a:srgbClr val="243B53"/>
                </a:solidFill>
                <a:latin typeface="Arial"/>
                <a:ea typeface="Arial"/>
                <a:cs typeface="Arial"/>
              </a:rPr>
              <a:t>Image storage and transmission: The image can be stored in a Picture Archiving and Communication System (PACS) and transmitted electronically to other departments.</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3" name="Title 2"/>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700" b="1">
                <a:solidFill>
                  <a:srgbClr val="0056D2"/>
                </a:solidFill>
                <a:latin typeface="Poppins SemiBold"/>
                <a:ea typeface="Poppins SemiBold"/>
                <a:cs typeface="Poppins SemiBold"/>
              </a:defRPr>
            </a:pPr>
            <a:r>
              <a:rPr lang="en-US" sz="2700" b="1" dirty="0">
                <a:solidFill>
                  <a:srgbClr val="0056D2"/>
                </a:solidFill>
                <a:latin typeface="Poppins SemiBold"/>
                <a:ea typeface="Poppins SemiBold"/>
                <a:cs typeface="Poppins SemiBold"/>
              </a:rPr>
              <a:t>Main stages of digital X-ray </a:t>
            </a:r>
            <a:r>
              <a:rPr lang="en-US" sz="2700" b="1" dirty="0" smtClean="0">
                <a:solidFill>
                  <a:srgbClr val="0056D2"/>
                </a:solidFill>
                <a:latin typeface="Poppins SemiBold"/>
                <a:ea typeface="Poppins SemiBold"/>
                <a:cs typeface="Poppins SemiBold"/>
              </a:rPr>
              <a:t>processing </a:t>
            </a:r>
            <a:r>
              <a:rPr lang="en-US" sz="2700" b="1" dirty="0" err="1" smtClean="0">
                <a:solidFill>
                  <a:srgbClr val="0056D2"/>
                </a:solidFill>
                <a:latin typeface="Poppins SemiBold"/>
                <a:ea typeface="Poppins SemiBold"/>
                <a:cs typeface="Poppins SemiBold"/>
              </a:rPr>
              <a:t>Contd</a:t>
            </a:r>
            <a:r>
              <a:rPr lang="en-US" sz="2700" b="1" dirty="0">
                <a:solidFill>
                  <a:srgbClr val="0056D2"/>
                </a:solidFill>
                <a:latin typeface="Poppins SemiBold"/>
                <a:ea typeface="Poppins SemiBold"/>
                <a:cs typeface="Poppins SemiBold"/>
              </a:rPr>
              <a:t>	</a:t>
            </a:r>
            <a:r>
              <a:rPr lang="en-US" sz="2700" dirty="0" b="1">
                <a:solidFill>
                  <a:srgbClr val="0056D2"/>
                </a:solidFill>
                <a:latin typeface="Poppins SemiBold"/>
                <a:ea typeface="Poppins SemiBold"/>
                <a:cs typeface="Poppins SemiBold"/>
              </a:rPr>
              <a:t/>
            </a:r>
            <a:br>
              <a:rPr lang="en-US" sz="2800" dirty="0"/>
            </a:br>
            <a:endParaRPr lang="en-US" sz="2700" dirty="0" b="1">
              <a:solidFill>
                <a:srgbClr val="0056D2"/>
              </a:solidFill>
              <a:latin typeface="Poppins SemiBold"/>
              <a:ea typeface="Poppins SemiBold"/>
              <a:cs typeface="Poppins SemiBold"/>
            </a:endParaRPr>
          </a:p>
        </p:txBody>
      </p:sp>
    </p:spTree>
    <p:extLst>
      <p:ext uri="{BB962C8B-B14F-4D97-AF65-F5344CB8AC3E}">
        <p14:creationId val="1424439478"/>
      </p:ext>
    </p:extLst>
  </p:cSld>
  <p:clrMapOvr>
    <a:masterClrMapping/>
  </p:clrMapOvr>
</p:sld>
</file>

<file path=ppt/slides/slide16.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502920" y="1405890"/>
            <a:ext cx="594360" cy="41148"/>
          </a:xfrm>
          <a:prstGeom prst="rect">
            <a:avLst/>
          </a:prstGeom>
          <a:solidFill>
            <a:srgbClr val="0056D2"/>
          </a:solidFill>
          <a:ln>
            <a:noFill/>
          </a:ln>
        </p:spPr>
      </p:sp>
      <p:pic>
        <p:nvPicPr>
          <p:cNvPr id="4" name="Content Placeholder 3" descr="Digital Application- Computed Radiography Image Receptor Flashcards | Quizlet"/>
          <p:cNvPicPr>
            <a:picLocks noGrp="1"/>
          </p:cNvPicPr>
          <p:nvPr>
            <p:ph idx="1"/>
          </p:nvPr>
        </p:nvPicPr>
        <p:blipFill>
          <a:blip r:embed="rId2">
            <a:extLst>
              <a:ext uri="{28A0092B-C50C-407E-A947-70E740481C1C}">
                <a14:useLocalDpi val="0"/>
              </a:ext>
            </a:extLst>
          </a:blip>
          <a:stretch>
            <a:fillRect/>
          </a:stretch>
        </p:blipFill>
        <p:spPr bwMode="auto">
          <a:xfrm>
            <a:off x="911708" y="1748790"/>
            <a:ext cx="7320584" cy="4423410"/>
          </a:xfrm>
          <a:prstGeom prst="rect">
            <a:avLst/>
          </a:prstGeom>
          <a:noFill/>
          <a:ln>
            <a:noFill/>
          </a:ln>
        </p:spPr>
      </p:pic>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smtClean="0">
                <a:solidFill>
                  <a:srgbClr val="0056D2"/>
                </a:solidFill>
                <a:latin typeface="Poppins SemiBold"/>
                <a:ea typeface="Poppins SemiBold"/>
                <a:cs typeface="Poppins SemiBold"/>
              </a:rPr>
              <a:t>Cross section of  </a:t>
            </a:r>
            <a:r>
              <a:rPr lang="en-US" sz="3200" b="1" dirty="0">
                <a:solidFill>
                  <a:srgbClr val="0056D2"/>
                </a:solidFill>
                <a:latin typeface="Poppins SemiBold"/>
                <a:ea typeface="Poppins SemiBold"/>
                <a:cs typeface="Poppins SemiBold"/>
              </a:rPr>
              <a:t>the CR imaging </a:t>
            </a:r>
            <a:r>
              <a:rPr lang="en-US" sz="3200" b="1" dirty="0" smtClean="0">
                <a:solidFill>
                  <a:srgbClr val="0056D2"/>
                </a:solidFill>
                <a:latin typeface="Poppins SemiBold"/>
                <a:ea typeface="Poppins SemiBold"/>
                <a:cs typeface="Poppins SemiBold"/>
              </a:rPr>
              <a:t>plate</a:t>
            </a:r>
            <a:r>
              <a:rPr lang="en-US" sz="3200" b="1" dirty="0">
                <a:solidFill>
                  <a:srgbClr val="0056D2"/>
                </a:solidFill>
                <a:latin typeface="Poppins SemiBold"/>
                <a:ea typeface="Poppins SemiBold"/>
                <a:cs typeface="Poppins SemiBold"/>
              </a:rPr>
              <a:t/>
            </a:r>
            <a:br>
              <a:rPr lang="en-US" sz="3600" b="1" dirty="0"/>
            </a:br>
            <a:endParaRPr lang="en-US" sz="3200" dirty="0" b="1">
              <a:solidFill>
                <a:srgbClr val="0056D2"/>
              </a:solidFill>
              <a:latin typeface="Poppins SemiBold"/>
              <a:ea typeface="Poppins SemiBold"/>
              <a:cs typeface="Poppins SemiBold"/>
            </a:endParaRPr>
          </a:p>
        </p:txBody>
      </p:sp>
    </p:spTree>
    <p:extLst>
      <p:ext uri="{BB962C8B-B14F-4D97-AF65-F5344CB8AC3E}">
        <p14:creationId val="3615678872"/>
      </p:ext>
    </p:extLst>
  </p:cSld>
  <p:clrMapOvr>
    <a:masterClrMapping/>
  </p:clrMapOvr>
</p:sld>
</file>

<file path=ppt/slides/slide17.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502920" y="1405890"/>
            <a:ext cx="594360" cy="41148"/>
          </a:xfrm>
          <a:prstGeom prst="rect">
            <a:avLst/>
          </a:prstGeom>
          <a:solidFill>
            <a:srgbClr val="0056D2"/>
          </a:solidFill>
          <a:ln>
            <a:noFill/>
          </a:ln>
        </p:spPr>
      </p:sp>
      <p:pic>
        <p:nvPicPr>
          <p:cNvPr id="4" name="Content Placeholder 3" descr="Unit 2 Components of Digital Imaging Flashcards | Quizlet"/>
          <p:cNvPicPr>
            <a:picLocks noGrp="1"/>
          </p:cNvPicPr>
          <p:nvPr>
            <p:ph idx="1"/>
          </p:nvPr>
        </p:nvPicPr>
        <p:blipFill>
          <a:blip r:embed="rId2">
            <a:extLst>
              <a:ext uri="{28A0092B-C50C-407E-A947-70E740481C1C}">
                <a14:useLocalDpi val="0"/>
              </a:ext>
            </a:extLst>
          </a:blip>
          <a:stretch>
            <a:fillRect/>
          </a:stretch>
        </p:blipFill>
        <p:spPr bwMode="auto">
          <a:xfrm>
            <a:off x="1219885" y="1748790"/>
            <a:ext cx="6704231" cy="4423410"/>
          </a:xfrm>
          <a:prstGeom prst="rect">
            <a:avLst/>
          </a:prstGeom>
          <a:noFill/>
          <a:ln>
            <a:noFill/>
          </a:ln>
        </p:spPr>
      </p:pic>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1800" b="1">
                <a:solidFill>
                  <a:srgbClr val="0056D2"/>
                </a:solidFill>
                <a:latin typeface="Poppins SemiBold"/>
                <a:ea typeface="Poppins SemiBold"/>
                <a:cs typeface="Poppins SemiBold"/>
              </a:defRPr>
            </a:pPr>
            <a:r>
              <a:rPr lang="en-US" dirty="0" smtClean="0" sz="1800" b="1">
                <a:solidFill>
                  <a:srgbClr val="0056D2"/>
                </a:solidFill>
                <a:latin typeface="Poppins SemiBold"/>
                <a:ea typeface="Poppins SemiBold"/>
                <a:cs typeface="Poppins SemiBold"/>
              </a:rPr>
              <a:t> </a:t>
            </a:r>
            <a:r>
              <a:rPr lang="en-US" sz="1800" dirty="0" b="1">
                <a:solidFill>
                  <a:srgbClr val="0056D2"/>
                </a:solidFill>
                <a:latin typeface="Poppins SemiBold"/>
                <a:ea typeface="Poppins SemiBold"/>
                <a:cs typeface="Poppins SemiBold"/>
              </a:rPr>
              <a:t>X-ray exposure</a:t>
            </a:r>
            <a:br>
              <a:rPr lang="en-US" sz="2200" dirty="0"/>
            </a:br>
            <a:r>
              <a:rPr lang="en-US" sz="1800" dirty="0" b="1">
                <a:solidFill>
                  <a:srgbClr val="0056D2"/>
                </a:solidFill>
                <a:latin typeface="Poppins SemiBold"/>
                <a:ea typeface="Poppins SemiBold"/>
                <a:cs typeface="Poppins SemiBold"/>
              </a:rPr>
              <a:t>The imaging plate is placed inside a cassette and positioned behind the patient. When X-rays pass through the patient, the transmitted X-rays strike the phosphor layer of the plate.</a:t>
            </a:r>
            <a:br>
              <a:rPr lang="en-US" sz="2200" dirty="0"/>
            </a:br>
            <a:endParaRPr lang="en-US" sz="1800" dirty="0" b="1">
              <a:solidFill>
                <a:srgbClr val="0056D2"/>
              </a:solidFill>
              <a:latin typeface="Poppins SemiBold"/>
              <a:ea typeface="Poppins SemiBold"/>
              <a:cs typeface="Poppins SemiBold"/>
            </a:endParaRPr>
          </a:p>
        </p:txBody>
      </p:sp>
    </p:spTree>
    <p:extLst>
      <p:ext uri="{BB962C8B-B14F-4D97-AF65-F5344CB8AC3E}">
        <p14:creationId val="2459153909"/>
      </p:ext>
    </p:extLst>
  </p:cSld>
  <p:clrMapOvr>
    <a:masterClrMapping/>
  </p:clrMapOvr>
</p:sld>
</file>

<file path=ppt/slides/slide18.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502920" y="1405890"/>
            <a:ext cx="594360" cy="41148"/>
          </a:xfrm>
          <a:prstGeom prst="rect">
            <a:avLst/>
          </a:prstGeom>
          <a:solidFill>
            <a:srgbClr val="0056D2"/>
          </a:solidFill>
          <a:ln>
            <a:noFill/>
          </a:ln>
        </p:spPr>
      </p:sp>
      <p:pic>
        <p:nvPicPr>
          <p:cNvPr id="4" name="Content Placeholder 3" descr="Digital Application- Computed Radiography Image Receptor Flashcards | Quizlet"/>
          <p:cNvPicPr>
            <a:picLocks noGrp="1"/>
          </p:cNvPicPr>
          <p:nvPr>
            <p:ph idx="1"/>
          </p:nvPr>
        </p:nvPicPr>
        <p:blipFill>
          <a:blip r:embed="rId2">
            <a:extLst>
              <a:ext uri="{28A0092B-C50C-407E-A947-70E740481C1C}">
                <a14:useLocalDpi val="0"/>
              </a:ext>
            </a:extLst>
          </a:blip>
          <a:stretch>
            <a:fillRect/>
          </a:stretch>
        </p:blipFill>
        <p:spPr bwMode="auto">
          <a:xfrm>
            <a:off x="527195" y="1748790"/>
            <a:ext cx="8089611" cy="4423410"/>
          </a:xfrm>
          <a:prstGeom prst="rect">
            <a:avLst/>
          </a:prstGeom>
          <a:noFill/>
          <a:ln>
            <a:noFill/>
          </a:ln>
        </p:spPr>
      </p:pic>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1800" b="1">
                <a:solidFill>
                  <a:srgbClr val="0056D2"/>
                </a:solidFill>
                <a:latin typeface="Poppins SemiBold"/>
                <a:ea typeface="Poppins SemiBold"/>
                <a:cs typeface="Poppins SemiBold"/>
              </a:defRPr>
            </a:pPr>
            <a:r>
              <a:rPr lang="en-US" dirty="0" smtClean="0" sz="1800" b="1">
                <a:solidFill>
                  <a:srgbClr val="0056D2"/>
                </a:solidFill>
                <a:latin typeface="Poppins SemiBold"/>
                <a:ea typeface="Poppins SemiBold"/>
                <a:cs typeface="Poppins SemiBold"/>
              </a:rPr>
              <a:t> </a:t>
            </a:r>
            <a:r>
              <a:rPr lang="en-US" sz="1800" dirty="0" b="1">
                <a:solidFill>
                  <a:srgbClr val="0056D2"/>
                </a:solidFill>
                <a:latin typeface="Poppins SemiBold"/>
                <a:ea typeface="Poppins SemiBold"/>
                <a:cs typeface="Poppins SemiBold"/>
              </a:rPr>
              <a:t>Formation of a latent image</a:t>
            </a:r>
            <a:r>
              <a:rPr lang="en-US" dirty="0" sz="1800" b="1">
                <a:solidFill>
                  <a:srgbClr val="0056D2"/>
                </a:solidFill>
                <a:latin typeface="Poppins SemiBold"/>
                <a:ea typeface="Poppins SemiBold"/>
                <a:cs typeface="Poppins SemiBold"/>
              </a:rPr>
              <a:t/>
            </a:r>
            <a:br>
              <a:rPr lang="en-US" dirty="0"/>
            </a:br>
            <a:r>
              <a:rPr lang="en-US" sz="1800" dirty="0" b="1">
                <a:solidFill>
                  <a:srgbClr val="0056D2"/>
                </a:solidFill>
                <a:latin typeface="Poppins SemiBold"/>
                <a:ea typeface="Poppins SemiBold"/>
                <a:cs typeface="Poppins SemiBold"/>
              </a:rPr>
              <a:t>The phosphor absorbs X-ray energy, causing electrons to become trapped in energy levels within the phosphor crystals. The pattern of trapped electrons forms a latent image, which is an invisible stored image.</a:t>
            </a:r>
            <a:br>
              <a:rPr lang="en-US" sz="2000" dirty="0"/>
            </a:br>
            <a:endParaRPr lang="en-US" sz="1800" dirty="0" b="1">
              <a:solidFill>
                <a:srgbClr val="0056D2"/>
              </a:solidFill>
              <a:latin typeface="Poppins SemiBold"/>
              <a:ea typeface="Poppins SemiBold"/>
              <a:cs typeface="Poppins SemiBold"/>
            </a:endParaRPr>
          </a:p>
        </p:txBody>
      </p:sp>
    </p:spTree>
    <p:extLst>
      <p:ext uri="{BB962C8B-B14F-4D97-AF65-F5344CB8AC3E}">
        <p14:creationId val="2709848585"/>
      </p:ext>
    </p:extLst>
  </p:cSld>
  <p:clrMapOvr>
    <a:masterClrMapping/>
  </p:clrMapOvr>
</p:sld>
</file>

<file path=ppt/slides/slide19.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p:txBody>
          <a:bodyPr/>
          <a:lstStyle/>
          <a:p>
            <a:endParaRPr lang="en-US" dirty="0" smtClean="0"/>
          </a:p>
          <a:p>
            <a:endParaRPr lang="en-US" dirty="0"/>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1800" b="1">
                <a:solidFill>
                  <a:srgbClr val="0056D2"/>
                </a:solidFill>
                <a:latin typeface="Poppins SemiBold"/>
                <a:ea typeface="Poppins SemiBold"/>
                <a:cs typeface="Poppins SemiBold"/>
              </a:defRPr>
            </a:pPr>
            <a:r>
              <a:rPr lang="en-US" dirty="0" smtClean="0" sz="1800" b="1">
                <a:solidFill>
                  <a:srgbClr val="0056D2"/>
                </a:solidFill>
                <a:latin typeface="Poppins SemiBold"/>
                <a:ea typeface="Poppins SemiBold"/>
                <a:cs typeface="Poppins SemiBold"/>
              </a:rPr>
              <a:t> </a:t>
            </a:r>
            <a:r>
              <a:rPr lang="en-US" sz="1800" dirty="0" b="1">
                <a:solidFill>
                  <a:srgbClr val="0056D2"/>
                </a:solidFill>
                <a:latin typeface="Poppins SemiBold"/>
                <a:ea typeface="Poppins SemiBold"/>
                <a:cs typeface="Poppins SemiBold"/>
              </a:rPr>
              <a:t>Laser scanning</a:t>
            </a:r>
            <a:br>
              <a:rPr lang="en-US" sz="2200" dirty="0"/>
            </a:br>
            <a:r>
              <a:rPr lang="en-US" sz="1800" dirty="0" b="1">
                <a:solidFill>
                  <a:srgbClr val="0056D2"/>
                </a:solidFill>
                <a:latin typeface="Poppins SemiBold"/>
                <a:ea typeface="Poppins SemiBold"/>
                <a:cs typeface="Poppins SemiBold"/>
              </a:rPr>
              <a:t>The exposed plate is inserted into a CR reader. A laser beam scans the plate and stimulates the trapped electrons, causing them to release energy as visible light.</a:t>
            </a:r>
            <a:br>
              <a:rPr lang="en-US" sz="2200" dirty="0"/>
            </a:br>
            <a:endParaRPr lang="en-US" sz="1800" dirty="0" b="1">
              <a:solidFill>
                <a:srgbClr val="0056D2"/>
              </a:solidFill>
              <a:latin typeface="Poppins SemiBold"/>
              <a:ea typeface="Poppins SemiBold"/>
              <a:cs typeface="Poppins SemiBold"/>
            </a:endParaRPr>
          </a:p>
        </p:txBody>
      </p:sp>
      <p:pic>
        <p:nvPicPr>
          <p:cNvPr id="4" name="Picture 3" descr="Computed Radiography (CR packet) Flashcards | Quizlet"/>
          <p:cNvPicPr/>
          <p:nvPr/>
        </p:nvPicPr>
        <p:blipFill>
          <a:blip r:embed="rId2">
            <a:extLst>
              <a:ext uri="{28A0092B-C50C-407E-A947-70E740481C1C}">
                <a14:useLocalDpi val="0"/>
              </a:ext>
            </a:extLst>
          </a:blip>
          <a:srcRect/>
          <a:stretch>
            <a:fillRect/>
          </a:stretch>
        </p:blipFill>
        <p:spPr bwMode="auto">
          <a:xfrm>
            <a:off x="1474374" y="1748790"/>
            <a:ext cx="6195252" cy="4423410"/>
          </a:xfrm>
          <a:prstGeom prst="rect">
            <a:avLst/>
          </a:prstGeom>
          <a:noFill/>
          <a:ln>
            <a:noFill/>
          </a:ln>
        </p:spPr>
      </p:pic>
    </p:spTree>
    <p:extLst>
      <p:ext uri="{BB962C8B-B14F-4D97-AF65-F5344CB8AC3E}">
        <p14:creationId val="2674878067"/>
      </p:ext>
    </p:extLst>
  </p:cSld>
  <p:clrMapOvr>
    <a:masterClrMapping/>
  </p:clrMapOvr>
</p:sld>
</file>

<file path=ppt/slides/slide20.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a:ea typeface="Arial"/>
                <a:cs typeface="Arial"/>
              </a:rPr>
              <a:t>Light </a:t>
            </a:r>
            <a:r>
              <a:rPr lang="en-US" dirty="0" sz="2200" b="0">
                <a:solidFill>
                  <a:srgbClr val="243B53"/>
                </a:solidFill>
                <a:latin typeface="Arial"/>
                <a:ea typeface="Arial"/>
                <a:cs typeface="Arial"/>
              </a:rPr>
              <a:t>detection</a:t>
            </a:r>
            <a:endParaRPr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a:ea typeface="Arial"/>
                <a:cs typeface="Arial"/>
              </a:rPr>
              <a:t>A light-collection system directs the emitted light to a photomultiplier tube or another suitable detector, which converts the light into an electrical signal.</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a:ea typeface="Arial"/>
                <a:cs typeface="Arial"/>
              </a:rPr>
              <a:t> </a:t>
            </a:r>
            <a:r>
              <a:rPr lang="en-US" dirty="0" sz="2200" b="0">
                <a:solidFill>
                  <a:srgbClr val="243B53"/>
                </a:solidFill>
                <a:latin typeface="Arial"/>
                <a:ea typeface="Arial"/>
                <a:cs typeface="Arial"/>
              </a:rPr>
              <a:t>Erasure and reuse</a:t>
            </a:r>
            <a:endParaRPr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a:ea typeface="Arial"/>
                <a:cs typeface="Arial"/>
              </a:rPr>
              <a:t>The plate is exposed to intense light to release residual trapped energy. It is then ready for another X-ray examination.</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p:txBody>
          <a:bodyPr/>
          <a:lstStyle/>
          <a:p>
            <a:endParaRPr lang="en-US" dirty="0"/>
          </a:p>
        </p:txBody>
      </p:sp>
    </p:spTree>
    <p:extLst>
      <p:ext uri="{BB962C8B-B14F-4D97-AF65-F5344CB8AC3E}">
        <p14:creationId val="1297300250"/>
      </p:ext>
    </p:extLst>
  </p:cSld>
  <p:clrMapOvr>
    <a:masterClrMapping/>
  </p:clrMapOvr>
</p:sld>
</file>

<file path=ppt/slides/slide21.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a:ea typeface="Arial"/>
                <a:cs typeface="Arial"/>
              </a:rPr>
              <a:t>The </a:t>
            </a:r>
            <a:r>
              <a:rPr lang="en-US" dirty="0" sz="2200" b="0">
                <a:solidFill>
                  <a:srgbClr val="243B53"/>
                </a:solidFill>
                <a:latin typeface="Arial"/>
                <a:ea typeface="Arial"/>
                <a:cs typeface="Arial"/>
              </a:rPr>
              <a:t>operation of a CR imaging plate is based on photostimulable luminescence (PSL).</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mtClean="0" sz="1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a:ea typeface="Arial"/>
                <a:cs typeface="Arial"/>
              </a:rPr>
              <a:t>This </a:t>
            </a:r>
            <a:r>
              <a:rPr lang="en-US" dirty="0" sz="2200" b="0">
                <a:solidFill>
                  <a:srgbClr val="243B53"/>
                </a:solidFill>
                <a:latin typeface="Arial"/>
                <a:ea typeface="Arial"/>
                <a:cs typeface="Arial"/>
              </a:rPr>
              <a:t>means that the plate stores energy from X-ray exposure and releases some of that energy as light when stimulated by a </a:t>
            </a:r>
            <a:r>
              <a:rPr lang="en-US" dirty="0" smtClean="0" sz="2200" b="0">
                <a:solidFill>
                  <a:srgbClr val="243B53"/>
                </a:solidFill>
                <a:latin typeface="Arial"/>
                <a:ea typeface="Arial"/>
                <a:cs typeface="Arial"/>
              </a:rPr>
              <a:t>laser beam.</a:t>
            </a:r>
            <a:endParaRPr lang="en-US" dirty="0"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The scientific principle behind CR</a:t>
            </a:r>
            <a:br>
              <a:rPr lang="en-US" b="1" dirty="0"/>
            </a:br>
            <a:endParaRPr lang="en-US" dirty="0" sz="3200" b="1">
              <a:solidFill>
                <a:srgbClr val="0056D2"/>
              </a:solidFill>
              <a:latin typeface="Poppins SemiBold"/>
              <a:ea typeface="Poppins SemiBold"/>
              <a:cs typeface="Poppins SemiBold"/>
            </a:endParaRPr>
          </a:p>
        </p:txBody>
      </p:sp>
    </p:spTree>
    <p:extLst>
      <p:ext uri="{BB962C8B-B14F-4D97-AF65-F5344CB8AC3E}">
        <p14:creationId val="3128690506"/>
      </p:ext>
    </p:extLst>
  </p:cSld>
  <p:clrMapOvr>
    <a:masterClrMapping/>
  </p:clrMapOvr>
</p:sld>
</file>

<file path=ppt/slides/slide22.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2" name="Content Placeholder 1"/>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1900" b="0">
                <a:solidFill>
                  <a:srgbClr val="243B53"/>
                </a:solidFill>
                <a:latin typeface="Arial"/>
                <a:ea typeface="Arial"/>
                <a:cs typeface="Arial"/>
              </a:defRPr>
            </a:pPr>
            <a:r>
              <a:rPr lang="en-US" dirty="0" sz="1900" b="0">
                <a:solidFill>
                  <a:srgbClr val="243B53"/>
                </a:solidFill>
                <a:latin typeface="Arial"/>
                <a:ea typeface="Arial"/>
                <a:cs typeface="Arial"/>
              </a:rPr>
              <a:t>A CR receptor uses an imaging plate rather than the electronic flat-panel detector described above.</a:t>
            </a:r>
            <a:endParaRPr sz="1900" b="0">
              <a:solidFill>
                <a:srgbClr val="243B53"/>
              </a:solidFill>
              <a:latin typeface="Arial"/>
              <a:ea typeface="Arial"/>
              <a:cs typeface="Arial"/>
            </a:endParaRPr>
          </a:p>
          <a:p>
            <a:pPr algn="l" marL="0" indent="0">
              <a:lnSpc>
                <a:spcPct val="118000"/>
              </a:lnSpc>
              <a:spcBef>
                <a:spcPts val="0"/>
              </a:spcBef>
              <a:spcAft>
                <a:spcPts val="450"/>
              </a:spcAft>
              <a:defRPr sz="1950" b="1">
                <a:solidFill>
                  <a:srgbClr val="243B53"/>
                </a:solidFill>
                <a:latin typeface="Arial"/>
                <a:ea typeface="Arial"/>
                <a:cs typeface="Arial"/>
              </a:defRPr>
            </a:pPr>
            <a:r>
              <a:rPr lang="en-US" dirty="0" sz="1950" b="1">
                <a:solidFill>
                  <a:srgbClr val="243B53"/>
                </a:solidFill>
                <a:latin typeface="Arial"/>
                <a:ea typeface="Arial"/>
                <a:cs typeface="Arial"/>
              </a:rPr>
              <a:t>Its main components are:</a:t>
            </a:r>
            <a:endParaRPr sz="1950" b="1">
              <a:solidFill>
                <a:srgbClr val="243B53"/>
              </a:solidFill>
              <a:latin typeface="Arial"/>
              <a:ea typeface="Arial"/>
              <a:cs typeface="Arial"/>
            </a:endParaRPr>
          </a:p>
          <a:p>
            <a:pPr lvl="0" algn="l" marL="0" indent="0">
              <a:lnSpc>
                <a:spcPct val="118000"/>
              </a:lnSpc>
              <a:spcBef>
                <a:spcPts val="0"/>
              </a:spcBef>
              <a:spcAft>
                <a:spcPts val="450"/>
              </a:spcAft>
              <a:defRPr sz="1900" b="0">
                <a:solidFill>
                  <a:srgbClr val="243B53"/>
                </a:solidFill>
                <a:latin typeface="Arial"/>
                <a:ea typeface="Arial"/>
                <a:cs typeface="Arial"/>
              </a:defRPr>
            </a:pPr>
            <a:r>
              <a:rPr lang="en-US" dirty="0" sz="1900" b="0">
                <a:solidFill>
                  <a:srgbClr val="243B53"/>
                </a:solidFill>
                <a:latin typeface="Arial"/>
                <a:ea typeface="Arial"/>
                <a:cs typeface="Arial"/>
              </a:rPr>
              <a:t>Protective layer — protects the imaging plate surface.</a:t>
            </a:r>
            <a:endParaRPr sz="1900" b="0">
              <a:solidFill>
                <a:srgbClr val="243B53"/>
              </a:solidFill>
              <a:latin typeface="Arial"/>
              <a:ea typeface="Arial"/>
              <a:cs typeface="Arial"/>
            </a:endParaRPr>
          </a:p>
          <a:p>
            <a:pPr lvl="0" algn="l" marL="0" indent="0">
              <a:lnSpc>
                <a:spcPct val="118000"/>
              </a:lnSpc>
              <a:spcBef>
                <a:spcPts val="0"/>
              </a:spcBef>
              <a:spcAft>
                <a:spcPts val="450"/>
              </a:spcAft>
              <a:defRPr sz="1900" b="0">
                <a:solidFill>
                  <a:srgbClr val="243B53"/>
                </a:solidFill>
                <a:latin typeface="Arial"/>
                <a:ea typeface="Arial"/>
                <a:cs typeface="Arial"/>
              </a:defRPr>
            </a:pPr>
            <a:r>
              <a:rPr lang="en-US" dirty="0" sz="1900" b="0">
                <a:solidFill>
                  <a:srgbClr val="243B53"/>
                </a:solidFill>
                <a:latin typeface="Arial"/>
                <a:ea typeface="Arial"/>
                <a:cs typeface="Arial"/>
              </a:rPr>
              <a:t>Photostimulable phosphor layer — stores energy from the X-ray exposure as a latent image.</a:t>
            </a:r>
            <a:endParaRPr sz="1900" b="0">
              <a:solidFill>
                <a:srgbClr val="243B53"/>
              </a:solidFill>
              <a:latin typeface="Arial"/>
              <a:ea typeface="Arial"/>
              <a:cs typeface="Arial"/>
            </a:endParaRPr>
          </a:p>
          <a:p>
            <a:pPr lvl="0" algn="l" marL="0" indent="0">
              <a:lnSpc>
                <a:spcPct val="118000"/>
              </a:lnSpc>
              <a:spcBef>
                <a:spcPts val="0"/>
              </a:spcBef>
              <a:spcAft>
                <a:spcPts val="450"/>
              </a:spcAft>
              <a:defRPr sz="1900" b="0">
                <a:solidFill>
                  <a:srgbClr val="243B53"/>
                </a:solidFill>
                <a:latin typeface="Arial"/>
                <a:ea typeface="Arial"/>
                <a:cs typeface="Arial"/>
              </a:defRPr>
            </a:pPr>
            <a:r>
              <a:rPr lang="en-US" dirty="0" sz="1900" b="0">
                <a:solidFill>
                  <a:srgbClr val="243B53"/>
                </a:solidFill>
                <a:latin typeface="Arial"/>
                <a:ea typeface="Arial"/>
                <a:cs typeface="Arial"/>
              </a:rPr>
              <a:t>Support layer — provides mechanical strength.</a:t>
            </a:r>
            <a:endParaRPr sz="1900" b="0">
              <a:solidFill>
                <a:srgbClr val="243B53"/>
              </a:solidFill>
              <a:latin typeface="Arial"/>
              <a:ea typeface="Arial"/>
              <a:cs typeface="Arial"/>
            </a:endParaRPr>
          </a:p>
          <a:p>
            <a:pPr lvl="0" algn="l" marL="0" indent="0">
              <a:lnSpc>
                <a:spcPct val="118000"/>
              </a:lnSpc>
              <a:spcBef>
                <a:spcPts val="0"/>
              </a:spcBef>
              <a:spcAft>
                <a:spcPts val="450"/>
              </a:spcAft>
              <a:defRPr sz="1900" b="0">
                <a:solidFill>
                  <a:srgbClr val="243B53"/>
                </a:solidFill>
                <a:latin typeface="Arial"/>
                <a:ea typeface="Arial"/>
                <a:cs typeface="Arial"/>
              </a:defRPr>
            </a:pPr>
            <a:r>
              <a:rPr lang="en-US" dirty="0" sz="1900" b="0">
                <a:solidFill>
                  <a:srgbClr val="243B53"/>
                </a:solidFill>
                <a:latin typeface="Arial"/>
                <a:ea typeface="Arial"/>
                <a:cs typeface="Arial"/>
              </a:rPr>
              <a:t>Light-reflecting or absorbing layer — helps control light collection and image quality, depending on the plate design.</a:t>
            </a:r>
            <a:endParaRPr sz="1900" b="0">
              <a:solidFill>
                <a:srgbClr val="243B53"/>
              </a:solidFill>
              <a:latin typeface="Arial"/>
              <a:ea typeface="Arial"/>
              <a:cs typeface="Arial"/>
            </a:endParaRPr>
          </a:p>
          <a:p>
            <a:pPr lvl="0" algn="l" marL="0" indent="0">
              <a:lnSpc>
                <a:spcPct val="118000"/>
              </a:lnSpc>
              <a:spcBef>
                <a:spcPts val="0"/>
              </a:spcBef>
              <a:spcAft>
                <a:spcPts val="450"/>
              </a:spcAft>
              <a:defRPr sz="1900" b="0">
                <a:solidFill>
                  <a:srgbClr val="243B53"/>
                </a:solidFill>
                <a:latin typeface="Arial"/>
                <a:ea typeface="Arial"/>
                <a:cs typeface="Arial"/>
              </a:defRPr>
            </a:pPr>
            <a:r>
              <a:rPr lang="en-US" dirty="0" sz="1900" b="0">
                <a:solidFill>
                  <a:srgbClr val="243B53"/>
                </a:solidFill>
                <a:latin typeface="Arial"/>
                <a:ea typeface="Arial"/>
                <a:cs typeface="Arial"/>
              </a:rPr>
              <a:t>Backing layer — supports and protects the plate.</a:t>
            </a:r>
            <a:endParaRPr sz="1900" b="0">
              <a:solidFill>
                <a:srgbClr val="243B53"/>
              </a:solidFill>
              <a:latin typeface="Arial"/>
              <a:ea typeface="Arial"/>
              <a:cs typeface="Arial"/>
            </a:endParaRPr>
          </a:p>
          <a:p>
            <a:pPr algn="l" marL="0" indent="0">
              <a:lnSpc>
                <a:spcPct val="118000"/>
              </a:lnSpc>
              <a:spcBef>
                <a:spcPts val="0"/>
              </a:spcBef>
              <a:spcAft>
                <a:spcPts val="450"/>
              </a:spcAft>
              <a:defRPr sz="1900" b="0">
                <a:solidFill>
                  <a:srgbClr val="243B53"/>
                </a:solidFill>
                <a:latin typeface="Arial"/>
                <a:ea typeface="Arial"/>
                <a:cs typeface="Arial"/>
              </a:defRPr>
            </a:pPr>
            <a:r>
              <a:rPr lang="en-US" dirty="0" sz="1900" b="0">
                <a:solidFill>
                  <a:srgbClr val="243B53"/>
                </a:solidFill>
                <a:latin typeface="Arial"/>
                <a:ea typeface="Arial"/>
                <a:cs typeface="Arial"/>
              </a:rPr>
              <a:t>The CR imaging plate is placed in a reader, where a laser releases stored energy as light. This light is detected and converted into a digital image.</a:t>
            </a:r>
            <a:endParaRPr sz="19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3" name="Title 2"/>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200" b="1">
                <a:solidFill>
                  <a:srgbClr val="0056D2"/>
                </a:solidFill>
                <a:latin typeface="Poppins SemiBold"/>
                <a:ea typeface="Poppins SemiBold"/>
                <a:cs typeface="Poppins SemiBold"/>
              </a:defRPr>
            </a:pPr>
            <a:r>
              <a:rPr lang="en-US" sz="2200" b="1" dirty="0">
                <a:solidFill>
                  <a:srgbClr val="0056D2"/>
                </a:solidFill>
                <a:latin typeface="Poppins SemiBold"/>
                <a:ea typeface="Poppins SemiBold"/>
                <a:cs typeface="Poppins SemiBold"/>
              </a:rPr>
              <a:t>Components of a Computed Radiography (CR) receptor</a:t>
            </a:r>
            <a:br>
              <a:rPr lang="en-US" sz="2800" b="1" dirty="0"/>
            </a:br>
            <a:endParaRPr lang="en-US" sz="2200" dirty="0" b="1">
              <a:solidFill>
                <a:srgbClr val="0056D2"/>
              </a:solidFill>
              <a:latin typeface="Poppins SemiBold"/>
              <a:ea typeface="Poppins SemiBold"/>
              <a:cs typeface="Poppins SemiBold"/>
            </a:endParaRPr>
          </a:p>
        </p:txBody>
      </p:sp>
    </p:spTree>
    <p:extLst>
      <p:ext uri="{BB962C8B-B14F-4D97-AF65-F5344CB8AC3E}">
        <p14:creationId val="3940791512"/>
      </p:ext>
    </p:extLst>
  </p:cSld>
  <p:clrMapOvr>
    <a:masterClrMapping/>
  </p:clrMapOvr>
</p:sld>
</file>

<file path=ppt/slides/slide23.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2" name="Content Placeholder 1"/>
          <p:cNvSpPr>
            <a:spLocks noGrp="1"/>
          </p:cNvSpPr>
          <p:nvPr>
            <p:ph idx="1"/>
          </p:nvPr>
        </p:nvSpPr>
        <p:spPr>
          <a:xfrm>
            <a:off x="502920" y="1748790"/>
            <a:ext cx="8138160" cy="4423410"/>
          </a:xfrm>
        </p:spPr>
        <p:txBody>
          <a:bodyPr wrap="square" anchor="t" lIns="0" rIns="0" tIns="0" bIns="0">
            <a:normAutofit fontScale="100000" lnSpcReduction="0"/>
          </a:bodyPr>
          <a:lstStyle/>
          <a:p>
            <a:pPr marL="0" indent="0" fontAlgn="ctr"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fontAlgn="ctr" algn="l" marL="0" indent="0">
              <a:lnSpc>
                <a:spcPct val="118000"/>
              </a:lnSpc>
              <a:spcBef>
                <a:spcPts val="0"/>
              </a:spcBef>
              <a:spcAft>
                <a:spcPts val="450"/>
              </a:spcAft>
              <a:defRPr sz="1600" b="0">
                <a:solidFill>
                  <a:srgbClr val="243B53"/>
                </a:solidFill>
                <a:latin typeface="Arial"/>
                <a:ea typeface="Arial"/>
                <a:cs typeface="Arial"/>
              </a:defRPr>
            </a:pPr>
            <a:r>
              <a:rPr lang="en-US" b="0" dirty="0" sz="1600">
                <a:solidFill>
                  <a:srgbClr val="243B53"/>
                </a:solidFill>
                <a:latin typeface="Arial"/>
                <a:ea typeface="Arial"/>
                <a:cs typeface="Arial"/>
              </a:rPr>
              <a:t>Scintillator or conversion layer</a:t>
            </a:r>
            <a:endParaRPr lang="en-US" dirty="0" sz="1600" b="0">
              <a:solidFill>
                <a:srgbClr val="243B53"/>
              </a:solidFill>
              <a:latin typeface="Arial"/>
              <a:ea typeface="Arial"/>
              <a:cs typeface="Arial"/>
            </a:endParaRPr>
          </a:p>
          <a:p>
            <a:pPr fontAlgn="ctr" algn="l" marL="0" indent="0">
              <a:lnSpc>
                <a:spcPct val="118000"/>
              </a:lnSpc>
              <a:spcBef>
                <a:spcPts val="0"/>
              </a:spcBef>
              <a:spcAft>
                <a:spcPts val="450"/>
              </a:spcAft>
              <a:defRPr sz="1600" b="0">
                <a:solidFill>
                  <a:srgbClr val="243B53"/>
                </a:solidFill>
                <a:latin typeface="Arial"/>
                <a:ea typeface="Arial"/>
                <a:cs typeface="Arial"/>
              </a:defRPr>
            </a:pPr>
            <a:r>
              <a:rPr lang="en-US" dirty="0" sz="1600" b="0">
                <a:solidFill>
                  <a:srgbClr val="243B53"/>
                </a:solidFill>
                <a:latin typeface="Arial"/>
                <a:ea typeface="Arial"/>
                <a:cs typeface="Arial"/>
              </a:rPr>
              <a:t>Converts X-rays into light or electrical charge</a:t>
            </a:r>
            <a:endParaRPr sz="1600" b="0">
              <a:solidFill>
                <a:srgbClr val="243B53"/>
              </a:solidFill>
              <a:latin typeface="Arial"/>
              <a:ea typeface="Arial"/>
              <a:cs typeface="Arial"/>
            </a:endParaRPr>
          </a:p>
          <a:p>
            <a:pPr fontAlgn="ctr" algn="l" marL="0" indent="0">
              <a:lnSpc>
                <a:spcPct val="118000"/>
              </a:lnSpc>
              <a:spcBef>
                <a:spcPts val="0"/>
              </a:spcBef>
              <a:spcAft>
                <a:spcPts val="450"/>
              </a:spcAft>
              <a:defRPr sz="1600" b="0">
                <a:solidFill>
                  <a:srgbClr val="243B53"/>
                </a:solidFill>
                <a:latin typeface="Arial"/>
                <a:ea typeface="Arial"/>
                <a:cs typeface="Arial"/>
              </a:defRPr>
            </a:pPr>
            <a:r>
              <a:rPr lang="en-US" b="0" dirty="0" sz="1600">
                <a:solidFill>
                  <a:srgbClr val="243B53"/>
                </a:solidFill>
                <a:latin typeface="Arial"/>
                <a:ea typeface="Arial"/>
                <a:cs typeface="Arial"/>
              </a:rPr>
              <a:t>Photodiode array</a:t>
            </a:r>
            <a:endParaRPr lang="en-US" dirty="0" sz="1600" b="0">
              <a:solidFill>
                <a:srgbClr val="243B53"/>
              </a:solidFill>
              <a:latin typeface="Arial"/>
              <a:ea typeface="Arial"/>
              <a:cs typeface="Arial"/>
            </a:endParaRPr>
          </a:p>
          <a:p>
            <a:pPr fontAlgn="ctr" algn="l" marL="0" indent="0">
              <a:lnSpc>
                <a:spcPct val="118000"/>
              </a:lnSpc>
              <a:spcBef>
                <a:spcPts val="0"/>
              </a:spcBef>
              <a:spcAft>
                <a:spcPts val="450"/>
              </a:spcAft>
              <a:defRPr sz="1600" b="0">
                <a:solidFill>
                  <a:srgbClr val="243B53"/>
                </a:solidFill>
                <a:latin typeface="Arial"/>
                <a:ea typeface="Arial"/>
                <a:cs typeface="Arial"/>
              </a:defRPr>
            </a:pPr>
            <a:r>
              <a:rPr lang="en-US" dirty="0" sz="1600" b="0">
                <a:solidFill>
                  <a:srgbClr val="243B53"/>
                </a:solidFill>
                <a:latin typeface="Arial"/>
                <a:ea typeface="Arial"/>
                <a:cs typeface="Arial"/>
              </a:rPr>
              <a:t>Converts light into electrical charge in indirect DR</a:t>
            </a:r>
            <a:endParaRPr sz="1600" b="0">
              <a:solidFill>
                <a:srgbClr val="243B53"/>
              </a:solidFill>
              <a:latin typeface="Arial"/>
              <a:ea typeface="Arial"/>
              <a:cs typeface="Arial"/>
            </a:endParaRPr>
          </a:p>
          <a:p>
            <a:pPr fontAlgn="ctr" algn="l" marL="0" indent="0">
              <a:lnSpc>
                <a:spcPct val="118000"/>
              </a:lnSpc>
              <a:spcBef>
                <a:spcPts val="0"/>
              </a:spcBef>
              <a:spcAft>
                <a:spcPts val="450"/>
              </a:spcAft>
              <a:defRPr sz="1600" b="0">
                <a:solidFill>
                  <a:srgbClr val="243B53"/>
                </a:solidFill>
                <a:latin typeface="Arial"/>
                <a:ea typeface="Arial"/>
                <a:cs typeface="Arial"/>
              </a:defRPr>
            </a:pPr>
            <a:r>
              <a:rPr lang="en-US" b="0" dirty="0" sz="1600">
                <a:solidFill>
                  <a:srgbClr val="243B53"/>
                </a:solidFill>
                <a:latin typeface="Arial"/>
                <a:ea typeface="Arial"/>
                <a:cs typeface="Arial"/>
              </a:rPr>
              <a:t>TFT array</a:t>
            </a:r>
            <a:endParaRPr lang="en-US" dirty="0" sz="1600" b="0">
              <a:solidFill>
                <a:srgbClr val="243B53"/>
              </a:solidFill>
              <a:latin typeface="Arial"/>
              <a:ea typeface="Arial"/>
              <a:cs typeface="Arial"/>
            </a:endParaRPr>
          </a:p>
          <a:p>
            <a:pPr fontAlgn="ctr" algn="l" marL="0" indent="0">
              <a:lnSpc>
                <a:spcPct val="118000"/>
              </a:lnSpc>
              <a:spcBef>
                <a:spcPts val="0"/>
              </a:spcBef>
              <a:spcAft>
                <a:spcPts val="450"/>
              </a:spcAft>
              <a:defRPr sz="1600" b="0">
                <a:solidFill>
                  <a:srgbClr val="243B53"/>
                </a:solidFill>
                <a:latin typeface="Arial"/>
                <a:ea typeface="Arial"/>
                <a:cs typeface="Arial"/>
              </a:defRPr>
            </a:pPr>
            <a:r>
              <a:rPr lang="en-US" dirty="0" sz="1600" b="0">
                <a:solidFill>
                  <a:srgbClr val="243B53"/>
                </a:solidFill>
                <a:latin typeface="Arial"/>
                <a:ea typeface="Arial"/>
                <a:cs typeface="Arial"/>
              </a:rPr>
              <a:t>Controls pixel readout</a:t>
            </a:r>
            <a:endParaRPr sz="1600" b="0">
              <a:solidFill>
                <a:srgbClr val="243B53"/>
              </a:solidFill>
              <a:latin typeface="Arial"/>
              <a:ea typeface="Arial"/>
              <a:cs typeface="Arial"/>
            </a:endParaRPr>
          </a:p>
          <a:p>
            <a:pPr fontAlgn="ctr" algn="l" marL="0" indent="0">
              <a:lnSpc>
                <a:spcPct val="118000"/>
              </a:lnSpc>
              <a:spcBef>
                <a:spcPts val="0"/>
              </a:spcBef>
              <a:spcAft>
                <a:spcPts val="450"/>
              </a:spcAft>
              <a:defRPr sz="1600" b="0">
                <a:solidFill>
                  <a:srgbClr val="243B53"/>
                </a:solidFill>
                <a:latin typeface="Arial"/>
                <a:ea typeface="Arial"/>
                <a:cs typeface="Arial"/>
              </a:defRPr>
            </a:pPr>
            <a:r>
              <a:rPr lang="en-US" b="0" dirty="0" sz="1600">
                <a:solidFill>
                  <a:srgbClr val="243B53"/>
                </a:solidFill>
                <a:latin typeface="Arial"/>
                <a:ea typeface="Arial"/>
                <a:cs typeface="Arial"/>
              </a:rPr>
              <a:t>Readout electronics</a:t>
            </a:r>
            <a:endParaRPr lang="en-US" dirty="0" sz="1600" b="0">
              <a:solidFill>
                <a:srgbClr val="243B53"/>
              </a:solidFill>
              <a:latin typeface="Arial"/>
              <a:ea typeface="Arial"/>
              <a:cs typeface="Arial"/>
            </a:endParaRPr>
          </a:p>
          <a:p>
            <a:pPr fontAlgn="ctr" algn="l" marL="0" indent="0">
              <a:lnSpc>
                <a:spcPct val="118000"/>
              </a:lnSpc>
              <a:spcBef>
                <a:spcPts val="0"/>
              </a:spcBef>
              <a:spcAft>
                <a:spcPts val="450"/>
              </a:spcAft>
              <a:defRPr sz="1600" b="0">
                <a:solidFill>
                  <a:srgbClr val="243B53"/>
                </a:solidFill>
                <a:latin typeface="Arial"/>
                <a:ea typeface="Arial"/>
                <a:cs typeface="Arial"/>
              </a:defRPr>
            </a:pPr>
            <a:r>
              <a:rPr lang="en-US" dirty="0" sz="1600" b="0">
                <a:solidFill>
                  <a:srgbClr val="243B53"/>
                </a:solidFill>
                <a:latin typeface="Arial"/>
                <a:ea typeface="Arial"/>
                <a:cs typeface="Arial"/>
              </a:rPr>
              <a:t>Collects detector signals</a:t>
            </a:r>
            <a:endParaRPr sz="1600" b="0">
              <a:solidFill>
                <a:srgbClr val="243B53"/>
              </a:solidFill>
              <a:latin typeface="Arial"/>
              <a:ea typeface="Arial"/>
              <a:cs typeface="Arial"/>
            </a:endParaRPr>
          </a:p>
          <a:p>
            <a:pPr fontAlgn="ctr" algn="l" marL="0" indent="0">
              <a:lnSpc>
                <a:spcPct val="118000"/>
              </a:lnSpc>
              <a:spcBef>
                <a:spcPts val="0"/>
              </a:spcBef>
              <a:spcAft>
                <a:spcPts val="450"/>
              </a:spcAft>
              <a:defRPr sz="1650" b="1">
                <a:solidFill>
                  <a:srgbClr val="243B53"/>
                </a:solidFill>
                <a:latin typeface="Arial"/>
                <a:ea typeface="Arial"/>
                <a:cs typeface="Arial"/>
              </a:defRPr>
            </a:pPr>
            <a:r>
              <a:rPr lang="en-US" b="1" dirty="0" sz="1650">
                <a:solidFill>
                  <a:srgbClr val="243B53"/>
                </a:solidFill>
                <a:latin typeface="Arial"/>
                <a:ea typeface="Arial"/>
                <a:cs typeface="Arial"/>
              </a:rPr>
              <a:t>ADC</a:t>
            </a:r>
            <a:endParaRPr lang="en-US" dirty="0" sz="1650" b="1">
              <a:solidFill>
                <a:srgbClr val="243B53"/>
              </a:solidFill>
              <a:latin typeface="Arial"/>
              <a:ea typeface="Arial"/>
              <a:cs typeface="Arial"/>
            </a:endParaRPr>
          </a:p>
          <a:p>
            <a:pPr fontAlgn="ctr" algn="l" marL="0" indent="0">
              <a:lnSpc>
                <a:spcPct val="118000"/>
              </a:lnSpc>
              <a:spcBef>
                <a:spcPts val="0"/>
              </a:spcBef>
              <a:spcAft>
                <a:spcPts val="450"/>
              </a:spcAft>
              <a:defRPr sz="1600" b="0">
                <a:solidFill>
                  <a:srgbClr val="243B53"/>
                </a:solidFill>
                <a:latin typeface="Arial"/>
                <a:ea typeface="Arial"/>
                <a:cs typeface="Arial"/>
              </a:defRPr>
            </a:pPr>
            <a:r>
              <a:rPr lang="en-US" dirty="0" sz="1600" b="0">
                <a:solidFill>
                  <a:srgbClr val="243B53"/>
                </a:solidFill>
                <a:latin typeface="Arial"/>
                <a:ea typeface="Arial"/>
                <a:cs typeface="Arial"/>
              </a:rPr>
              <a:t>Converts analog signals into digital data</a:t>
            </a:r>
            <a:endParaRPr sz="1600" b="0">
              <a:solidFill>
                <a:srgbClr val="243B53"/>
              </a:solidFill>
              <a:latin typeface="Arial"/>
              <a:ea typeface="Arial"/>
              <a:cs typeface="Arial"/>
            </a:endParaRPr>
          </a:p>
          <a:p>
            <a:pPr fontAlgn="ctr" algn="l" marL="0" indent="0">
              <a:lnSpc>
                <a:spcPct val="118000"/>
              </a:lnSpc>
              <a:spcBef>
                <a:spcPts val="0"/>
              </a:spcBef>
              <a:spcAft>
                <a:spcPts val="450"/>
              </a:spcAft>
              <a:defRPr sz="1600" b="0">
                <a:solidFill>
                  <a:srgbClr val="243B53"/>
                </a:solidFill>
                <a:latin typeface="Arial"/>
                <a:ea typeface="Arial"/>
                <a:cs typeface="Arial"/>
              </a:defRPr>
            </a:pPr>
            <a:r>
              <a:rPr lang="en-US" b="0" dirty="0" sz="1600">
                <a:solidFill>
                  <a:srgbClr val="243B53"/>
                </a:solidFill>
                <a:latin typeface="Arial"/>
                <a:ea typeface="Arial"/>
                <a:cs typeface="Arial"/>
              </a:rPr>
              <a:t>Protective housing</a:t>
            </a:r>
            <a:endParaRPr lang="en-US" dirty="0" sz="1600" b="0">
              <a:solidFill>
                <a:srgbClr val="243B53"/>
              </a:solidFill>
              <a:latin typeface="Arial"/>
              <a:ea typeface="Arial"/>
              <a:cs typeface="Arial"/>
            </a:endParaRPr>
          </a:p>
          <a:p>
            <a:pPr fontAlgn="ctr" algn="l" marL="0" indent="0">
              <a:lnSpc>
                <a:spcPct val="118000"/>
              </a:lnSpc>
              <a:spcBef>
                <a:spcPts val="0"/>
              </a:spcBef>
              <a:spcAft>
                <a:spcPts val="450"/>
              </a:spcAft>
              <a:defRPr sz="1600" b="0">
                <a:solidFill>
                  <a:srgbClr val="243B53"/>
                </a:solidFill>
                <a:latin typeface="Arial"/>
                <a:ea typeface="Arial"/>
                <a:cs typeface="Arial"/>
              </a:defRPr>
            </a:pPr>
            <a:r>
              <a:rPr lang="en-US" dirty="0" sz="1600" b="0">
                <a:solidFill>
                  <a:srgbClr val="243B53"/>
                </a:solidFill>
                <a:latin typeface="Arial"/>
                <a:ea typeface="Arial"/>
                <a:cs typeface="Arial"/>
              </a:rPr>
              <a:t>Protects the detector</a:t>
            </a:r>
            <a:endParaRPr sz="1600" b="0">
              <a:solidFill>
                <a:srgbClr val="243B53"/>
              </a:solidFill>
              <a:latin typeface="Arial"/>
              <a:ea typeface="Arial"/>
              <a:cs typeface="Arial"/>
            </a:endParaRPr>
          </a:p>
          <a:p>
            <a:pPr fontAlgn="ctr" algn="l" marL="0" indent="0">
              <a:lnSpc>
                <a:spcPct val="118000"/>
              </a:lnSpc>
              <a:spcBef>
                <a:spcPts val="0"/>
              </a:spcBef>
              <a:spcAft>
                <a:spcPts val="450"/>
              </a:spcAft>
              <a:defRPr sz="1600" b="0">
                <a:solidFill>
                  <a:srgbClr val="243B53"/>
                </a:solidFill>
                <a:latin typeface="Arial"/>
                <a:ea typeface="Arial"/>
                <a:cs typeface="Arial"/>
              </a:defRPr>
            </a:pPr>
            <a:r>
              <a:rPr lang="en-US" b="0" dirty="0" sz="1600">
                <a:solidFill>
                  <a:srgbClr val="243B53"/>
                </a:solidFill>
                <a:latin typeface="Arial"/>
                <a:ea typeface="Arial"/>
                <a:cs typeface="Arial"/>
              </a:rPr>
              <a:t>Computer/image processor</a:t>
            </a:r>
            <a:endParaRPr lang="en-US" dirty="0" sz="1600" b="0">
              <a:solidFill>
                <a:srgbClr val="243B53"/>
              </a:solidFill>
              <a:latin typeface="Arial"/>
              <a:ea typeface="Arial"/>
              <a:cs typeface="Arial"/>
            </a:endParaRPr>
          </a:p>
          <a:p>
            <a:pPr fontAlgn="ctr" algn="l" marL="0" indent="0">
              <a:lnSpc>
                <a:spcPct val="118000"/>
              </a:lnSpc>
              <a:spcBef>
                <a:spcPts val="0"/>
              </a:spcBef>
              <a:spcAft>
                <a:spcPts val="450"/>
              </a:spcAft>
              <a:defRPr sz="1600" b="0">
                <a:solidFill>
                  <a:srgbClr val="243B53"/>
                </a:solidFill>
                <a:latin typeface="Arial"/>
                <a:ea typeface="Arial"/>
                <a:cs typeface="Arial"/>
              </a:defRPr>
            </a:pPr>
            <a:r>
              <a:rPr lang="en-US" dirty="0" sz="1600" b="0">
                <a:solidFill>
                  <a:srgbClr val="243B53"/>
                </a:solidFill>
                <a:latin typeface="Arial"/>
                <a:ea typeface="Arial"/>
                <a:cs typeface="Arial"/>
              </a:rPr>
              <a:t>Processes and displays the digital image</a:t>
            </a:r>
            <a:endParaRPr sz="16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3" name="Title 2"/>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650" b="1">
                <a:solidFill>
                  <a:srgbClr val="0056D2"/>
                </a:solidFill>
                <a:latin typeface="Poppins SemiBold"/>
                <a:ea typeface="Poppins SemiBold"/>
                <a:cs typeface="Poppins SemiBold"/>
              </a:defRPr>
            </a:pPr>
            <a:r>
              <a:rPr lang="en-US" sz="2650" dirty="0" b="1">
                <a:solidFill>
                  <a:srgbClr val="0056D2"/>
                </a:solidFill>
                <a:latin typeface="Poppins SemiBold"/>
                <a:ea typeface="Poppins SemiBold"/>
                <a:cs typeface="Poppins SemiBold"/>
              </a:rPr>
              <a:t>COMPONENTS AND </a:t>
            </a:r>
            <a:r>
              <a:rPr lang="en-US" sz="2650" dirty="0" smtClean="0" b="1">
                <a:solidFill>
                  <a:srgbClr val="0056D2"/>
                </a:solidFill>
                <a:latin typeface="Poppins SemiBold"/>
                <a:ea typeface="Poppins SemiBold"/>
                <a:cs typeface="Poppins SemiBold"/>
              </a:rPr>
              <a:t>FUNCTIONS OF CR DETECTOR </a:t>
            </a:r>
            <a:endParaRPr lang="en-US" sz="2650" dirty="0" b="1">
              <a:solidFill>
                <a:srgbClr val="0056D2"/>
              </a:solidFill>
              <a:latin typeface="Poppins SemiBold"/>
              <a:ea typeface="Poppins SemiBold"/>
              <a:cs typeface="Poppins SemiBold"/>
            </a:endParaRPr>
          </a:p>
        </p:txBody>
      </p:sp>
    </p:spTree>
    <p:extLst>
      <p:ext uri="{BB962C8B-B14F-4D97-AF65-F5344CB8AC3E}">
        <p14:creationId val="1514072098"/>
      </p:ext>
    </p:extLst>
  </p:cSld>
  <p:clrMapOvr>
    <a:masterClrMapping/>
  </p:clrMapOvr>
</p:sld>
</file>

<file path=ppt/slides/slide24.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It is reusable.</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It allows digital image processing.</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It has a wide exposure latitude compared with conventional film.</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It can be used with many existing X-ray units.</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It supports digital image storage and transmission.</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 Advantages of a CR imaging plate</a:t>
            </a:r>
            <a:br>
              <a:rPr lang="en-US" b="1" dirty="0"/>
            </a:br>
            <a:endParaRPr lang="en-US" dirty="0" sz="3200" b="1">
              <a:solidFill>
                <a:srgbClr val="0056D2"/>
              </a:solidFill>
              <a:latin typeface="Poppins SemiBold"/>
              <a:ea typeface="Poppins SemiBold"/>
              <a:cs typeface="Poppins SemiBold"/>
            </a:endParaRPr>
          </a:p>
        </p:txBody>
      </p:sp>
    </p:spTree>
    <p:extLst>
      <p:ext uri="{BB962C8B-B14F-4D97-AF65-F5344CB8AC3E}">
        <p14:creationId val="3197238666"/>
      </p:ext>
    </p:extLst>
  </p:cSld>
  <p:clrMapOvr>
    <a:masterClrMapping/>
  </p:clrMapOvr>
</p:sld>
</file>

<file path=ppt/slides/slide25.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Image acquisition is slower than with most DR systems.</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Plates can be scratched, damaged or contaminated.</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Dust and dirt may produce image artefacts.</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Plates require regular erasure, cleaning and maintenance.</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Improper exposure can still result in poor image quality or unnecessary radiation exposure.</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 Disadvantages of a CR imaging plate</a:t>
            </a:r>
            <a:br>
              <a:rPr lang="en-US" b="1" dirty="0"/>
            </a:br>
            <a:endParaRPr lang="en-US" dirty="0" sz="3200" b="1">
              <a:solidFill>
                <a:srgbClr val="0056D2"/>
              </a:solidFill>
              <a:latin typeface="Poppins SemiBold"/>
              <a:ea typeface="Poppins SemiBold"/>
              <a:cs typeface="Poppins SemiBold"/>
            </a:endParaRPr>
          </a:p>
        </p:txBody>
      </p:sp>
    </p:spTree>
    <p:extLst>
      <p:ext uri="{BB962C8B-B14F-4D97-AF65-F5344CB8AC3E}">
        <p14:creationId val="839770600"/>
      </p:ext>
    </p:extLst>
  </p:cSld>
  <p:clrMapOvr>
    <a:masterClrMapping/>
  </p:clrMapOvr>
</p:sld>
</file>

<file path=ppt/slides/slide26.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a:ea typeface="Arial"/>
                <a:cs typeface="Arial"/>
              </a:rPr>
              <a:t>Patient's </a:t>
            </a:r>
            <a:r>
              <a:rPr lang="en-US" dirty="0" sz="2200" b="0">
                <a:solidFill>
                  <a:srgbClr val="243B53"/>
                </a:solidFill>
                <a:latin typeface="Arial"/>
                <a:ea typeface="Arial"/>
                <a:cs typeface="Arial"/>
              </a:rPr>
              <a:t>body attenuates the X-rays</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Digital imaging receptor detects transmitted X-rays</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Signals are converted into digital data</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Image processing and display on the monitor</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mtClean="0" sz="3200" b="1">
                <a:solidFill>
                  <a:srgbClr val="0056D2"/>
                </a:solidFill>
                <a:latin typeface="Poppins SemiBold"/>
                <a:ea typeface="Poppins SemiBold"/>
                <a:cs typeface="Poppins SemiBold"/>
              </a:rPr>
              <a:t>During an X-ray </a:t>
            </a:r>
            <a:r>
              <a:rPr lang="en-US" dirty="0" sz="3200" b="1">
                <a:solidFill>
                  <a:srgbClr val="0056D2"/>
                </a:solidFill>
                <a:latin typeface="Poppins SemiBold"/>
                <a:ea typeface="Poppins SemiBold"/>
                <a:cs typeface="Poppins SemiBold"/>
              </a:rPr>
              <a:t>exposure</a:t>
            </a:r>
            <a:br>
              <a:rPr lang="en-US" dirty="0"/>
            </a:br>
            <a:endParaRPr lang="en-US" dirty="0" sz="3200" b="1">
              <a:solidFill>
                <a:srgbClr val="0056D2"/>
              </a:solidFill>
              <a:latin typeface="Poppins SemiBold"/>
              <a:ea typeface="Poppins SemiBold"/>
              <a:cs typeface="Poppins SemiBold"/>
            </a:endParaRPr>
          </a:p>
        </p:txBody>
      </p:sp>
    </p:spTree>
    <p:extLst>
      <p:ext uri="{BB962C8B-B14F-4D97-AF65-F5344CB8AC3E}">
        <p14:creationId val="163003213"/>
      </p:ext>
    </p:extLst>
  </p:cSld>
  <p:clrMapOvr>
    <a:masterClrMapping/>
  </p:clrMapOvr>
</p:sld>
</file>

<file path=ppt/slides/slide27.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a:ea typeface="Arial"/>
                <a:cs typeface="Arial"/>
              </a:rPr>
              <a:t>Computed </a:t>
            </a:r>
            <a:r>
              <a:rPr lang="en-US" dirty="0" sz="2200" b="0">
                <a:solidFill>
                  <a:srgbClr val="243B53"/>
                </a:solidFill>
                <a:latin typeface="Arial"/>
                <a:ea typeface="Arial"/>
                <a:cs typeface="Arial"/>
              </a:rPr>
              <a:t>Radiography (CR) — uses a photostimulable phosphor imaging plate.</a:t>
            </a:r>
            <a:endParaRPr sz="2200" b="0">
              <a:solidFill>
                <a:srgbClr val="243B53"/>
              </a:solidFill>
              <a:latin typeface="Arial"/>
              <a:ea typeface="Arial"/>
              <a:cs typeface="Arial"/>
            </a:endParaRPr>
          </a:p>
          <a:p>
            <a:pPr lvl="0" algn="l" marL="0" indent="0">
              <a:lnSpc>
                <a:spcPts val="100"/>
              </a:lnSpc>
              <a:spcBef>
                <a:spcPts val="0"/>
              </a:spcBef>
              <a:spcAft>
                <a:spcPts val="0"/>
              </a:spcAft>
              <a:defRPr sz="100" b="0">
                <a:solidFill>
                  <a:srgbClr val="243B53"/>
                </a:solidFill>
                <a:latin typeface="Arial"/>
                <a:ea typeface="Arial"/>
                <a:cs typeface="Arial"/>
              </a:defRPr>
            </a:pPr>
            <a:endParaRPr lang="en-US" dirty="0" smtClean="0" sz="1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a:ea typeface="Arial"/>
                <a:cs typeface="Arial"/>
              </a:rPr>
              <a:t>Digital </a:t>
            </a:r>
            <a:r>
              <a:rPr lang="en-US" dirty="0" sz="2200" b="0">
                <a:solidFill>
                  <a:srgbClr val="243B53"/>
                </a:solidFill>
                <a:latin typeface="Arial"/>
                <a:ea typeface="Arial"/>
                <a:cs typeface="Arial"/>
              </a:rPr>
              <a:t>Radiography (DR) — uses a digital detector panel to convert X-rays into digital signals.</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a:ea typeface="Poppins SemiBold"/>
                <a:cs typeface="Poppins SemiBold"/>
              </a:rPr>
              <a:t>THE FLAT PANEL (DR) RECEPTOR</a:t>
            </a:r>
            <a:endParaRPr lang="en-US" dirty="0" sz="3200" b="1">
              <a:solidFill>
                <a:srgbClr val="0056D2"/>
              </a:solidFill>
              <a:latin typeface="Poppins SemiBold"/>
              <a:ea typeface="Poppins SemiBold"/>
              <a:cs typeface="Poppins SemiBold"/>
            </a:endParaRPr>
          </a:p>
        </p:txBody>
      </p:sp>
    </p:spTree>
    <p:extLst>
      <p:ext uri="{BB962C8B-B14F-4D97-AF65-F5344CB8AC3E}">
        <p14:creationId val="2797956883"/>
      </p:ext>
    </p:extLst>
  </p:cSld>
  <p:clrMapOvr>
    <a:masterClrMapping/>
  </p:clrMapOvr>
</p:sld>
</file>

<file path=ppt/slides/slide28.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2" name="Content Placeholder 1"/>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Indirect-conversion DR: Uses a scintillator to convert X-rays into visible light, a photodiode array to convert light into electrical signals, and a TFT array to read out the signals.</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Direct-conversion DR: Uses a direct-conversion material, such as amorphous selenium (a-Se), to convert X-rays directly into electrical charges. It does not require a scintillator or photodiode layer.</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Important distinction: Computed radiography (CR) typically uses a photostimulable phosphor imaging plate, which stores a latent image that is later read by a laser scanner. The scintillator–photodiode–TFT arrangement describes an indirect-conversion flat-panel DR detector, rather than a typical CR imaging plate.</a:t>
            </a:r>
            <a:endParaRPr sz="20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3" name="Title 2"/>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TYPES OF DR IMAGE FORMATION</a:t>
            </a:r>
            <a:endParaRPr sz="3200" b="1">
              <a:solidFill>
                <a:srgbClr val="0056D2"/>
              </a:solidFill>
              <a:latin typeface="Poppins SemiBold"/>
              <a:ea typeface="Poppins SemiBold"/>
              <a:cs typeface="Poppins SemiBold"/>
            </a:endParaRPr>
          </a:p>
        </p:txBody>
      </p:sp>
    </p:spTree>
    <p:extLst>
      <p:ext uri="{BB962C8B-B14F-4D97-AF65-F5344CB8AC3E}">
        <p14:creationId val="1168708927"/>
      </p:ext>
    </p:extLst>
  </p:cSld>
  <p:clrMapOvr>
    <a:masterClrMapping/>
  </p:clrMapOvr>
</p:sld>
</file>

<file path=ppt/slides/slide29.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502920" y="1405890"/>
            <a:ext cx="594360" cy="41148"/>
          </a:xfrm>
          <a:prstGeom prst="rect">
            <a:avLst/>
          </a:prstGeom>
          <a:solidFill>
            <a:srgbClr val="0056D2"/>
          </a:solidFill>
          <a:ln>
            <a:noFill/>
          </a:ln>
        </p:spPr>
      </p:sp>
      <p:pic>
        <p:nvPicPr>
          <p:cNvPr id="4" name="Content Placeholder 3" descr="X-Ray (Radiography) — Radiography 101"/>
          <p:cNvPicPr>
            <a:picLocks noGrp="1"/>
          </p:cNvPicPr>
          <p:nvPr>
            <p:ph idx="1"/>
          </p:nvPr>
        </p:nvPicPr>
        <p:blipFill>
          <a:blip r:embed="rId2" cstate="print">
            <a:extLst>
              <a:ext uri="{28A0092B-C50C-407E-A947-70E740481C1C}">
                <a14:useLocalDpi val="0"/>
              </a:ext>
            </a:extLst>
          </a:blip>
          <a:stretch>
            <a:fillRect/>
          </a:stretch>
        </p:blipFill>
        <p:spPr bwMode="auto">
          <a:xfrm>
            <a:off x="953649" y="1748790"/>
            <a:ext cx="7236701" cy="4423410"/>
          </a:xfrm>
          <a:prstGeom prst="rect">
            <a:avLst/>
          </a:prstGeom>
          <a:noFill/>
          <a:ln>
            <a:noFill/>
          </a:ln>
        </p:spPr>
      </p:pic>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150" b="1">
                <a:solidFill>
                  <a:srgbClr val="0056D2"/>
                </a:solidFill>
                <a:latin typeface="Poppins SemiBold"/>
                <a:ea typeface="Poppins SemiBold"/>
                <a:cs typeface="Poppins SemiBold"/>
              </a:defRPr>
            </a:pPr>
            <a:r>
              <a:rPr lang="en-US" sz="2150" b="1" dirty="0">
                <a:solidFill>
                  <a:srgbClr val="0056D2"/>
                </a:solidFill>
                <a:latin typeface="Poppins SemiBold"/>
                <a:ea typeface="Poppins SemiBold"/>
                <a:cs typeface="Poppins SemiBold"/>
              </a:rPr>
              <a:t>Main </a:t>
            </a:r>
            <a:r>
              <a:rPr lang="en-US" sz="2150" b="1" dirty="0" smtClean="0">
                <a:solidFill>
                  <a:srgbClr val="0056D2"/>
                </a:solidFill>
                <a:latin typeface="Poppins SemiBold"/>
                <a:ea typeface="Poppins SemiBold"/>
                <a:cs typeface="Poppins SemiBold"/>
              </a:rPr>
              <a:t>components/Cross section  </a:t>
            </a:r>
            <a:r>
              <a:rPr lang="en-US" sz="2150" b="1" dirty="0">
                <a:solidFill>
                  <a:srgbClr val="0056D2"/>
                </a:solidFill>
                <a:latin typeface="Poppins SemiBold"/>
                <a:ea typeface="Poppins SemiBold"/>
                <a:cs typeface="Poppins SemiBold"/>
              </a:rPr>
              <a:t>of a Digital Radiography (DR) </a:t>
            </a:r>
            <a:r>
              <a:rPr lang="en-US" sz="2150" b="1" dirty="0" smtClean="0">
                <a:solidFill>
                  <a:srgbClr val="0056D2"/>
                </a:solidFill>
                <a:latin typeface="Poppins SemiBold"/>
                <a:ea typeface="Poppins SemiBold"/>
                <a:cs typeface="Poppins SemiBold"/>
              </a:rPr>
              <a:t>detector</a:t>
            </a:r>
            <a:r>
              <a:rPr lang="en-US" sz="2150" b="1" dirty="0">
                <a:solidFill>
                  <a:srgbClr val="0056D2"/>
                </a:solidFill>
                <a:latin typeface="Poppins SemiBold"/>
                <a:ea typeface="Poppins SemiBold"/>
                <a:cs typeface="Poppins SemiBold"/>
              </a:rPr>
              <a:t/>
            </a:r>
            <a:br>
              <a:rPr lang="en-US" sz="2400" b="1" dirty="0"/>
            </a:br>
            <a:endParaRPr lang="en-US" sz="2150" dirty="0" b="1">
              <a:solidFill>
                <a:srgbClr val="0056D2"/>
              </a:solidFill>
              <a:latin typeface="Poppins SemiBold"/>
              <a:ea typeface="Poppins SemiBold"/>
              <a:cs typeface="Poppins SemiBold"/>
            </a:endParaRPr>
          </a:p>
        </p:txBody>
      </p:sp>
    </p:spTree>
    <p:extLst>
      <p:ext uri="{BB962C8B-B14F-4D97-AF65-F5344CB8AC3E}">
        <p14:creationId val="2425367791"/>
      </p:ext>
    </p:extLst>
  </p:cSld>
  <p:clrMapOvr>
    <a:masterClrMapping/>
  </p:clrMapOvr>
</p:sld>
</file>

<file path=ppt/slides/slide30.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502920" y="1405890"/>
            <a:ext cx="594360" cy="41148"/>
          </a:xfrm>
          <a:prstGeom prst="rect">
            <a:avLst/>
          </a:prstGeom>
          <a:solidFill>
            <a:srgbClr val="0056D2"/>
          </a:solidFill>
          <a:ln>
            <a:noFill/>
          </a:ln>
        </p:spPr>
      </p:sp>
      <p:pic>
        <p:nvPicPr>
          <p:cNvPr id="4" name="Content Placeholder 3" descr="PPT - George David Associate Professor of Radiology Medical College of Georgia PowerPoint Presentation - ID:23719"/>
          <p:cNvPicPr>
            <a:picLocks noGrp="1"/>
          </p:cNvPicPr>
          <p:nvPr>
            <p:ph idx="1"/>
          </p:nvPr>
        </p:nvPicPr>
        <p:blipFill>
          <a:blip r:embed="rId2">
            <a:extLst>
              <a:ext uri="{28A0092B-C50C-407E-A947-70E740481C1C}">
                <a14:useLocalDpi val="0"/>
              </a:ext>
            </a:extLst>
          </a:blip>
          <a:stretch>
            <a:fillRect/>
          </a:stretch>
        </p:blipFill>
        <p:spPr bwMode="auto">
          <a:xfrm>
            <a:off x="704519" y="1748790"/>
            <a:ext cx="7734962" cy="4423410"/>
          </a:xfrm>
          <a:prstGeom prst="rect">
            <a:avLst/>
          </a:prstGeom>
          <a:noFill/>
          <a:ln>
            <a:noFill/>
          </a:ln>
        </p:spPr>
      </p:pic>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1800" b="1">
                <a:solidFill>
                  <a:srgbClr val="0056D2"/>
                </a:solidFill>
                <a:latin typeface="Poppins SemiBold"/>
                <a:ea typeface="Poppins SemiBold"/>
                <a:cs typeface="Poppins SemiBold"/>
              </a:defRPr>
            </a:pPr>
            <a:r>
              <a:rPr lang="en-US" sz="1800" dirty="0" smtClean="0" b="1">
                <a:solidFill>
                  <a:srgbClr val="0056D2"/>
                </a:solidFill>
                <a:latin typeface="Poppins SemiBold"/>
                <a:ea typeface="Poppins SemiBold"/>
                <a:cs typeface="Poppins SemiBold"/>
              </a:rPr>
              <a:t> </a:t>
            </a:r>
            <a:r>
              <a:rPr lang="en-US" sz="1800" dirty="0" b="1">
                <a:solidFill>
                  <a:srgbClr val="0056D2"/>
                </a:solidFill>
                <a:latin typeface="Poppins SemiBold"/>
                <a:ea typeface="Poppins SemiBold"/>
                <a:cs typeface="Poppins SemiBold"/>
              </a:rPr>
              <a:t>X-ray exposure</a:t>
            </a:r>
            <a:br>
              <a:rPr lang="en-US" sz="2000" dirty="0"/>
            </a:br>
            <a:r>
              <a:rPr lang="en-US" sz="1800" dirty="0" b="1">
                <a:solidFill>
                  <a:srgbClr val="0056D2"/>
                </a:solidFill>
                <a:latin typeface="Poppins SemiBold"/>
                <a:ea typeface="Poppins SemiBold"/>
                <a:cs typeface="Poppins SemiBold"/>
              </a:rPr>
              <a:t>The X-ray tube produces X-rays that pass through the patient. Different tissues absorb different amounts of radiation, and the remaining X-rays reach the DR detector.</a:t>
            </a:r>
            <a:br>
              <a:rPr lang="en-US" sz="2000" dirty="0"/>
            </a:br>
            <a:endParaRPr lang="en-US" sz="1800" dirty="0" b="1">
              <a:solidFill>
                <a:srgbClr val="0056D2"/>
              </a:solidFill>
              <a:latin typeface="Poppins SemiBold"/>
              <a:ea typeface="Poppins SemiBold"/>
              <a:cs typeface="Poppins SemiBold"/>
            </a:endParaRPr>
          </a:p>
        </p:txBody>
      </p:sp>
    </p:spTree>
    <p:extLst>
      <p:ext uri="{BB962C8B-B14F-4D97-AF65-F5344CB8AC3E}">
        <p14:creationId val="2354647239"/>
      </p:ext>
    </p:extLst>
  </p:cSld>
  <p:clrMapOvr>
    <a:masterClrMapping/>
  </p:clrMapOvr>
</p:sld>
</file>

<file path=ppt/slides/slide31.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872067" y="1700808"/>
            <a:ext cx="7408333" cy="4425355"/>
          </a:xfrm>
        </p:spPr>
        <p:txBody>
          <a:bodyPr/>
          <a:lstStyle/>
          <a:p>
            <a:endParaRPr lang="en-US" dirty="0"/>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1800" b="1">
                <a:solidFill>
                  <a:srgbClr val="0056D2"/>
                </a:solidFill>
                <a:latin typeface="Poppins SemiBold"/>
                <a:ea typeface="Poppins SemiBold"/>
                <a:cs typeface="Poppins SemiBold"/>
              </a:defRPr>
            </a:pPr>
            <a:r>
              <a:rPr lang="en-US" sz="1800" dirty="0" smtClean="0" b="1">
                <a:solidFill>
                  <a:srgbClr val="0056D2"/>
                </a:solidFill>
                <a:latin typeface="Poppins SemiBold"/>
                <a:ea typeface="Poppins SemiBold"/>
                <a:cs typeface="Poppins SemiBold"/>
              </a:rPr>
              <a:t> </a:t>
            </a:r>
            <a:r>
              <a:rPr lang="en-US" sz="1800" dirty="0" b="1">
                <a:solidFill>
                  <a:srgbClr val="0056D2"/>
                </a:solidFill>
                <a:latin typeface="Poppins SemiBold"/>
                <a:ea typeface="Poppins SemiBold"/>
                <a:cs typeface="Poppins SemiBold"/>
              </a:rPr>
              <a:t>Conversion of X-rays</a:t>
            </a:r>
            <a:br>
              <a:rPr lang="en-US" sz="2400" dirty="0"/>
            </a:br>
            <a:r>
              <a:rPr lang="en-US" sz="1800" dirty="0" b="1">
                <a:solidFill>
                  <a:srgbClr val="0056D2"/>
                </a:solidFill>
                <a:latin typeface="Poppins SemiBold"/>
                <a:ea typeface="Poppins SemiBold"/>
                <a:cs typeface="Poppins SemiBold"/>
              </a:rPr>
              <a:t>In an indirect-conversion detector, a scintillator—commonly cesium iodide (</a:t>
            </a:r>
            <a:r>
              <a:rPr lang="en-US" sz="1800" dirty="0" err="1" b="1">
                <a:solidFill>
                  <a:srgbClr val="0056D2"/>
                </a:solidFill>
                <a:latin typeface="Poppins SemiBold"/>
                <a:ea typeface="Poppins SemiBold"/>
                <a:cs typeface="Poppins SemiBold"/>
              </a:rPr>
              <a:t>CsI</a:t>
            </a:r>
            <a:r>
              <a:rPr lang="en-US" sz="1800" dirty="0" b="1">
                <a:solidFill>
                  <a:srgbClr val="0056D2"/>
                </a:solidFill>
                <a:latin typeface="Poppins SemiBold"/>
                <a:ea typeface="Poppins SemiBold"/>
                <a:cs typeface="Poppins SemiBold"/>
              </a:rPr>
              <a:t>) or gadolinium oxysulfide (GOS)—converts X-rays into </a:t>
            </a:r>
            <a:r>
              <a:rPr lang="en-US" sz="1800" dirty="0" smtClean="0" b="1">
                <a:solidFill>
                  <a:srgbClr val="0056D2"/>
                </a:solidFill>
                <a:latin typeface="Poppins SemiBold"/>
                <a:ea typeface="Poppins SemiBold"/>
                <a:cs typeface="Poppins SemiBold"/>
              </a:rPr>
              <a:t>visible light</a:t>
            </a:r>
            <a:r>
              <a:rPr lang="en-US" sz="1800" dirty="0" smtClean="0" b="1">
                <a:solidFill>
                  <a:srgbClr val="0056D2"/>
                </a:solidFill>
                <a:latin typeface="Poppins SemiBold"/>
                <a:ea typeface="Poppins SemiBold"/>
                <a:cs typeface="Poppins SemiBold"/>
              </a:rPr>
              <a:t>.</a:t>
            </a:r>
            <a:endParaRPr lang="en-US" sz="1800" dirty="0" b="1">
              <a:solidFill>
                <a:srgbClr val="0056D2"/>
              </a:solidFill>
              <a:latin typeface="Poppins SemiBold"/>
              <a:ea typeface="Poppins SemiBold"/>
              <a:cs typeface="Poppins SemiBold"/>
            </a:endParaRPr>
          </a:p>
        </p:txBody>
      </p:sp>
      <p:pic>
        <p:nvPicPr>
          <p:cNvPr id="4" name="Picture 3" descr="Worksheet 30-1: Law of Bergonie and Tribondeau Flashcards | Quizlet"/>
          <p:cNvPicPr/>
          <p:nvPr/>
        </p:nvPicPr>
        <p:blipFill>
          <a:blip r:embed="rId2">
            <a:extLst>
              <a:ext uri="{28A0092B-C50C-407E-A947-70E740481C1C}">
                <a14:useLocalDpi val="0"/>
              </a:ext>
            </a:extLst>
          </a:blip>
          <a:srcRect/>
          <a:stretch>
            <a:fillRect/>
          </a:stretch>
        </p:blipFill>
        <p:spPr bwMode="auto">
          <a:xfrm>
            <a:off x="547791" y="1748790"/>
            <a:ext cx="8048419" cy="4423410"/>
          </a:xfrm>
          <a:prstGeom prst="rect">
            <a:avLst/>
          </a:prstGeom>
          <a:noFill/>
          <a:ln>
            <a:noFill/>
          </a:ln>
        </p:spPr>
      </p:pic>
    </p:spTree>
    <p:extLst>
      <p:ext uri="{BB962C8B-B14F-4D97-AF65-F5344CB8AC3E}">
        <p14:creationId val="649034643"/>
      </p:ext>
    </p:extLst>
  </p:cSld>
  <p:clrMapOvr>
    <a:masterClrMapping/>
  </p:clrMapOvr>
</p:sld>
</file>

<file path=ppt/slides/slide32.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smtClean="0" b="0">
                <a:solidFill>
                  <a:srgbClr val="243B53"/>
                </a:solidFill>
                <a:latin typeface="Arial"/>
                <a:ea typeface="Arial"/>
                <a:cs typeface="Arial"/>
              </a:rPr>
              <a:t>. </a:t>
            </a:r>
            <a:r>
              <a:rPr lang="en-US" sz="2200" dirty="0" b="0">
                <a:solidFill>
                  <a:srgbClr val="243B53"/>
                </a:solidFill>
                <a:latin typeface="Arial"/>
                <a:ea typeface="Arial"/>
                <a:cs typeface="Arial"/>
              </a:rPr>
              <a:t>Conversion layer</a:t>
            </a:r>
            <a:endParaRPr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dirty="0" b="0">
                <a:solidFill>
                  <a:srgbClr val="243B53"/>
                </a:solidFill>
                <a:latin typeface="Arial"/>
                <a:ea typeface="Arial"/>
                <a:cs typeface="Arial"/>
              </a:rPr>
              <a:t>Converts incoming X-ray energy into a form that can be detected electronically.</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Indirect conversion: a scintillator, such as cesium iodide (</a:t>
            </a:r>
            <a:r>
              <a:rPr lang="en-US" sz="2200" dirty="0" err="1" b="0">
                <a:solidFill>
                  <a:srgbClr val="243B53"/>
                </a:solidFill>
                <a:latin typeface="Arial"/>
                <a:ea typeface="Arial"/>
                <a:cs typeface="Arial"/>
              </a:rPr>
              <a:t>CsI</a:t>
            </a:r>
            <a:r>
              <a:rPr lang="en-US" sz="2200" dirty="0" b="0">
                <a:solidFill>
                  <a:srgbClr val="243B53"/>
                </a:solidFill>
                <a:latin typeface="Arial"/>
                <a:ea typeface="Arial"/>
                <a:cs typeface="Arial"/>
              </a:rPr>
              <a:t>) or gadolinium oxysulfide (GOS), converts X-rays into light.</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Direct conversion: amorphous selenium (a-Se) converts X-rays directly into electrical charge.</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
        <p:nvSpPr>
          <p:cNvPr id="2" name="Title 1"/>
          <p:cNvSpPr>
            <a:spLocks noGrp="1"/>
          </p:cNvSpPr>
          <p:nvPr>
            <p:ph type="title"/>
          </p:nvPr>
        </p:nvSpPr>
        <p:spPr>
          <a:xfrm>
            <a:off x="457200" y="338328"/>
            <a:ext cx="8229600" cy="570392"/>
          </a:xfrm>
        </p:spPr>
        <p:txBody>
          <a:bodyPr>
            <a:normAutofit fontScale="90000"/>
          </a:bodyPr>
          <a:lstStyle/>
          <a:p>
            <a:endParaRPr lang="en-US" dirty="0"/>
          </a:p>
        </p:txBody>
      </p:sp>
    </p:spTree>
    <p:extLst>
      <p:ext uri="{BB962C8B-B14F-4D97-AF65-F5344CB8AC3E}">
        <p14:creationId val="1697739676"/>
      </p:ext>
    </p:extLst>
  </p:cSld>
  <p:clrMapOvr>
    <a:masterClrMapping/>
  </p:clrMapOvr>
</p:sld>
</file>

<file path=ppt/slides/slide33.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502920" y="1405890"/>
            <a:ext cx="594360" cy="41148"/>
          </a:xfrm>
          <a:prstGeom prst="rect">
            <a:avLst/>
          </a:prstGeom>
          <a:solidFill>
            <a:srgbClr val="0056D2"/>
          </a:solidFill>
          <a:ln>
            <a:noFill/>
          </a:ln>
        </p:spPr>
      </p:sp>
      <p:pic>
        <p:nvPicPr>
          <p:cNvPr id="4" name="Content Placeholder 3" descr="Advances in Digital Radiography: Physical Principles and System Overview | RadioGraphics"/>
          <p:cNvPicPr>
            <a:picLocks noGrp="1"/>
          </p:cNvPicPr>
          <p:nvPr>
            <p:ph idx="1"/>
          </p:nvPr>
        </p:nvPicPr>
        <p:blipFill>
          <a:blip r:embed="rId2" cstate="print">
            <a:extLst>
              <a:ext uri="{28A0092B-C50C-407E-A947-70E740481C1C}">
                <a14:useLocalDpi val="0"/>
              </a:ext>
            </a:extLst>
          </a:blip>
          <a:stretch>
            <a:fillRect/>
          </a:stretch>
        </p:blipFill>
        <p:spPr bwMode="auto">
          <a:xfrm>
            <a:off x="616291" y="1748790"/>
            <a:ext cx="7911418" cy="4423410"/>
          </a:xfrm>
          <a:prstGeom prst="rect">
            <a:avLst/>
          </a:prstGeom>
          <a:noFill/>
          <a:ln>
            <a:noFill/>
          </a:ln>
        </p:spPr>
      </p:pic>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1800" b="1">
                <a:solidFill>
                  <a:srgbClr val="0056D2"/>
                </a:solidFill>
                <a:latin typeface="Poppins SemiBold"/>
                <a:ea typeface="Poppins SemiBold"/>
                <a:cs typeface="Poppins SemiBold"/>
              </a:defRPr>
            </a:pPr>
            <a:r>
              <a:rPr lang="en-US" sz="1800" dirty="0" b="1">
                <a:solidFill>
                  <a:srgbClr val="0056D2"/>
                </a:solidFill>
                <a:latin typeface="Poppins SemiBold"/>
                <a:ea typeface="Poppins SemiBold"/>
                <a:cs typeface="Poppins SemiBold"/>
              </a:rPr>
              <a:t>Electrical charge formation</a:t>
            </a:r>
            <a:br>
              <a:rPr lang="en-US" sz="2000" dirty="0"/>
            </a:br>
            <a:r>
              <a:rPr lang="en-US" sz="1800" dirty="0" b="1">
                <a:solidFill>
                  <a:srgbClr val="0056D2"/>
                </a:solidFill>
                <a:latin typeface="Poppins SemiBold"/>
                <a:ea typeface="Poppins SemiBold"/>
                <a:cs typeface="Poppins SemiBold"/>
              </a:rPr>
              <a:t>In indirect detectors, photodiodes convert the light into electrical charge. In direct detectors, X-rays generate electrical charge directly in the photoconductor. The amount of charge varies with the local X-ray exposure.</a:t>
            </a:r>
            <a:br>
              <a:rPr lang="en-US" sz="2000" dirty="0"/>
            </a:br>
            <a:endParaRPr lang="en-US" sz="1800" dirty="0" b="1">
              <a:solidFill>
                <a:srgbClr val="0056D2"/>
              </a:solidFill>
              <a:latin typeface="Poppins SemiBold"/>
              <a:ea typeface="Poppins SemiBold"/>
              <a:cs typeface="Poppins SemiBold"/>
            </a:endParaRPr>
          </a:p>
        </p:txBody>
      </p:sp>
    </p:spTree>
    <p:extLst>
      <p:ext uri="{BB962C8B-B14F-4D97-AF65-F5344CB8AC3E}">
        <p14:creationId val="3067893197"/>
      </p:ext>
    </p:extLst>
  </p:cSld>
  <p:clrMapOvr>
    <a:masterClrMapping/>
  </p:clrMapOvr>
</p:sld>
</file>

<file path=ppt/slides/slide34.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2" name="Content Placeholder 1"/>
          <p:cNvSpPr>
            <a:spLocks noGrp="1"/>
          </p:cNvSpPr>
          <p:nvPr>
            <p:ph idx="1"/>
          </p:nvPr>
        </p:nvSpPr>
        <p:spPr>
          <a:xfrm>
            <a:off x="502920" y="1748790"/>
            <a:ext cx="8138160" cy="4423410"/>
          </a:xfrm>
        </p:spPr>
        <p:txBody>
          <a:bodyPr wrap="square" anchor="t" lIns="0" rIns="0" tIns="0" bIns="0">
            <a:normAutofit fontScale="100000" lnSpcReduction="0"/>
          </a:bodyPr>
          <a:lstStyle/>
          <a:p>
            <a:pPr marL="0" indent="0" algn="l">
              <a:lnSpc>
                <a:spcPct val="118000"/>
              </a:lnSpc>
              <a:spcBef>
                <a:spcPts val="0"/>
              </a:spcBef>
              <a:spcAft>
                <a:spcPts val="450"/>
              </a:spcAft>
              <a:buFont typeface="Wingdings" panose="05000000000000000000" pitchFamily="2" charset="2"/>
              <a:buChar char="§"/>
              <a:defRPr sz="1600" b="0">
                <a:solidFill>
                  <a:srgbClr val="243B53"/>
                </a:solidFill>
                <a:latin typeface="Arial"/>
                <a:ea typeface="Arial"/>
                <a:cs typeface="Arial"/>
              </a:defRPr>
            </a:pPr>
            <a:r>
              <a:rPr lang="en-US" sz="1600" dirty="0" b="0">
                <a:solidFill>
                  <a:srgbClr val="243B53"/>
                </a:solidFill>
                <a:latin typeface="Arial"/>
                <a:ea typeface="Arial"/>
                <a:cs typeface="Arial"/>
              </a:rPr>
              <a:t> </a:t>
            </a:r>
            <a:r>
              <a:rPr lang="en-US" dirty="0" sz="1600" b="0">
                <a:solidFill>
                  <a:srgbClr val="243B53"/>
                </a:solidFill>
                <a:latin typeface="Arial"/>
                <a:ea typeface="Arial"/>
                <a:cs typeface="Arial"/>
              </a:rPr>
              <a:t>Thin-film transistor (TFT) array</a:t>
            </a:r>
            <a:endParaRPr sz="1600" b="0">
              <a:solidFill>
                <a:srgbClr val="243B53"/>
              </a:solidFill>
              <a:latin typeface="Arial"/>
              <a:ea typeface="Arial"/>
              <a:cs typeface="Arial"/>
            </a:endParaRPr>
          </a:p>
          <a:p>
            <a:pPr marL="0" indent="0" algn="l">
              <a:lnSpc>
                <a:spcPct val="118000"/>
              </a:lnSpc>
              <a:spcBef>
                <a:spcPts val="0"/>
              </a:spcBef>
              <a:spcAft>
                <a:spcPts val="450"/>
              </a:spcAft>
              <a:buNone/>
              <a:defRPr sz="1600" b="0">
                <a:solidFill>
                  <a:srgbClr val="243B53"/>
                </a:solidFill>
                <a:latin typeface="Arial"/>
                <a:ea typeface="Arial"/>
                <a:cs typeface="Arial"/>
              </a:defRPr>
            </a:pPr>
            <a:r>
              <a:rPr lang="en-US" dirty="0" sz="1600" b="0">
                <a:solidFill>
                  <a:srgbClr val="243B53"/>
                </a:solidFill>
                <a:latin typeface="Arial"/>
                <a:ea typeface="Arial"/>
                <a:cs typeface="Arial"/>
              </a:rPr>
              <a:t>Acts as an electronic switching system. It allows the stored electrical charge from individual pixels to be read out</a:t>
            </a:r>
            <a:endParaRPr sz="1600" b="0">
              <a:solidFill>
                <a:srgbClr val="243B53"/>
              </a:solidFill>
              <a:latin typeface="Arial"/>
              <a:ea typeface="Arial"/>
              <a:cs typeface="Arial"/>
            </a:endParaRPr>
          </a:p>
          <a:p>
            <a:pPr marL="0" indent="0" algn="l">
              <a:lnSpc>
                <a:spcPct val="118000"/>
              </a:lnSpc>
              <a:spcBef>
                <a:spcPts val="0"/>
              </a:spcBef>
              <a:spcAft>
                <a:spcPts val="450"/>
              </a:spcAft>
              <a:buFont typeface="Wingdings" panose="05000000000000000000" pitchFamily="2" charset="2"/>
              <a:buChar char="§"/>
              <a:defRPr sz="1600" b="0">
                <a:solidFill>
                  <a:srgbClr val="243B53"/>
                </a:solidFill>
                <a:latin typeface="Arial"/>
                <a:ea typeface="Arial"/>
                <a:cs typeface="Arial"/>
              </a:defRPr>
            </a:pPr>
            <a:r>
              <a:rPr lang="en-US" dirty="0" sz="1600" b="0">
                <a:solidFill>
                  <a:srgbClr val="243B53"/>
                </a:solidFill>
                <a:latin typeface="Arial"/>
                <a:ea typeface="Arial"/>
                <a:cs typeface="Arial"/>
              </a:rPr>
              <a:t>  Readout electronics</a:t>
            </a:r>
            <a:endParaRPr sz="1600" b="0">
              <a:solidFill>
                <a:srgbClr val="243B53"/>
              </a:solidFill>
              <a:latin typeface="Arial"/>
              <a:ea typeface="Arial"/>
              <a:cs typeface="Arial"/>
            </a:endParaRPr>
          </a:p>
          <a:p>
            <a:pPr marL="0" indent="0" algn="l">
              <a:lnSpc>
                <a:spcPct val="118000"/>
              </a:lnSpc>
              <a:spcBef>
                <a:spcPts val="0"/>
              </a:spcBef>
              <a:spcAft>
                <a:spcPts val="450"/>
              </a:spcAft>
              <a:buNone/>
              <a:defRPr sz="1600" b="0">
                <a:solidFill>
                  <a:srgbClr val="243B53"/>
                </a:solidFill>
                <a:latin typeface="Arial"/>
                <a:ea typeface="Arial"/>
                <a:cs typeface="Arial"/>
              </a:defRPr>
            </a:pPr>
            <a:r>
              <a:rPr lang="en-US" dirty="0" sz="1600" b="0">
                <a:solidFill>
                  <a:srgbClr val="243B53"/>
                </a:solidFill>
                <a:latin typeface="Arial"/>
                <a:ea typeface="Arial"/>
                <a:cs typeface="Arial"/>
              </a:rPr>
              <a:t>Collect and measure the electrical signals from the detector pixels and send them for conversion into digital data.</a:t>
            </a:r>
            <a:endParaRPr sz="1600" b="0">
              <a:solidFill>
                <a:srgbClr val="243B53"/>
              </a:solidFill>
              <a:latin typeface="Arial"/>
              <a:ea typeface="Arial"/>
              <a:cs typeface="Arial"/>
            </a:endParaRPr>
          </a:p>
          <a:p>
            <a:pPr marL="0" indent="0" algn="l">
              <a:lnSpc>
                <a:spcPct val="118000"/>
              </a:lnSpc>
              <a:spcBef>
                <a:spcPts val="0"/>
              </a:spcBef>
              <a:spcAft>
                <a:spcPts val="450"/>
              </a:spcAft>
              <a:buFont typeface="Wingdings" panose="05000000000000000000" pitchFamily="2" charset="2"/>
              <a:buChar char="§"/>
              <a:defRPr sz="1600" b="0">
                <a:solidFill>
                  <a:srgbClr val="243B53"/>
                </a:solidFill>
                <a:latin typeface="Arial"/>
                <a:ea typeface="Arial"/>
                <a:cs typeface="Arial"/>
              </a:defRPr>
            </a:pPr>
            <a:r>
              <a:rPr lang="en-US" dirty="0" sz="1600" b="0">
                <a:solidFill>
                  <a:srgbClr val="243B53"/>
                </a:solidFill>
                <a:latin typeface="Arial"/>
                <a:ea typeface="Arial"/>
                <a:cs typeface="Arial"/>
              </a:rPr>
              <a:t>  Readout electronics</a:t>
            </a:r>
            <a:endParaRPr sz="1600" b="0">
              <a:solidFill>
                <a:srgbClr val="243B53"/>
              </a:solidFill>
              <a:latin typeface="Arial"/>
              <a:ea typeface="Arial"/>
              <a:cs typeface="Arial"/>
            </a:endParaRPr>
          </a:p>
          <a:p>
            <a:pPr marL="0" indent="0" algn="l">
              <a:lnSpc>
                <a:spcPct val="118000"/>
              </a:lnSpc>
              <a:spcBef>
                <a:spcPts val="0"/>
              </a:spcBef>
              <a:spcAft>
                <a:spcPts val="450"/>
              </a:spcAft>
              <a:buNone/>
              <a:defRPr sz="1600" b="0">
                <a:solidFill>
                  <a:srgbClr val="243B53"/>
                </a:solidFill>
                <a:latin typeface="Arial"/>
                <a:ea typeface="Arial"/>
                <a:cs typeface="Arial"/>
              </a:defRPr>
            </a:pPr>
            <a:r>
              <a:rPr lang="en-US" dirty="0" sz="1600" b="0">
                <a:solidFill>
                  <a:srgbClr val="243B53"/>
                </a:solidFill>
                <a:latin typeface="Arial"/>
                <a:ea typeface="Arial"/>
                <a:cs typeface="Arial"/>
              </a:rPr>
              <a:t>Collect and measure the electrical signals from the detector pixels and send them for conversion into digital data.</a:t>
            </a:r>
            <a:endParaRPr sz="1600" b="0">
              <a:solidFill>
                <a:srgbClr val="243B53"/>
              </a:solidFill>
              <a:latin typeface="Arial"/>
              <a:ea typeface="Arial"/>
              <a:cs typeface="Arial"/>
            </a:endParaRPr>
          </a:p>
          <a:p>
            <a:pPr marL="0" indent="0" algn="l">
              <a:lnSpc>
                <a:spcPct val="118000"/>
              </a:lnSpc>
              <a:spcBef>
                <a:spcPts val="0"/>
              </a:spcBef>
              <a:spcAft>
                <a:spcPts val="450"/>
              </a:spcAft>
              <a:buFont typeface="Wingdings" panose="05000000000000000000" pitchFamily="2" charset="2"/>
              <a:buChar char="§"/>
              <a:defRPr sz="1600" b="0">
                <a:solidFill>
                  <a:srgbClr val="243B53"/>
                </a:solidFill>
                <a:latin typeface="Arial"/>
                <a:ea typeface="Arial"/>
                <a:cs typeface="Arial"/>
              </a:defRPr>
            </a:pPr>
            <a:r>
              <a:rPr lang="en-US" dirty="0" sz="1600" b="0">
                <a:solidFill>
                  <a:srgbClr val="243B53"/>
                </a:solidFill>
                <a:latin typeface="Arial"/>
                <a:ea typeface="Arial"/>
                <a:cs typeface="Arial"/>
              </a:rPr>
              <a:t>  Analog-to-digital converter (ADC)</a:t>
            </a:r>
            <a:endParaRPr sz="1600" b="0">
              <a:solidFill>
                <a:srgbClr val="243B53"/>
              </a:solidFill>
              <a:latin typeface="Arial"/>
              <a:ea typeface="Arial"/>
              <a:cs typeface="Arial"/>
            </a:endParaRPr>
          </a:p>
          <a:p>
            <a:pPr marL="0" indent="0" algn="l">
              <a:lnSpc>
                <a:spcPct val="118000"/>
              </a:lnSpc>
              <a:spcBef>
                <a:spcPts val="0"/>
              </a:spcBef>
              <a:spcAft>
                <a:spcPts val="450"/>
              </a:spcAft>
              <a:buNone/>
              <a:defRPr sz="1600" b="0">
                <a:solidFill>
                  <a:srgbClr val="243B53"/>
                </a:solidFill>
                <a:latin typeface="Arial"/>
                <a:ea typeface="Arial"/>
                <a:cs typeface="Arial"/>
              </a:defRPr>
            </a:pPr>
            <a:r>
              <a:rPr lang="en-US" dirty="0" sz="1600" b="0">
                <a:solidFill>
                  <a:srgbClr val="243B53"/>
                </a:solidFill>
                <a:latin typeface="Arial"/>
                <a:ea typeface="Arial"/>
                <a:cs typeface="Arial"/>
              </a:rPr>
              <a:t>Converts the measured analog electrical signals into digital numerical values that a computer can process</a:t>
            </a:r>
            <a:r>
              <a:rPr lang="en-US" dirty="0" smtClean="0" sz="1600" b="0">
                <a:solidFill>
                  <a:srgbClr val="243B53"/>
                </a:solidFill>
                <a:latin typeface="Arial"/>
                <a:ea typeface="Arial"/>
                <a:cs typeface="Arial"/>
              </a:rPr>
              <a:t>.</a:t>
            </a:r>
            <a:endParaRPr sz="16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
              <a:defRPr sz="1600" b="0">
                <a:solidFill>
                  <a:srgbClr val="243B53"/>
                </a:solidFill>
                <a:latin typeface="Arial"/>
                <a:ea typeface="Arial"/>
                <a:cs typeface="Arial"/>
              </a:defRPr>
            </a:pPr>
            <a:r>
              <a:rPr lang="en-US" dirty="0" smtClean="0" sz="1600" b="0">
                <a:solidFill>
                  <a:srgbClr val="243B53"/>
                </a:solidFill>
                <a:latin typeface="Arial"/>
                <a:ea typeface="Arial"/>
                <a:cs typeface="Arial"/>
              </a:rPr>
              <a:t>  Protective </a:t>
            </a:r>
            <a:r>
              <a:rPr lang="en-US" dirty="0" sz="1600" b="0">
                <a:solidFill>
                  <a:srgbClr val="243B53"/>
                </a:solidFill>
                <a:latin typeface="Arial"/>
                <a:ea typeface="Arial"/>
                <a:cs typeface="Arial"/>
              </a:rPr>
              <a:t>housing and support layers</a:t>
            </a:r>
            <a:endParaRPr sz="1600" b="0">
              <a:solidFill>
                <a:srgbClr val="243B53"/>
              </a:solidFill>
              <a:latin typeface="Arial"/>
              <a:ea typeface="Arial"/>
              <a:cs typeface="Arial"/>
            </a:endParaRPr>
          </a:p>
          <a:p>
            <a:pPr marL="0" indent="0" algn="l">
              <a:lnSpc>
                <a:spcPct val="118000"/>
              </a:lnSpc>
              <a:spcBef>
                <a:spcPts val="0"/>
              </a:spcBef>
              <a:spcAft>
                <a:spcPts val="450"/>
              </a:spcAft>
              <a:buNone/>
              <a:defRPr sz="1600" b="0">
                <a:solidFill>
                  <a:srgbClr val="243B53"/>
                </a:solidFill>
                <a:latin typeface="Arial"/>
                <a:ea typeface="Arial"/>
                <a:cs typeface="Arial"/>
              </a:defRPr>
            </a:pPr>
            <a:r>
              <a:rPr lang="en-US" dirty="0" sz="1600" b="0">
                <a:solidFill>
                  <a:srgbClr val="243B53"/>
                </a:solidFill>
                <a:latin typeface="Arial"/>
                <a:ea typeface="Arial"/>
                <a:cs typeface="Arial"/>
              </a:rPr>
              <a:t>Protect the sensitive detector components from physical damage and help support the detector assembly.</a:t>
            </a:r>
            <a:endParaRPr sz="16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3" name="Title 2"/>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800" b="1">
                <a:solidFill>
                  <a:srgbClr val="0056D2"/>
                </a:solidFill>
                <a:latin typeface="Poppins SemiBold"/>
                <a:ea typeface="Poppins SemiBold"/>
                <a:cs typeface="Poppins SemiBold"/>
              </a:defRPr>
            </a:pPr>
            <a:r>
              <a:rPr lang="en-US" sz="2800" dirty="0" smtClean="0" b="1">
                <a:solidFill>
                  <a:srgbClr val="0056D2"/>
                </a:solidFill>
                <a:latin typeface="Poppins SemiBold"/>
                <a:ea typeface="Poppins SemiBold"/>
                <a:cs typeface="Poppins SemiBold"/>
              </a:rPr>
              <a:t>FUNCTIONS OF DR DETECTOR PLATE SEGMENTS</a:t>
            </a:r>
            <a:endParaRPr lang="en-US" sz="2800" dirty="0" b="1">
              <a:solidFill>
                <a:srgbClr val="0056D2"/>
              </a:solidFill>
              <a:latin typeface="Poppins SemiBold"/>
              <a:ea typeface="Poppins SemiBold"/>
              <a:cs typeface="Poppins SemiBold"/>
            </a:endParaRPr>
          </a:p>
        </p:txBody>
      </p:sp>
    </p:spTree>
    <p:extLst>
      <p:ext uri="{BB962C8B-B14F-4D97-AF65-F5344CB8AC3E}">
        <p14:creationId val="707141418"/>
      </p:ext>
    </p:extLst>
  </p:cSld>
  <p:clrMapOvr>
    <a:masterClrMapping/>
  </p:clrMapOvr>
</p:sld>
</file>

<file path=ppt/slides/slide35.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502920" y="1405890"/>
            <a:ext cx="594360" cy="41148"/>
          </a:xfrm>
          <a:prstGeom prst="rect">
            <a:avLst/>
          </a:prstGeom>
          <a:solidFill>
            <a:srgbClr val="0056D2"/>
          </a:solidFill>
          <a:ln>
            <a:noFill/>
          </a:ln>
        </p:spPr>
      </p:sp>
      <p:pic>
        <p:nvPicPr>
          <p:cNvPr id="4" name="Content Placeholder 3" descr="Hospital Grade Wireless Digital DR Panel for Digital X-Ray 10x12 &amp; 14x17, Cassette Sized true Flatpanel"/>
          <p:cNvPicPr>
            <a:picLocks noGrp="1"/>
          </p:cNvPicPr>
          <p:nvPr>
            <p:ph idx="1"/>
          </p:nvPr>
        </p:nvPicPr>
        <p:blipFill>
          <a:blip r:embed="rId2">
            <a:extLst>
              <a:ext uri="{28A0092B-C50C-407E-A947-70E740481C1C}">
                <a14:useLocalDpi val="0"/>
              </a:ext>
            </a:extLst>
          </a:blip>
          <a:stretch>
            <a:fillRect/>
          </a:stretch>
        </p:blipFill>
        <p:spPr bwMode="auto">
          <a:xfrm>
            <a:off x="1551624" y="1748790"/>
            <a:ext cx="6040752" cy="4423410"/>
          </a:xfrm>
          <a:prstGeom prst="rect">
            <a:avLst/>
          </a:prstGeom>
          <a:noFill/>
          <a:ln>
            <a:noFill/>
          </a:ln>
        </p:spPr>
      </p:pic>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a:ea typeface="Poppins SemiBold"/>
                <a:cs typeface="Poppins SemiBold"/>
              </a:rPr>
              <a:t>A FLAT  PANEL DETECTOR</a:t>
            </a:r>
            <a:endParaRPr lang="en-US" dirty="0" sz="3200" b="1">
              <a:solidFill>
                <a:srgbClr val="0056D2"/>
              </a:solidFill>
              <a:latin typeface="Poppins SemiBold"/>
              <a:ea typeface="Poppins SemiBold"/>
              <a:cs typeface="Poppins SemiBold"/>
            </a:endParaRPr>
          </a:p>
        </p:txBody>
      </p:sp>
    </p:spTree>
    <p:extLst>
      <p:ext uri="{BB962C8B-B14F-4D97-AF65-F5344CB8AC3E}">
        <p14:creationId val="3980486824"/>
      </p:ext>
    </p:extLst>
  </p:cSld>
  <p:clrMapOvr>
    <a:masterClrMapping/>
  </p:clrMapOvr>
</p:sld>
</file>

<file path=ppt/slides/slide36.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2" name="Content Placeholder 1"/>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000" b="0">
                <a:solidFill>
                  <a:srgbClr val="243B53"/>
                </a:solidFill>
                <a:latin typeface="Arial"/>
                <a:ea typeface="Arial"/>
                <a:cs typeface="Arial"/>
              </a:defRPr>
            </a:pPr>
            <a:r>
              <a:rPr lang="en-US" dirty="0" smtClean="0" sz="2000" b="0">
                <a:solidFill>
                  <a:srgbClr val="243B53"/>
                </a:solidFill>
                <a:latin typeface="Arial"/>
                <a:ea typeface="Arial"/>
                <a:cs typeface="Arial"/>
              </a:rPr>
              <a:t>1</a:t>
            </a:r>
            <a:r>
              <a:rPr lang="en-US" dirty="0" sz="2000" b="0">
                <a:solidFill>
                  <a:srgbClr val="243B53"/>
                </a:solidFill>
                <a:latin typeface="Arial"/>
                <a:ea typeface="Arial"/>
                <a:cs typeface="Arial"/>
              </a:rPr>
              <a:t>. Conversion layer</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Converts incoming X-ray energy into a form that can be detected electronically.</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Indirect conversion: a scintillator, such as cesium iodide (</a:t>
            </a:r>
            <a:r>
              <a:rPr lang="en-US" dirty="0" err="1" sz="2000" b="0">
                <a:solidFill>
                  <a:srgbClr val="243B53"/>
                </a:solidFill>
                <a:latin typeface="Arial"/>
                <a:ea typeface="Arial"/>
                <a:cs typeface="Arial"/>
              </a:rPr>
              <a:t>CsI</a:t>
            </a:r>
            <a:r>
              <a:rPr lang="en-US" dirty="0" sz="2000" b="0">
                <a:solidFill>
                  <a:srgbClr val="243B53"/>
                </a:solidFill>
                <a:latin typeface="Arial"/>
                <a:ea typeface="Arial"/>
                <a:cs typeface="Arial"/>
              </a:rPr>
              <a:t>) or gadolinium oxysulfide (GOS), converts X-rays into light.</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Direct conversion: amorphous selenium (a-Se) converts X-rays directly into electrical charge</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2. Photodiode array</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In indirect-conversion detectors, photodiodes convert light from the scintillator into electrical charge. They are usually made from amorphous silicon</a:t>
            </a:r>
            <a:r>
              <a:rPr lang="en-US" dirty="0" smtClean="0" sz="2000" b="0">
                <a:solidFill>
                  <a:srgbClr val="243B53"/>
                </a:solidFill>
                <a:latin typeface="Arial"/>
                <a:ea typeface="Arial"/>
                <a:cs typeface="Arial"/>
              </a:rPr>
              <a:t>.</a:t>
            </a:r>
            <a:endParaRPr lang="en-US" dirty="0" sz="2000" b="0">
              <a:solidFill>
                <a:srgbClr val="243B53"/>
              </a:solidFill>
              <a:latin typeface="Arial"/>
              <a:ea typeface="Arial"/>
              <a:cs typeface="Arial"/>
            </a:endParaRPr>
          </a:p>
        </p:txBody>
      </p:sp>
      <p:sp>
        <p:nvSpPr>
          <p:cNvPr id="3" name="Title 2"/>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350" b="1">
                <a:solidFill>
                  <a:srgbClr val="0056D2"/>
                </a:solidFill>
                <a:latin typeface="Poppins SemiBold"/>
                <a:ea typeface="Poppins SemiBold"/>
                <a:cs typeface="Poppins SemiBold"/>
              </a:defRPr>
            </a:pPr>
            <a:r>
              <a:rPr lang="en-US" sz="2350" b="1" dirty="0">
                <a:solidFill>
                  <a:srgbClr val="0056D2"/>
                </a:solidFill>
                <a:latin typeface="Poppins SemiBold"/>
                <a:ea typeface="Poppins SemiBold"/>
                <a:cs typeface="Poppins SemiBold"/>
              </a:rPr>
              <a:t>SUMMARY  OF THE COMPONENTS AND THEIR FUNCTIONS</a:t>
            </a:r>
            <a:r>
              <a:rPr lang="en-US" sz="2350" dirty="0" b="1">
                <a:solidFill>
                  <a:srgbClr val="0056D2"/>
                </a:solidFill>
                <a:latin typeface="Poppins SemiBold"/>
                <a:ea typeface="Poppins SemiBold"/>
                <a:cs typeface="Poppins SemiBold"/>
              </a:rPr>
              <a:t/>
            </a:r>
            <a:br>
              <a:rPr lang="en-US" sz="2400" dirty="0"/>
            </a:br>
            <a:endParaRPr lang="en-US" sz="2350" dirty="0" b="1">
              <a:solidFill>
                <a:srgbClr val="0056D2"/>
              </a:solidFill>
              <a:latin typeface="Poppins SemiBold"/>
              <a:ea typeface="Poppins SemiBold"/>
              <a:cs typeface="Poppins SemiBold"/>
            </a:endParaRPr>
          </a:p>
        </p:txBody>
      </p:sp>
    </p:spTree>
    <p:extLst>
      <p:ext uri="{BB962C8B-B14F-4D97-AF65-F5344CB8AC3E}">
        <p14:creationId val="2295020744"/>
      </p:ext>
    </p:extLst>
  </p:cSld>
  <p:clrMapOvr>
    <a:masterClrMapping/>
  </p:clrMapOvr>
</p:sld>
</file>

<file path=ppt/slides/slide37.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2" name="Content Placeholder 1"/>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3. Thin-film transistor (TFT) array</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Acts as an electronic switching system. It allows the stored electrical charge from individual pixels to be read out.</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4. Readout electronics</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Collect and measure the electrical signals from the detector pixels and send them for conversion into digital data.</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5. Analog-to-digital converter (ADC)</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Converts the measured analog electrical signals into digital numerical values that a computer can process.</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6. Protective housing and support layers</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Protect the sensitive detector components from physical damage and help support the detector assembly.</a:t>
            </a:r>
            <a:endParaRPr sz="20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r>
              <a:rPr lang="en-US" dirty="0" sz="100" b="0">
                <a:solidFill>
                  <a:srgbClr val="243B53"/>
                </a:solidFill>
                <a:latin typeface="Arial"/>
                <a:ea typeface="Arial"/>
                <a:cs typeface="Arial"/>
              </a:rPr>
              <a:t> </a:t>
            </a:r>
            <a:endParaRPr sz="1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3" name="Title 2"/>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150" b="1">
                <a:solidFill>
                  <a:srgbClr val="0056D2"/>
                </a:solidFill>
                <a:latin typeface="Poppins SemiBold"/>
                <a:ea typeface="Poppins SemiBold"/>
                <a:cs typeface="Poppins SemiBold"/>
              </a:defRPr>
            </a:pPr>
            <a:r>
              <a:rPr lang="en-US" sz="2150" b="1" dirty="0">
                <a:solidFill>
                  <a:srgbClr val="0056D2"/>
                </a:solidFill>
                <a:latin typeface="Poppins SemiBold"/>
                <a:ea typeface="Poppins SemiBold"/>
                <a:cs typeface="Poppins SemiBold"/>
              </a:rPr>
              <a:t>SUMMARY  OF THE COMPONENTS AND THEIR </a:t>
            </a:r>
            <a:r>
              <a:rPr lang="en-US" sz="2150" b="1" dirty="0" smtClean="0">
                <a:solidFill>
                  <a:srgbClr val="0056D2"/>
                </a:solidFill>
                <a:latin typeface="Poppins SemiBold"/>
                <a:ea typeface="Poppins SemiBold"/>
                <a:cs typeface="Poppins SemiBold"/>
              </a:rPr>
              <a:t>FUNCTIONS CONTD</a:t>
            </a:r>
            <a:endParaRPr lang="en-US" sz="2150" dirty="0" b="1">
              <a:solidFill>
                <a:srgbClr val="0056D2"/>
              </a:solidFill>
              <a:latin typeface="Poppins SemiBold"/>
              <a:ea typeface="Poppins SemiBold"/>
              <a:cs typeface="Poppins SemiBold"/>
            </a:endParaRPr>
          </a:p>
        </p:txBody>
      </p:sp>
    </p:spTree>
    <p:extLst>
      <p:ext uri="{BB962C8B-B14F-4D97-AF65-F5344CB8AC3E}">
        <p14:creationId val="2374508754"/>
      </p:ext>
    </p:extLst>
  </p:cSld>
  <p:clrMapOvr>
    <a:masterClrMapping/>
  </p:clrMapOvr>
</p:sld>
</file>

<file path=ppt/slides/slide38.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502920" y="1405890"/>
            <a:ext cx="594360" cy="41148"/>
          </a:xfrm>
          <a:prstGeom prst="rect">
            <a:avLst/>
          </a:prstGeom>
          <a:solidFill>
            <a:srgbClr val="0056D2"/>
          </a:solidFill>
          <a:ln>
            <a:noFill/>
          </a:ln>
        </p:spPr>
      </p:sp>
      <p:pic>
        <p:nvPicPr>
          <p:cNvPr id="4" name="Content Placeholder 3" descr="Work Permit &amp; Visa Chest X-Ray Malta | LifeScan Naxxar"/>
          <p:cNvPicPr>
            <a:picLocks noGrp="1"/>
          </p:cNvPicPr>
          <p:nvPr>
            <p:ph idx="1"/>
          </p:nvPr>
        </p:nvPicPr>
        <p:blipFill>
          <a:blip r:embed="rId2" cstate="print">
            <a:extLst>
              <a:ext uri="{28A0092B-C50C-407E-A947-70E740481C1C}">
                <a14:useLocalDpi val="0"/>
              </a:ext>
            </a:extLst>
          </a:blip>
          <a:stretch>
            <a:fillRect/>
          </a:stretch>
        </p:blipFill>
        <p:spPr bwMode="auto">
          <a:xfrm>
            <a:off x="502920" y="2234798"/>
            <a:ext cx="8138160" cy="3451394"/>
          </a:xfrm>
          <a:prstGeom prst="rect">
            <a:avLst/>
          </a:prstGeom>
          <a:noFill/>
          <a:ln>
            <a:noFill/>
          </a:ln>
        </p:spPr>
      </p:pic>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1800" b="1">
                <a:solidFill>
                  <a:srgbClr val="0056D2"/>
                </a:solidFill>
                <a:latin typeface="Poppins SemiBold"/>
                <a:ea typeface="Poppins SemiBold"/>
                <a:cs typeface="Poppins SemiBold"/>
              </a:defRPr>
            </a:pPr>
            <a:r>
              <a:rPr lang="en-US" sz="1800" dirty="0" smtClean="0" b="1">
                <a:solidFill>
                  <a:srgbClr val="0056D2"/>
                </a:solidFill>
                <a:latin typeface="Poppins SemiBold"/>
                <a:ea typeface="Poppins SemiBold"/>
                <a:cs typeface="Poppins SemiBold"/>
              </a:rPr>
              <a:t>Signal readout</a:t>
            </a:r>
            <a:br>
              <a:rPr lang="en-US" sz="2000" dirty="0" smtClean="0"/>
            </a:br>
            <a:r>
              <a:rPr lang="en-US" sz="1800" dirty="0" smtClean="0" b="1">
                <a:solidFill>
                  <a:srgbClr val="0056D2"/>
                </a:solidFill>
                <a:latin typeface="Poppins SemiBold"/>
                <a:ea typeface="Poppins SemiBold"/>
                <a:cs typeface="Poppins SemiBold"/>
              </a:rPr>
              <a:t>The thin-film transistor (TFT) array </a:t>
            </a:r>
            <a:r>
              <a:rPr lang="en-US" sz="1800" dirty="0" b="1">
                <a:solidFill>
                  <a:srgbClr val="0056D2"/>
                </a:solidFill>
                <a:latin typeface="Poppins SemiBold"/>
                <a:ea typeface="Poppins SemiBold"/>
                <a:cs typeface="Poppins SemiBold"/>
              </a:rPr>
              <a:t>reads the electrical charge stored at each pixel. The detector </a:t>
            </a:r>
            <a:r>
              <a:rPr lang="en-US" sz="1800" dirty="0" smtClean="0" b="1">
                <a:solidFill>
                  <a:srgbClr val="0056D2"/>
                </a:solidFill>
                <a:latin typeface="Poppins SemiBold"/>
                <a:ea typeface="Poppins SemiBold"/>
                <a:cs typeface="Poppins SemiBold"/>
              </a:rPr>
              <a:t>electronics </a:t>
            </a:r>
            <a:r>
              <a:rPr lang="en-US" sz="1800" dirty="0" b="1">
                <a:solidFill>
                  <a:srgbClr val="0056D2"/>
                </a:solidFill>
                <a:latin typeface="Poppins SemiBold"/>
                <a:ea typeface="Poppins SemiBold"/>
                <a:cs typeface="Poppins SemiBold"/>
              </a:rPr>
              <a:t>convert these signals into digital </a:t>
            </a:r>
            <a:r>
              <a:rPr lang="en-US" sz="1800" dirty="0" smtClean="0" b="1">
                <a:solidFill>
                  <a:srgbClr val="0056D2"/>
                </a:solidFill>
                <a:latin typeface="Poppins SemiBold"/>
                <a:ea typeface="Poppins SemiBold"/>
                <a:cs typeface="Poppins SemiBold"/>
              </a:rPr>
              <a:t>values</a:t>
            </a:r>
            <a:br>
              <a:rPr lang="en-US" sz="2000" dirty="0" smtClean="0"/>
            </a:br>
            <a:r>
              <a:rPr lang="en-US" sz="1800" dirty="0" smtClean="0" b="1">
                <a:solidFill>
                  <a:srgbClr val="0056D2"/>
                </a:solidFill>
                <a:latin typeface="Poppins SemiBold"/>
                <a:ea typeface="Poppins SemiBold"/>
                <a:cs typeface="Poppins SemiBold"/>
              </a:rPr>
              <a:t>Digital </a:t>
            </a:r>
            <a:r>
              <a:rPr lang="en-US" sz="1800" dirty="0" b="1">
                <a:solidFill>
                  <a:srgbClr val="0056D2"/>
                </a:solidFill>
                <a:latin typeface="Poppins SemiBold"/>
                <a:ea typeface="Poppins SemiBold"/>
                <a:cs typeface="Poppins SemiBold"/>
              </a:rPr>
              <a:t>image formation</a:t>
            </a:r>
            <a:br>
              <a:rPr lang="en-US" sz="2000" dirty="0"/>
            </a:br>
            <a:r>
              <a:rPr lang="en-US" sz="1800" dirty="0" b="1">
                <a:solidFill>
                  <a:srgbClr val="0056D2"/>
                </a:solidFill>
                <a:latin typeface="Poppins SemiBold"/>
                <a:ea typeface="Poppins SemiBold"/>
                <a:cs typeface="Poppins SemiBold"/>
              </a:rPr>
              <a:t>The computer processes the digital values to produce a radiographic image. The image can be viewed, adjusted, stored in PACS and transmitted electronically.</a:t>
            </a:r>
            <a:br>
              <a:rPr lang="en-US" sz="2000" dirty="0"/>
            </a:br>
            <a:endParaRPr lang="en-US" sz="1800" dirty="0" b="1">
              <a:solidFill>
                <a:srgbClr val="0056D2"/>
              </a:solidFill>
              <a:latin typeface="Poppins SemiBold"/>
              <a:ea typeface="Poppins SemiBold"/>
              <a:cs typeface="Poppins SemiBold"/>
            </a:endParaRPr>
          </a:p>
        </p:txBody>
      </p:sp>
    </p:spTree>
    <p:extLst>
      <p:ext uri="{BB962C8B-B14F-4D97-AF65-F5344CB8AC3E}">
        <p14:creationId val="3135148619"/>
      </p:ext>
    </p:extLst>
  </p:cSld>
  <p:clrMapOvr>
    <a:masterClrMapping/>
  </p:clrMapOvr>
</p:sld>
</file>

<file path=ppt/slides/slide39.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502920" y="1405890"/>
            <a:ext cx="594360" cy="41148"/>
          </a:xfrm>
          <a:prstGeom prst="rect">
            <a:avLst/>
          </a:prstGeom>
          <a:solidFill>
            <a:srgbClr val="0056D2"/>
          </a:solidFill>
          <a:ln>
            <a:noFill/>
          </a:ln>
        </p:spPr>
      </p:sp>
      <p:graphicFrame>
        <p:nvGraphicFramePr>
          <p:cNvPr id="4" name="Content Placeholder 3"/>
          <p:cNvGraphicFramePr>
            <a:graphicFrameLocks noGrp="1"/>
          </p:cNvGraphicFramePr>
          <p:nvPr>
            <p:ph idx="1"/>
            <p:extLst>
              <p:ext uri="{D42A27DB-BD31-4B8C-83A1-F6EECF244321}">
                <p14:modId val="794151867"/>
              </p:ext>
            </p:extLst>
          </p:nvPr>
        </p:nvGraphicFramePr>
        <p:xfrm>
          <a:off x="502920" y="1748790"/>
          <a:ext cx="8138160" cy="4423410"/>
        </p:xfrm>
        <a:graphic>
          <a:graphicData uri="http://schemas.openxmlformats.org/drawingml/2006/table">
            <a:tbl>
              <a:tblPr firstRow="1" firstCol="1" bandRow="1">
                <a:tableStyleId>{5C22544A-7EE6-4342-B048-85BDC9FD1C3A}</a:tableStyleId>
              </a:tblPr>
              <a:tblGrid>
                <a:gridCol w="2712720"/>
                <a:gridCol w="2712720"/>
                <a:gridCol w="2712720"/>
              </a:tblGrid>
              <a:tr h="425526">
                <a:tc>
                  <a:txBody>
                    <a:bodyPr/>
                    <a:lstStyle/>
                    <a:p>
                      <a:pPr algn="l">
                        <a:lnSpc>
                          <a:spcPct val="115000"/>
                        </a:lnSpc>
                        <a:defRPr sz="1700" b="1">
                          <a:solidFill>
                            <a:srgbClr val="FFFFFF"/>
                          </a:solidFill>
                          <a:latin typeface="Arial"/>
                          <a:ea typeface="Arial"/>
                          <a:cs typeface="Arial"/>
                        </a:defRPr>
                      </a:pPr>
                      <a:r>
                        <a:rPr lang="en-US" sz="1700" b="1">
                          <a:solidFill>
                            <a:srgbClr val="FFFFFF"/>
                          </a:solidFill>
                          <a:effectLst/>
                          <a:latin typeface="Arial"/>
                          <a:ea typeface="Arial"/>
                          <a:cs typeface="Arial"/>
                        </a:rPr>
                        <a:t>Feature</a:t>
                      </a:r>
                      <a:endParaRPr lang="en-US" sz="1700" b="1">
                        <a:solidFill>
                          <a:srgbClr val="FFFFFF"/>
                        </a:solidFill>
                        <a:effectLst/>
                        <a:latin typeface="Arial"/>
                        <a:ea typeface="Arial"/>
                        <a:cs typeface="Arial"/>
                      </a:endParaRPr>
                    </a:p>
                  </a:txBody>
                  <a:tcPr marL="63500" marR="63500" marT="50800" marB="50800" anchor="ctr">
                    <a:solidFill>
                      <a:srgbClr val="243B53"/>
                    </a:solidFill>
                  </a:tcPr>
                </a:tc>
                <a:tc>
                  <a:txBody>
                    <a:bodyPr/>
                    <a:lstStyle/>
                    <a:p>
                      <a:pPr algn="l">
                        <a:lnSpc>
                          <a:spcPct val="115000"/>
                        </a:lnSpc>
                        <a:defRPr sz="1700" b="1">
                          <a:solidFill>
                            <a:srgbClr val="FFFFFF"/>
                          </a:solidFill>
                          <a:latin typeface="Arial"/>
                          <a:ea typeface="Arial"/>
                          <a:cs typeface="Arial"/>
                        </a:defRPr>
                      </a:pPr>
                      <a:r>
                        <a:rPr lang="en-US" sz="1700" b="1">
                          <a:solidFill>
                            <a:srgbClr val="FFFFFF"/>
                          </a:solidFill>
                          <a:effectLst/>
                          <a:latin typeface="Arial"/>
                          <a:ea typeface="Arial"/>
                          <a:cs typeface="Arial"/>
                        </a:rPr>
                        <a:t>CR</a:t>
                      </a:r>
                      <a:endParaRPr lang="en-US" sz="1700" b="1">
                        <a:solidFill>
                          <a:srgbClr val="FFFFFF"/>
                        </a:solidFill>
                        <a:effectLst/>
                        <a:latin typeface="Arial"/>
                        <a:ea typeface="Arial"/>
                        <a:cs typeface="Arial"/>
                      </a:endParaRPr>
                    </a:p>
                  </a:txBody>
                  <a:tcPr marL="63500" marR="63500" marT="50800" marB="50800" anchor="ctr">
                    <a:solidFill>
                      <a:srgbClr val="243B53"/>
                    </a:solidFill>
                  </a:tcPr>
                </a:tc>
                <a:tc>
                  <a:txBody>
                    <a:bodyPr/>
                    <a:lstStyle/>
                    <a:p>
                      <a:pPr algn="l">
                        <a:lnSpc>
                          <a:spcPct val="115000"/>
                        </a:lnSpc>
                        <a:defRPr sz="1700" b="1">
                          <a:solidFill>
                            <a:srgbClr val="FFFFFF"/>
                          </a:solidFill>
                          <a:latin typeface="Arial"/>
                          <a:ea typeface="Arial"/>
                          <a:cs typeface="Arial"/>
                        </a:defRPr>
                      </a:pPr>
                      <a:r>
                        <a:rPr lang="en-US" sz="1700" b="1">
                          <a:solidFill>
                            <a:srgbClr val="FFFFFF"/>
                          </a:solidFill>
                          <a:effectLst/>
                          <a:latin typeface="Arial"/>
                          <a:ea typeface="Arial"/>
                          <a:cs typeface="Arial"/>
                        </a:rPr>
                        <a:t>DR</a:t>
                      </a:r>
                      <a:endParaRPr lang="en-US" sz="1700" b="1">
                        <a:solidFill>
                          <a:srgbClr val="FFFFFF"/>
                        </a:solidFill>
                        <a:effectLst/>
                        <a:latin typeface="Arial"/>
                        <a:ea typeface="Arial"/>
                        <a:cs typeface="Arial"/>
                      </a:endParaRPr>
                    </a:p>
                  </a:txBody>
                  <a:tcPr marL="63500" marR="63500" marT="50800" marB="50800" anchor="ctr">
                    <a:solidFill>
                      <a:srgbClr val="243B53"/>
                    </a:solidFill>
                  </a:tcPr>
                </a:tc>
              </a:tr>
              <a:tr h="1003416">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Image receptor</a:t>
                      </a:r>
                      <a:endParaRPr lang="en-US" sz="170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defRPr sz="1700" b="0">
                          <a:solidFill>
                            <a:srgbClr val="243B53"/>
                          </a:solidFill>
                          <a:latin typeface="Arial"/>
                          <a:ea typeface="Arial"/>
                          <a:cs typeface="Arial"/>
                        </a:defRPr>
                      </a:pPr>
                      <a:r>
                        <a:rPr lang="en-US" sz="1700" dirty="0" b="0">
                          <a:solidFill>
                            <a:srgbClr val="243B53"/>
                          </a:solidFill>
                          <a:effectLst/>
                          <a:latin typeface="Arial"/>
                          <a:ea typeface="Arial"/>
                          <a:cs typeface="Arial"/>
                        </a:rPr>
                        <a:t>Photostimulable phosphor plate</a:t>
                      </a:r>
                      <a:endParaRPr lang="en-US" sz="1700" dirty="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Digital flat-panel detector or another electronic detector</a:t>
                      </a:r>
                      <a:endParaRPr lang="en-US" sz="1700" b="0">
                        <a:solidFill>
                          <a:srgbClr val="243B53"/>
                        </a:solidFill>
                        <a:effectLst/>
                        <a:latin typeface="Arial"/>
                        <a:ea typeface="Arial"/>
                        <a:cs typeface="Arial"/>
                      </a:endParaRPr>
                    </a:p>
                  </a:txBody>
                  <a:tcPr marL="63500" marR="63500" marT="50800" marB="50800" anchor="ctr">
                    <a:solidFill>
                      <a:srgbClr val="F1F5FB"/>
                    </a:solidFill>
                  </a:tcPr>
                </a:tc>
              </a:tr>
              <a:tr h="714471">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Image storage</a:t>
                      </a:r>
                      <a:endParaRPr lang="en-US" sz="1700" b="0">
                        <a:solidFill>
                          <a:srgbClr val="243B53"/>
                        </a:solidFill>
                        <a:effectLst/>
                        <a:latin typeface="Arial"/>
                        <a:ea typeface="Arial"/>
                        <a:cs typeface="Arial"/>
                      </a:endParaRPr>
                    </a:p>
                  </a:txBody>
                  <a:tcPr marL="63500" marR="63500" marT="50800" marB="50800" anchor="ctr">
                    <a:solidFill>
                      <a:srgbClr val="FFFFFF"/>
                    </a:solidFill>
                  </a:tcPr>
                </a:tc>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Energy stored in a latent image</a:t>
                      </a:r>
                      <a:endParaRPr lang="en-US" sz="1700" b="0">
                        <a:solidFill>
                          <a:srgbClr val="243B53"/>
                        </a:solidFill>
                        <a:effectLst/>
                        <a:latin typeface="Arial"/>
                        <a:ea typeface="Arial"/>
                        <a:cs typeface="Arial"/>
                      </a:endParaRPr>
                    </a:p>
                  </a:txBody>
                  <a:tcPr marL="63500" marR="63500" marT="50800" marB="50800" anchor="ctr">
                    <a:solidFill>
                      <a:srgbClr val="FFFFFF"/>
                    </a:solidFill>
                  </a:tcPr>
                </a:tc>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Electrical charge or electronic signal</a:t>
                      </a:r>
                      <a:endParaRPr lang="en-US" sz="1700" b="0">
                        <a:solidFill>
                          <a:srgbClr val="243B53"/>
                        </a:solidFill>
                        <a:effectLst/>
                        <a:latin typeface="Arial"/>
                        <a:ea typeface="Arial"/>
                        <a:cs typeface="Arial"/>
                      </a:endParaRPr>
                    </a:p>
                  </a:txBody>
                  <a:tcPr marL="63500" marR="63500" marT="50800" marB="50800" anchor="ctr">
                    <a:solidFill>
                      <a:srgbClr val="FFFFFF"/>
                    </a:solidFill>
                  </a:tcPr>
                </a:tc>
              </a:tr>
              <a:tr h="714471">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Image reading</a:t>
                      </a:r>
                      <a:endParaRPr lang="en-US" sz="170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Laser scans the plate</a:t>
                      </a:r>
                      <a:endParaRPr lang="en-US" sz="170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Detector electronics read the pixels</a:t>
                      </a:r>
                      <a:endParaRPr lang="en-US" sz="1700" b="0">
                        <a:solidFill>
                          <a:srgbClr val="243B53"/>
                        </a:solidFill>
                        <a:effectLst/>
                        <a:latin typeface="Arial"/>
                        <a:ea typeface="Arial"/>
                        <a:cs typeface="Arial"/>
                      </a:endParaRPr>
                    </a:p>
                  </a:txBody>
                  <a:tcPr marL="63500" marR="63500" marT="50800" marB="50800" anchor="ctr">
                    <a:solidFill>
                      <a:srgbClr val="F1F5FB"/>
                    </a:solidFill>
                  </a:tcPr>
                </a:tc>
              </a:tr>
              <a:tr h="425526">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Separate reader</a:t>
                      </a:r>
                      <a:endParaRPr lang="en-US" sz="1700" b="0">
                        <a:solidFill>
                          <a:srgbClr val="243B53"/>
                        </a:solidFill>
                        <a:effectLst/>
                        <a:latin typeface="Arial"/>
                        <a:ea typeface="Arial"/>
                        <a:cs typeface="Arial"/>
                      </a:endParaRPr>
                    </a:p>
                  </a:txBody>
                  <a:tcPr marL="63500" marR="63500" marT="50800" marB="50800" anchor="ctr">
                    <a:solidFill>
                      <a:srgbClr val="FFFFFF"/>
                    </a:solidFill>
                  </a:tcPr>
                </a:tc>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Required</a:t>
                      </a:r>
                      <a:endParaRPr lang="en-US" sz="1700" b="0">
                        <a:solidFill>
                          <a:srgbClr val="243B53"/>
                        </a:solidFill>
                        <a:effectLst/>
                        <a:latin typeface="Arial"/>
                        <a:ea typeface="Arial"/>
                        <a:cs typeface="Arial"/>
                      </a:endParaRPr>
                    </a:p>
                  </a:txBody>
                  <a:tcPr marL="63500" marR="63500" marT="50800" marB="50800" anchor="ctr">
                    <a:solidFill>
                      <a:srgbClr val="FFFFFF"/>
                    </a:solidFill>
                  </a:tcPr>
                </a:tc>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Usually not required</a:t>
                      </a:r>
                      <a:endParaRPr lang="en-US" sz="1700" b="0">
                        <a:solidFill>
                          <a:srgbClr val="243B53"/>
                        </a:solidFill>
                        <a:effectLst/>
                        <a:latin typeface="Arial"/>
                        <a:ea typeface="Arial"/>
                        <a:cs typeface="Arial"/>
                      </a:endParaRPr>
                    </a:p>
                  </a:txBody>
                  <a:tcPr marL="63500" marR="63500" marT="50800" marB="50800" anchor="ctr">
                    <a:solidFill>
                      <a:srgbClr val="FFFFFF"/>
                    </a:solidFill>
                  </a:tcPr>
                </a:tc>
              </a:tr>
              <a:tr h="425526">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Image availability</a:t>
                      </a:r>
                      <a:endParaRPr lang="en-US" sz="170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Slower</a:t>
                      </a:r>
                      <a:endParaRPr lang="en-US" sz="170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Usually faster</a:t>
                      </a:r>
                      <a:endParaRPr lang="en-US" sz="1700" b="0">
                        <a:solidFill>
                          <a:srgbClr val="243B53"/>
                        </a:solidFill>
                        <a:effectLst/>
                        <a:latin typeface="Arial"/>
                        <a:ea typeface="Arial"/>
                        <a:cs typeface="Arial"/>
                      </a:endParaRPr>
                    </a:p>
                  </a:txBody>
                  <a:tcPr marL="63500" marR="63500" marT="50800" marB="50800" anchor="ctr">
                    <a:solidFill>
                      <a:srgbClr val="F1F5FB"/>
                    </a:solidFill>
                  </a:tcPr>
                </a:tc>
              </a:tr>
              <a:tr h="714471">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Reuse</a:t>
                      </a:r>
                      <a:endParaRPr lang="en-US" sz="1700" b="0">
                        <a:solidFill>
                          <a:srgbClr val="243B53"/>
                        </a:solidFill>
                        <a:effectLst/>
                        <a:latin typeface="Arial"/>
                        <a:ea typeface="Arial"/>
                        <a:cs typeface="Arial"/>
                      </a:endParaRPr>
                    </a:p>
                  </a:txBody>
                  <a:tcPr marL="63500" marR="63500" marT="50800" marB="50800" anchor="ctr">
                    <a:solidFill>
                      <a:srgbClr val="FFFFFF"/>
                    </a:solidFill>
                  </a:tcPr>
                </a:tc>
                <a:tc>
                  <a:txBody>
                    <a:bodyPr/>
                    <a:lstStyle/>
                    <a:p>
                      <a:pPr algn="l">
                        <a:lnSpc>
                          <a:spcPct val="115000"/>
                        </a:lnSpc>
                        <a:defRPr sz="1700" b="0">
                          <a:solidFill>
                            <a:srgbClr val="243B53"/>
                          </a:solidFill>
                          <a:latin typeface="Arial"/>
                          <a:ea typeface="Arial"/>
                          <a:cs typeface="Arial"/>
                        </a:defRPr>
                      </a:pPr>
                      <a:r>
                        <a:rPr lang="en-US" sz="1700" b="0">
                          <a:solidFill>
                            <a:srgbClr val="243B53"/>
                          </a:solidFill>
                          <a:effectLst/>
                          <a:latin typeface="Arial"/>
                          <a:ea typeface="Arial"/>
                          <a:cs typeface="Arial"/>
                        </a:rPr>
                        <a:t>Plate is erased and reused</a:t>
                      </a:r>
                      <a:endParaRPr lang="en-US" sz="1700" b="0">
                        <a:solidFill>
                          <a:srgbClr val="243B53"/>
                        </a:solidFill>
                        <a:effectLst/>
                        <a:latin typeface="Arial"/>
                        <a:ea typeface="Arial"/>
                        <a:cs typeface="Arial"/>
                      </a:endParaRPr>
                    </a:p>
                  </a:txBody>
                  <a:tcPr marL="63500" marR="63500" marT="50800" marB="50800" anchor="ctr">
                    <a:solidFill>
                      <a:srgbClr val="FFFFFF"/>
                    </a:solidFill>
                  </a:tcPr>
                </a:tc>
                <a:tc>
                  <a:txBody>
                    <a:bodyPr/>
                    <a:lstStyle/>
                    <a:p>
                      <a:pPr algn="l">
                        <a:lnSpc>
                          <a:spcPct val="115000"/>
                        </a:lnSpc>
                        <a:defRPr sz="1700" b="0">
                          <a:solidFill>
                            <a:srgbClr val="243B53"/>
                          </a:solidFill>
                          <a:latin typeface="Arial"/>
                          <a:ea typeface="Arial"/>
                          <a:cs typeface="Arial"/>
                        </a:defRPr>
                      </a:pPr>
                      <a:r>
                        <a:rPr lang="en-US" sz="1700" dirty="0" b="0">
                          <a:solidFill>
                            <a:srgbClr val="243B53"/>
                          </a:solidFill>
                          <a:effectLst/>
                          <a:latin typeface="Arial"/>
                          <a:ea typeface="Arial"/>
                          <a:cs typeface="Arial"/>
                        </a:rPr>
                        <a:t>Detector is reset and reused electronically</a:t>
                      </a:r>
                      <a:endParaRPr lang="en-US" sz="1700" dirty="0" b="0">
                        <a:solidFill>
                          <a:srgbClr val="243B53"/>
                        </a:solidFill>
                        <a:effectLst/>
                        <a:latin typeface="Arial"/>
                        <a:ea typeface="Arial"/>
                        <a:cs typeface="Arial"/>
                      </a:endParaRPr>
                    </a:p>
                  </a:txBody>
                  <a:tcPr marL="63500" marR="63500" marT="50800" marB="50800" anchor="ctr">
                    <a:solidFill>
                      <a:srgbClr val="FFFFFF"/>
                    </a:solidFill>
                  </a:tcPr>
                </a:tc>
              </a:tr>
            </a:tbl>
          </a:graphicData>
        </a:graphic>
      </p:graphicFrame>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700" b="1">
                <a:solidFill>
                  <a:srgbClr val="0056D2"/>
                </a:solidFill>
                <a:latin typeface="Poppins SemiBold"/>
                <a:ea typeface="Poppins SemiBold"/>
                <a:cs typeface="Poppins SemiBold"/>
              </a:defRPr>
            </a:pPr>
            <a:r>
              <a:rPr lang="en-US" sz="2700" b="1" dirty="0" smtClean="0">
                <a:solidFill>
                  <a:srgbClr val="0056D2"/>
                </a:solidFill>
                <a:latin typeface="Poppins SemiBold"/>
                <a:ea typeface="Poppins SemiBold"/>
                <a:cs typeface="Poppins SemiBold"/>
              </a:rPr>
              <a:t>Difference </a:t>
            </a:r>
            <a:r>
              <a:rPr lang="en-US" sz="2700" b="1" dirty="0">
                <a:solidFill>
                  <a:srgbClr val="0056D2"/>
                </a:solidFill>
                <a:latin typeface="Poppins SemiBold"/>
                <a:ea typeface="Poppins SemiBold"/>
                <a:cs typeface="Poppins SemiBold"/>
              </a:rPr>
              <a:t>between CR and DR imaging plates</a:t>
            </a:r>
            <a:br>
              <a:rPr lang="en-US" sz="3600" b="1" dirty="0"/>
            </a:br>
            <a:endParaRPr lang="en-US" sz="2700" dirty="0" b="1">
              <a:solidFill>
                <a:srgbClr val="0056D2"/>
              </a:solidFill>
              <a:latin typeface="Poppins SemiBold"/>
              <a:ea typeface="Poppins SemiBold"/>
              <a:cs typeface="Poppins SemiBold"/>
            </a:endParaRPr>
          </a:p>
        </p:txBody>
      </p:sp>
    </p:spTree>
    <p:extLst>
      <p:ext uri="{BB962C8B-B14F-4D97-AF65-F5344CB8AC3E}">
        <p14:creationId val="3903471303"/>
      </p:ext>
    </p:extLst>
  </p:cSld>
  <p:clrMapOvr>
    <a:masterClrMapping/>
  </p:clrMapOvr>
</p:sld>
</file>

<file path=ppt/slides/slide40.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a:ea typeface="Arial"/>
                <a:cs typeface="Arial"/>
              </a:rPr>
              <a:t>Produces </a:t>
            </a:r>
            <a:r>
              <a:rPr lang="en-US" dirty="0" sz="2200" b="0">
                <a:solidFill>
                  <a:srgbClr val="243B53"/>
                </a:solidFill>
                <a:latin typeface="Arial"/>
                <a:ea typeface="Arial"/>
                <a:cs typeface="Arial"/>
              </a:rPr>
              <a:t>images rapidly.</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Allows immediate image review.</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Supports digital image enhancement and manipulation.</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Facilitates electronic storage and transmission.</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Eliminates routine cassette transport to a separate CR reader.</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Can improve workflow and, with appropriate technique, help optimize patient radiation dose.</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mtClean="0" sz="3200">
                <a:solidFill>
                  <a:srgbClr val="0056D2"/>
                </a:solidFill>
                <a:latin typeface="Poppins SemiBold"/>
                <a:ea typeface="Poppins SemiBold"/>
                <a:cs typeface="Poppins SemiBold"/>
              </a:rPr>
              <a:t> </a:t>
            </a:r>
            <a:r>
              <a:rPr lang="en-US" b="1" dirty="0" sz="3200">
                <a:solidFill>
                  <a:srgbClr val="0056D2"/>
                </a:solidFill>
                <a:latin typeface="Poppins SemiBold"/>
                <a:ea typeface="Poppins SemiBold"/>
                <a:cs typeface="Poppins SemiBold"/>
              </a:rPr>
              <a:t>Advantages of DR</a:t>
            </a:r>
            <a:br>
              <a:rPr lang="en-US" b="1" dirty="0"/>
            </a:br>
            <a:endParaRPr lang="en-US" dirty="0" sz="3200" b="1">
              <a:solidFill>
                <a:srgbClr val="0056D2"/>
              </a:solidFill>
              <a:latin typeface="Poppins SemiBold"/>
              <a:ea typeface="Poppins SemiBold"/>
              <a:cs typeface="Poppins SemiBold"/>
            </a:endParaRPr>
          </a:p>
        </p:txBody>
      </p:sp>
    </p:spTree>
    <p:extLst>
      <p:ext uri="{BB962C8B-B14F-4D97-AF65-F5344CB8AC3E}">
        <p14:creationId val="765844842"/>
      </p:ext>
    </p:extLst>
  </p:cSld>
  <p:clrMapOvr>
    <a:masterClrMapping/>
  </p:clrMapOvr>
</p:sld>
</file>

<file path=ppt/slides/slide41.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Higher initial equipment cost.</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Detectors can be expensive to repair or replace.</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Electronic faults can interrupt imaging.</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Image quality can be affected by detector artefacts and calibration problems.</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Easy image processing may conceal overexposure, so radiation exposure must still be monitored carefully.</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mtClean="0" sz="3200">
                <a:solidFill>
                  <a:srgbClr val="0056D2"/>
                </a:solidFill>
                <a:latin typeface="Poppins SemiBold"/>
                <a:ea typeface="Poppins SemiBold"/>
                <a:cs typeface="Poppins SemiBold"/>
              </a:rPr>
              <a:t> </a:t>
            </a:r>
            <a:r>
              <a:rPr lang="en-US" b="1" dirty="0" sz="3200">
                <a:solidFill>
                  <a:srgbClr val="0056D2"/>
                </a:solidFill>
                <a:latin typeface="Poppins SemiBold"/>
                <a:ea typeface="Poppins SemiBold"/>
                <a:cs typeface="Poppins SemiBold"/>
              </a:rPr>
              <a:t>Disadvantages of DR</a:t>
            </a:r>
            <a:br>
              <a:rPr lang="en-US" b="1" dirty="0"/>
            </a:br>
            <a:endParaRPr lang="en-US" dirty="0" sz="3200" b="1">
              <a:solidFill>
                <a:srgbClr val="0056D2"/>
              </a:solidFill>
              <a:latin typeface="Poppins SemiBold"/>
              <a:ea typeface="Poppins SemiBold"/>
              <a:cs typeface="Poppins SemiBold"/>
            </a:endParaRPr>
          </a:p>
        </p:txBody>
      </p:sp>
    </p:spTree>
    <p:extLst>
      <p:ext uri="{BB962C8B-B14F-4D97-AF65-F5344CB8AC3E}">
        <p14:creationId val="3852412423"/>
      </p:ext>
    </p:extLst>
  </p:cSld>
  <p:clrMapOvr>
    <a:masterClrMapping/>
  </p:clrMapOvr>
</p:sld>
</file>

<file path=ppt/slides/slide42.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mtClean="0" sz="2000" b="0">
                <a:solidFill>
                  <a:srgbClr val="243B53"/>
                </a:solidFill>
                <a:latin typeface="Arial"/>
                <a:ea typeface="Arial"/>
                <a:cs typeface="Arial"/>
              </a:rPr>
              <a:t>Windowing </a:t>
            </a:r>
            <a:r>
              <a:rPr lang="en-US" dirty="0" sz="2000" b="0">
                <a:solidFill>
                  <a:srgbClr val="243B53"/>
                </a:solidFill>
                <a:latin typeface="Arial"/>
                <a:ea typeface="Arial"/>
                <a:cs typeface="Arial"/>
              </a:rPr>
              <a:t>and leveling: Adjusts the displayed contrast and brightness.</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Noise reduction: Reduces unwanted variations in the image.</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Edge enhancement: Improves the visibility of boundaries between structures.</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Image inversion: Reverses displayed grayscale values when useful.</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Image cropping and rotation: Changes the displayed image area or orientation without changing the original exposure.</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These operations can improve image presentation, but they cannot reliably recover anatomical information that was never captured.</a:t>
            </a:r>
            <a:endParaRPr sz="20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800" b="1">
                <a:solidFill>
                  <a:srgbClr val="0056D2"/>
                </a:solidFill>
                <a:latin typeface="Poppins SemiBold"/>
                <a:ea typeface="Poppins SemiBold"/>
                <a:cs typeface="Poppins SemiBold"/>
              </a:defRPr>
            </a:pPr>
            <a:r>
              <a:rPr lang="en-US" sz="2800" b="1" dirty="0">
                <a:solidFill>
                  <a:srgbClr val="0056D2"/>
                </a:solidFill>
                <a:latin typeface="Poppins SemiBold"/>
                <a:ea typeface="Poppins SemiBold"/>
                <a:cs typeface="Poppins SemiBold"/>
              </a:rPr>
              <a:t>Important image </a:t>
            </a:r>
            <a:r>
              <a:rPr lang="en-US" sz="2800" b="1" dirty="0" smtClean="0">
                <a:solidFill>
                  <a:srgbClr val="0056D2"/>
                </a:solidFill>
                <a:latin typeface="Poppins SemiBold"/>
                <a:ea typeface="Poppins SemiBold"/>
                <a:cs typeface="Poppins SemiBold"/>
              </a:rPr>
              <a:t>Post processing </a:t>
            </a:r>
            <a:r>
              <a:rPr lang="en-US" sz="2800" b="1" dirty="0">
                <a:solidFill>
                  <a:srgbClr val="0056D2"/>
                </a:solidFill>
                <a:latin typeface="Poppins SemiBold"/>
                <a:ea typeface="Poppins SemiBold"/>
                <a:cs typeface="Poppins SemiBold"/>
              </a:rPr>
              <a:t>operations</a:t>
            </a:r>
            <a:br>
              <a:rPr lang="en-US" sz="3200" b="1" dirty="0"/>
            </a:br>
            <a:endParaRPr lang="en-US" sz="2800" dirty="0" b="1">
              <a:solidFill>
                <a:srgbClr val="0056D2"/>
              </a:solidFill>
              <a:latin typeface="Poppins SemiBold"/>
              <a:ea typeface="Poppins SemiBold"/>
              <a:cs typeface="Poppins SemiBold"/>
            </a:endParaRPr>
          </a:p>
        </p:txBody>
      </p:sp>
    </p:spTree>
    <p:extLst>
      <p:ext uri="{BB962C8B-B14F-4D97-AF65-F5344CB8AC3E}">
        <p14:creationId val="2073403812"/>
      </p:ext>
    </p:extLst>
  </p:cSld>
  <p:clrMapOvr>
    <a:masterClrMapping/>
  </p:clrMapOvr>
</p:sld>
</file>

<file path=ppt/slides/slide43.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lvl="0" algn="l" marL="0" indent="0">
              <a:lnSpc>
                <a:spcPct val="118000"/>
              </a:lnSpc>
              <a:spcBef>
                <a:spcPts val="0"/>
              </a:spcBef>
              <a:spcAft>
                <a:spcPts val="450"/>
              </a:spcAft>
              <a:defRPr sz="1950" b="0">
                <a:solidFill>
                  <a:srgbClr val="243B53"/>
                </a:solidFill>
                <a:latin typeface="Arial"/>
                <a:ea typeface="Arial"/>
                <a:cs typeface="Arial"/>
              </a:defRPr>
            </a:pPr>
            <a:r>
              <a:rPr lang="en-US" dirty="0" smtClean="0" sz="1950" b="0">
                <a:solidFill>
                  <a:srgbClr val="243B53"/>
                </a:solidFill>
                <a:latin typeface="Arial"/>
                <a:ea typeface="Arial"/>
                <a:cs typeface="Arial"/>
              </a:rPr>
              <a:t>Images </a:t>
            </a:r>
            <a:r>
              <a:rPr lang="en-US" dirty="0" sz="1950" b="0">
                <a:solidFill>
                  <a:srgbClr val="243B53"/>
                </a:solidFill>
                <a:latin typeface="Arial"/>
                <a:ea typeface="Arial"/>
                <a:cs typeface="Arial"/>
              </a:rPr>
              <a:t>are available quickly.</a:t>
            </a:r>
            <a:endParaRPr sz="1950" b="0">
              <a:solidFill>
                <a:srgbClr val="243B53"/>
              </a:solidFill>
              <a:latin typeface="Arial"/>
              <a:ea typeface="Arial"/>
              <a:cs typeface="Arial"/>
            </a:endParaRPr>
          </a:p>
          <a:p>
            <a:pPr lvl="0" algn="l" marL="0" indent="0">
              <a:lnSpc>
                <a:spcPct val="118000"/>
              </a:lnSpc>
              <a:spcBef>
                <a:spcPts val="0"/>
              </a:spcBef>
              <a:spcAft>
                <a:spcPts val="450"/>
              </a:spcAft>
              <a:defRPr sz="1950" b="0">
                <a:solidFill>
                  <a:srgbClr val="243B53"/>
                </a:solidFill>
                <a:latin typeface="Arial"/>
                <a:ea typeface="Arial"/>
                <a:cs typeface="Arial"/>
              </a:defRPr>
            </a:pPr>
            <a:r>
              <a:rPr lang="en-US" dirty="0" sz="1950" b="0">
                <a:solidFill>
                  <a:srgbClr val="243B53"/>
                </a:solidFill>
                <a:latin typeface="Arial"/>
                <a:ea typeface="Arial"/>
                <a:cs typeface="Arial"/>
              </a:rPr>
              <a:t>Image brightness and contrast can be adjusted after exposure.</a:t>
            </a:r>
            <a:endParaRPr sz="1950" b="0">
              <a:solidFill>
                <a:srgbClr val="243B53"/>
              </a:solidFill>
              <a:latin typeface="Arial"/>
              <a:ea typeface="Arial"/>
              <a:cs typeface="Arial"/>
            </a:endParaRPr>
          </a:p>
          <a:p>
            <a:pPr lvl="0" algn="l" marL="0" indent="0">
              <a:lnSpc>
                <a:spcPct val="118000"/>
              </a:lnSpc>
              <a:spcBef>
                <a:spcPts val="0"/>
              </a:spcBef>
              <a:spcAft>
                <a:spcPts val="450"/>
              </a:spcAft>
              <a:defRPr sz="1950" b="0">
                <a:solidFill>
                  <a:srgbClr val="243B53"/>
                </a:solidFill>
                <a:latin typeface="Arial"/>
                <a:ea typeface="Arial"/>
                <a:cs typeface="Arial"/>
              </a:defRPr>
            </a:pPr>
            <a:r>
              <a:rPr lang="en-US" dirty="0" sz="1950" b="0">
                <a:solidFill>
                  <a:srgbClr val="243B53"/>
                </a:solidFill>
                <a:latin typeface="Arial"/>
                <a:ea typeface="Arial"/>
                <a:cs typeface="Arial"/>
              </a:rPr>
              <a:t>Images can be stored and retrieved electronically.</a:t>
            </a:r>
            <a:endParaRPr sz="1950" b="0">
              <a:solidFill>
                <a:srgbClr val="243B53"/>
              </a:solidFill>
              <a:latin typeface="Arial"/>
              <a:ea typeface="Arial"/>
              <a:cs typeface="Arial"/>
            </a:endParaRPr>
          </a:p>
          <a:p>
            <a:pPr lvl="0" algn="l" marL="0" indent="0">
              <a:lnSpc>
                <a:spcPct val="118000"/>
              </a:lnSpc>
              <a:spcBef>
                <a:spcPts val="0"/>
              </a:spcBef>
              <a:spcAft>
                <a:spcPts val="450"/>
              </a:spcAft>
              <a:defRPr sz="1950" b="0">
                <a:solidFill>
                  <a:srgbClr val="243B53"/>
                </a:solidFill>
                <a:latin typeface="Arial"/>
                <a:ea typeface="Arial"/>
                <a:cs typeface="Arial"/>
              </a:defRPr>
            </a:pPr>
            <a:r>
              <a:rPr lang="en-US" dirty="0" sz="1950" b="0">
                <a:solidFill>
                  <a:srgbClr val="243B53"/>
                </a:solidFill>
                <a:latin typeface="Arial"/>
                <a:ea typeface="Arial"/>
                <a:cs typeface="Arial"/>
              </a:rPr>
              <a:t>Images can be transmitted easily between healthcare facilities.</a:t>
            </a:r>
            <a:endParaRPr sz="1950" b="0">
              <a:solidFill>
                <a:srgbClr val="243B53"/>
              </a:solidFill>
              <a:latin typeface="Arial"/>
              <a:ea typeface="Arial"/>
              <a:cs typeface="Arial"/>
            </a:endParaRPr>
          </a:p>
          <a:p>
            <a:pPr lvl="0" algn="l" marL="0" indent="0">
              <a:lnSpc>
                <a:spcPct val="118000"/>
              </a:lnSpc>
              <a:spcBef>
                <a:spcPts val="0"/>
              </a:spcBef>
              <a:spcAft>
                <a:spcPts val="450"/>
              </a:spcAft>
              <a:defRPr sz="1950" b="0">
                <a:solidFill>
                  <a:srgbClr val="243B53"/>
                </a:solidFill>
                <a:latin typeface="Arial"/>
                <a:ea typeface="Arial"/>
                <a:cs typeface="Arial"/>
              </a:defRPr>
            </a:pPr>
            <a:r>
              <a:rPr lang="en-US" dirty="0" sz="1950" b="0">
                <a:solidFill>
                  <a:srgbClr val="243B53"/>
                </a:solidFill>
                <a:latin typeface="Arial"/>
                <a:ea typeface="Arial"/>
                <a:cs typeface="Arial"/>
              </a:rPr>
              <a:t>There is no need for conventional photographic film or chemical processing.</a:t>
            </a:r>
            <a:endParaRPr sz="1950" b="0">
              <a:solidFill>
                <a:srgbClr val="243B53"/>
              </a:solidFill>
              <a:latin typeface="Arial"/>
              <a:ea typeface="Arial"/>
              <a:cs typeface="Arial"/>
            </a:endParaRPr>
          </a:p>
          <a:p>
            <a:pPr lvl="0" algn="l" marL="0" indent="0">
              <a:lnSpc>
                <a:spcPct val="118000"/>
              </a:lnSpc>
              <a:spcBef>
                <a:spcPts val="0"/>
              </a:spcBef>
              <a:spcAft>
                <a:spcPts val="450"/>
              </a:spcAft>
              <a:defRPr sz="1950" b="0">
                <a:solidFill>
                  <a:srgbClr val="243B53"/>
                </a:solidFill>
                <a:latin typeface="Arial"/>
                <a:ea typeface="Arial"/>
                <a:cs typeface="Arial"/>
              </a:defRPr>
            </a:pPr>
            <a:r>
              <a:rPr lang="en-US" dirty="0" sz="1950" b="0">
                <a:solidFill>
                  <a:srgbClr val="243B53"/>
                </a:solidFill>
                <a:latin typeface="Arial"/>
                <a:ea typeface="Arial"/>
                <a:cs typeface="Arial"/>
              </a:rPr>
              <a:t>Digital workflows can improve efficiency and reduce repeat examinations when properly managed.</a:t>
            </a:r>
            <a:endParaRPr sz="1950" b="0">
              <a:solidFill>
                <a:srgbClr val="243B53"/>
              </a:solidFill>
              <a:latin typeface="Arial"/>
              <a:ea typeface="Arial"/>
              <a:cs typeface="Arial"/>
            </a:endParaRPr>
          </a:p>
          <a:p>
            <a:pPr algn="l" marL="0" indent="0">
              <a:lnSpc>
                <a:spcPct val="118000"/>
              </a:lnSpc>
              <a:spcBef>
                <a:spcPts val="0"/>
              </a:spcBef>
              <a:spcAft>
                <a:spcPts val="450"/>
              </a:spcAft>
              <a:defRPr sz="1950" b="0">
                <a:solidFill>
                  <a:srgbClr val="243B53"/>
                </a:solidFill>
                <a:latin typeface="Arial"/>
                <a:ea typeface="Arial"/>
                <a:cs typeface="Arial"/>
              </a:defRPr>
            </a:pPr>
            <a:r>
              <a:rPr lang="en-US" dirty="0" sz="1950" b="0">
                <a:solidFill>
                  <a:srgbClr val="243B53"/>
                </a:solidFill>
                <a:latin typeface="Arial"/>
                <a:ea typeface="Arial"/>
                <a:cs typeface="Arial"/>
              </a:rPr>
              <a:t>Important: Digital processing does not automatically reduce radiation dose. Appropriate exposure factors, detector performance and radiation protection practices remain essential.</a:t>
            </a:r>
            <a:endParaRPr sz="19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Advantages of digital X-ray processing</a:t>
            </a:r>
            <a:br>
              <a:rPr lang="en-US" sz="3600" b="1" dirty="0"/>
            </a:br>
            <a:endParaRPr lang="en-US" sz="3200" dirty="0" b="1">
              <a:solidFill>
                <a:srgbClr val="0056D2"/>
              </a:solidFill>
              <a:latin typeface="Poppins SemiBold"/>
              <a:ea typeface="Poppins SemiBold"/>
              <a:cs typeface="Poppins SemiBold"/>
            </a:endParaRPr>
          </a:p>
        </p:txBody>
      </p:sp>
    </p:spTree>
    <p:extLst>
      <p:ext uri="{BB962C8B-B14F-4D97-AF65-F5344CB8AC3E}">
        <p14:creationId val="2560562819"/>
      </p:ext>
    </p:extLst>
  </p:cSld>
  <p:clrMapOvr>
    <a:masterClrMapping/>
  </p:clrMapOvr>
</p:sld>
</file>

<file path=ppt/slides/slide44.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1850" b="0">
                <a:solidFill>
                  <a:srgbClr val="243B53"/>
                </a:solidFill>
                <a:latin typeface="Arial"/>
                <a:ea typeface="Arial"/>
                <a:cs typeface="Arial"/>
              </a:defRPr>
            </a:pPr>
            <a:r>
              <a:rPr lang="en-US" dirty="0" smtClean="0" sz="1850" b="0">
                <a:solidFill>
                  <a:srgbClr val="243B53"/>
                </a:solidFill>
                <a:latin typeface="Arial"/>
                <a:ea typeface="Arial"/>
                <a:cs typeface="Arial"/>
              </a:rPr>
              <a:t>1</a:t>
            </a:r>
            <a:r>
              <a:rPr lang="en-US" dirty="0" sz="1850" b="0">
                <a:solidFill>
                  <a:srgbClr val="243B53"/>
                </a:solidFill>
                <a:latin typeface="Arial"/>
                <a:ea typeface="Arial"/>
                <a:cs typeface="Arial"/>
              </a:rPr>
              <a:t>. High initial cost: Digital X-ray equipment, computers, software, and detectors are expensive to purchase and install.</a:t>
            </a:r>
            <a:endParaRPr sz="1850" b="0">
              <a:solidFill>
                <a:srgbClr val="243B53"/>
              </a:solidFill>
              <a:latin typeface="Arial"/>
              <a:ea typeface="Arial"/>
              <a:cs typeface="Arial"/>
            </a:endParaRPr>
          </a:p>
          <a:p>
            <a:pPr algn="l" marL="0" indent="0">
              <a:lnSpc>
                <a:spcPct val="118000"/>
              </a:lnSpc>
              <a:spcBef>
                <a:spcPts val="0"/>
              </a:spcBef>
              <a:spcAft>
                <a:spcPts val="450"/>
              </a:spcAft>
              <a:defRPr sz="1850" b="0">
                <a:solidFill>
                  <a:srgbClr val="243B53"/>
                </a:solidFill>
                <a:latin typeface="Arial"/>
                <a:ea typeface="Arial"/>
                <a:cs typeface="Arial"/>
              </a:defRPr>
            </a:pPr>
            <a:r>
              <a:rPr lang="en-US" dirty="0" sz="1850" b="0">
                <a:solidFill>
                  <a:srgbClr val="243B53"/>
                </a:solidFill>
                <a:latin typeface="Arial"/>
                <a:ea typeface="Arial"/>
                <a:cs typeface="Arial"/>
              </a:rPr>
              <a:t>2. High maintenance cost: The equipment requires regular servicing, repairs, and software updates.</a:t>
            </a:r>
            <a:endParaRPr sz="1850" b="0">
              <a:solidFill>
                <a:srgbClr val="243B53"/>
              </a:solidFill>
              <a:latin typeface="Arial"/>
              <a:ea typeface="Arial"/>
              <a:cs typeface="Arial"/>
            </a:endParaRPr>
          </a:p>
          <a:p>
            <a:pPr algn="l" marL="0" indent="0">
              <a:lnSpc>
                <a:spcPct val="118000"/>
              </a:lnSpc>
              <a:spcBef>
                <a:spcPts val="0"/>
              </a:spcBef>
              <a:spcAft>
                <a:spcPts val="450"/>
              </a:spcAft>
              <a:defRPr sz="1850" b="0">
                <a:solidFill>
                  <a:srgbClr val="243B53"/>
                </a:solidFill>
                <a:latin typeface="Arial"/>
                <a:ea typeface="Arial"/>
                <a:cs typeface="Arial"/>
              </a:defRPr>
            </a:pPr>
            <a:r>
              <a:rPr lang="en-US" dirty="0" sz="1850" b="0">
                <a:solidFill>
                  <a:srgbClr val="243B53"/>
                </a:solidFill>
                <a:latin typeface="Arial"/>
                <a:ea typeface="Arial"/>
                <a:cs typeface="Arial"/>
              </a:rPr>
              <a:t>3. Dependence on electricity: Digital radiography systems require a reliable power supply to operate.</a:t>
            </a:r>
            <a:endParaRPr sz="1850" b="0">
              <a:solidFill>
                <a:srgbClr val="243B53"/>
              </a:solidFill>
              <a:latin typeface="Arial"/>
              <a:ea typeface="Arial"/>
              <a:cs typeface="Arial"/>
            </a:endParaRPr>
          </a:p>
          <a:p>
            <a:pPr algn="l" marL="0" indent="0">
              <a:lnSpc>
                <a:spcPct val="118000"/>
              </a:lnSpc>
              <a:spcBef>
                <a:spcPts val="0"/>
              </a:spcBef>
              <a:spcAft>
                <a:spcPts val="450"/>
              </a:spcAft>
              <a:defRPr sz="1850" b="0">
                <a:solidFill>
                  <a:srgbClr val="243B53"/>
                </a:solidFill>
                <a:latin typeface="Arial"/>
                <a:ea typeface="Arial"/>
                <a:cs typeface="Arial"/>
              </a:defRPr>
            </a:pPr>
            <a:r>
              <a:rPr lang="en-US" dirty="0" sz="1850" b="0">
                <a:solidFill>
                  <a:srgbClr val="243B53"/>
                </a:solidFill>
                <a:latin typeface="Arial"/>
                <a:ea typeface="Arial"/>
                <a:cs typeface="Arial"/>
              </a:rPr>
              <a:t>4. Risk of radiation overexposure: Image processing can make overexposed images appear acceptable, potentially encouraging unnecessary repeat exposures or gradual increases in patient dose (dose creep).</a:t>
            </a:r>
            <a:endParaRPr sz="1850" b="0">
              <a:solidFill>
                <a:srgbClr val="243B53"/>
              </a:solidFill>
              <a:latin typeface="Arial"/>
              <a:ea typeface="Arial"/>
              <a:cs typeface="Arial"/>
            </a:endParaRPr>
          </a:p>
          <a:p>
            <a:pPr algn="l" marL="0" indent="0">
              <a:lnSpc>
                <a:spcPct val="118000"/>
              </a:lnSpc>
              <a:spcBef>
                <a:spcPts val="0"/>
              </a:spcBef>
              <a:spcAft>
                <a:spcPts val="450"/>
              </a:spcAft>
              <a:defRPr sz="1850" b="0">
                <a:solidFill>
                  <a:srgbClr val="243B53"/>
                </a:solidFill>
                <a:latin typeface="Arial"/>
                <a:ea typeface="Arial"/>
                <a:cs typeface="Arial"/>
              </a:defRPr>
            </a:pPr>
            <a:r>
              <a:rPr lang="en-US" dirty="0" sz="1850" b="0">
                <a:solidFill>
                  <a:srgbClr val="243B53"/>
                </a:solidFill>
                <a:latin typeface="Arial"/>
                <a:ea typeface="Arial"/>
                <a:cs typeface="Arial"/>
              </a:rPr>
              <a:t>5. Technical failures: Detector malfunction, computer breakdown, or software errors can interrupt imaging services.</a:t>
            </a:r>
            <a:endParaRPr sz="1850" b="0">
              <a:solidFill>
                <a:srgbClr val="243B53"/>
              </a:solidFill>
              <a:latin typeface="Arial"/>
              <a:ea typeface="Arial"/>
              <a:cs typeface="Arial"/>
            </a:endParaRPr>
          </a:p>
          <a:p>
            <a:pPr algn="l" marL="0" indent="0">
              <a:lnSpc>
                <a:spcPct val="118000"/>
              </a:lnSpc>
              <a:spcBef>
                <a:spcPts val="0"/>
              </a:spcBef>
              <a:spcAft>
                <a:spcPts val="450"/>
              </a:spcAft>
              <a:defRPr sz="1850" b="0">
                <a:solidFill>
                  <a:srgbClr val="243B53"/>
                </a:solidFill>
                <a:latin typeface="Arial"/>
                <a:ea typeface="Arial"/>
                <a:cs typeface="Arial"/>
              </a:defRPr>
            </a:pPr>
            <a:r>
              <a:rPr lang="en-US" dirty="0" sz="1850" b="0">
                <a:solidFill>
                  <a:srgbClr val="243B53"/>
                </a:solidFill>
                <a:latin typeface="Arial"/>
                <a:ea typeface="Arial"/>
                <a:cs typeface="Arial"/>
              </a:rPr>
              <a:t>6. Need for trained personnel: Radiographers require appropriate training to operate the equipment and process images correctly</a:t>
            </a:r>
            <a:r>
              <a:rPr lang="en-US" dirty="0" smtClean="0" sz="1850" b="0">
                <a:solidFill>
                  <a:srgbClr val="243B53"/>
                </a:solidFill>
                <a:latin typeface="Arial"/>
                <a:ea typeface="Arial"/>
                <a:cs typeface="Arial"/>
              </a:rPr>
              <a:t>.</a:t>
            </a:r>
            <a:endParaRPr lang="en-US" dirty="0" sz="185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Main disadvantages</a:t>
            </a:r>
            <a:br>
              <a:rPr lang="en-US" b="1" dirty="0"/>
            </a:br>
            <a:endParaRPr lang="en-US" dirty="0" sz="3200" b="1">
              <a:solidFill>
                <a:srgbClr val="0056D2"/>
              </a:solidFill>
              <a:latin typeface="Poppins SemiBold"/>
              <a:ea typeface="Poppins SemiBold"/>
              <a:cs typeface="Poppins SemiBold"/>
            </a:endParaRPr>
          </a:p>
        </p:txBody>
      </p:sp>
    </p:spTree>
    <p:extLst>
      <p:ext uri="{BB962C8B-B14F-4D97-AF65-F5344CB8AC3E}">
        <p14:creationId val="3429453571"/>
      </p:ext>
    </p:extLst>
  </p:cSld>
  <p:clrMapOvr>
    <a:masterClrMapping/>
  </p:clrMapOvr>
</p:sld>
</file>

<file path=ppt/slides/slide45.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2" name="Content Placeholder 1"/>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1850" b="0">
                <a:solidFill>
                  <a:srgbClr val="243B53"/>
                </a:solidFill>
                <a:latin typeface="Arial"/>
                <a:ea typeface="Arial"/>
                <a:cs typeface="Arial"/>
              </a:defRPr>
            </a:pPr>
            <a:r>
              <a:rPr lang="en-US" dirty="0" sz="1850" b="0">
                <a:solidFill>
                  <a:srgbClr val="243B53"/>
                </a:solidFill>
                <a:latin typeface="Arial"/>
                <a:ea typeface="Arial"/>
                <a:cs typeface="Arial"/>
              </a:rPr>
              <a:t>7. Image-processing errors: Excessive enhancement, incorrect windowing, or inappropriate manipulation may hide important details or create misleading appearances.</a:t>
            </a:r>
            <a:endParaRPr sz="1850" b="0">
              <a:solidFill>
                <a:srgbClr val="243B53"/>
              </a:solidFill>
              <a:latin typeface="Arial"/>
              <a:ea typeface="Arial"/>
              <a:cs typeface="Arial"/>
            </a:endParaRPr>
          </a:p>
          <a:p>
            <a:pPr algn="l" marL="0" indent="0">
              <a:lnSpc>
                <a:spcPct val="118000"/>
              </a:lnSpc>
              <a:spcBef>
                <a:spcPts val="0"/>
              </a:spcBef>
              <a:spcAft>
                <a:spcPts val="450"/>
              </a:spcAft>
              <a:defRPr sz="1850" b="0">
                <a:solidFill>
                  <a:srgbClr val="243B53"/>
                </a:solidFill>
                <a:latin typeface="Arial"/>
                <a:ea typeface="Arial"/>
                <a:cs typeface="Arial"/>
              </a:defRPr>
            </a:pPr>
            <a:r>
              <a:rPr lang="en-US" dirty="0" sz="1850" b="0">
                <a:solidFill>
                  <a:srgbClr val="243B53"/>
                </a:solidFill>
                <a:latin typeface="Arial"/>
                <a:ea typeface="Arial"/>
                <a:cs typeface="Arial"/>
              </a:rPr>
              <a:t>8. Data storage requirements: Digital images require substantial storage capacity and reliable backup systems.</a:t>
            </a:r>
            <a:endParaRPr sz="1850" b="0">
              <a:solidFill>
                <a:srgbClr val="243B53"/>
              </a:solidFill>
              <a:latin typeface="Arial"/>
              <a:ea typeface="Arial"/>
              <a:cs typeface="Arial"/>
            </a:endParaRPr>
          </a:p>
          <a:p>
            <a:pPr algn="l" marL="0" indent="0">
              <a:lnSpc>
                <a:spcPct val="118000"/>
              </a:lnSpc>
              <a:spcBef>
                <a:spcPts val="0"/>
              </a:spcBef>
              <a:spcAft>
                <a:spcPts val="450"/>
              </a:spcAft>
              <a:defRPr sz="1850" b="0">
                <a:solidFill>
                  <a:srgbClr val="243B53"/>
                </a:solidFill>
                <a:latin typeface="Arial"/>
                <a:ea typeface="Arial"/>
                <a:cs typeface="Arial"/>
              </a:defRPr>
            </a:pPr>
            <a:r>
              <a:rPr lang="en-US" dirty="0" sz="1850" b="0">
                <a:solidFill>
                  <a:srgbClr val="243B53"/>
                </a:solidFill>
                <a:latin typeface="Arial"/>
                <a:ea typeface="Arial"/>
                <a:cs typeface="Arial"/>
              </a:rPr>
              <a:t>9. Cybersecurity and privacy risks: Patient images and records may be lost, accessed without authorization, or affected by cyberattacks.</a:t>
            </a:r>
            <a:endParaRPr sz="1850" b="0">
              <a:solidFill>
                <a:srgbClr val="243B53"/>
              </a:solidFill>
              <a:latin typeface="Arial"/>
              <a:ea typeface="Arial"/>
              <a:cs typeface="Arial"/>
            </a:endParaRPr>
          </a:p>
          <a:p>
            <a:pPr algn="l" marL="0" indent="0">
              <a:lnSpc>
                <a:spcPct val="118000"/>
              </a:lnSpc>
              <a:spcBef>
                <a:spcPts val="0"/>
              </a:spcBef>
              <a:spcAft>
                <a:spcPts val="450"/>
              </a:spcAft>
              <a:defRPr sz="1850" b="0">
                <a:solidFill>
                  <a:srgbClr val="243B53"/>
                </a:solidFill>
                <a:latin typeface="Arial"/>
                <a:ea typeface="Arial"/>
                <a:cs typeface="Arial"/>
              </a:defRPr>
            </a:pPr>
            <a:r>
              <a:rPr lang="en-US" dirty="0" sz="1850" b="0">
                <a:solidFill>
                  <a:srgbClr val="243B53"/>
                </a:solidFill>
                <a:latin typeface="Arial"/>
                <a:ea typeface="Arial"/>
                <a:cs typeface="Arial"/>
              </a:rPr>
              <a:t>10. Network problems: Slow networks or system failures can delay image transfer and reporting.</a:t>
            </a:r>
            <a:endParaRPr sz="1850" b="0">
              <a:solidFill>
                <a:srgbClr val="243B53"/>
              </a:solidFill>
              <a:latin typeface="Arial"/>
              <a:ea typeface="Arial"/>
              <a:cs typeface="Arial"/>
            </a:endParaRPr>
          </a:p>
          <a:p>
            <a:pPr algn="l" marL="0" indent="0">
              <a:lnSpc>
                <a:spcPct val="118000"/>
              </a:lnSpc>
              <a:spcBef>
                <a:spcPts val="0"/>
              </a:spcBef>
              <a:spcAft>
                <a:spcPts val="450"/>
              </a:spcAft>
              <a:defRPr sz="1850" b="0">
                <a:solidFill>
                  <a:srgbClr val="243B53"/>
                </a:solidFill>
                <a:latin typeface="Arial"/>
                <a:ea typeface="Arial"/>
                <a:cs typeface="Arial"/>
              </a:defRPr>
            </a:pPr>
            <a:r>
              <a:rPr lang="en-US" dirty="0" sz="1850" b="0">
                <a:solidFill>
                  <a:srgbClr val="243B53"/>
                </a:solidFill>
                <a:latin typeface="Arial"/>
                <a:ea typeface="Arial"/>
                <a:cs typeface="Arial"/>
              </a:rPr>
              <a:t>11. Equipment obsolescence: Rapid technological changes may make older systems outdated and expensive to upgrade.</a:t>
            </a:r>
            <a:endParaRPr sz="1850" b="0">
              <a:solidFill>
                <a:srgbClr val="243B53"/>
              </a:solidFill>
              <a:latin typeface="Arial"/>
              <a:ea typeface="Arial"/>
              <a:cs typeface="Arial"/>
            </a:endParaRPr>
          </a:p>
          <a:p>
            <a:pPr algn="l" marL="0" indent="0">
              <a:lnSpc>
                <a:spcPct val="118000"/>
              </a:lnSpc>
              <a:spcBef>
                <a:spcPts val="0"/>
              </a:spcBef>
              <a:spcAft>
                <a:spcPts val="450"/>
              </a:spcAft>
              <a:defRPr sz="1850" b="0">
                <a:solidFill>
                  <a:srgbClr val="243B53"/>
                </a:solidFill>
                <a:latin typeface="Arial"/>
                <a:ea typeface="Arial"/>
                <a:cs typeface="Arial"/>
              </a:defRPr>
            </a:pPr>
            <a:r>
              <a:rPr lang="en-US" dirty="0" sz="1850" b="0">
                <a:solidFill>
                  <a:srgbClr val="243B53"/>
                </a:solidFill>
                <a:latin typeface="Arial"/>
                <a:ea typeface="Arial"/>
                <a:cs typeface="Arial"/>
              </a:rPr>
              <a:t>12. Loss of image data: Accidental deletion, hardware failure, or inadequate backup can result in permanent loss of patient images.</a:t>
            </a:r>
            <a:endParaRPr sz="18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3" name="Title 2"/>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Main </a:t>
            </a:r>
            <a:r>
              <a:rPr lang="en-US" sz="3200" b="1" dirty="0" smtClean="0">
                <a:solidFill>
                  <a:srgbClr val="0056D2"/>
                </a:solidFill>
                <a:latin typeface="Poppins SemiBold"/>
                <a:ea typeface="Poppins SemiBold"/>
                <a:cs typeface="Poppins SemiBold"/>
              </a:rPr>
              <a:t>disadvantages </a:t>
            </a:r>
            <a:r>
              <a:rPr lang="en-US" sz="3200" b="1" dirty="0" err="1" smtClean="0">
                <a:solidFill>
                  <a:srgbClr val="0056D2"/>
                </a:solidFill>
                <a:latin typeface="Poppins SemiBold"/>
                <a:ea typeface="Poppins SemiBold"/>
                <a:cs typeface="Poppins SemiBold"/>
              </a:rPr>
              <a:t>contd</a:t>
            </a:r>
            <a:r>
              <a:rPr lang="en-US" sz="3200" b="1" dirty="0">
                <a:solidFill>
                  <a:srgbClr val="0056D2"/>
                </a:solidFill>
                <a:latin typeface="Poppins SemiBold"/>
                <a:ea typeface="Poppins SemiBold"/>
                <a:cs typeface="Poppins SemiBold"/>
              </a:rPr>
              <a:t/>
            </a:r>
            <a:br>
              <a:rPr lang="en-US" sz="4000" b="1" dirty="0"/>
            </a:br>
            <a:endParaRPr lang="en-US" sz="3200" dirty="0" b="1">
              <a:solidFill>
                <a:srgbClr val="0056D2"/>
              </a:solidFill>
              <a:latin typeface="Poppins SemiBold"/>
              <a:ea typeface="Poppins SemiBold"/>
              <a:cs typeface="Poppins SemiBold"/>
            </a:endParaRPr>
          </a:p>
        </p:txBody>
      </p:sp>
    </p:spTree>
    <p:extLst>
      <p:ext uri="{BB962C8B-B14F-4D97-AF65-F5344CB8AC3E}">
        <p14:creationId val="195151135"/>
      </p:ext>
    </p:extLst>
  </p:cSld>
  <p:clrMapOvr>
    <a:masterClrMapping/>
  </p:clrMapOvr>
</p:sld>
</file>

<file path=ppt/slides/slide46.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2" name="Content Placeholder 1"/>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250" b="1">
                <a:solidFill>
                  <a:srgbClr val="243B53"/>
                </a:solidFill>
                <a:latin typeface="Arial"/>
                <a:ea typeface="Arial"/>
                <a:cs typeface="Arial"/>
              </a:defRPr>
            </a:pPr>
            <a:r>
              <a:rPr lang="en-US" dirty="0" sz="2250" b="1">
                <a:solidFill>
                  <a:srgbClr val="243B53"/>
                </a:solidFill>
                <a:latin typeface="Arial"/>
                <a:ea typeface="Arial"/>
                <a:cs typeface="Arial"/>
              </a:rPr>
              <a:t>ANY QUESTION FROM THE </a:t>
            </a:r>
            <a:r>
              <a:rPr lang="en-US" dirty="0" smtClean="0" sz="2250" b="1">
                <a:solidFill>
                  <a:srgbClr val="243B53"/>
                </a:solidFill>
                <a:latin typeface="Arial"/>
                <a:ea typeface="Arial"/>
                <a:cs typeface="Arial"/>
              </a:rPr>
              <a:t>LECTURE  ?</a:t>
            </a:r>
            <a:endParaRPr sz="2250" b="1">
              <a:solidFill>
                <a:srgbClr val="243B53"/>
              </a:solidFill>
              <a:latin typeface="Arial"/>
              <a:ea typeface="Arial"/>
              <a:cs typeface="Arial"/>
            </a:endParaRPr>
          </a:p>
          <a:p>
            <a:pPr algn="l" marL="0" indent="0">
              <a:lnSpc>
                <a:spcPct val="118000"/>
              </a:lnSpc>
              <a:spcBef>
                <a:spcPts val="0"/>
              </a:spcBef>
              <a:spcAft>
                <a:spcPts val="450"/>
              </a:spcAft>
              <a:defRPr sz="2250" b="1">
                <a:solidFill>
                  <a:srgbClr val="243B53"/>
                </a:solidFill>
                <a:latin typeface="Arial"/>
                <a:ea typeface="Arial"/>
                <a:cs typeface="Arial"/>
              </a:defRPr>
            </a:pPr>
            <a:r>
              <a:rPr lang="en-US" dirty="0" smtClean="0" sz="2250" b="1">
                <a:solidFill>
                  <a:srgbClr val="243B53"/>
                </a:solidFill>
                <a:latin typeface="Arial"/>
                <a:ea typeface="Arial"/>
                <a:cs typeface="Arial"/>
              </a:rPr>
              <a:t>ANY AREA  YOU DON’T UNDERSTAND  ?</a:t>
            </a:r>
            <a:endParaRPr sz="2250" b="1">
              <a:solidFill>
                <a:srgbClr val="243B53"/>
              </a:solidFill>
              <a:latin typeface="Arial"/>
              <a:ea typeface="Arial"/>
              <a:cs typeface="Arial"/>
            </a:endParaRPr>
          </a:p>
          <a:p>
            <a:pPr algn="l" marL="0" indent="0">
              <a:lnSpc>
                <a:spcPct val="118000"/>
              </a:lnSpc>
              <a:spcBef>
                <a:spcPts val="0"/>
              </a:spcBef>
              <a:spcAft>
                <a:spcPts val="450"/>
              </a:spcAft>
              <a:defRPr sz="2250" b="1">
                <a:solidFill>
                  <a:srgbClr val="243B53"/>
                </a:solidFill>
                <a:latin typeface="Arial"/>
                <a:ea typeface="Arial"/>
                <a:cs typeface="Arial"/>
              </a:defRPr>
            </a:pPr>
            <a:r>
              <a:rPr lang="en-US" dirty="0" smtClean="0" sz="2250" b="1">
                <a:solidFill>
                  <a:srgbClr val="243B53"/>
                </a:solidFill>
                <a:latin typeface="Arial"/>
                <a:ea typeface="Arial"/>
                <a:cs typeface="Arial"/>
              </a:rPr>
              <a:t>ANY AREA YOU NEED MORE EXPLANATION  ?</a:t>
            </a:r>
            <a:endParaRPr sz="2250" b="1">
              <a:solidFill>
                <a:srgbClr val="243B53"/>
              </a:solidFill>
              <a:latin typeface="Arial"/>
              <a:ea typeface="Arial"/>
              <a:cs typeface="Arial"/>
            </a:endParaRPr>
          </a:p>
          <a:p>
            <a:pPr algn="l" marL="0" indent="0">
              <a:lnSpc>
                <a:spcPct val="118000"/>
              </a:lnSpc>
              <a:spcBef>
                <a:spcPts val="0"/>
              </a:spcBef>
              <a:spcAft>
                <a:spcPts val="450"/>
              </a:spcAft>
              <a:defRPr sz="2250" b="1">
                <a:solidFill>
                  <a:srgbClr val="243B53"/>
                </a:solidFill>
                <a:latin typeface="Arial"/>
                <a:ea typeface="Arial"/>
                <a:cs typeface="Arial"/>
              </a:defRPr>
            </a:pPr>
            <a:r>
              <a:rPr lang="en-US" dirty="0" smtClean="0" sz="2250" b="1">
                <a:solidFill>
                  <a:srgbClr val="243B53"/>
                </a:solidFill>
                <a:latin typeface="Arial"/>
                <a:ea typeface="Arial"/>
                <a:cs typeface="Arial"/>
              </a:rPr>
              <a:t>CAN YOU ANSWER ALL THE QUESTIONS ON THE TOPIC   ?</a:t>
            </a:r>
            <a:endParaRPr sz="2250" b="1">
              <a:solidFill>
                <a:srgbClr val="243B53"/>
              </a:solidFill>
              <a:latin typeface="Arial"/>
              <a:ea typeface="Arial"/>
              <a:cs typeface="Arial"/>
            </a:endParaRPr>
          </a:p>
          <a:p>
            <a:pPr algn="l" marL="0" indent="0">
              <a:lnSpc>
                <a:spcPct val="118000"/>
              </a:lnSpc>
              <a:spcBef>
                <a:spcPts val="0"/>
              </a:spcBef>
              <a:spcAft>
                <a:spcPts val="450"/>
              </a:spcAft>
              <a:defRPr sz="2250" b="1">
                <a:solidFill>
                  <a:srgbClr val="243B53"/>
                </a:solidFill>
                <a:latin typeface="Arial"/>
                <a:ea typeface="Arial"/>
                <a:cs typeface="Arial"/>
              </a:defRPr>
            </a:pPr>
            <a:r>
              <a:rPr lang="en-US" dirty="0" smtClean="0" sz="2250" b="1">
                <a:solidFill>
                  <a:srgbClr val="243B53"/>
                </a:solidFill>
                <a:latin typeface="Arial"/>
                <a:ea typeface="Arial"/>
                <a:cs typeface="Arial"/>
              </a:rPr>
              <a:t>I WISH YOU WELL  !</a:t>
            </a:r>
            <a:endParaRPr lang="en-US" dirty="0" sz="2250" b="1">
              <a:solidFill>
                <a:srgbClr val="243B53"/>
              </a:solidFill>
              <a:latin typeface="Arial"/>
              <a:ea typeface="Arial"/>
              <a:cs typeface="Arial"/>
            </a:endParaRPr>
          </a:p>
        </p:txBody>
      </p:sp>
      <p:sp>
        <p:nvSpPr>
          <p:cNvPr id="3" name="Title 2"/>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150" b="1">
                <a:solidFill>
                  <a:srgbClr val="0056D2"/>
                </a:solidFill>
                <a:latin typeface="Poppins SemiBold"/>
                <a:ea typeface="Poppins SemiBold"/>
                <a:cs typeface="Poppins SemiBold"/>
              </a:defRPr>
            </a:pPr>
            <a:r>
              <a:rPr lang="en-US" sz="2150" dirty="0" smtClean="0" b="1">
                <a:solidFill>
                  <a:srgbClr val="0056D2"/>
                </a:solidFill>
                <a:latin typeface="Poppins SemiBold"/>
                <a:ea typeface="Poppins SemiBold"/>
                <a:cs typeface="Poppins SemiBold"/>
              </a:rPr>
              <a:t>YOU ARE FREE  TO ASK ANY QUESTION FROM </a:t>
            </a:r>
            <a:r>
              <a:rPr lang="en-US" sz="2150" smtClean="0" b="1">
                <a:solidFill>
                  <a:srgbClr val="0056D2"/>
                </a:solidFill>
                <a:latin typeface="Poppins SemiBold"/>
                <a:ea typeface="Poppins SemiBold"/>
                <a:cs typeface="Poppins SemiBold"/>
              </a:rPr>
              <a:t>THE LECTURE  NOW  !   </a:t>
            </a:r>
            <a:endParaRPr lang="en-US" sz="2150" dirty="0" b="1">
              <a:solidFill>
                <a:srgbClr val="0056D2"/>
              </a:solidFill>
              <a:latin typeface="Poppins SemiBold"/>
              <a:ea typeface="Poppins SemiBold"/>
              <a:cs typeface="Poppins SemiBold"/>
            </a:endParaRPr>
          </a:p>
        </p:txBody>
      </p:sp>
    </p:spTree>
    <p:extLst>
      <p:ext uri="{BB962C8B-B14F-4D97-AF65-F5344CB8AC3E}">
        <p14:creationId val="38313045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519</TotalTime>
  <Words>2458</Words>
  <Application>Microsoft Office PowerPoint</Application>
  <PresentationFormat>On-screen Show (4:3)</PresentationFormat>
  <Paragraphs>274</Paragraphs>
  <Slides>46</Slides>
  <Notes>0</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Waveform</vt:lpstr>
      <vt:lpstr>PowerPoint Presentation</vt:lpstr>
      <vt:lpstr>  LECTURES ON INTRODUCTION TO DAYLIGHT AND DIGITAL IMAGE PROCESSING   (MXT 303)  BY   DIR. GBARABE, KENT </vt:lpstr>
      <vt:lpstr>COURSE OUTLINE </vt:lpstr>
      <vt:lpstr>COURSE OUTLINE CONTD</vt:lpstr>
      <vt:lpstr>CONCEPT OF DAYLIGHT FILM PROCESSING  </vt:lpstr>
      <vt:lpstr>MODE OF OPERATION </vt:lpstr>
      <vt:lpstr> Components of a daylight film processor </vt:lpstr>
      <vt:lpstr>A DAYLIGHT FILM PROCESSOR</vt:lpstr>
      <vt:lpstr>ADVANTAGES AND DISADVANTAGES OF DAYLIGHT PROCESSING</vt:lpstr>
      <vt:lpstr> Daylight film processor versus darkroom processing </vt:lpstr>
      <vt:lpstr>PRECAUTIONS</vt:lpstr>
      <vt:lpstr> BASIC PRINCIPLES OF DIGITAL IMAGING </vt:lpstr>
      <vt:lpstr>TYPES OF DIGITAL X RAY RECEPTORS </vt:lpstr>
      <vt:lpstr>Main stages of digital X-ray processing  </vt:lpstr>
      <vt:lpstr>Main stages of digital X-ray processing Contd  </vt:lpstr>
      <vt:lpstr>Cross section of  the CR imaging plate </vt:lpstr>
      <vt:lpstr> X-ray exposure The imaging plate is placed inside a cassette and positioned behind the patient. When X-rays pass through the patient, the transmitted X-rays strike the phosphor layer of the plate. </vt:lpstr>
      <vt:lpstr> Formation of a latent image The phosphor absorbs X-ray energy, causing electrons to become trapped in energy levels within the phosphor crystals. The pattern of trapped electrons forms a latent image, which is an invisible stored image. </vt:lpstr>
      <vt:lpstr> Laser scanning The exposed plate is inserted into a CR reader. A laser beam scans the plate and stimulates the trapped electrons, causing them to release energy as visible light. </vt:lpstr>
      <vt:lpstr>PowerPoint Presentation</vt:lpstr>
      <vt:lpstr>The scientific principle behind CR </vt:lpstr>
      <vt:lpstr>Components of a Computed Radiography (CR) receptor </vt:lpstr>
      <vt:lpstr>COMPONENTS AND FUNCTIONS OF CR DETECTOR </vt:lpstr>
      <vt:lpstr> Advantages of a CR imaging plate </vt:lpstr>
      <vt:lpstr> Disadvantages of a CR imaging plate </vt:lpstr>
      <vt:lpstr>During an X-ray exposure </vt:lpstr>
      <vt:lpstr>THE FLAT PANEL (DR) RECEPTOR</vt:lpstr>
      <vt:lpstr>TYPES OF DR IMAGE FORMATION</vt:lpstr>
      <vt:lpstr>Main components/Cross section  of a Digital Radiography (DR) detector </vt:lpstr>
      <vt:lpstr> X-ray exposure The X-ray tube produces X-rays that pass through the patient. Different tissues absorb different amounts of radiation, and the remaining X-rays reach the DR detector. </vt:lpstr>
      <vt:lpstr> Conversion of X-rays In an indirect-conversion detector, a scintillator—commonly cesium iodide (CsI) or gadolinium oxysulfide (GOS)—converts X-rays into visible light.</vt:lpstr>
      <vt:lpstr>PowerPoint Presentation</vt:lpstr>
      <vt:lpstr>Electrical charge formation In indirect detectors, photodiodes convert the light into electrical charge. In direct detectors, X-rays generate electrical charge directly in the photoconductor. The amount of charge varies with the local X-ray exposure. </vt:lpstr>
      <vt:lpstr>FUNCTIONS OF DR DETECTOR PLATE SEGMENTS</vt:lpstr>
      <vt:lpstr>A FLAT  PANEL DETECTOR</vt:lpstr>
      <vt:lpstr>SUMMARY  OF THE COMPONENTS AND THEIR FUNCTIONS </vt:lpstr>
      <vt:lpstr>SUMMARY  OF THE COMPONENTS AND THEIR FUNCTIONS CONTD</vt:lpstr>
      <vt:lpstr>Signal readout The thin-film transistor (TFT) array reads the electrical charge stored at each pixel. The detector electronics convert these signals into digital values Digital image formation The computer processes the digital values to produce a radiographic image. The image can be viewed, adjusted, stored in PACS and transmitted electronically. </vt:lpstr>
      <vt:lpstr>Difference between CR and DR imaging plates </vt:lpstr>
      <vt:lpstr> Advantages of DR </vt:lpstr>
      <vt:lpstr> Disadvantages of DR </vt:lpstr>
      <vt:lpstr>Important image Post processing operations </vt:lpstr>
      <vt:lpstr>Advantages of digital X-ray processing </vt:lpstr>
      <vt:lpstr>Main disadvantages </vt:lpstr>
      <vt:lpstr>Main disadvantages contd </vt:lpstr>
      <vt:lpstr>YOU ARE FREE  TO ASK ANY QUESTION FROM THE LECTURE  NOW  !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LECTURES ON INTRODUCTION TO DAYLIGHT / OTHER DIGITAL IMAGE PROCESSING (MXT 303) </dc:title>
  <dc:creator>HELLO</dc:creator>
  <cp:lastModifiedBy>HELLO</cp:lastModifiedBy>
  <cp:revision>105</cp:revision>
  <dcterms:created xsi:type="dcterms:W3CDTF">2026-10-19T08:14:17Z</dcterms:created>
  <dcterms:modified xsi:type="dcterms:W3CDTF">2026-10-21T15:42:15Z</dcterms:modified>
</cp:coreProperties>
</file>