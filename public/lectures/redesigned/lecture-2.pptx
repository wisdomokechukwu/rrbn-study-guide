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0" r:id="rId1"/>
  </p:sldMasterIdLst>
  <p:sldIdLst>
    <p:sldId id="256" r:id="rId2"/>
    <p:sldId id="258" r:id="rId3"/>
    <p:sldId id="257" r:id="rId4"/>
    <p:sldId id="259" r:id="rId5"/>
    <p:sldId id="303" r:id="rId6"/>
    <p:sldId id="305" r:id="rId7"/>
    <p:sldId id="261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68" r:id="rId16"/>
    <p:sldId id="271" r:id="rId17"/>
    <p:sldId id="272" r:id="rId18"/>
    <p:sldId id="273" r:id="rId19"/>
    <p:sldId id="274" r:id="rId20"/>
    <p:sldId id="275" r:id="rId21"/>
    <p:sldId id="306" r:id="rId22"/>
    <p:sldId id="276" r:id="rId23"/>
    <p:sldId id="277" r:id="rId24"/>
    <p:sldId id="278" r:id="rId25"/>
    <p:sldId id="279" r:id="rId26"/>
    <p:sldId id="280" r:id="rId27"/>
    <p:sldId id="286" r:id="rId28"/>
    <p:sldId id="281" r:id="rId29"/>
    <p:sldId id="282" r:id="rId30"/>
    <p:sldId id="283" r:id="rId31"/>
    <p:sldId id="284" r:id="rId32"/>
    <p:sldId id="287" r:id="rId33"/>
    <p:sldId id="288" r:id="rId34"/>
    <p:sldId id="289" r:id="rId35"/>
    <p:sldId id="290" r:id="rId36"/>
    <p:sldId id="291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44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361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19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64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721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61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229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968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500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173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351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82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124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145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835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68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233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013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152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327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701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070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9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90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469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630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3483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183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1" r:id="rId1"/>
    <p:sldLayoutId id="2147484282" r:id="rId2"/>
    <p:sldLayoutId id="2147484283" r:id="rId3"/>
    <p:sldLayoutId id="2147484284" r:id="rId4"/>
    <p:sldLayoutId id="2147484285" r:id="rId5"/>
    <p:sldLayoutId id="2147484286" r:id="rId6"/>
    <p:sldLayoutId id="2147484287" r:id="rId7"/>
    <p:sldLayoutId id="2147484288" r:id="rId8"/>
    <p:sldLayoutId id="2147484289" r:id="rId9"/>
    <p:sldLayoutId id="2147484290" r:id="rId10"/>
    <p:sldLayoutId id="2147484291" r:id="rId11"/>
    <p:sldLayoutId id="2147484292" r:id="rId12"/>
    <p:sldLayoutId id="2147484293" r:id="rId13"/>
    <p:sldLayoutId id="2147484294" r:id="rId14"/>
    <p:sldLayoutId id="2147484295" r:id="rId15"/>
    <p:sldLayoutId id="2147484296" r:id="rId16"/>
    <p:sldLayoutId id="2147484297" r:id="rId17"/>
    <p:sldLayoutId id="2147484298" r:id="rId18"/>
    <p:sldLayoutId id="2147484299" r:id="rId19"/>
    <p:sldLayoutId id="2147484300" r:id="rId20"/>
    <p:sldLayoutId id="2147484301" r:id="rId21"/>
    <p:sldLayoutId id="2147484302" r:id="rId22"/>
    <p:sldLayoutId id="2147484303" r:id="rId23"/>
    <p:sldLayoutId id="2147484304" r:id="rId24"/>
    <p:sldLayoutId id="2147484305" r:id="rId25"/>
    <p:sldLayoutId id="2147484306" r:id="rId26"/>
    <p:sldLayoutId id="2147484307" r:id="rId27"/>
    <p:sldLayoutId id="214748430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id="{B65CEEFB-A76F-4DB5-0C5E-EB183AAD4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" y="582930"/>
            <a:ext cx="10850880" cy="558927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MXT102 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MEDICAL IMAGE PROCESSING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RRBN PREGISTRATION RETRAINING COURSE FOR XRAY TECHNICIAN  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BY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EGOP BROWNSON EGOP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20</a:t>
            </a:r>
            <a:r>
              <a:rPr lang="en-US" sz="2250" b="1" baseline="300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</a:t>
            </a: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0CTOBER,2026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@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FACULTY OF BASIC MEDICAL SCIENCES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COLLEGE OF MEDICAL SCIENCES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RIVERS STATE UNIVERSITY, PORT-HARCOURT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123454965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A9E1B2A8-E13C-8911-42BD-077EF3F80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OUTLINE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57F10025-2EAC-88C4-EA5B-640E87D24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1.Xray film structure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2.Types of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xray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3.Film sizes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4.Storage and handling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5.Roll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6. Other photographic materials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7.Spectral sensitivity of films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8.Specialized photographic materials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193666362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E1E5665D-F31C-8B1D-0232-307D7C06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br>
              <a:rPr lang="en-US" sz="2800" b="1" dirty="0"/>
            </a:b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Aim and learning outcomes</a:t>
            </a:r>
            <a:br>
              <a:rPr lang="en-US" b="1" dirty="0"/>
            </a:br>
            <a:endParaRPr lang="en-US" b="1" dirty="0" sz="3200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4F6FC1A-5E1E-9531-44DA-5D910702A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Explain the structure and image-forming principles of radiographic film.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Identify film types, sizes and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specialised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photographic materials.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Describe processing, spectral sensitivity, handling and storage.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33622393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77F67263-178E-A23B-8872-133CAF77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XRAY FILM STRUTURE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5D9672D4-AB5F-7145-168E-6E9CB01AE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What is a radiographic film?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This is a special photographic film coated with a light sensitive emulsion containing silver halide crystals used to record and display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xray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image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transparent base 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Acts as detector, display and archive image in a single sheet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Still used in many departments even as digital systems replaces it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207588267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58E41C9-0D18-DA61-395B-8B083661E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b="1" dirty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Types of </a:t>
            </a:r>
            <a:r>
              <a:rPr lang="en-US" sz="3200" b="1" dirty="0" err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xray</a:t>
            </a:r>
            <a:r>
              <a:rPr lang="en-US" sz="3200" b="1" dirty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 film 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190C0435-A14A-A7E4-FDB8-7D77B2C6A86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0560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    Single sided emulsion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Single-emulsion film has emulsion on one side of the polyester base.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Contain anti-curl or anti halation layer on the opposite side to keep the film flat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Single-emulsion systems can be selected where fine detail is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prioritised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Mostly used in mammography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id="{B59AE6A4-5307-AD8C-91FC-227FA3CA9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91072" y="1748790"/>
            <a:ext cx="5230368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Double sided emulsion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Double-emulsion film has emulsion on both sides.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Double-emulsion film is common in screen-film radiography.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133497078"/>
      </p:ext>
    </p:extLst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id="{7A6A2ECC-E6C9-67C3-301A-C84E31345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781138" y="582930"/>
            <a:ext cx="10629723" cy="5589270"/>
          </a:xfrm>
          <a:prstGeom prst="rect">
            <a:avLst/>
          </a:prstGeom>
        </p:spPr>
      </p:pic>
    </p:spTree>
    <p:extLst>
      <p:ext uri="{BB962C8B-B14F-4D97-AF65-F5344CB8AC3E}">
        <p14:creationId val="4212294624"/>
      </p:ext>
    </p:extLst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6BF1FE39-8AB7-7BDA-9189-A2850DCB7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Cross-section of a double-emulsion film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E5CB9A88-D453-C3A5-CA8D-A9BFB70D6C5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1350498"/>
            <a:ext cx="12192000" cy="550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id="{BD250737-24F4-5FA7-7AE7-90C251D21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2567693" y="1748790"/>
            <a:ext cx="7056613" cy="4423410"/>
          </a:xfrm>
          <a:prstGeom prst="rect">
            <a:avLst/>
          </a:prstGeom>
        </p:spPr>
      </p:pic>
    </p:spTree>
    <p:extLst>
      <p:ext uri="{BB962C8B-B14F-4D97-AF65-F5344CB8AC3E}">
        <p14:creationId val="579369256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6E246A29-FBDF-3C3D-170D-2D9789986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Film structure at a glance</a:t>
            </a:r>
            <a:br>
              <a:rPr lang="en-US" dirty="0">
                <a:solidFill>
                  <a:srgbClr val="EE0000"/>
                </a:solidFill>
              </a:rPr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5023ACF-ACB1-136D-2AA4-A6ABDA9BC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Protective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supercoat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Photosensitive emulsion layer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Adhesive/subbing layer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Transparent film base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N/B 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Some films have emulsion on both sides.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862608065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EA7A533D-C1A2-5354-0D1A-B5C5DED87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br>
              <a:rPr lang="en-US" sz="3600" dirty="0">
                <a:solidFill>
                  <a:srgbClr val="C00000"/>
                </a:solidFill>
              </a:rPr>
            </a:b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Film base</a:t>
            </a:r>
            <a:br>
              <a:rPr lang="en-US" sz="3600" dirty="0">
                <a:solidFill>
                  <a:srgbClr val="C00000"/>
                </a:solidFill>
              </a:rPr>
            </a:b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978CA3EF-D540-F14B-FF88-4F4526778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Supports the emulsion layer and gives strength.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Usually made of polyester (polyethylene terephthalate, about 0.18 mm thick) in modern radiographic film, before it was cellulose triacetate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Polyester is usually tinted blue to reduce eye strain when viewing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Gives the film its rigidity so it can be handled and illuminated on a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viewbox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N/B </a:t>
            </a:r>
            <a:r>
              <a:rPr lang="en-US" sz="2200" i="1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base is only a support; it carries no image.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250725115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3F78AC86-84DA-A04C-6CC1-92A9AE367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Emulsion and gelatin</a:t>
            </a:r>
            <a:br>
              <a:rPr lang="en-US" b="1" dirty="0">
                <a:solidFill>
                  <a:schemeClr val="accent6"/>
                </a:solidFill>
              </a:rPr>
            </a:br>
            <a:endParaRPr lang="en-US" b="1" dirty="0" sz="3200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BFB1DCA7-DD4A-BA8C-D384-289EB4F96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Emulsion contains silver-halide crystals dispersed in gelatin.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Gelatin holds crystals evenly and permits processing chemicals to reach them.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emulsion is the image-forming layer.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Scratches or chemical damage may affect processing process.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722564315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C15EBB58-CE33-88A9-C831-9982F3C1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Silver-halide crystals</a:t>
            </a:r>
            <a:br>
              <a:rPr lang="en-US" sz="3600" dirty="0">
                <a:solidFill>
                  <a:schemeClr val="accent6"/>
                </a:solidFill>
              </a:rPr>
            </a:b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8AAD8DF0-21E8-14CE-3431-BE2ADA67F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They are light sensitive chemical compounds found in emulsion layer of the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xray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They are responsible for forming the latent image when exposed to light from intensifying screen or radiation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Usually contain silver bromide (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AgBr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), sometimes combined with smaller amount of other silver halides like silver chloride (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AgCL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) and silver iodide (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AgI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).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60392798"/>
      </p:ext>
    </p:extLst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43532698-E350-87D1-45B0-62FD692D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Latent image: from invisible to visible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 sz="215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(from invisible exposure to visible radiographic image)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 sz="215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85D8F783-DE6E-CD40-F24D-1E1EDB7EB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Summary of events that take place when emulsion is exposed to radiation 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strikes the silver halide crystals producing an invisible chemical changes (latent image).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Developer reduces exposed crystals to black metallic silver forming radiographic image.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Fixer removes most unexposed silver halide crystals, leaving a permanent image made primarily of metallic silver.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Washing removes residual chemicals; drying prepares the film for viewing.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474526637"/>
      </p:ext>
    </p:extLst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BC00252F-040F-23BF-BA69-F803DDF2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The cassette and intensifying screens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F4E01264-6737-2A5C-CC0C-EAECF1769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holds film and excludes ambient light.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Intensifying screens convert X-ray energy into visible light.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Good film-screen contact reduces blur.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Intensifying screen cleanliness and cassette condition are part of quality assurance.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561561541"/>
      </p:ext>
    </p:extLst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FC5BB7E4-7D98-C920-2C57-58D37410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Adhesive layer</a:t>
            </a:r>
            <a:br>
              <a:rPr lang="en-US" dirty="0">
                <a:solidFill>
                  <a:schemeClr val="accent6"/>
                </a:solidFill>
              </a:rPr>
            </a:br>
            <a:br>
              <a:rPr lang="en-US" dirty="0">
                <a:solidFill>
                  <a:schemeClr val="accent6"/>
                </a:solidFill>
              </a:rPr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BFE4F7D9-4D8C-1DCC-614C-81778A74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Can as well be called compromise, substratum or subbing layer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This layer is made up of cellulose ester and gelatin in water and acetone, earlier made up of collodion.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Bonds emulsion to the base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Stays flexible when film is bent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Stops emulsion lifting in processing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737070928"/>
      </p:ext>
    </p:extLst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D985B9FD-F693-B162-AD85-93C8A52D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SUPERCOAT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BFB6A203-A3E4-02F1-1AB9-468859433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Hard, thin gelatin outer layer spread onto the surface of the emulsion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Protects against scratches and pressure, that is mechanical damage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Gives a shining surface for good appearance and durability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982078145"/>
      </p:ext>
    </p:extLst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125B0C98-CEFD-8C6F-F635-09A6A2EEF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Major types of radiographic film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97E483E9-EBC7-C723-34B3-011CE4EC7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Screen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Direct-exposure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Dental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Mammography film-screen material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Cine and duplicating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Special-purpose photographic materials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108998481"/>
      </p:ext>
    </p:extLst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5DF309B1-5B4A-6ECD-7FAC-CA2013F46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Screen film</a:t>
            </a:r>
            <a:br>
              <a:rPr lang="en-US" sz="3600" dirty="0">
                <a:solidFill>
                  <a:srgbClr val="C00000"/>
                </a:solidFill>
              </a:rPr>
            </a:b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79E3485-3BDA-F688-B273-FFD8C4CF7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Designed to be exposed mainly by light or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xray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from intensifying screens.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Usually requires less X-ray exposure than direct-exposure film.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Used in conventional film-screen radiography.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223788906"/>
      </p:ext>
    </p:extLst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5034AD9A-E0ED-8513-BB66-1C4A7E32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Direct-exposure film</a:t>
            </a:r>
            <a:br>
              <a:rPr lang="en-US" sz="3600" dirty="0">
                <a:solidFill>
                  <a:srgbClr val="EE0000"/>
                </a:solidFill>
              </a:rPr>
            </a:b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A2740BF-6421-3425-3AF9-234D11086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Receives a larger share of exposure directly from X-rays.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Used in selected applications, including some dental techniques.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May require more exposure than screen-film systems.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Technique must follow established protocols to reduced much radiation exposure.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700716877"/>
      </p:ext>
    </p:extLst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4FD559D2-4E4A-96C9-FCF5-BE9A7973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Mammography film-screen systems</a:t>
            </a:r>
            <a:br>
              <a:rPr lang="en-US" sz="4000" dirty="0">
                <a:solidFill>
                  <a:srgbClr val="EE0000"/>
                </a:solidFill>
              </a:rPr>
            </a:b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DC577E7-077A-29A1-DBE7-623105E5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Designed for high spatial resolution and suitable contrast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Necessary to obtain good image-quality (high contrast).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Single emulsion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14434553"/>
      </p:ext>
    </p:extLst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C7968660-0495-C443-EA6F-90496453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Dental radiographic films</a:t>
            </a:r>
            <a:br>
              <a:rPr lang="en-US" dirty="0">
                <a:solidFill>
                  <a:srgbClr val="EE0000"/>
                </a:solidFill>
              </a:rPr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307C532-81A1-C772-781A-FBD6047EB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Made up of intraoral and extraoral film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Intraoral film is placed inside the mouth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Intraoral film is small and enclosed in a light-tight packet.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Protect packet from moisture and handling.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Lead foil backing helps reduce backscatter reaching the film.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Extraoral film-is placed outside the mouth usually in a cassette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Larger than intraoral film.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486644215"/>
      </p:ext>
    </p:extLst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7AF05CDF-4FFF-DA00-A770-82A96398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Intraoral and extraoral Dental films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id="{9156D7C8-AE74-E1AE-72D8-CE983784737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4981533" y="1748790"/>
            <a:ext cx="2228933" cy="2143125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id="{325FC006-57FA-B8B2-FC00-96070714498B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val="0"/>
              </a:ext>
            </a:extLst>
          </a:blip>
          <a:stretch>
            <a:fillRect/>
          </a:stretch>
        </p:blipFill>
        <p:spPr>
          <a:xfrm>
            <a:off x="4858568" y="4029075"/>
            <a:ext cx="2474864" cy="2143125"/>
          </a:xfrm>
          <a:prstGeom prst="rect">
            <a:avLst/>
          </a:prstGeom>
        </p:spPr>
      </p:pic>
    </p:spTree>
    <p:extLst>
      <p:ext uri="{BB962C8B-B14F-4D97-AF65-F5344CB8AC3E}">
        <p14:creationId val="425093128"/>
      </p:ext>
    </p:extLst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CA50E858-F256-C714-380C-829560E8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Common film sizes</a:t>
            </a:r>
            <a:br>
              <a:rPr lang="en-US" sz="3600" dirty="0"/>
            </a:b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id="{4C575676-9F5C-279B-D57B-15B2A58E62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3364325410"/>
              </p:ext>
            </p:extLst>
          </p:nvPr>
        </p:nvGraphicFramePr>
        <p:xfrm>
          <a:off x="670560" y="1748790"/>
          <a:ext cx="10850880" cy="4423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40001">
                  <a:extLst>
                    <a:ext uri="{9D8B030D-6E8A-4147-A177-3AD203B41FA5}">
                      <a16:colId val="313569747"/>
                    </a:ext>
                  </a:extLst>
                </a:gridCol>
                <a:gridCol w="5510878">
                  <a:extLst>
                    <a:ext uri="{9D8B030D-6E8A-4147-A177-3AD203B41FA5}">
                      <a16:colId val="3055625619"/>
                    </a:ext>
                  </a:extLst>
                </a:gridCol>
              </a:tblGrid>
              <a:tr h="7372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Metric System</a:t>
                      </a:r>
                      <a:endParaRPr lang="en-US" sz="1700" dirty="0" b="1">
                        <a:solidFill>
                          <a:srgbClr val="FFFFFF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Imperial System</a:t>
                      </a:r>
                      <a:endParaRPr lang="en-US" sz="1700" dirty="0" b="1">
                        <a:solidFill>
                          <a:srgbClr val="FFFFFF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243B53"/>
                    </a:solidFill>
                  </a:tcPr>
                </a:tc>
                <a:extLst>
                  <a:ext uri="{0D108BD9-81ED-4DB2-BD59-A6C34878D82A}">
                    <a16:rowId val="1942938824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18×24 cm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8×10 inches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812579875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24×30 cm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10×12 inches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444862457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30×40 cm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12×15 inches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2274782112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35×35 cm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14×14 inches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132313462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35×43 cm</a:t>
                      </a:r>
                      <a:endParaRPr lang="en-US" sz="1700" b="0">
                        <a:solidFill>
                          <a:srgbClr val="243B53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14×17 inches</a:t>
                      </a:r>
                      <a:endParaRPr lang="en-US" sz="1700" dirty="0" b="0">
                        <a:solidFill>
                          <a:srgbClr val="243B53"/>
                        </a:solidFill>
                        <a:effectLst/>
                        <a:latin typeface="Arial" panose="020F0502020204030204" pitchFamily="34" charset="0"/>
                        <a:ea typeface="Arial" panose="02010600030101010101" pitchFamily="2" charset="-122"/>
                        <a:cs typeface="Arial" panose="02020603050405020304" pitchFamily="18" charset="0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40175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4129230866"/>
      </p:ext>
    </p:extLst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8DC01F69-0656-5097-4CBF-65BD32A2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br>
              <a:rPr lang="en-US" sz="4400" dirty="0">
                <a:solidFill>
                  <a:srgbClr val="EE0000"/>
                </a:solidFill>
              </a:rPr>
            </a:b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Film processing</a:t>
            </a:r>
            <a:br>
              <a:rPr lang="en-US" sz="4400" dirty="0">
                <a:solidFill>
                  <a:srgbClr val="EE0000"/>
                </a:solidFill>
              </a:rPr>
            </a:b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4B4B391F-E102-89B3-FD67-A967C58F5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Development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Rinsing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Fixing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Washing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Drying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224130815"/>
      </p:ext>
    </p:extLst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7BD9B293-F6F9-C7AF-6710-998AC2328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Developer: what it does</a:t>
            </a:r>
            <a:br>
              <a:rPr lang="en-US" sz="3600" dirty="0">
                <a:solidFill>
                  <a:srgbClr val="EE0000"/>
                </a:solidFill>
              </a:rPr>
            </a:b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4AB0CE6-DB88-6E69-E088-FA4D8D3BC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Reduces exposed silver-halide crystals to black metallic silver.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Affects film density and contrast(difference in density between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between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adjacent structures).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Time, temperature and chemical activity (strength) are important.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Depleted or incorrectly maintained developer can cause poor images and affect diagnosis.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088718628"/>
      </p:ext>
    </p:extLst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CC737A8E-52BA-3306-18DE-A76CE2C85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err="1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RINSE,Fixer</a:t>
            </a: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, washing and drying</a:t>
            </a:r>
            <a:br>
              <a:rPr lang="en-US" sz="3600" dirty="0">
                <a:solidFill>
                  <a:schemeClr val="accent6"/>
                </a:solidFill>
              </a:rPr>
            </a:b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7D6EAEF-1C7B-06B3-5EA0-2711676AD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Rinse remove residual developer chemical before fixing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Fixer removes unexposed silver halide.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Washing removes residual processing chemicals.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Poor washing may cause stains and poor archival stability.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Drying should avoid dust, excessive heat and physical damage.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163573278"/>
      </p:ext>
    </p:extLst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E3F99D42-8F52-FB04-974D-2A13C156B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Safe film handling</a:t>
            </a:r>
            <a:br>
              <a:rPr lang="en-US" dirty="0"/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27D813BB-3C32-C72C-3BBA-E3650075E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Avoid fingerprints, bending, pressure and scratches.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Keep film away from moisture, dust and chemicals.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Protect unexposed film from light and radiation.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Hold film by the edges with clean, dry hands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Load and unload only in the darkroom with the door closed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Slide film into the cassette gently to avoid scratches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Never touch screens with fingers or sharp objects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746684004"/>
      </p:ext>
    </p:extLst>
  </p:cSld>
  <p:clrMapOvr>
    <a:masterClrMapping/>
  </p:clrMapOvr>
</p:sld>
</file>

<file path=ppt/slides/slide2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BDB3508E-287D-959C-21FE-BC788960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Film storage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D46A420F-A66D-E2B9-085B-781335B24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Keep film in original packaging within manufacturer limits.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Protect film from heat (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10–21 °C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), relative humidity (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40–60%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), sunlight, chemical fumes and radiation.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 first-expiry-first-out stock or first in first out (FIFO).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Film should be stored in boxes or carton in an upright position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Record batch numbers and expiry dates.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897666952"/>
      </p:ext>
    </p:extLst>
  </p:cSld>
  <p:clrMapOvr>
    <a:masterClrMapping/>
  </p:clrMapOvr>
</p:sld>
</file>

<file path=ppt/slides/slide2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8928CC26-7205-D2AE-4127-D07FBBD7A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dirty="0"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Darkroom and safelight practice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826862C-453D-6E15-DF1B-52D883846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Darkroom should be light-tight, clean and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organised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 the correct safelight filter, wattage and distance.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Test for safelight fog when required.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Load and unload film only under approved conditions.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15-watt lamp and at least 1.2 m (4 ft) from the work bench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Keep wet and dry areas separate and the room clean and ventilated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283432406"/>
      </p:ext>
    </p:extLst>
  </p:cSld>
  <p:clrMapOvr>
    <a:masterClrMapping/>
  </p:clrMapOvr>
</p:sld>
</file>

<file path=ppt/slides/slide2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1880B77F-AA52-3771-2291-A7F317E77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Common handling artefacts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9A18B9F1-A261-BE1D-DD18-389B0D79B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308295"/>
            <a:ext cx="11253668" cy="488139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 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id="{93F4134F-ADFD-59F6-D0A5-20A481366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078752089"/>
              </p:ext>
            </p:extLst>
          </p:nvPr>
        </p:nvGraphicFramePr>
        <p:xfrm>
          <a:off x="670560" y="1748790"/>
          <a:ext cx="10850880" cy="442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960">
                  <a:extLst>
                    <a:ext uri="{9D8B030D-6E8A-4147-A177-3AD203B41FA5}">
                      <a16:colId val="2575722201"/>
                    </a:ext>
                  </a:extLst>
                </a:gridCol>
                <a:gridCol w="3398552">
                  <a:extLst>
                    <a:ext uri="{9D8B030D-6E8A-4147-A177-3AD203B41FA5}">
                      <a16:colId val="2695235337"/>
                    </a:ext>
                  </a:extLst>
                </a:gridCol>
                <a:gridCol w="3835367">
                  <a:extLst>
                    <a:ext uri="{9D8B030D-6E8A-4147-A177-3AD203B41FA5}">
                      <a16:colId val="1631750921"/>
                    </a:ext>
                  </a:extLst>
                </a:gridCol>
              </a:tblGrid>
              <a:tr h="47081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Artefact</a:t>
                      </a:r>
                      <a:endParaRPr sz="170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Appearance</a:t>
                      </a:r>
                      <a:endParaRPr sz="170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Cause</a:t>
                      </a:r>
                      <a:endParaRPr sz="170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243B53"/>
                    </a:solidFill>
                  </a:tcPr>
                </a:tc>
                <a:extLst>
                  <a:ext uri="{0D108BD9-81ED-4DB2-BD59-A6C34878D82A}">
                    <a16:rowId val="2627513204"/>
                  </a:ext>
                </a:extLst>
              </a:tr>
              <a:tr h="79051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static</a:t>
                      </a:r>
                      <a:endParaRPr sz="170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Black branching or tree lines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Low humidity, fast film removal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1819762847"/>
                  </a:ext>
                </a:extLst>
              </a:tr>
              <a:tr h="790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Crimp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Black or white crescents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Film bent before or after exposure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436742849"/>
                  </a:ext>
                </a:extLst>
              </a:tr>
              <a:tr h="790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Fog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Overall grey haze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Light, radiation, heat, age, fumes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822835498"/>
                  </a:ext>
                </a:extLst>
              </a:tr>
              <a:tr h="790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Finger marks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Black or white prints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Developer or fixer on fingers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11155563"/>
                  </a:ext>
                </a:extLst>
              </a:tr>
              <a:tr h="790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Scratches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Thin white lines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Rough loading or dirty screens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284940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2431269186"/>
      </p:ext>
    </p:extLst>
  </p:cSld>
  <p:clrMapOvr>
    <a:masterClrMapping/>
  </p:clrMapOvr>
</p:sld>
</file>

<file path=ppt/slides/slide3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689BE906-5B4E-DD64-73D3-3F0F0D587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b="1" dirty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roll films</a:t>
            </a: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65EF344A-96CC-A7A6-260F-A8AB85E2B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Roll film records an image from a screen, not from the patient directly.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Comes in widths or sizes of 16, 35, 70, 100 and 105 mm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746666033"/>
      </p:ext>
    </p:extLst>
  </p:cSld>
  <p:clrMapOvr>
    <a:masterClrMapping/>
  </p:clrMapOvr>
</p:sld>
</file>

<file path=ppt/slides/slide3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A47554D9-4FF2-D49A-23BB-F3FEEF9F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Roll film sizes and uses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id="{C380DCFD-2531-F3D8-B775-36ED80CE26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996620737"/>
              </p:ext>
            </p:extLst>
          </p:nvPr>
        </p:nvGraphicFramePr>
        <p:xfrm>
          <a:off x="670560" y="1748790"/>
          <a:ext cx="10850880" cy="442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0363">
                  <a:extLst>
                    <a:ext uri="{9D8B030D-6E8A-4147-A177-3AD203B41FA5}">
                      <a16:colId val="1934002833"/>
                    </a:ext>
                  </a:extLst>
                </a:gridCol>
                <a:gridCol w="6870516">
                  <a:extLst>
                    <a:ext uri="{9D8B030D-6E8A-4147-A177-3AD203B41FA5}">
                      <a16:colId val="3994737471"/>
                    </a:ext>
                  </a:extLst>
                </a:gridCol>
              </a:tblGrid>
              <a:tr h="69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Format</a:t>
                      </a:r>
                      <a:endParaRPr lang="en-US" sz="1700" dirty="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Typical use</a:t>
                      </a:r>
                      <a:endParaRPr lang="en-US" sz="1700" dirty="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243B53"/>
                    </a:solidFill>
                  </a:tcPr>
                </a:tc>
                <a:extLst>
                  <a:ext uri="{0D108BD9-81ED-4DB2-BD59-A6C34878D82A}">
                    <a16:rowId val="2947814790"/>
                  </a:ext>
                </a:extLst>
              </a:tr>
              <a:tr h="69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16 mm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Cine and fluoroscopic recording cameras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2682767422"/>
                  </a:ext>
                </a:extLst>
              </a:tr>
              <a:tr h="69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35 mm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Cine and fluoroscopic recording cameras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906998898"/>
                  </a:ext>
                </a:extLst>
              </a:tr>
              <a:tr h="69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70 mm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Serial spot cameras, photofluorography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2870373983"/>
                  </a:ext>
                </a:extLst>
              </a:tr>
              <a:tr h="69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100 mm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Mass chest screening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96694158"/>
                  </a:ext>
                </a:extLst>
              </a:tr>
              <a:tr h="9700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105 mm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Mass miniature radiography (photofluorography)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Widely used for tuberculosis screening of large populations.</a:t>
                      </a:r>
                      <a:endParaRPr sz="170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1008076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636250409"/>
      </p:ext>
    </p:extLst>
  </p:cSld>
  <p:clrMapOvr>
    <a:masterClrMapping/>
  </p:clrMapOvr>
</p:sld>
</file>

<file path=ppt/slides/slide3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9F53BAF8-AB4B-A121-B305-128A5EFC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Other photographic materials: beyond </a:t>
            </a:r>
            <a:r>
              <a:rPr lang="en-US" sz="3200" dirty="0" err="1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xray</a:t>
            </a: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 film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4E26993E-8FE8-5292-A4C0-A169D7FE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Duplicating film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-produces copies of existing radiographic film for referral, teaching or record purpose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Photographic paper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-produces permanent photographic prints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Slide or reversal film- 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produces positive transparencies for projection during </a:t>
            </a:r>
            <a:r>
              <a:rPr lang="en-US" sz="20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lectures,demonstration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and presentations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Photostimulable phosphor plate (PSP)- 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 in computed radiography to store a latent image after exposure to </a:t>
            </a:r>
            <a:r>
              <a:rPr lang="en-US" sz="20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xrays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 They are reusable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Microfilm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-for reducing size of documents and images to save storage space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Developer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- reducing agents such as hydroquinone and </a:t>
            </a:r>
            <a:r>
              <a:rPr lang="en-US" sz="20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phenidone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in alkaline solution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Fixer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-that removes unexposed silver halide. It contains sodium or </a:t>
            </a:r>
            <a:r>
              <a:rPr lang="en-US" sz="20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ammoniumthiosulphate,acidifier,preservative,hardener,buffer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and solvent 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69451645"/>
      </p:ext>
    </p:extLst>
  </p:cSld>
  <p:clrMapOvr>
    <a:masterClrMapping/>
  </p:clrMapOvr>
</p:sld>
</file>

<file path=ppt/slides/slide3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9AA12CCA-F087-C501-4015-603B7EEE8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Spectral Sensitivity of Films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2994454D-95B4-7FDB-5B14-43F63F2A7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Is the ability of a film to respond to different wavelengths (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colours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) of light to form an image 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ensures that the film matches the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colour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of light emitted by the intensifying screen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improves image formation and helps prevent unnecessary radiation exposure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It reduces film screen mismatch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56208346"/>
      </p:ext>
    </p:extLst>
  </p:cSld>
  <p:clrMapOvr>
    <a:masterClrMapping/>
  </p:clrMapOvr>
</p:sld>
</file>

<file path=ppt/slides/slide3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62AE2D78-BC54-61F9-7812-0086CDA7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b="1" dirty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Classes of spectral sensitivity</a:t>
            </a: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F88811A2-4B2C-92DD-1790-58DE42E7D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Blue-sensitive film (monochromatic film)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Responds mainly to blue and near-ultraviolet light with a wavelength of 380-495nm.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Used with compatible blue-emitting intensifying screens such as calcium tungstate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Safelight conditions must match the film specification.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Correct pairing supports efficient image formation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108733832"/>
      </p:ext>
    </p:extLst>
  </p:cSld>
  <p:clrMapOvr>
    <a:masterClrMapping/>
  </p:clrMapOvr>
</p:sld>
</file>

<file path=ppt/slides/slide3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ED06377D-FA50-62EB-8A8D-742B32302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Green-sensitive film</a:t>
            </a:r>
            <a:br>
              <a:rPr lang="en-US" sz="3600" dirty="0"/>
            </a:b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AFED26F-AAD9-F1E1-BFED-F052CB6FD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Also called orthochromatic film with a wavelength of 495-570nm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Used with green-emitting rare-earth screens.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Best in diagnostic radiography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543581691"/>
      </p:ext>
    </p:extLst>
  </p:cSld>
  <p:clrMapOvr>
    <a:masterClrMapping/>
  </p:clrMapOvr>
</p:sld>
</file>

<file path=ppt/slides/slide3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98FF6E9D-2ECC-D637-C560-0D4480D1B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Panchromatic film</a:t>
            </a:r>
            <a:br>
              <a:rPr lang="en-US" b="1" dirty="0">
                <a:solidFill>
                  <a:srgbClr val="EE0000"/>
                </a:solidFill>
              </a:rPr>
            </a:br>
            <a:endParaRPr lang="en-US" b="1" dirty="0" sz="3200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91DB4CF4-8C35-74F7-F97D-ED5DD67D9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Sensitive across much of the visible spectrum, including red.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Have a wavelength of about 570-750 nm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Used in selected photographic applications.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Requires careful safelight control.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Not interchangeable with all radiographic screen films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Responds to all visible light; rare in radiography; total darkness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79624647"/>
      </p:ext>
    </p:extLst>
  </p:cSld>
  <p:clrMapOvr>
    <a:masterClrMapping/>
  </p:clrMapOvr>
</p:sld>
</file>

<file path=ppt/slides/slide3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8D6D804A-2F56-7C9D-46A8-17592DEF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Safelights and spectral sensitivity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id="{995E4913-2BBD-4D4C-61A9-449EDF4C7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3394740552"/>
              </p:ext>
            </p:extLst>
          </p:nvPr>
        </p:nvGraphicFramePr>
        <p:xfrm>
          <a:off x="670560" y="1748790"/>
          <a:ext cx="10850880" cy="442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2233">
                  <a:extLst>
                    <a:ext uri="{9D8B030D-6E8A-4147-A177-3AD203B41FA5}">
                      <a16:colId val="3112451242"/>
                    </a:ext>
                  </a:extLst>
                </a:gridCol>
                <a:gridCol w="6368646">
                  <a:extLst>
                    <a:ext uri="{9D8B030D-6E8A-4147-A177-3AD203B41FA5}">
                      <a16:colId val="3595764668"/>
                    </a:ext>
                  </a:extLst>
                </a:gridCol>
              </a:tblGrid>
              <a:tr h="962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Film class</a:t>
                      </a:r>
                      <a:endParaRPr lang="en-US" sz="1700" dirty="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243B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Suitable safelight</a:t>
                      </a:r>
                      <a:endParaRPr lang="en-US" sz="1700" dirty="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243B53"/>
                    </a:solidFill>
                  </a:tcPr>
                </a:tc>
                <a:extLst>
                  <a:ext uri="{0D108BD9-81ED-4DB2-BD59-A6C34878D82A}">
                    <a16:rowId val="1783593464"/>
                  </a:ext>
                </a:extLst>
              </a:tr>
              <a:tr h="962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Blue-sensitive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Amber or light red filter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2242596195"/>
                  </a:ext>
                </a:extLst>
              </a:tr>
              <a:tr h="962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Orthochromatic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Dark red filter (GBX-2 type)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860204289"/>
                  </a:ext>
                </a:extLst>
              </a:tr>
              <a:tr h="962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b="0" dirty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Panchromatic 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lang="en-US" sz="1700" dirty="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Total darkness or manufacturer's dim safelight</a:t>
                      </a: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val="141795130"/>
                  </a:ext>
                </a:extLst>
              </a:tr>
              <a:tr h="57326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endParaRPr lang="en-US" sz="1700" dirty="0" b="0">
                        <a:solidFill>
                          <a:srgbClr val="243B5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500" marR="635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15413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2252297438"/>
      </p:ext>
    </p:extLst>
  </p:cSld>
  <p:clrMapOvr>
    <a:masterClrMapping/>
  </p:clrMapOvr>
</p:sld>
</file>

<file path=ppt/slides/slide3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F65F91CD-D3BE-A901-6E9A-901B1F8C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b="1" dirty="0" err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Specialised</a:t>
            </a:r>
            <a:r>
              <a:rPr lang="en-US" sz="3200" b="1" dirty="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 Photographic Materials</a:t>
            </a:r>
            <a:endParaRPr lang="en-US" sz="3200" dirty="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3E6EEBE0-08B8-3871-68C7-12C3DA7D6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Involves Cine, CT, duplicating, MRI and instant films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CINE FILM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Coronary angiography and ventriculography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Dynamic studies of swallowing and gastrointestinal motion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4281691689"/>
      </p:ext>
    </p:extLst>
  </p:cSld>
  <p:clrMapOvr>
    <a:masterClrMapping/>
  </p:clrMapOvr>
</p:sld>
</file>

<file path=ppt/slides/slide3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4CDB395E-61AE-9FCF-6046-295A7E51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Duplicating film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D8AA31F7-35C9-0FD8-2D16-00CB0718D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Necessary for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Teaching- </a:t>
            </a:r>
            <a:r>
              <a:rPr lang="en-US" sz="22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e.g</a:t>
            </a: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for lectures and conferences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For referral purposes- Sent with the patient for a second opinion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Medico-legal purposes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Back up when necessary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578582433"/>
      </p:ext>
    </p:extLst>
  </p:cSld>
  <p:clrMapOvr>
    <a:masterClrMapping/>
  </p:clrMapOvr>
</p:sld>
</file>

<file path=ppt/slides/slide4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04C55B2A-23B9-1279-4E6B-B7846D9B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MRI (NMR) film: principle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4FE4F1DE-7B1C-2AED-6626-758A5A08A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MRI film usually means a printed hard copy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Images are produced on the workstation and printed from there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Multi-sequence layouts: proton density, T1, T2 and FLAIR on one sheet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Axial, sagittal and coronal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Typical matrix: 256 × 256 or 512 × 512 pixel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N/B </a:t>
            </a:r>
            <a:r>
              <a:rPr lang="en-US" sz="2200" i="1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MRI film is the same hard-copy film used for CT.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851414001"/>
      </p:ext>
    </p:extLst>
  </p:cSld>
  <p:clrMapOvr>
    <a:masterClrMapping/>
  </p:clrMapOvr>
</p:sld>
</file>

<file path=ppt/slides/slide4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6A7CC53C-209B-E6DA-2C41-CD8C9518E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CT film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E9F61F40-2CF3-327C-4A5E-69BC24ABF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Many images can be printed per sheet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Separate window settings for soft tissue, lung and bone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Used for referral, surgical planning and oncology follow-up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Soft-copy viewing on PACS reduces filming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N/B </a:t>
            </a:r>
            <a:r>
              <a:rPr lang="en-US" sz="2200" i="1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Window settings decide image appearance on the film</a:t>
            </a:r>
            <a:endParaRPr lang="en-US" sz="22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1842814930"/>
      </p:ext>
    </p:extLst>
  </p:cSld>
  <p:clrMapOvr>
    <a:masterClrMapping/>
  </p:clrMapOvr>
</p:sld>
</file>

<file path=ppt/slides/slide4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52486424-B748-CAA3-CC4E-B9295FAE8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Instant (Polaroid) film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6A9B36DA-0892-B756-AF43-4BE29638A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Quick prints, mostly from ultrasound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Poor long-term stability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SzPct val="100000"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Higher cost per print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105789697"/>
      </p:ext>
    </p:extLst>
  </p:cSld>
  <p:clrMapOvr>
    <a:masterClrMapping/>
  </p:clrMapOvr>
</p:sld>
</file>

<file path=ppt/slides/slide4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5635F5A8-C3B8-C56E-F9DE-9D4F8F5D3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CONCLUSION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BF32269-9818-4B76-A4F1-B37A95C49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2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Medical image processing is an essential aspect of radiography that transforms image forming information into useful diagnostic images.</a:t>
            </a:r>
            <a:endParaRPr sz="22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3531564054"/>
      </p:ext>
    </p:extLst>
  </p:cSld>
  <p:clrMapOvr>
    <a:masterClrMapping/>
  </p:clrMapOvr>
</p:sld>
</file>

<file path=ppt/slides/slide4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id="{0DBA1FF4-660E-6F08-22B0-2CB7EC5A7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45770"/>
            <a:ext cx="10850880" cy="85725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b="1" dirty="0" sz="3200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References</a:t>
            </a:r>
            <a:endParaRPr lang="en-US" dirty="0"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id="{7E3BCBDE-65FD-06AB-AD9A-51501046C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748790"/>
            <a:ext cx="10850880" cy="4423410"/>
          </a:xfrm>
        </p:spPr>
        <p:txBody>
          <a:bodyPr wrap="square" anchor="t" lIns="0" rIns="0" tIns="0" bIns="0">
            <a:normAutofit fontScale="100000" lnSpcReduction="0"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1. Bushong SC. Radiologic science for technologists: physics, biology, and protection. 11th ed. St. Louis: Elsevier; 2017.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2. Carlton RR, Adler AM, </a:t>
            </a:r>
            <a:r>
              <a:rPr lang="en-US" sz="20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Balac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V. Principles of radiographic imaging: an art and a science. 6th ed. Boston: Cengage Learning; 2019.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3. </a:t>
            </a:r>
            <a:r>
              <a:rPr lang="en-US" sz="2000" dirty="0" err="1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Bushberg</a:t>
            </a: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JT, Seibert JA, Leidholdt EM Jr, Boone JM. The essential physics of medical imaging. 3rd ed. Philadelphia: Lippincott Williams &amp; Wilkins; 2012.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4. Ball JL, Moore AD, Turner S. Ball and Moore's essential physics for radiographers. 4th ed. Oxford: Wiley-Blackwell; 2008.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None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000" dirty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5. Hendee WR, Ritenour ER. Medical imaging physics. 4th ed. New York: Wiley-Liss; 2002.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val="2273345435"/>
      </p:ext>
    </p:extLst>
  </p:cSld>
  <p:clrMapOvr>
    <a:masterClrMapping/>
  </p:clrMapOvr>
</p:sld>
</file>

<file path=ppt/slides/slide4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adia accent line"/>
          <p:cNvSpPr/>
          <p:nvPr/>
        </p:nvSpPr>
        <p:spPr>
          <a:xfrm>
            <a:off x="670560" y="1405890"/>
            <a:ext cx="792480" cy="41148"/>
          </a:xfrm>
          <a:prstGeom prst="rect">
            <a:avLst/>
          </a:prstGeom>
          <a:solidFill>
            <a:srgbClr val="0056D2"/>
          </a:solid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id="{28AF1337-67A5-EF4F-E8B3-397583D26F8A}"/>
              </a:ext>
            </a:extLst>
          </p:cNvPr>
          <p:cNvSpPr txBox="1"/>
          <p:nvPr/>
        </p:nvSpPr>
        <p:spPr>
          <a:xfrm rot="19135498">
            <a:off x="670560" y="445770"/>
            <a:ext cx="10850880" cy="85725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lang="en-US" sz="3200" i="1" dirty="0" b="1">
                <a:solidFill>
                  <a:srgbClr val="0056D2"/>
                </a:solidFill>
                <a:latin typeface="Poppins SemiBold"/>
                <a:ea typeface="Poppins SemiBold"/>
                <a:cs typeface="Poppins SemiBold"/>
              </a:rPr>
              <a:t>Thanks for listening</a:t>
            </a:r>
            <a:endParaRPr sz="3200" b="1">
              <a:solidFill>
                <a:srgbClr val="0056D2"/>
              </a:solidFill>
              <a:latin typeface="Poppins SemiBold"/>
              <a:ea typeface="Poppins SemiBold"/>
              <a:cs typeface="Poppins SemiBold"/>
            </a:endParaRPr>
          </a:p>
        </p:txBody>
      </p:sp>
    </p:spTree>
    <p:extLst>
      <p:ext uri="{BB962C8B-B14F-4D97-AF65-F5344CB8AC3E}">
        <p14:creationId val="3713406825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722</TotalTime>
  <Words>2061</Words>
  <Application>Microsoft Office PowerPoint</Application>
  <PresentationFormat>Widescreen</PresentationFormat>
  <Paragraphs>293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Arial</vt:lpstr>
      <vt:lpstr>Arial Nova Light</vt:lpstr>
      <vt:lpstr>Calibri</vt:lpstr>
      <vt:lpstr>Univers Condensed</vt:lpstr>
      <vt:lpstr>Lines</vt:lpstr>
      <vt:lpstr>PowerPoint Presentation</vt:lpstr>
      <vt:lpstr>OUTLINE</vt:lpstr>
      <vt:lpstr> Aim and learning outcomes </vt:lpstr>
      <vt:lpstr>XRAY FILM STRUTURE</vt:lpstr>
      <vt:lpstr>Types of xray film </vt:lpstr>
      <vt:lpstr>PowerPoint Presentation</vt:lpstr>
      <vt:lpstr>Cross-section of a double-emulsion film</vt:lpstr>
      <vt:lpstr>Film structure at a glance </vt:lpstr>
      <vt:lpstr> Film base </vt:lpstr>
      <vt:lpstr>    Emulsion and gelatin </vt:lpstr>
      <vt:lpstr>       Silver-halide crystals </vt:lpstr>
      <vt:lpstr>Latent image: from invisible to visible (from invisible exposure to visible radiographic image) </vt:lpstr>
      <vt:lpstr>The cassette and intensifying screens </vt:lpstr>
      <vt:lpstr>                                  Adhesive layer  </vt:lpstr>
      <vt:lpstr>SUPERCOAT</vt:lpstr>
      <vt:lpstr>Major types of radiographic film </vt:lpstr>
      <vt:lpstr>Screen film </vt:lpstr>
      <vt:lpstr>Direct-exposure film </vt:lpstr>
      <vt:lpstr>Mammography film-screen systems </vt:lpstr>
      <vt:lpstr>Dental radiographic films </vt:lpstr>
      <vt:lpstr>Intraoral and extraoral Dental films</vt:lpstr>
      <vt:lpstr>Common film sizes </vt:lpstr>
      <vt:lpstr> Film processing </vt:lpstr>
      <vt:lpstr>Developer: what it does </vt:lpstr>
      <vt:lpstr>RINSE,Fixer, washing and drying </vt:lpstr>
      <vt:lpstr>Safe film handling </vt:lpstr>
      <vt:lpstr>Film storage</vt:lpstr>
      <vt:lpstr>Darkroom and safelight practice </vt:lpstr>
      <vt:lpstr>Common handling artefacts</vt:lpstr>
      <vt:lpstr>roll films</vt:lpstr>
      <vt:lpstr>Roll film sizes and uses</vt:lpstr>
      <vt:lpstr>Other photographic materials: beyond xray film</vt:lpstr>
      <vt:lpstr>Spectral Sensitivity of Films</vt:lpstr>
      <vt:lpstr>Classes of spectral sensitivity</vt:lpstr>
      <vt:lpstr>              Green-sensitive film </vt:lpstr>
      <vt:lpstr>Panchromatic film </vt:lpstr>
      <vt:lpstr>Safelights and spectral sensitivity</vt:lpstr>
      <vt:lpstr>Specialised Photographic Materials</vt:lpstr>
      <vt:lpstr>Duplicating film</vt:lpstr>
      <vt:lpstr>MRI (NMR) film: principle</vt:lpstr>
      <vt:lpstr>CT film</vt:lpstr>
      <vt:lpstr>Instant (Polaroid) film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Egop Brownson Egop</dc:creator>
  <cp:lastModifiedBy>Egop Brownson Egop</cp:lastModifiedBy>
  <cp:revision>55</cp:revision>
  <dcterms:created xsi:type="dcterms:W3CDTF">2026-10-17T14:18:59Z</dcterms:created>
  <dcterms:modified xsi:type="dcterms:W3CDTF">2026-10-20T05:03:56Z</dcterms:modified>
</cp:coreProperties>
</file>