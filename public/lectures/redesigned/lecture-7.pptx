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5" r:id="rId9"/>
    <p:sldId id="268" r:id="rId10"/>
    <p:sldId id="270" r:id="rId11"/>
    <p:sldId id="271" r:id="rId12"/>
    <p:sldId id="272" r:id="rId13"/>
    <p:sldId id="322" r:id="rId14"/>
    <p:sldId id="273" r:id="rId15"/>
    <p:sldId id="274" r:id="rId16"/>
    <p:sldId id="275" r:id="rId17"/>
    <p:sldId id="276" r:id="rId18"/>
    <p:sldId id="277" r:id="rId19"/>
    <p:sldId id="278" r:id="rId20"/>
    <p:sldId id="323" r:id="rId21"/>
    <p:sldId id="279" r:id="rId22"/>
    <p:sldId id="280" r:id="rId23"/>
    <p:sldId id="281" r:id="rId24"/>
    <p:sldId id="282" r:id="rId25"/>
    <p:sldId id="283" r:id="rId26"/>
    <p:sldId id="284" r:id="rId27"/>
    <p:sldId id="285" r:id="rId28"/>
    <p:sldId id="286" r:id="rId29"/>
    <p:sldId id="324" r:id="rId30"/>
    <p:sldId id="325" r:id="rId31"/>
    <p:sldId id="287" r:id="rId32"/>
    <p:sldId id="288"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7" r:id="rId57"/>
    <p:sldId id="318" r:id="rId58"/>
    <p:sldId id="319" r:id="rId59"/>
    <p:sldId id="320" r:id="rId60"/>
    <p:sldId id="321"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D5F3-FE8D-E9AB-03F2-C068AD73C4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1A85B7-EF5D-3A9B-7038-0FDDAC50E3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08BC7F-B2AD-2EFB-A6D5-1165D91EFC67}"/>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136BF3CB-101B-CC10-60B6-B6A33A241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ED245-0ECF-E3EA-2D8A-B9A1623C7D01}"/>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236875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8350A-776A-816E-68B9-B17EB43F98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636734-AA9C-BC5F-E2FA-C009DB34EF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D72E7C-F8B6-3084-437A-B0E380B01F10}"/>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27C5B30C-06CE-1009-D819-2012BB9DF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1C7FF0-0382-B071-F8FA-122396F1765C}"/>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97158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7E37-1C56-36F2-CB8D-958D37EAFA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98B64B-B8D8-B757-F595-FF5CB99B33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78EE13-B7ED-31FF-9C62-A5761A3E75B4}"/>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72183D60-E8EA-B772-485B-67C510E0E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61565-BB25-4B58-EC63-80FE38DF43AB}"/>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602205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C053B-94C7-8C23-C38A-4433055B4D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BC089E-1640-07A0-E2C4-7BB264327E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1EC234-6D86-861C-E591-5543C8D426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A578C2-1395-2757-ADEB-16BFAF60EA52}"/>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6" name="Footer Placeholder 5">
            <a:extLst>
              <a:ext uri="{FF2B5EF4-FFF2-40B4-BE49-F238E27FC236}">
                <a16:creationId xmlns:a16="http://schemas.microsoft.com/office/drawing/2014/main" id="{EF3186FD-AC64-6AFA-A427-008EAF91D4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3AE915-2451-5A91-6AF4-DC67FAF30436}"/>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1865397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AF7FF-FCFD-7369-C2D6-9EE7B2CA21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27D9A8-7440-1388-2CBE-9E948FAB5D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765D48-5A8A-D4A3-2AF7-C1A3424A04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85E61-8EA7-D9B4-C4FB-D5C13E3B07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0EEDD-E8C7-0A1D-3385-97CE2818BD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D4D128-F998-C7E9-8149-135C4F2211AB}"/>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8" name="Footer Placeholder 7">
            <a:extLst>
              <a:ext uri="{FF2B5EF4-FFF2-40B4-BE49-F238E27FC236}">
                <a16:creationId xmlns:a16="http://schemas.microsoft.com/office/drawing/2014/main" id="{9DECAB18-8EA7-4C79-66D2-2F556A51C2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283FB4-CD05-DAE1-7347-F72CBCB40764}"/>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371734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A3A1-B2CE-7249-7DEE-BD8461B2B7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317A57-D818-222E-E01A-3973D409B13A}"/>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4" name="Footer Placeholder 3">
            <a:extLst>
              <a:ext uri="{FF2B5EF4-FFF2-40B4-BE49-F238E27FC236}">
                <a16:creationId xmlns:a16="http://schemas.microsoft.com/office/drawing/2014/main" id="{87E9F9AA-E38C-2468-8CD3-E44A3BDEF7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7B1B68-EF97-6330-1FB1-935685A8CDC3}"/>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318344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456D48-4ADD-1634-DAAF-A015776CAEA7}"/>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3" name="Footer Placeholder 2">
            <a:extLst>
              <a:ext uri="{FF2B5EF4-FFF2-40B4-BE49-F238E27FC236}">
                <a16:creationId xmlns:a16="http://schemas.microsoft.com/office/drawing/2014/main" id="{196E0D70-35F9-BB02-7466-75F6EAF205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2FB68C-F46B-5769-5D7F-E207678F57C6}"/>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1561390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4E62D-5BFB-268A-8821-97D9D6B445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A8BA2-FF5A-168B-DD53-4247E03BC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F18EAC-F73D-533B-A97A-150FA2BC97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F7BF3B-5F7F-3DF6-B758-1715D138E48D}"/>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6" name="Footer Placeholder 5">
            <a:extLst>
              <a:ext uri="{FF2B5EF4-FFF2-40B4-BE49-F238E27FC236}">
                <a16:creationId xmlns:a16="http://schemas.microsoft.com/office/drawing/2014/main" id="{3D61223F-53D9-03BA-EC93-22BD8E8EA2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14DB62-CCB3-CE08-F90F-AC6169ED0EB6}"/>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482851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CC8A0-3E33-83C3-DDB9-79A684405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22136F-F813-F224-15EB-91B3B1D7BF8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1124CA-D959-5BDF-D81F-F6CAF89080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C3679D-2500-0810-949F-73FB1482C36F}"/>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6" name="Footer Placeholder 5">
            <a:extLst>
              <a:ext uri="{FF2B5EF4-FFF2-40B4-BE49-F238E27FC236}">
                <a16:creationId xmlns:a16="http://schemas.microsoft.com/office/drawing/2014/main" id="{A2A81AE9-92B8-4D97-D945-2E07C71CBB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C31880-CFD8-6BE9-8731-BD530622B453}"/>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3560654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8C185-D04E-14EE-115F-3568A51F14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714DBD-E1FC-33FE-E9B3-E53BB8D5CC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881965-9DAB-1DBE-DF93-C03D06C3CA83}"/>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4C870163-55E5-095D-A82B-62F8E0F232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EF684-083E-CF43-CBD7-C8E5D0EC8D1D}"/>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449465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CB704F-FFA5-0CC5-2385-5293EEAA3B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BB3A72-AED9-6ABC-A651-DDC47CF71D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1A1A27-F0C0-A10F-527E-E536ECAC6A2F}"/>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68EFE441-CD0E-F42D-996E-FCE9FBF3B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8A5B42-DF06-9A18-685E-37F78FD14B95}"/>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1097267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73858A-1470-D1F9-20DC-FA51201011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12193A-06D4-7C5F-2078-95C66377EF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05124B-AE0A-4013-6E92-2AA7C5BFDD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6F7B1F8C-5084-8A2C-593B-6E4DE37C52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5D39FA-35FD-B600-DBDB-F686198344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AFCF-1F5D-4497-AB6B-30B9F28BD3FA}" type="slidenum">
              <a:rPr lang="en-US" smtClean="0"/>
              <a:t>‹#›</a:t>
            </a:fld>
            <a:endParaRPr lang="en-US"/>
          </a:p>
        </p:txBody>
      </p:sp>
    </p:spTree>
    <p:extLst>
      <p:ext uri="{BB962C8B-B14F-4D97-AF65-F5344CB8AC3E}">
        <p14:creationId xmlns:p14="http://schemas.microsoft.com/office/powerpoint/2010/main" val="720508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TextBox 2">
            <a:extLst>
              <a:ext uri="{FF2B5EF4-FFF2-40B4-BE49-F238E27FC236}">
                <a16:creationId id="{C886C408-5892-6097-8EA7-2A1617952806}"/>
              </a:ext>
            </a:extLst>
          </p:cNvPr>
          <p:cNvSpPr txBox="1"/>
          <p:nvPr/>
        </p:nvSpPr>
        <p:spPr>
          <a:xfrm>
            <a:off x="670560" y="582930"/>
            <a:ext cx="10850880" cy="5589270"/>
          </a:xfrm>
          <a:prstGeom prst="rect">
            <a:avLst/>
          </a:prstGeom>
          <a:noFill/>
        </p:spPr>
        <p:txBody>
          <a:bodyPr wrap="square" anchor="t" lIns="0" rIns="0" tIns="0" bIns="0">
            <a:normAutofit fontScale="100000" lnSpcReduction="0"/>
          </a:bodyPr>
          <a:lstStyle/>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MXT202 </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MANUAL FILM PROCESSING, EQUIPMENT AND TECHNIQUES</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RRBN PREGISTRATION RETRAINING COURSE FOR XRAY TECHNICIAN </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BY</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EGOP BROWNSON EGOP</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21</a:t>
            </a:r>
            <a:r>
              <a:rPr lang="en-US" sz="2250" b="1" baseline="30000" dirty="0">
                <a:solidFill>
                  <a:srgbClr val="243B53"/>
                </a:solidFill>
                <a:latin typeface="Arial"/>
                <a:ea typeface="Arial"/>
                <a:cs typeface="Arial"/>
              </a:rPr>
              <a:t>ST</a:t>
            </a:r>
            <a:r>
              <a:rPr lang="en-US" sz="2250" b="1" dirty="0">
                <a:solidFill>
                  <a:srgbClr val="243B53"/>
                </a:solidFill>
                <a:latin typeface="Arial"/>
                <a:ea typeface="Arial"/>
                <a:cs typeface="Arial"/>
              </a:rPr>
              <a:t>  0CTOBER,2026</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FACULTY OF BASIC MEDICAL SCIENCES</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COLLEGE OF MEDICAL SCIENCES</a:t>
            </a:r>
            <a:endParaRPr sz="2250" b="1">
              <a:solidFill>
                <a:srgbClr val="243B53"/>
              </a:solidFill>
              <a:latin typeface="Arial"/>
              <a:ea typeface="Arial"/>
              <a:cs typeface="Arial"/>
            </a:endParaRPr>
          </a:p>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a:ea typeface="Arial"/>
                <a:cs typeface="Arial"/>
              </a:rPr>
              <a:t>RIVERS STATE UNIVERSITY, PORT-HARCOURT</a:t>
            </a:r>
            <a:endParaRPr sz="2250" b="1">
              <a:solidFill>
                <a:srgbClr val="243B53"/>
              </a:solidFill>
              <a:latin typeface="Arial"/>
              <a:ea typeface="Arial"/>
              <a:cs typeface="Arial"/>
            </a:endParaRPr>
          </a:p>
        </p:txBody>
      </p:sp>
    </p:spTree>
    <p:extLst>
      <p:ext uri="{BB962C8B-B14F-4D97-AF65-F5344CB8AC3E}">
        <p14:creationId val="3939572136"/>
      </p:ext>
    </p:extLst>
  </p:cSld>
  <p:clrMapOvr>
    <a:masterClrMapping/>
  </p:clrMapOvr>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BA646D68-4DCB-789B-734E-431AA19BCEC5}"/>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Course outline</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A1BDB68D-D2D4-20E3-2EC2-3F8CFD03DAED}"/>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1. Single-Bath Processing</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2. Conventional Processing</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3. The Integrated System</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4. Construction, Layout and Materials</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5. Water Supply Requirements</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6. Care and Maintenance of Equipment</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7. COR: Control and Replenishment</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8. Processing Artifacts</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9. Sequence of Processing</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z="2200" b="0">
                <a:solidFill>
                  <a:srgbClr val="243B53"/>
                </a:solidFill>
                <a:latin typeface="Arial"/>
                <a:ea typeface="Arial"/>
                <a:cs typeface="Arial"/>
              </a:rPr>
              <a:t>10. Silver Recovery and Conservation</a:t>
            </a:r>
            <a:endParaRPr lang="en-US" dirty="0"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1118982421"/>
      </p:ext>
    </p:extLst>
  </p:cSld>
  <p:clrMapOvr>
    <a:masterClrMapping/>
  </p:clrMapOvr>
</p:sld>
</file>

<file path=ppt/slides/slide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3910B35-4280-7336-2FE2-FF49711BFC85}"/>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Learning objectives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AAD9EDC3-64BE-5CB4-2C4A-52ED038337EF}"/>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Explain single-bath, conventional and integrated processing</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Describe darkroom construction, layout, materials and water supply</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Care for equipment and control processing chemistry</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err="1" sz="2200" b="0">
                <a:solidFill>
                  <a:srgbClr val="243B53"/>
                </a:solidFill>
                <a:latin typeface="Arial"/>
                <a:ea typeface="Arial"/>
                <a:cs typeface="Arial"/>
              </a:rPr>
              <a:t>Recognise</a:t>
            </a:r>
            <a:r>
              <a:rPr lang="en-US" dirty="0" sz="2200" b="0">
                <a:solidFill>
                  <a:srgbClr val="243B53"/>
                </a:solidFill>
                <a:latin typeface="Arial"/>
                <a:ea typeface="Arial"/>
                <a:cs typeface="Arial"/>
              </a:rPr>
              <a:t> processing artifacts and follow the sequence of processing</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Apply silver recovery and conservation</a:t>
            </a:r>
            <a:endParaRPr lang="en-US" dirty="0"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1629868502"/>
      </p:ext>
    </p:extLst>
  </p:cSld>
  <p:clrMapOvr>
    <a:masterClrMapping/>
  </p:clrMapOvr>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70846EB-097B-42C5-F3F2-47E724D48C9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Why processing matters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205D6494-81F4-531C-8B41-C11C34C52770}"/>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1. X-ray exposure: </a:t>
            </a:r>
            <a:r>
              <a:rPr lang="en-US" dirty="0" sz="2200" b="0">
                <a:solidFill>
                  <a:srgbClr val="243B53"/>
                </a:solidFill>
                <a:latin typeface="Arial"/>
                <a:ea typeface="Arial"/>
                <a:cs typeface="Arial"/>
              </a:rPr>
              <a:t>Photons strike the film emulsion</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2. Latent image: </a:t>
            </a:r>
            <a:r>
              <a:rPr lang="en-US" dirty="0" sz="2200" b="0">
                <a:solidFill>
                  <a:srgbClr val="243B53"/>
                </a:solidFill>
                <a:latin typeface="Arial"/>
                <a:ea typeface="Arial"/>
                <a:cs typeface="Arial"/>
              </a:rPr>
              <a:t>Invisible change in silver halide</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3. Processing: </a:t>
            </a:r>
            <a:r>
              <a:rPr lang="en-US" dirty="0" sz="2200" b="0">
                <a:solidFill>
                  <a:srgbClr val="243B53"/>
                </a:solidFill>
                <a:latin typeface="Arial"/>
                <a:ea typeface="Arial"/>
                <a:cs typeface="Arial"/>
              </a:rPr>
              <a:t>Chemistry reveals the image  and fixes it</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4. Visible image: </a:t>
            </a:r>
            <a:r>
              <a:rPr lang="en-US" dirty="0" sz="2200" b="0">
                <a:solidFill>
                  <a:srgbClr val="243B53"/>
                </a:solidFill>
                <a:latin typeface="Arial"/>
                <a:ea typeface="Arial"/>
                <a:cs typeface="Arial"/>
              </a:rPr>
              <a:t>Metallic silver forms the radiograph</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5. Diagnosis: </a:t>
            </a:r>
            <a:r>
              <a:rPr lang="en-US" dirty="0" sz="2200" b="0">
                <a:solidFill>
                  <a:srgbClr val="243B53"/>
                </a:solidFill>
                <a:latin typeface="Arial"/>
                <a:ea typeface="Arial"/>
                <a:cs typeface="Arial"/>
              </a:rPr>
              <a:t>Quality decides diagnostic value</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i="1" dirty="0" sz="2200" b="0">
                <a:solidFill>
                  <a:srgbClr val="243B53"/>
                </a:solidFill>
                <a:latin typeface="Arial"/>
                <a:ea typeface="Arial"/>
                <a:cs typeface="Arial"/>
              </a:rPr>
              <a:t>Faulty processing can ruin a perfect exposure, causing repeats and extra dose.</a:t>
            </a:r>
            <a:endParaRPr lang="en-US" dirty="0"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1397149001"/>
      </p:ext>
    </p:extLst>
  </p:cSld>
  <p:clrMapOvr>
    <a:masterClrMapping/>
  </p:clrMapOvr>
</p:sld>
</file>

<file path=ppt/slides/slide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3DF931A5-22CE-6A96-D95C-5056C2B817E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What is a single-bath system?</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C77A8CCE-F180-55CB-EA1E-51B2D7F054EA}"/>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One solution performs developing and fixing in a single step (a </a:t>
            </a:r>
            <a:r>
              <a:rPr lang="en-US" dirty="0" err="1" sz="2200" b="0">
                <a:solidFill>
                  <a:srgbClr val="243B53"/>
                </a:solidFill>
                <a:latin typeface="Arial"/>
                <a:ea typeface="Arial"/>
                <a:cs typeface="Arial"/>
              </a:rPr>
              <a:t>monobath</a:t>
            </a:r>
            <a:r>
              <a:rPr lang="en-US" dirty="0" sz="2200" b="0">
                <a:solidFill>
                  <a:srgbClr val="243B53"/>
                </a:solidFill>
                <a:latin typeface="Arial"/>
                <a:ea typeface="Arial"/>
                <a:cs typeface="Arial"/>
              </a:rPr>
              <a:t>)</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Developer and fixer chemicals are balanced to coexist in one tank</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Development starts first; fixing then clears unexposed silver halide</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i="1" dirty="0" sz="2200" b="0">
                <a:solidFill>
                  <a:srgbClr val="243B53"/>
                </a:solidFill>
                <a:latin typeface="Arial"/>
                <a:ea typeface="Arial"/>
                <a:cs typeface="Arial"/>
              </a:rPr>
              <a:t>Key point: One tank, one solution, one timed immersion.</a:t>
            </a:r>
            <a:endParaRPr lang="en-US" dirty="0"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370417880"/>
      </p:ext>
    </p:extLst>
  </p:cSld>
  <p:clrMapOvr>
    <a:masterClrMapping/>
  </p:clrMapOvr>
</p:sld>
</file>

<file path=ppt/slides/slide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EB5371FE-25CF-90BC-C002-91548291AAB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Chemistry inside a </a:t>
            </a:r>
            <a:r>
              <a:rPr lang="en-US" b="1" dirty="0" err="1" sz="3200">
                <a:solidFill>
                  <a:srgbClr val="0056D2"/>
                </a:solidFill>
                <a:latin typeface="Poppins SemiBold"/>
                <a:ea typeface="Poppins SemiBold"/>
                <a:cs typeface="Poppins SemiBold"/>
              </a:rPr>
              <a:t>monobath</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29D5C5A8-4496-4CA8-758F-B8064EC94778}"/>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A developing agent and an alkali give the solution its developing power</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A silver halide solvent (such as thiosulfate) gives it fixing power</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The two actions are balanced, so no one is stronger than the other</a:t>
            </a:r>
            <a:endParaRPr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Timing and temperature must follow the maker's instructions closely</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i="1" dirty="0" sz="2200" b="0">
                <a:solidFill>
                  <a:srgbClr val="243B53"/>
                </a:solidFill>
                <a:latin typeface="Arial"/>
                <a:ea typeface="Arial"/>
                <a:cs typeface="Arial"/>
              </a:rPr>
              <a:t>Key point: A </a:t>
            </a:r>
            <a:r>
              <a:rPr lang="en-US" i="1" dirty="0" err="1" sz="2200" b="0">
                <a:solidFill>
                  <a:srgbClr val="243B53"/>
                </a:solidFill>
                <a:latin typeface="Arial"/>
                <a:ea typeface="Arial"/>
                <a:cs typeface="Arial"/>
              </a:rPr>
              <a:t>monobath</a:t>
            </a:r>
            <a:r>
              <a:rPr lang="en-US" i="1" dirty="0" sz="2200" b="0">
                <a:solidFill>
                  <a:srgbClr val="243B53"/>
                </a:solidFill>
                <a:latin typeface="Arial"/>
                <a:ea typeface="Arial"/>
                <a:cs typeface="Arial"/>
              </a:rPr>
              <a:t> is a chemical compromise: two jobs, one solution.</a:t>
            </a:r>
            <a:endParaRPr lang="en-US" dirty="0"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1794009887"/>
      </p:ext>
    </p:extLst>
  </p:cSld>
  <p:clrMapOvr>
    <a:masterClrMapping/>
  </p:clrMapOvr>
</p:sld>
</file>

<file path=ppt/slides/slide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EAD7141D-3511-439D-8600-BD508F6C218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How a </a:t>
            </a:r>
            <a:r>
              <a:rPr lang="en-US" b="1" dirty="0" err="1" sz="3200">
                <a:solidFill>
                  <a:srgbClr val="0056D2"/>
                </a:solidFill>
                <a:latin typeface="Poppins SemiBold"/>
                <a:ea typeface="Poppins SemiBold"/>
                <a:cs typeface="Poppins SemiBold"/>
              </a:rPr>
              <a:t>monobath</a:t>
            </a:r>
            <a:r>
              <a:rPr lang="en-US" b="1" dirty="0" sz="3200">
                <a:solidFill>
                  <a:srgbClr val="0056D2"/>
                </a:solidFill>
                <a:latin typeface="Poppins SemiBold"/>
                <a:ea typeface="Poppins SemiBold"/>
                <a:cs typeface="Poppins SemiBold"/>
              </a:rPr>
              <a:t> works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4C191BF-434E-6FF7-45B9-60FF541AD10D}"/>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1. Immerse: </a:t>
            </a:r>
            <a:r>
              <a:rPr lang="en-US" sz="2200" dirty="0" b="0">
                <a:solidFill>
                  <a:srgbClr val="243B53"/>
                </a:solidFill>
                <a:latin typeface="Arial"/>
                <a:ea typeface="Arial"/>
                <a:cs typeface="Arial"/>
              </a:rPr>
              <a:t>Film enters the single solution</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2. Develop: </a:t>
            </a:r>
            <a:r>
              <a:rPr lang="en-US" sz="2200" dirty="0" b="0">
                <a:solidFill>
                  <a:srgbClr val="243B53"/>
                </a:solidFill>
                <a:latin typeface="Arial"/>
                <a:ea typeface="Arial"/>
                <a:cs typeface="Arial"/>
              </a:rPr>
              <a:t>Exposed crystals reduce to silver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3. Fix: </a:t>
            </a:r>
            <a:r>
              <a:rPr lang="en-US" sz="2200" dirty="0" b="0">
                <a:solidFill>
                  <a:srgbClr val="243B53"/>
                </a:solidFill>
                <a:latin typeface="Arial"/>
                <a:ea typeface="Arial"/>
                <a:cs typeface="Arial"/>
              </a:rPr>
              <a:t>Unexposed halide dissolves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4. Wash: </a:t>
            </a:r>
            <a:r>
              <a:rPr lang="en-US" sz="2200" dirty="0" b="0">
                <a:solidFill>
                  <a:srgbClr val="243B53"/>
                </a:solidFill>
                <a:latin typeface="Arial"/>
                <a:ea typeface="Arial"/>
                <a:cs typeface="Arial"/>
              </a:rPr>
              <a:t>Residual chemicals removed</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5. Dry: </a:t>
            </a:r>
            <a:r>
              <a:rPr lang="en-US" sz="2200" dirty="0" b="0">
                <a:solidFill>
                  <a:srgbClr val="243B53"/>
                </a:solidFill>
                <a:latin typeface="Arial"/>
                <a:ea typeface="Arial"/>
                <a:cs typeface="Arial"/>
              </a:rPr>
              <a:t>Film hung to dry</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2454257512"/>
      </p:ext>
    </p:extLst>
  </p:cSld>
  <p:clrMapOvr>
    <a:masterClrMapping/>
  </p:clrMapOvr>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33AE0CBF-CEB4-CFFF-08BC-A6F5B384CADF}"/>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Advantages and limitations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0AB2DB48-3F5E-D806-63F6-05F37BD59946}"/>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Advantages</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Simple and quick to use</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One tank saves space</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Fewer steps to teach or remember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Fewer solutions to mix and change</a:t>
            </a:r>
            <a:endParaRPr lang="en-US" sz="2200" dirty="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4" name="Content Placeholder 3">
            <a:extLst>
              <a:ext uri="{FF2B5EF4-FFF2-40B4-BE49-F238E27FC236}">
                <a16:creationId id="{B5384851-E911-DAFA-F900-2DE78DF46233}"/>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Limitations</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Poor control of contrast and speed</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Lower density and image quality</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Bath exhausts rapidly</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Not suited for routine diagnostic work</a:t>
            </a:r>
            <a:endParaRPr lang="en-US" sz="2200" dirty="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035052466"/>
      </p:ext>
    </p:extLst>
  </p:cSld>
  <p:clrMapOvr>
    <a:masterClrMapping/>
  </p:clrMapOvr>
</p:sld>
</file>

<file path=ppt/slides/slide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5569A24-A7C4-F9F3-BB55-54F38F55A81F}"/>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Where single-bath is used</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3E377F63-048A-A753-5D92-AB5C31D2571D}"/>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Teaching demonstrations of the principle of processing</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Emergency or improvised work where tanks are not available</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Very small workloads that do not justify several tanks</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Not recommended for routine diagnostic radiography</a:t>
            </a:r>
            <a:endParaRPr sz="2200" b="0">
              <a:solidFill>
                <a:srgbClr val="243B53"/>
              </a:solidFill>
              <a:latin typeface="Arial"/>
              <a:ea typeface="Arial"/>
              <a:cs typeface="Arial"/>
            </a:endParaRPr>
          </a:p>
          <a:p>
            <a:pPr algn="l" marL="0" indent="0">
              <a:lnSpc>
                <a:spcPts val="100"/>
              </a:lnSpc>
              <a:spcBef>
                <a:spcPts val="0"/>
              </a:spcBef>
              <a:spcAft>
                <a:spcPts val="0"/>
              </a:spcAft>
              <a:buSzPct val="100000"/>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957420653"/>
      </p:ext>
    </p:extLst>
  </p:cSld>
  <p:clrMapOvr>
    <a:masterClrMapping/>
  </p:clrMapOvr>
</p:sld>
</file>

<file path=ppt/slides/slide1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3DB84293-0133-686A-2227-60DB19A1D32C}"/>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Problems with single-bath processing</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1BD7DA3C-C979-11BF-50B4-37DFF1EC3030}"/>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Weak contrast and low density compared with standard processing</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Fogging if the bath is too warm </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Short bath life, so results drift quickly</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Residual silver compounds may remain and stain the film</a:t>
            </a:r>
            <a:endParaRPr lang="en-US" sz="2200" dirty="0" b="0">
              <a:solidFill>
                <a:srgbClr val="243B53"/>
              </a:solidFill>
              <a:latin typeface="Arial"/>
              <a:ea typeface="Arial"/>
              <a:cs typeface="Arial"/>
            </a:endParaRPr>
          </a:p>
          <a:p>
            <a:pPr algn="l" marL="0" indent="0">
              <a:lnSpc>
                <a:spcPts val="100"/>
              </a:lnSpc>
              <a:spcBef>
                <a:spcPts val="0"/>
              </a:spcBef>
              <a:spcAft>
                <a:spcPts val="0"/>
              </a:spcAft>
              <a:buSzPct val="100000"/>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Quality control is hard when one bath does everything.</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87643525"/>
      </p:ext>
    </p:extLst>
  </p:cSld>
  <p:clrMapOvr>
    <a:masterClrMapping/>
  </p:clrMapOvr>
</p:sld>
</file>

<file path=ppt/slides/slide1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4DFE552-1A38-7552-4130-F25B46241D9C}"/>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What is conventional processing?</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76DF09C4-B011-0328-B0EB-F7CD30B15E2C}"/>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Developer, rinse, fixer and wash as separate solutions in separate tanks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The film moves from tank to tank on a hanger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Each stage mostly developing stage is controlled by time and temperature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It is the standard method of manual processing for diagnostic films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Separate baths, each doing one job well.</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571075041"/>
      </p:ext>
    </p:extLst>
  </p:cSld>
  <p:clrMapOvr>
    <a:masterClrMapping/>
  </p:clrMapOvr>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2DDA9168-3634-1FB8-F166-51410683A95C}"/>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Manual processing stages and tanks</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AA23D74E-342B-7EA1-7073-FDE2EF9DC724}"/>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1. Developer tank: </a:t>
            </a:r>
            <a:r>
              <a:rPr lang="en-US" sz="2200" dirty="0" b="0">
                <a:solidFill>
                  <a:srgbClr val="243B53"/>
                </a:solidFill>
                <a:latin typeface="Arial"/>
                <a:ea typeface="Arial"/>
                <a:cs typeface="Arial"/>
              </a:rPr>
              <a:t>Makes the latent image visible</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2. Rinse tank: </a:t>
            </a:r>
            <a:r>
              <a:rPr lang="en-US" sz="2200" dirty="0" b="0">
                <a:solidFill>
                  <a:srgbClr val="243B53"/>
                </a:solidFill>
                <a:latin typeface="Arial"/>
                <a:ea typeface="Arial"/>
                <a:cs typeface="Arial"/>
              </a:rPr>
              <a:t>Stops development</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3. Fixer tank: </a:t>
            </a:r>
            <a:r>
              <a:rPr lang="en-US" sz="2200" dirty="0" b="0">
                <a:solidFill>
                  <a:srgbClr val="243B53"/>
                </a:solidFill>
                <a:latin typeface="Arial"/>
                <a:ea typeface="Arial"/>
                <a:cs typeface="Arial"/>
              </a:rPr>
              <a:t>Clears and fixes the image</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4. Wash tank: </a:t>
            </a:r>
            <a:r>
              <a:rPr lang="en-US" sz="2200" dirty="0" b="0">
                <a:solidFill>
                  <a:srgbClr val="243B53"/>
                </a:solidFill>
                <a:latin typeface="Arial"/>
                <a:ea typeface="Arial"/>
                <a:cs typeface="Arial"/>
              </a:rPr>
              <a:t>Running water removes chemicals</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5. Drying: </a:t>
            </a:r>
            <a:r>
              <a:rPr lang="en-US" sz="2200" dirty="0" b="0">
                <a:solidFill>
                  <a:srgbClr val="243B53"/>
                </a:solidFill>
                <a:latin typeface="Arial"/>
                <a:ea typeface="Arial"/>
                <a:cs typeface="Arial"/>
              </a:rPr>
              <a:t>Warm, filtered air</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Tanks are arranged in the order the film travels.</a:t>
            </a:r>
            <a:endParaRPr lang="en-US" sz="2200" dirty="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904780878"/>
      </p:ext>
    </p:extLst>
  </p:cSld>
  <p:clrMapOvr>
    <a:masterClrMapping/>
  </p:clrMapOvr>
</p:sld>
</file>

<file path=ppt/slides/slide13.xml><?xml version="1.0" encoding="utf-8"?>
<p:sld xmlns:a="http://schemas.openxmlformats.org/drawingml/2006/main" xmlns:a14="http://schemas.microsoft.com/office/drawing/2010/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9"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4BCF0A27-0082-8036-438B-F39B849FE011}"/>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MANUAL PROCESSING TANKS</a:t>
            </a:r>
            <a:endParaRPr sz="3200" b="1">
              <a:solidFill>
                <a:srgbClr val="0056D2"/>
              </a:solidFill>
              <a:latin typeface="Poppins SemiBold"/>
              <a:ea typeface="Poppins SemiBold"/>
              <a:cs typeface="Poppins SemiBold"/>
            </a:endParaRPr>
          </a:p>
        </p:txBody>
      </p:sp>
      <p:pic>
        <p:nvPicPr>
          <p:cNvPr id="6" name="Content Placeholder 5">
            <a:extLst>
              <a:ext uri="{FF2B5EF4-FFF2-40B4-BE49-F238E27FC236}">
                <a16:creationId id="{8D8A4796-AD11-B831-D481-CF04EBC9A937}"/>
              </a:ext>
            </a:extLst>
          </p:cNvPr>
          <p:cNvPicPr>
            <a:picLocks noGrp="1" noChangeAspect="1"/>
          </p:cNvPicPr>
          <p:nvPr>
            <p:ph sz="half" idx="1"/>
          </p:nvPr>
        </p:nvPicPr>
        <p:blipFill>
          <a:blip r:embed="rId2">
            <a:extLst>
              <a:ext uri="{28A0092B-C50C-407E-A947-70E740481C1C}">
                <a14:useLocalDpi val="0"/>
              </a:ext>
            </a:extLst>
          </a:blip>
          <a:stretch>
            <a:fillRect/>
          </a:stretch>
        </p:blipFill>
        <p:spPr>
          <a:xfrm>
            <a:off x="4989436" y="1748790"/>
            <a:ext cx="2213127" cy="2143125"/>
          </a:xfrm>
          <a:prstGeom prst="rect">
            <a:avLst/>
          </a:prstGeom>
        </p:spPr>
      </p:pic>
      <p:pic>
        <p:nvPicPr>
          <p:cNvPr id="8" name="Content Placeholder 7">
            <a:extLst>
              <a:ext uri="{FF2B5EF4-FFF2-40B4-BE49-F238E27FC236}">
                <a16:creationId id="{BDC25AEC-A8E3-439A-2678-6B0666EE4264}"/>
              </a:ext>
            </a:extLst>
          </p:cNvPr>
          <p:cNvPicPr>
            <a:picLocks noGrp="1" noChangeAspect="1"/>
          </p:cNvPicPr>
          <p:nvPr>
            <p:ph sz="half" idx="2"/>
          </p:nvPr>
        </p:nvPicPr>
        <p:blipFill>
          <a:blip r:embed="rId3">
            <a:extLst>
              <a:ext uri="{28A0092B-C50C-407E-A947-70E740481C1C}">
                <a14:useLocalDpi val="0"/>
              </a:ext>
            </a:extLst>
          </a:blip>
          <a:stretch>
            <a:fillRect/>
          </a:stretch>
        </p:blipFill>
        <p:spPr>
          <a:xfrm>
            <a:off x="4779898" y="4029075"/>
            <a:ext cx="2632204" cy="2143125"/>
          </a:xfrm>
          <a:prstGeom prst="rect">
            <a:avLst/>
          </a:prstGeom>
        </p:spPr>
      </p:pic>
    </p:spTree>
    <p:extLst>
      <p:ext uri="{BB962C8B-B14F-4D97-AF65-F5344CB8AC3E}">
        <p14:creationId val="2587161070"/>
      </p:ext>
    </p:extLst>
  </p:cSld>
  <p:clrMapOvr>
    <a:masterClrMapping/>
  </p:clrMapOvr>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C5574198-9AF0-CE37-3FA1-AF92D5B331C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Why use separate baths?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3069F5D3-0942-7E50-1662-669EAF2CC471}"/>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i="1" dirty="0" b="0">
                <a:solidFill>
                  <a:srgbClr val="243B53"/>
                </a:solidFill>
                <a:latin typeface="Arial"/>
                <a:ea typeface="Arial"/>
                <a:cs typeface="Arial"/>
              </a:rPr>
              <a:t>Separate baths paves way for  control and control gives quality.</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Contrast and density are controlled through the developer alone</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Each solution is replenished and replaced on its own schedule</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Results are stable enough for diagnosis and long-term storage</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i="1"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a:t>
            </a:r>
            <a:r>
              <a:rPr lang="en-US" sz="2200" dirty="0" b="0">
                <a:solidFill>
                  <a:srgbClr val="243B53"/>
                </a:solidFill>
                <a:latin typeface="Arial"/>
                <a:ea typeface="Arial"/>
                <a:cs typeface="Arial"/>
              </a:rPr>
              <a:t>Developer is alkaline and fixer is acidic, so each works best apart</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179688914"/>
      </p:ext>
    </p:extLst>
  </p:cSld>
  <p:clrMapOvr>
    <a:masterClrMapping/>
  </p:clrMapOvr>
</p:sld>
</file>

<file path=ppt/slides/slide1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6DD602CF-03E7-755A-6305-18E357C2DCD7}"/>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What each bath does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6122B927-4925-02DD-2DCA-C9982BAB70D8}"/>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Developer bath</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Alkaline solution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Reduces exposed halide </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About 5 minutes at 20 °C</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Controls density and contrast</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4" name="Content Placeholder 3">
            <a:extLst>
              <a:ext uri="{FF2B5EF4-FFF2-40B4-BE49-F238E27FC236}">
                <a16:creationId id="{F3F99811-6F69-30BC-D252-B83DAEB9FE23}"/>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Fixer bath</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Acidic solution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Dissolves unexposed halide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About 10 minutes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Hardens and preserves the emulsion</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4217629815"/>
      </p:ext>
    </p:extLst>
  </p:cSld>
  <p:clrMapOvr>
    <a:masterClrMapping/>
  </p:clrMapOvr>
</p:sld>
</file>

<file path=ppt/slides/slide1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D47846A-0D22-F23C-8415-9F2D5CA8D37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Manual processing technique</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BB76EF60-D94A-59BF-FB7B-E6794523BFAE}"/>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Clip the film by its corners on a clean, dry hanger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Lower it smoothly into the developer and start the timer </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Agitate at the start and tap to release air bells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Drain, rinse, then fix for the full time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Wash in running water and dry without touching the surface</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Smooth, timed, clean handling prevents most artifacts.</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963054867"/>
      </p:ext>
    </p:extLst>
  </p:cSld>
  <p:clrMapOvr>
    <a:masterClrMapping/>
  </p:clrMapOvr>
</p:sld>
</file>

<file path=ppt/slides/slide1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2DE2D238-BDD2-77CB-543D-5D964C2C5447}"/>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Time and temperature control</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2A1EB9B6-DD07-2A0A-A72B-7B2646B88E3E}"/>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Standard development is about 5 minutes at 20 °C</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 warmer bath works faster and may fog the film</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 cooler bath works slowly and under-develops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Use a thermometer and a timer for every film</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Time and temperature must always be read together.</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490281470"/>
      </p:ext>
    </p:extLst>
  </p:cSld>
  <p:clrMapOvr>
    <a:masterClrMapping/>
  </p:clrMapOvr>
</p:sld>
</file>

<file path=ppt/slides/slide1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CDE5D70A-06E0-18EF-5A0B-4D5BD900DA28}"/>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Tank arrangement</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2629F19B-3285-26DF-A0D3-1A08843A4F35}"/>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Tanks sit in a line: developer, rinse, fixer, wash</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Film never travels back over a tank it has left</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Each tank has its own lid and stirring rod</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Wash tank sits last, with running water</a:t>
            </a:r>
            <a:endParaRPr sz="2200" b="0">
              <a:solidFill>
                <a:srgbClr val="243B53"/>
              </a:solidFill>
              <a:latin typeface="Arial"/>
              <a:ea typeface="Arial"/>
              <a:cs typeface="Arial"/>
            </a:endParaRPr>
          </a:p>
          <a:p>
            <a:pPr algn="l" marL="0" indent="0">
              <a:lnSpc>
                <a:spcPts val="100"/>
              </a:lnSpc>
              <a:spcBef>
                <a:spcPts val="0"/>
              </a:spcBef>
              <a:spcAft>
                <a:spcPts val="0"/>
              </a:spcAft>
              <a:buSzPct val="100000"/>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A one-way path protects each solution from contamination.</a:t>
            </a:r>
            <a:endParaRPr lang="en-US" sz="2200" dirty="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495014171"/>
      </p:ext>
    </p:extLst>
  </p:cSld>
  <p:clrMapOvr>
    <a:masterClrMapping/>
  </p:clrMapOvr>
</p:sld>
</file>

<file path=ppt/slides/slide1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18F2B5BC-3589-C543-D102-28DE8F1B2962}"/>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Advantages and limitations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75447167-962C-1F7C-532A-7AE705DA17B2}"/>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Advantages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Good control of image quality</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Reliable, repeatable results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Solutions can be replenished</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Low equipment cost</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4" name="Content Placeholder 3">
            <a:extLst>
              <a:ext uri="{FF2B5EF4-FFF2-40B4-BE49-F238E27FC236}">
                <a16:creationId id="{C8ACAD47-1445-308C-6EC0-684485882405}"/>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Limitations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Slow and </a:t>
            </a:r>
            <a:r>
              <a:rPr lang="en-US" sz="2200" dirty="0" err="1" b="0">
                <a:solidFill>
                  <a:srgbClr val="243B53"/>
                </a:solidFill>
                <a:latin typeface="Arial"/>
                <a:ea typeface="Arial"/>
                <a:cs typeface="Arial"/>
              </a:rPr>
              <a:t>labour</a:t>
            </a:r>
            <a:r>
              <a:rPr lang="en-US" sz="2200" dirty="0" b="0">
                <a:solidFill>
                  <a:srgbClr val="243B53"/>
                </a:solidFill>
                <a:latin typeface="Arial"/>
                <a:ea typeface="Arial"/>
                <a:cs typeface="Arial"/>
              </a:rPr>
              <a:t> intensive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Depends on operator skill</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Needs space and running water</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2595301006"/>
      </p:ext>
    </p:extLst>
  </p:cSld>
  <p:clrMapOvr>
    <a:masterClrMapping/>
  </p:clrMapOvr>
</p:sld>
</file>

<file path=ppt/slides/slide2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93F96ED1-A3E8-4AB2-3D66-16065AB44DC2}"/>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Single-bath vs conventional</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4F402C9E-1CD3-BF03-D5DF-1EAD57ADA526}"/>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Solutions: </a:t>
            </a:r>
            <a:r>
              <a:rPr lang="en-US" sz="2000" dirty="0" b="0">
                <a:solidFill>
                  <a:srgbClr val="243B53"/>
                </a:solidFill>
                <a:latin typeface="Arial"/>
                <a:ea typeface="Arial"/>
                <a:cs typeface="Arial"/>
              </a:rPr>
              <a:t>Single bath: One combined bath. Conventional (separate baths): Developer and fixer apart</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Control of image: </a:t>
            </a:r>
            <a:r>
              <a:rPr lang="en-US" sz="2000" dirty="0" b="0">
                <a:solidFill>
                  <a:srgbClr val="243B53"/>
                </a:solidFill>
                <a:latin typeface="Arial"/>
                <a:ea typeface="Arial"/>
                <a:cs typeface="Arial"/>
              </a:rPr>
              <a:t>Single bath: Limited. Conventional (separate baths): Good, adjustable by time and temperature</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Image quality: </a:t>
            </a:r>
            <a:r>
              <a:rPr lang="en-US" sz="2000" dirty="0" b="0">
                <a:solidFill>
                  <a:srgbClr val="243B53"/>
                </a:solidFill>
                <a:latin typeface="Arial"/>
                <a:ea typeface="Arial"/>
                <a:cs typeface="Arial"/>
              </a:rPr>
              <a:t>Single bath: Lower. Conventional (separate baths): Diagnostic standard</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Keeping quality: </a:t>
            </a:r>
            <a:r>
              <a:rPr lang="en-US" sz="2000" dirty="0" b="0">
                <a:solidFill>
                  <a:srgbClr val="243B53"/>
                </a:solidFill>
                <a:latin typeface="Arial"/>
                <a:ea typeface="Arial"/>
                <a:cs typeface="Arial"/>
              </a:rPr>
              <a:t>Single bath: Short bath life. Conventional (separate baths): Longer, replenishable</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Typical use: </a:t>
            </a:r>
            <a:r>
              <a:rPr lang="en-US" sz="2000" dirty="0" b="0">
                <a:solidFill>
                  <a:srgbClr val="243B53"/>
                </a:solidFill>
                <a:latin typeface="Arial"/>
                <a:ea typeface="Arial"/>
                <a:cs typeface="Arial"/>
              </a:rPr>
              <a:t>Single bath: Teaching, improvisation. Conventional (separate baths): Routine radiography</a:t>
            </a:r>
            <a:endParaRPr lang="en-US" sz="20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405053339"/>
      </p:ext>
    </p:extLst>
  </p:cSld>
  <p:clrMapOvr>
    <a:masterClrMapping/>
  </p:clrMapOvr>
</p:sld>
</file>

<file path=ppt/slides/slide2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FD8E3142-9322-E316-23AD-2D5814C96822}"/>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What is an integrated system?</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2DAB4B94-5144-07C9-FE6F-702A3C429CC6}"/>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Developer, rinse, fixer and wash tanks combined in one unit</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Tanks are arranged in the order of processing</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All stages, one unit, one temperature environment.</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i="1"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Moving water keeps both solutions at a steady temperature</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2108954069"/>
      </p:ext>
    </p:extLst>
  </p:cSld>
  <p:clrMapOvr>
    <a:masterClrMapping/>
  </p:clrMapOvr>
</p:sld>
</file>

<file path=ppt/slides/slide2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173B56F8-3737-693E-48B3-F0BFDB106F68}"/>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Components of the unit</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07284A5D-235F-154F-B544-D8C044ED312B}"/>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Master tank: </a:t>
            </a:r>
            <a:r>
              <a:rPr lang="en-US" sz="2000" dirty="0" b="0">
                <a:solidFill>
                  <a:srgbClr val="243B53"/>
                </a:solidFill>
                <a:latin typeface="Arial"/>
                <a:ea typeface="Arial"/>
                <a:cs typeface="Arial"/>
              </a:rPr>
              <a:t>Outer tank holding the water jacket (this jacket warms or cools solutions through the tank walls). This jacket has thermostat that regulate the temperature to about 20 degree Celsius. Continuous flow of water keeps the water jacket temperature even.</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Inner tanks: </a:t>
            </a:r>
            <a:r>
              <a:rPr lang="en-US" sz="2000" dirty="0" b="0">
                <a:solidFill>
                  <a:srgbClr val="243B53"/>
                </a:solidFill>
                <a:latin typeface="Arial"/>
                <a:ea typeface="Arial"/>
                <a:cs typeface="Arial"/>
              </a:rPr>
              <a:t>Developer and fixer solution tanks</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Wash tank: </a:t>
            </a:r>
            <a:r>
              <a:rPr lang="en-US" sz="2000" dirty="0" b="0">
                <a:solidFill>
                  <a:srgbClr val="243B53"/>
                </a:solidFill>
                <a:latin typeface="Arial"/>
                <a:ea typeface="Arial"/>
                <a:cs typeface="Arial"/>
              </a:rPr>
              <a:t>Large tank with running water</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Thermostatic mixer: </a:t>
            </a:r>
            <a:r>
              <a:rPr lang="en-US" sz="2000" dirty="0" b="0">
                <a:solidFill>
                  <a:srgbClr val="243B53"/>
                </a:solidFill>
                <a:latin typeface="Arial"/>
                <a:ea typeface="Arial"/>
                <a:cs typeface="Arial"/>
              </a:rPr>
              <a:t>Blends hot and cold water</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Overflow and drain: </a:t>
            </a:r>
            <a:r>
              <a:rPr lang="en-US" sz="2000" dirty="0" b="0">
                <a:solidFill>
                  <a:srgbClr val="243B53"/>
                </a:solidFill>
                <a:latin typeface="Arial"/>
                <a:ea typeface="Arial"/>
                <a:cs typeface="Arial"/>
              </a:rPr>
              <a:t>Keep levels safe and empty tanks</a:t>
            </a:r>
            <a:endParaRPr lang="en-US" sz="2000" dirty="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b="0" dirty="0">
                <a:solidFill>
                  <a:srgbClr val="243B53"/>
                </a:solidFill>
                <a:latin typeface="Arial"/>
                <a:ea typeface="Arial"/>
                <a:cs typeface="Arial"/>
              </a:rPr>
              <a:t>Lids and racks: </a:t>
            </a:r>
            <a:r>
              <a:rPr lang="en-US" sz="2000" dirty="0" b="0">
                <a:solidFill>
                  <a:srgbClr val="243B53"/>
                </a:solidFill>
                <a:latin typeface="Arial"/>
                <a:ea typeface="Arial"/>
                <a:cs typeface="Arial"/>
              </a:rPr>
              <a:t>Cover tanks and hold hangers</a:t>
            </a:r>
            <a:endParaRPr lang="en-US" sz="20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179874138"/>
      </p:ext>
    </p:extLst>
  </p:cSld>
  <p:clrMapOvr>
    <a:masterClrMapping/>
  </p:clrMapOvr>
</p:sld>
</file>

<file path=ppt/slides/slide2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83C78A9E-0DA5-EB70-2085-F040322A2F70}"/>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Layout of the tanks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926C6A14-48F3-023C-ECF8-2E2BFD11E7A4}"/>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1. Developer: </a:t>
            </a:r>
            <a:r>
              <a:rPr lang="en-US" sz="2200" dirty="0" b="0">
                <a:solidFill>
                  <a:srgbClr val="243B53"/>
                </a:solidFill>
                <a:latin typeface="Arial"/>
                <a:ea typeface="Arial"/>
                <a:cs typeface="Arial"/>
              </a:rPr>
              <a:t>First tank, in the water jacket</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2. Rinse: </a:t>
            </a:r>
            <a:r>
              <a:rPr lang="en-US" sz="2200" dirty="0" b="0">
                <a:solidFill>
                  <a:srgbClr val="243B53"/>
                </a:solidFill>
                <a:latin typeface="Arial"/>
                <a:ea typeface="Arial"/>
                <a:cs typeface="Arial"/>
              </a:rPr>
              <a:t>Short rinse or stop bath</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3. Fixer: </a:t>
            </a:r>
            <a:r>
              <a:rPr lang="en-US" sz="2200" dirty="0" b="0">
                <a:solidFill>
                  <a:srgbClr val="243B53"/>
                </a:solidFill>
                <a:latin typeface="Arial"/>
                <a:ea typeface="Arial"/>
                <a:cs typeface="Arial"/>
              </a:rPr>
              <a:t>Second jacketed tank</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4. Wash: </a:t>
            </a:r>
            <a:r>
              <a:rPr lang="en-US" sz="2200" dirty="0" b="0">
                <a:solidFill>
                  <a:srgbClr val="243B53"/>
                </a:solidFill>
                <a:latin typeface="Arial"/>
                <a:ea typeface="Arial"/>
                <a:cs typeface="Arial"/>
              </a:rPr>
              <a:t>Largest tank, running water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5. Drying: </a:t>
            </a:r>
            <a:r>
              <a:rPr lang="en-US" sz="2200" dirty="0" b="0">
                <a:solidFill>
                  <a:srgbClr val="243B53"/>
                </a:solidFill>
                <a:latin typeface="Arial"/>
                <a:ea typeface="Arial"/>
                <a:cs typeface="Arial"/>
              </a:rPr>
              <a:t>Cabinet or rack</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897823679"/>
      </p:ext>
    </p:extLst>
  </p:cSld>
  <p:clrMapOvr>
    <a:masterClrMapping/>
  </p:clrMapOvr>
</p:sld>
</file>

<file path=ppt/slides/slide2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FF412AD-0B11-552A-2A96-8B4F5AFCFAD2}"/>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Advantages and limitations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E20D012-45E5-7456-6497-C7982E06B652}"/>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Advantages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Stable solution temperature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Low cost and simple servicing</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Works without complex electronics</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4" name="Content Placeholder 3">
            <a:extLst>
              <a:ext uri="{FF2B5EF4-FFF2-40B4-BE49-F238E27FC236}">
                <a16:creationId id="{63D0065E-2C97-4B13-ED64-9AD4A1B8D06F}"/>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Limitations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Low throughput</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err="1" b="0">
                <a:solidFill>
                  <a:srgbClr val="243B53"/>
                </a:solidFill>
                <a:latin typeface="Arial"/>
                <a:ea typeface="Arial"/>
                <a:cs typeface="Arial"/>
              </a:rPr>
              <a:t>Labour</a:t>
            </a:r>
            <a:r>
              <a:rPr lang="en-US" sz="2200" dirty="0" b="0">
                <a:solidFill>
                  <a:srgbClr val="243B53"/>
                </a:solidFill>
                <a:latin typeface="Arial"/>
                <a:ea typeface="Arial"/>
                <a:cs typeface="Arial"/>
              </a:rPr>
              <a:t> intensive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Needs water and space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Operator error: timing, agitation</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4248135138"/>
      </p:ext>
    </p:extLst>
  </p:cSld>
  <p:clrMapOvr>
    <a:masterClrMapping/>
  </p:clrMapOvr>
</p:sld>
</file>

<file path=ppt/slides/slide2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E8859AB4-D8D7-36A8-7D63-5DEE4354D7F1}"/>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Manual vs automatic processing</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AD7EF17B-8F63-7DE4-565C-1F7076A5FC70}"/>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Processing time: </a:t>
            </a:r>
            <a:r>
              <a:rPr lang="en-US" sz="2200" dirty="0" b="0">
                <a:solidFill>
                  <a:srgbClr val="243B53"/>
                </a:solidFill>
                <a:latin typeface="Arial"/>
                <a:ea typeface="Arial"/>
                <a:cs typeface="Arial"/>
              </a:rPr>
              <a:t>Manual: About 30 to 60 minutes to dry film. Automatic processor: About 90 seconds to 3 minutes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Throughput: </a:t>
            </a:r>
            <a:r>
              <a:rPr lang="en-US" sz="2200" dirty="0" b="0">
                <a:solidFill>
                  <a:srgbClr val="243B53"/>
                </a:solidFill>
                <a:latin typeface="Arial"/>
                <a:ea typeface="Arial"/>
                <a:cs typeface="Arial"/>
              </a:rPr>
              <a:t>Manual: Low. Automatic processor: High</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Consistency: </a:t>
            </a:r>
            <a:r>
              <a:rPr lang="en-US" sz="2200" dirty="0" b="0">
                <a:solidFill>
                  <a:srgbClr val="243B53"/>
                </a:solidFill>
                <a:latin typeface="Arial"/>
                <a:ea typeface="Arial"/>
                <a:cs typeface="Arial"/>
              </a:rPr>
              <a:t>Manual: Operator dependent. Automatic processor: Machine controlled</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err="1">
                <a:solidFill>
                  <a:srgbClr val="243B53"/>
                </a:solidFill>
                <a:latin typeface="Arial"/>
                <a:ea typeface="Arial"/>
                <a:cs typeface="Arial"/>
              </a:rPr>
              <a:t>Labour</a:t>
            </a:r>
            <a:r>
              <a:rPr lang="en-US" sz="2200" b="0" dirty="0">
                <a:solidFill>
                  <a:srgbClr val="243B53"/>
                </a:solidFill>
                <a:latin typeface="Arial"/>
                <a:ea typeface="Arial"/>
                <a:cs typeface="Arial"/>
              </a:rPr>
              <a:t>: </a:t>
            </a:r>
            <a:r>
              <a:rPr lang="en-US" sz="2200" dirty="0" b="0">
                <a:solidFill>
                  <a:srgbClr val="243B53"/>
                </a:solidFill>
                <a:latin typeface="Arial"/>
                <a:ea typeface="Arial"/>
                <a:cs typeface="Arial"/>
              </a:rPr>
              <a:t>Manual: High. Automatic processor: Low</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Running cost: </a:t>
            </a:r>
            <a:r>
              <a:rPr lang="en-US" sz="2200" dirty="0" b="0">
                <a:solidFill>
                  <a:srgbClr val="243B53"/>
                </a:solidFill>
                <a:latin typeface="Arial"/>
                <a:ea typeface="Arial"/>
                <a:cs typeface="Arial"/>
              </a:rPr>
              <a:t>Manual: Low equipment cost. Automatic processor: Higher equipment and service cost</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547446767"/>
      </p:ext>
    </p:extLst>
  </p:cSld>
  <p:clrMapOvr>
    <a:masterClrMapping/>
  </p:clrMapOvr>
</p:sld>
</file>

<file path=ppt/slides/slide2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3D3D7F0-9AEB-2C8C-510F-AA0CDC690D41}"/>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pitchFamily="34" charset="0"/>
                <a:ea typeface="Poppins SemiBold" pitchFamily="34" charset="-122"/>
                <a:cs typeface="Poppins SemiBold" pitchFamily="34" charset="-120"/>
              </a:rPr>
              <a:t>Darkroom Construction, Layout and Materials</a:t>
            </a:r>
            <a:br>
              <a:rPr lang="en-US" dirty="0">
                <a:solidFill>
                  <a:srgbClr val="EE0000"/>
                </a:solidFill>
              </a:rPr>
            </a:b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50C2409F-48BD-B449-FE34-BB44A7917605}"/>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Darkroom design principles</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Complete light-tightness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Separate wet and dry zones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Good ventilation and drainage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Easy-to-clean, chemical-resistant surfaces</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255239274"/>
      </p:ext>
    </p:extLst>
  </p:cSld>
  <p:clrMapOvr>
    <a:masterClrMapping/>
  </p:clrMapOvr>
</p:sld>
</file>

<file path=ppt/slides/slide2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AA9571FD-F6EC-2E54-9932-5FF9E5C5160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Entrances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6CD0B666-0942-3899-3AD9-1D49559A2060}"/>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panose="02020603050405020304" pitchFamily="18" charset="0"/>
                <a:ea typeface="Arial"/>
                <a:cs typeface="Arial" panose="02020603050405020304" pitchFamily="18" charset="0"/>
              </a:rPr>
              <a:t>The entrance should be fitted and completely light proof</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panose="02020603050405020304" pitchFamily="18" charset="0"/>
                <a:ea typeface="Arial"/>
                <a:cs typeface="Arial" panose="02020603050405020304" pitchFamily="18" charset="0"/>
              </a:rPr>
              <a:t>Use of double doors advisable.</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panose="02020603050405020304" pitchFamily="18" charset="0"/>
                <a:ea typeface="Arial"/>
                <a:cs typeface="Arial" panose="02020603050405020304" pitchFamily="18" charset="0"/>
              </a:rPr>
              <a:t>The doors should be designed in such a way that the one closer to the darkroom opens into the room </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panose="02020603050405020304" pitchFamily="18" charset="0"/>
                <a:ea typeface="Arial"/>
                <a:cs typeface="Arial" panose="02020603050405020304" pitchFamily="18" charset="0"/>
              </a:rPr>
              <a:t>Whereas the other opens outwardly </a:t>
            </a:r>
            <a:endParaRPr sz="2200" b="0">
              <a:solidFill>
                <a:srgbClr val="243B53"/>
              </a:solidFill>
              <a:latin typeface="Arial"/>
              <a:ea typeface="Arial"/>
              <a:cs typeface="Arial"/>
            </a:endParaRPr>
          </a:p>
        </p:txBody>
      </p:sp>
    </p:spTree>
    <p:extLst>
      <p:ext uri="{BB962C8B-B14F-4D97-AF65-F5344CB8AC3E}">
        <p14:creationId val="3234353185"/>
      </p:ext>
    </p:extLst>
  </p:cSld>
  <p:clrMapOvr>
    <a:masterClrMapping/>
  </p:clrMapOvr>
</p:sld>
</file>

<file path=ppt/slides/slide2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A44341D5-806B-D2B7-9A02-9D48A95DAAE8}"/>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Darkroom </a:t>
            </a:r>
            <a:r>
              <a:rPr lang="en-US" sz="3200" b="1" dirty="0" err="1">
                <a:solidFill>
                  <a:srgbClr val="0056D2"/>
                </a:solidFill>
                <a:latin typeface="Poppins SemiBold"/>
                <a:ea typeface="Poppins SemiBold"/>
                <a:cs typeface="Poppins SemiBold"/>
              </a:rPr>
              <a:t>equipments</a:t>
            </a:r>
            <a:endParaRPr lang="en-US" sz="3200" b="1" dirty="0">
              <a:solidFill>
                <a:srgbClr val="0056D2"/>
              </a:solidFill>
              <a:latin typeface="Poppins SemiBold"/>
              <a:ea typeface="Poppins SemiBold"/>
              <a:cs typeface="Poppins SemiBold"/>
            </a:endParaRPr>
          </a:p>
        </p:txBody>
      </p:sp>
      <p:sp>
        <p:nvSpPr>
          <p:cNvPr id="3" name="Content Placeholder 2">
            <a:extLst>
              <a:ext uri="{FF2B5EF4-FFF2-40B4-BE49-F238E27FC236}">
                <a16:creationId id="{EBC9554B-0AFF-391A-84CC-AB3CF52521E5}"/>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Wet bench and dry bench</a:t>
            </a:r>
            <a:endParaRPr lang="en-US" sz="2200" b="0" dirty="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Separation: </a:t>
            </a:r>
            <a:r>
              <a:rPr lang="en-US" sz="2200" dirty="0" b="0">
                <a:solidFill>
                  <a:srgbClr val="243B53"/>
                </a:solidFill>
                <a:latin typeface="Arial"/>
                <a:ea typeface="Arial"/>
                <a:cs typeface="Arial"/>
              </a:rPr>
              <a:t>Keep apart wet and dry bench so that water cannot reach the film</a:t>
            </a:r>
            <a:endParaRPr lang="en-US" sz="2200" b="0" dirty="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Dry bench: </a:t>
            </a:r>
            <a:r>
              <a:rPr lang="en-US" sz="2200" dirty="0" b="0">
                <a:solidFill>
                  <a:srgbClr val="243B53"/>
                </a:solidFill>
                <a:latin typeface="Arial"/>
                <a:ea typeface="Arial"/>
                <a:cs typeface="Arial"/>
              </a:rPr>
              <a:t>where cassettes are unloaded and loaded with new film.</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Its top should be large enough to accommodate the biggest cassette.</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The surface of the dry bench should be made up of either wood or linoleum</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Wet bench: </a:t>
            </a:r>
            <a:r>
              <a:rPr lang="en-US" sz="2200" dirty="0" b="0">
                <a:solidFill>
                  <a:srgbClr val="243B53"/>
                </a:solidFill>
                <a:latin typeface="Arial"/>
                <a:ea typeface="Arial"/>
                <a:cs typeface="Arial"/>
              </a:rPr>
              <a:t>this is an area of processing unit where processing are carried out</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Contain tanks, sink and wash facilities</a:t>
            </a:r>
            <a:endParaRPr lang="en-US" sz="2200" dirty="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959278306"/>
      </p:ext>
    </p:extLst>
  </p:cSld>
  <p:clrMapOvr>
    <a:masterClrMapping/>
  </p:clrMapOvr>
</p:sld>
</file>

<file path=ppt/slides/slide2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63CF77E9-2026-636C-6211-5A1E309CA20D}"/>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z="3200" b="1">
                <a:solidFill>
                  <a:srgbClr val="0056D2"/>
                </a:solidFill>
                <a:latin typeface="Poppins SemiBold"/>
                <a:ea typeface="Poppins SemiBold"/>
                <a:cs typeface="Poppins SemiBold"/>
              </a:rPr>
              <a:t>Film storage devices</a:t>
            </a:r>
            <a:endParaRPr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6DDB51CC-D5B9-7459-24D2-3892A042E148}"/>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panose="02020603050405020304" pitchFamily="18" charset="0"/>
                <a:ea typeface="Arial"/>
                <a:cs typeface="Arial" panose="02020603050405020304" pitchFamily="18" charset="0"/>
              </a:rPr>
              <a:t>Include but not limited to </a:t>
            </a:r>
            <a:r>
              <a:rPr lang="en-US" sz="2200" dirty="0" err="1" b="0">
                <a:solidFill>
                  <a:srgbClr val="243B53"/>
                </a:solidFill>
                <a:latin typeface="Arial" panose="02020603050405020304" pitchFamily="18" charset="0"/>
                <a:ea typeface="Arial"/>
                <a:cs typeface="Arial" panose="02020603050405020304" pitchFamily="18" charset="0"/>
              </a:rPr>
              <a:t>hopper,drawers</a:t>
            </a:r>
            <a:r>
              <a:rPr lang="en-US" sz="2200" dirty="0" b="0">
                <a:solidFill>
                  <a:srgbClr val="243B53"/>
                </a:solidFill>
                <a:latin typeface="Arial" panose="02020603050405020304" pitchFamily="18" charset="0"/>
                <a:ea typeface="Arial"/>
                <a:cs typeface="Arial" panose="02020603050405020304" pitchFamily="18" charset="0"/>
              </a:rPr>
              <a:t> and cupboard</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panose="02020603050405020304" pitchFamily="18" charset="0"/>
                <a:ea typeface="Arial"/>
                <a:cs typeface="Arial" panose="02020603050405020304" pitchFamily="18" charset="0"/>
              </a:rPr>
              <a:t>HOPPER: </a:t>
            </a:r>
            <a:r>
              <a:rPr lang="en-US" sz="2200" dirty="0" b="0">
                <a:solidFill>
                  <a:srgbClr val="243B53"/>
                </a:solidFill>
                <a:latin typeface="Arial" panose="02020603050405020304" pitchFamily="18" charset="0"/>
                <a:ea typeface="Arial"/>
                <a:cs typeface="Arial" panose="02020603050405020304" pitchFamily="18" charset="0"/>
              </a:rPr>
              <a:t>for storage of unexposed film</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panose="02020603050405020304" pitchFamily="18" charset="0"/>
                <a:ea typeface="Arial"/>
                <a:cs typeface="Arial" panose="02020603050405020304" pitchFamily="18" charset="0"/>
              </a:rPr>
              <a:t>DRAWERS: </a:t>
            </a:r>
            <a:r>
              <a:rPr lang="en-US" sz="2200" dirty="0" b="0">
                <a:solidFill>
                  <a:srgbClr val="243B53"/>
                </a:solidFill>
                <a:latin typeface="Arial" panose="02020603050405020304" pitchFamily="18" charset="0"/>
                <a:ea typeface="Arial"/>
                <a:cs typeface="Arial" panose="02020603050405020304" pitchFamily="18" charset="0"/>
              </a:rPr>
              <a:t>use in some radiography department instead of hopper. It should be light tight. They should be of different sizes based on the film size to be stored</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20603050405020304" pitchFamily="18" charset="0"/>
              <a:ea typeface="Arial"/>
              <a:cs typeface="Arial" panose="02020603050405020304" pitchFamily="18" charset="0"/>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panose="02020603050405020304" pitchFamily="18" charset="0"/>
                <a:ea typeface="Arial"/>
                <a:cs typeface="Arial" panose="02020603050405020304" pitchFamily="18" charset="0"/>
              </a:rPr>
              <a:t>CUPBOARDS: </a:t>
            </a:r>
            <a:r>
              <a:rPr lang="en-US" sz="2200" dirty="0" b="0">
                <a:solidFill>
                  <a:srgbClr val="243B53"/>
                </a:solidFill>
                <a:latin typeface="Arial" panose="02020603050405020304" pitchFamily="18" charset="0"/>
                <a:ea typeface="Arial"/>
                <a:cs typeface="Arial" panose="02020603050405020304" pitchFamily="18" charset="0"/>
              </a:rPr>
              <a:t>to stock recent film supply intended for replenishment of the film hopper. The cupboard dimension should allow film boxes to stand upright to avoid any form of static discharge </a:t>
            </a:r>
            <a:endParaRPr sz="2200" b="0">
              <a:solidFill>
                <a:srgbClr val="243B53"/>
              </a:solidFill>
              <a:latin typeface="Arial"/>
              <a:ea typeface="Arial"/>
              <a:cs typeface="Arial"/>
            </a:endParaRPr>
          </a:p>
        </p:txBody>
      </p:sp>
    </p:spTree>
    <p:extLst>
      <p:ext uri="{BB962C8B-B14F-4D97-AF65-F5344CB8AC3E}">
        <p14:creationId val="2905021188"/>
      </p:ext>
    </p:extLst>
  </p:cSld>
  <p:clrMapOvr>
    <a:masterClrMapping/>
  </p:clrMapOvr>
</p:sld>
</file>

<file path=ppt/slides/slide3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a:extLst>
              <a:ext uri="{FF2B5EF4-FFF2-40B4-BE49-F238E27FC236}">
                <a16:creationId id="{9C9B6D53-F77C-795C-D12F-C9C865EC0F1E}"/>
              </a:ext>
            </a:extLst>
          </p:cNvPr>
          <p:cNvSpPr>
            <a:spLocks noGrp="1"/>
          </p:cNvSpPr>
          <p:nvPr>
            <p:ph idx="1"/>
          </p:nvPr>
        </p:nvSpPr>
        <p:spPr>
          <a:xfrm>
            <a:off x="670560" y="582930"/>
            <a:ext cx="1085088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Cassette rack: used for housing loaded cassette</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Cassette hatch: wall link between the darkroom and exposure room. It allows free passage of cassette from dark room to the exposure room</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err="1" b="0">
                <a:solidFill>
                  <a:srgbClr val="243B53"/>
                </a:solidFill>
                <a:latin typeface="Arial"/>
                <a:ea typeface="Arial"/>
                <a:cs typeface="Arial"/>
              </a:rPr>
              <a:t>Proceesing</a:t>
            </a:r>
            <a:r>
              <a:rPr lang="en-US" sz="2200" dirty="0" b="0">
                <a:solidFill>
                  <a:srgbClr val="243B53"/>
                </a:solidFill>
                <a:latin typeface="Arial"/>
                <a:ea typeface="Arial"/>
                <a:cs typeface="Arial"/>
              </a:rPr>
              <a:t> hangers</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933854821"/>
      </p:ext>
    </p:extLst>
  </p:cSld>
  <p:clrMapOvr>
    <a:masterClrMapping/>
  </p:clrMapOvr>
</p:sld>
</file>

<file path=ppt/slides/slide3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AEA94336-FF95-4151-7A2A-BAA3367FD005}"/>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Materials: use and avoid</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FB2942DF-5F60-A466-C321-2A0471E6DFFE}"/>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Tanks: </a:t>
            </a:r>
            <a:r>
              <a:rPr lang="en-US" sz="2200" dirty="0" b="0">
                <a:solidFill>
                  <a:srgbClr val="243B53"/>
                </a:solidFill>
                <a:latin typeface="Arial"/>
                <a:ea typeface="Arial"/>
                <a:cs typeface="Arial"/>
              </a:rPr>
              <a:t>Recommended: Stainless steel 316, polypropylene. Avoid: Copper, brass, </a:t>
            </a:r>
            <a:r>
              <a:rPr lang="en-US" sz="2200" dirty="0" err="1" b="0">
                <a:solidFill>
                  <a:srgbClr val="243B53"/>
                </a:solidFill>
                <a:latin typeface="Arial"/>
                <a:ea typeface="Arial"/>
                <a:cs typeface="Arial"/>
              </a:rPr>
              <a:t>aluminium</a:t>
            </a:r>
            <a:r>
              <a:rPr lang="en-US" sz="2200" dirty="0" b="0">
                <a:solidFill>
                  <a:srgbClr val="243B53"/>
                </a:solidFill>
                <a:latin typeface="Arial"/>
                <a:ea typeface="Arial"/>
                <a:cs typeface="Arial"/>
              </a:rPr>
              <a:t>, </a:t>
            </a:r>
            <a:r>
              <a:rPr lang="en-US" sz="2200" dirty="0" err="1" b="0">
                <a:solidFill>
                  <a:srgbClr val="243B53"/>
                </a:solidFill>
                <a:latin typeface="Arial"/>
                <a:ea typeface="Arial"/>
                <a:cs typeface="Arial"/>
              </a:rPr>
              <a:t>galvanised</a:t>
            </a:r>
            <a:r>
              <a:rPr lang="en-US" sz="2200" dirty="0" b="0">
                <a:solidFill>
                  <a:srgbClr val="243B53"/>
                </a:solidFill>
                <a:latin typeface="Arial"/>
                <a:ea typeface="Arial"/>
                <a:cs typeface="Arial"/>
              </a:rPr>
              <a:t> steel</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Walls: </a:t>
            </a:r>
            <a:r>
              <a:rPr lang="en-US" sz="2200" dirty="0" b="0">
                <a:solidFill>
                  <a:srgbClr val="243B53"/>
                </a:solidFill>
                <a:latin typeface="Arial"/>
                <a:ea typeface="Arial"/>
                <a:cs typeface="Arial"/>
              </a:rPr>
              <a:t>Recommended: Light, washable matt paint. Avoid: Glossy or flaking paint</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Floor: </a:t>
            </a:r>
            <a:r>
              <a:rPr lang="en-US" sz="2200" dirty="0" b="0">
                <a:solidFill>
                  <a:srgbClr val="243B53"/>
                </a:solidFill>
                <a:latin typeface="Arial"/>
                <a:ea typeface="Arial"/>
                <a:cs typeface="Arial"/>
              </a:rPr>
              <a:t>Recommended: Non-slip, chemical resistant, sloped to drain. Avoid: Bare wood or porous tiles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Pipes: </a:t>
            </a:r>
            <a:r>
              <a:rPr lang="en-US" sz="2200" dirty="0" b="0">
                <a:solidFill>
                  <a:srgbClr val="243B53"/>
                </a:solidFill>
                <a:latin typeface="Arial"/>
                <a:ea typeface="Arial"/>
                <a:cs typeface="Arial"/>
              </a:rPr>
              <a:t>Recommended: Plastic or stainless. Avoid: Corroding metal pipes</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589470773"/>
      </p:ext>
    </p:extLst>
  </p:cSld>
  <p:clrMapOvr>
    <a:masterClrMapping/>
  </p:clrMapOvr>
</p:sld>
</file>

<file path=ppt/slides/slide3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C8B4E4A3-DAEF-BEB3-D1B0-58AC890B5689}"/>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Safelight and illumination</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0BC1F5B0-DA4C-713B-346C-B7AA702CD209}"/>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Amber or red filter matched to the film type</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About 15 W bulb, roughly 1.2 m from the bench</a:t>
            </a:r>
            <a:endParaRPr lang="en-US" sz="2200" dirty="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Separate white-light switch with a warning</a:t>
            </a:r>
            <a:endParaRPr lang="en-US" sz="2200" dirty="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296101703"/>
      </p:ext>
    </p:extLst>
  </p:cSld>
  <p:clrMapOvr>
    <a:masterClrMapping/>
  </p:clrMapOvr>
</p:sld>
</file>

<file path=ppt/slides/slide3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103FFE5C-DDEE-1C83-6805-F9E719D725F3}"/>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pitchFamily="34" charset="0"/>
                <a:ea typeface="Poppins SemiBold" pitchFamily="34" charset="-122"/>
                <a:cs typeface="Poppins SemiBold" pitchFamily="34" charset="-120"/>
              </a:rPr>
              <a:t>Care and Maintenance of Equipment</a:t>
            </a:r>
            <a:br>
              <a:rPr lang="en-US" dirty="0">
                <a:solidFill>
                  <a:srgbClr val="EE0000"/>
                </a:solidFill>
              </a:rPr>
            </a:b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60BC06B7-921D-6CED-1899-8F616C098E1D}"/>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Daily care routine</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Cover tanks when not in use to limit oxidation and dust</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Stir developer and fixer before use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Check levels and temperature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Wipe spills and rinse hangers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Record what was done in the log</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A two-minute check before work prevents a bad hour after.</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917586653"/>
      </p:ext>
    </p:extLst>
  </p:cSld>
  <p:clrMapOvr>
    <a:masterClrMapping/>
  </p:clrMapOvr>
</p:sld>
</file>

<file path=ppt/slides/slide3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DF5A575-E7E3-3B67-5D34-6392530B55A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Maintenance schedule</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80A80D7C-87A7-CC1F-61AD-0D405FDEDB26}"/>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Daily: </a:t>
            </a:r>
            <a:r>
              <a:rPr lang="en-US" sz="2200" dirty="0" b="0">
                <a:solidFill>
                  <a:srgbClr val="243B53"/>
                </a:solidFill>
                <a:latin typeface="Arial"/>
                <a:ea typeface="Arial"/>
                <a:cs typeface="Arial"/>
              </a:rPr>
              <a:t>Tasks: Stir, check level and temperature, cover tanks, wipe spills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Weekly: </a:t>
            </a:r>
            <a:r>
              <a:rPr lang="en-US" sz="2200" dirty="0" b="0">
                <a:solidFill>
                  <a:srgbClr val="243B53"/>
                </a:solidFill>
                <a:latin typeface="Arial"/>
                <a:ea typeface="Arial"/>
                <a:cs typeface="Arial"/>
              </a:rPr>
              <a:t>Tasks: Clean hangers and rods, scrub tank rims, check safelight and thermometer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Monthly: </a:t>
            </a:r>
            <a:r>
              <a:rPr lang="en-US" sz="2200" dirty="0" b="0">
                <a:solidFill>
                  <a:srgbClr val="243B53"/>
                </a:solidFill>
                <a:latin typeface="Arial"/>
                <a:ea typeface="Arial"/>
                <a:cs typeface="Arial"/>
              </a:rPr>
              <a:t>Tasks: Drain, clean and refill tanks, check filters and drains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As needed: </a:t>
            </a:r>
            <a:r>
              <a:rPr lang="en-US" sz="2200" dirty="0" b="0">
                <a:solidFill>
                  <a:srgbClr val="243B53"/>
                </a:solidFill>
                <a:latin typeface="Arial"/>
                <a:ea typeface="Arial"/>
                <a:cs typeface="Arial"/>
              </a:rPr>
              <a:t>Tasks: Replace exhausted solutions, descale(removing hard deposit), repair leaks</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790855883"/>
      </p:ext>
    </p:extLst>
  </p:cSld>
  <p:clrMapOvr>
    <a:masterClrMapping/>
  </p:clrMapOvr>
</p:sld>
</file>

<file path=ppt/slides/slide3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6606B09A-E88E-1500-865D-47A27E984B69}"/>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Cleaning a processing tank</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D4601C7A-F46C-0117-41B4-58AB92169A64}"/>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1. Drain: </a:t>
            </a:r>
            <a:r>
              <a:rPr lang="en-US" sz="2200" dirty="0" b="0">
                <a:solidFill>
                  <a:srgbClr val="243B53"/>
                </a:solidFill>
                <a:latin typeface="Arial"/>
                <a:ea typeface="Arial"/>
                <a:cs typeface="Arial"/>
              </a:rPr>
              <a:t>Empty and store waste safely</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2. Scrub: </a:t>
            </a:r>
            <a:r>
              <a:rPr lang="en-US" sz="2200" dirty="0" b="0">
                <a:solidFill>
                  <a:srgbClr val="243B53"/>
                </a:solidFill>
                <a:latin typeface="Arial"/>
                <a:ea typeface="Arial"/>
                <a:cs typeface="Arial"/>
              </a:rPr>
              <a:t>Non-abrasive pad and mild cleaner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3. Rinse: </a:t>
            </a:r>
            <a:r>
              <a:rPr lang="en-US" sz="2200" dirty="0" b="0">
                <a:solidFill>
                  <a:srgbClr val="243B53"/>
                </a:solidFill>
                <a:latin typeface="Arial"/>
                <a:ea typeface="Arial"/>
                <a:cs typeface="Arial"/>
              </a:rPr>
              <a:t>Flush thoroughly with clean water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4. Descale: </a:t>
            </a:r>
            <a:r>
              <a:rPr lang="en-US" sz="2200" dirty="0" b="0">
                <a:solidFill>
                  <a:srgbClr val="243B53"/>
                </a:solidFill>
                <a:latin typeface="Arial"/>
                <a:ea typeface="Arial"/>
                <a:cs typeface="Arial"/>
              </a:rPr>
              <a:t>Remove deposits if present</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5. Refill: </a:t>
            </a:r>
            <a:r>
              <a:rPr lang="en-US" sz="2200" dirty="0" b="0">
                <a:solidFill>
                  <a:srgbClr val="243B53"/>
                </a:solidFill>
                <a:latin typeface="Arial"/>
                <a:ea typeface="Arial"/>
                <a:cs typeface="Arial"/>
              </a:rPr>
              <a:t>Fresh solution, check temperature</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387500273"/>
      </p:ext>
    </p:extLst>
  </p:cSld>
  <p:clrMapOvr>
    <a:masterClrMapping/>
  </p:clrMapOvr>
</p:sld>
</file>

<file path=ppt/slides/slide3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A5B81B4C-743A-6EE4-B09E-277893C22474}"/>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pitchFamily="34" charset="0"/>
                <a:ea typeface="Poppins SemiBold" pitchFamily="34" charset="-122"/>
                <a:cs typeface="Poppins SemiBold" pitchFamily="34" charset="-120"/>
              </a:rPr>
              <a:t>COR: Control of Chemistry and Replenishment</a:t>
            </a:r>
            <a:br>
              <a:rPr lang="en-US" dirty="0">
                <a:solidFill>
                  <a:srgbClr val="EE0000"/>
                </a:solidFill>
              </a:rPr>
            </a:b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62C8F6D2-3E6E-C40C-F68F-96BFF918359D}"/>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Why control processing?</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Consistent density and contrast on every film</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Fewer repeat and lower patient dose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Chemistry degrades with use, time and air</a:t>
            </a:r>
            <a:endParaRPr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sz="2200" dirty="0" b="0">
                <a:solidFill>
                  <a:srgbClr val="243B53"/>
                </a:solidFill>
                <a:latin typeface="Arial"/>
                <a:ea typeface="Arial"/>
                <a:cs typeface="Arial"/>
              </a:rPr>
              <a:t>As a result there is need for replenisher to restores both chemistry and level</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Four variables to control: time, temperature, concentration, purity</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Controlled processing protects the image and the patient from radiation.</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940354336"/>
      </p:ext>
    </p:extLst>
  </p:cSld>
  <p:clrMapOvr>
    <a:masterClrMapping/>
  </p:clrMapOvr>
</p:sld>
</file>

<file path=ppt/slides/slide3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22FB0D08-5264-3C26-5A15-A51D7288BE2A}"/>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Developer chemistry</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194B48C5-5227-1CD6-8462-C6080AE46672}"/>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a:ea typeface="Arial"/>
                <a:cs typeface="Arial"/>
              </a:rPr>
              <a:t>Developing agents: </a:t>
            </a:r>
            <a:r>
              <a:rPr lang="en-US" sz="2200" dirty="0" b="0">
                <a:solidFill>
                  <a:srgbClr val="243B53"/>
                </a:solidFill>
                <a:latin typeface="Arial"/>
                <a:ea typeface="Arial"/>
                <a:cs typeface="Arial"/>
              </a:rPr>
              <a:t>reduces exposed halide. Examples are </a:t>
            </a:r>
            <a:r>
              <a:rPr lang="en-US" sz="2200" dirty="0" err="1" b="0">
                <a:solidFill>
                  <a:srgbClr val="243B53"/>
                </a:solidFill>
                <a:latin typeface="Arial"/>
                <a:ea typeface="Arial"/>
                <a:cs typeface="Arial"/>
              </a:rPr>
              <a:t>Phenidone</a:t>
            </a:r>
            <a:r>
              <a:rPr lang="en-US" sz="2200" dirty="0" b="0">
                <a:solidFill>
                  <a:srgbClr val="243B53"/>
                </a:solidFill>
                <a:latin typeface="Arial"/>
                <a:ea typeface="Arial"/>
                <a:cs typeface="Arial"/>
              </a:rPr>
              <a:t>, hydroquinone, metol (</a:t>
            </a:r>
            <a:r>
              <a:rPr lang="en-US" sz="2200" dirty="0" err="1" b="0">
                <a:solidFill>
                  <a:srgbClr val="243B53"/>
                </a:solidFill>
                <a:latin typeface="Arial"/>
                <a:ea typeface="Arial"/>
                <a:cs typeface="Arial"/>
              </a:rPr>
              <a:t>elon</a:t>
            </a:r>
            <a:r>
              <a:rPr lang="en-US" sz="2200" dirty="0" b="0">
                <a:solidFill>
                  <a:srgbClr val="243B53"/>
                </a:solidFill>
                <a:latin typeface="Arial"/>
                <a:ea typeface="Arial"/>
                <a:cs typeface="Arial"/>
              </a:rPr>
              <a:t>), ascorbic acid and </a:t>
            </a:r>
            <a:r>
              <a:rPr lang="en-US" sz="2200" dirty="0" err="1" b="0">
                <a:solidFill>
                  <a:srgbClr val="243B53"/>
                </a:solidFill>
                <a:latin typeface="Arial"/>
                <a:ea typeface="Arial"/>
                <a:cs typeface="Arial"/>
              </a:rPr>
              <a:t>glycin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a:ea typeface="Arial"/>
                <a:cs typeface="Arial"/>
              </a:rPr>
              <a:t>Accelerator: </a:t>
            </a:r>
            <a:r>
              <a:rPr lang="en-US" sz="2200" dirty="0" b="0">
                <a:solidFill>
                  <a:srgbClr val="243B53"/>
                </a:solidFill>
                <a:latin typeface="Arial"/>
                <a:ea typeface="Arial"/>
                <a:cs typeface="Arial"/>
              </a:rPr>
              <a:t>Alkali (carbonate) gives the alkaline pH</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a:ea typeface="Arial"/>
                <a:cs typeface="Arial"/>
              </a:rPr>
              <a:t>Restrainer: </a:t>
            </a:r>
            <a:r>
              <a:rPr lang="en-US" sz="2200" dirty="0" b="0">
                <a:solidFill>
                  <a:srgbClr val="243B53"/>
                </a:solidFill>
                <a:latin typeface="Arial"/>
                <a:ea typeface="Arial"/>
                <a:cs typeface="Arial"/>
              </a:rPr>
              <a:t>Potassium bromide limits fog</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a:ea typeface="Arial"/>
                <a:cs typeface="Arial"/>
              </a:rPr>
              <a:t>Preservative: </a:t>
            </a:r>
            <a:r>
              <a:rPr lang="en-US" sz="2200" dirty="0" b="0">
                <a:solidFill>
                  <a:srgbClr val="243B53"/>
                </a:solidFill>
                <a:latin typeface="Arial"/>
                <a:ea typeface="Arial"/>
                <a:cs typeface="Arial"/>
              </a:rPr>
              <a:t>Sulfite slows oxidation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a:ea typeface="Arial"/>
                <a:cs typeface="Arial"/>
              </a:rPr>
              <a:t>Hardener: </a:t>
            </a:r>
            <a:r>
              <a:rPr lang="en-US" sz="2200" dirty="0" b="0">
                <a:solidFill>
                  <a:srgbClr val="243B53"/>
                </a:solidFill>
                <a:latin typeface="Arial"/>
                <a:ea typeface="Arial"/>
                <a:cs typeface="Arial"/>
              </a:rPr>
              <a:t>Limits gelatin swelling</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b="0" dirty="0">
                <a:solidFill>
                  <a:srgbClr val="243B53"/>
                </a:solidFill>
                <a:latin typeface="Arial"/>
                <a:ea typeface="Arial"/>
                <a:cs typeface="Arial"/>
              </a:rPr>
              <a:t>Solvent: </a:t>
            </a:r>
            <a:r>
              <a:rPr lang="en-US" sz="2200" dirty="0" b="0">
                <a:solidFill>
                  <a:srgbClr val="243B53"/>
                </a:solidFill>
                <a:latin typeface="Arial"/>
                <a:ea typeface="Arial"/>
                <a:cs typeface="Arial"/>
              </a:rPr>
              <a:t>Water carries the chemicals</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364142396"/>
      </p:ext>
    </p:extLst>
  </p:cSld>
  <p:clrMapOvr>
    <a:masterClrMapping/>
  </p:clrMapOvr>
</p:sld>
</file>

<file path=ppt/slides/slide3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4F516FD9-7D2E-19ED-7B59-E53472A4F6AD}"/>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Fixer chemistry</a:t>
            </a:r>
            <a:endParaRPr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C59FDED5-5AD6-7943-DF54-84F34C01BA89}"/>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Clearing agent: </a:t>
            </a:r>
            <a:r>
              <a:rPr lang="en-US" sz="2200" dirty="0" b="0">
                <a:solidFill>
                  <a:srgbClr val="243B53"/>
                </a:solidFill>
                <a:latin typeface="Arial"/>
                <a:ea typeface="Arial"/>
                <a:cs typeface="Arial"/>
              </a:rPr>
              <a:t>Thiosulfate dissolves unexposed halide</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Acidifier: </a:t>
            </a:r>
            <a:r>
              <a:rPr lang="en-US" sz="2200" dirty="0" b="0">
                <a:solidFill>
                  <a:srgbClr val="243B53"/>
                </a:solidFill>
                <a:latin typeface="Arial"/>
                <a:ea typeface="Arial"/>
                <a:cs typeface="Arial"/>
              </a:rPr>
              <a:t>Acetic acid stops development</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Preservative: </a:t>
            </a:r>
            <a:r>
              <a:rPr lang="en-US" sz="2200" dirty="0" b="0">
                <a:solidFill>
                  <a:srgbClr val="243B53"/>
                </a:solidFill>
                <a:latin typeface="Arial"/>
                <a:ea typeface="Arial"/>
                <a:cs typeface="Arial"/>
              </a:rPr>
              <a:t>Sulfite </a:t>
            </a:r>
            <a:r>
              <a:rPr lang="en-US" sz="2200" dirty="0" err="1" b="0">
                <a:solidFill>
                  <a:srgbClr val="243B53"/>
                </a:solidFill>
                <a:latin typeface="Arial"/>
                <a:ea typeface="Arial"/>
                <a:cs typeface="Arial"/>
              </a:rPr>
              <a:t>stabilises</a:t>
            </a:r>
            <a:r>
              <a:rPr lang="en-US" sz="2200" dirty="0" b="0">
                <a:solidFill>
                  <a:srgbClr val="243B53"/>
                </a:solidFill>
                <a:latin typeface="Arial"/>
                <a:ea typeface="Arial"/>
                <a:cs typeface="Arial"/>
              </a:rPr>
              <a:t> thiosulfate</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Hardener: </a:t>
            </a:r>
            <a:r>
              <a:rPr lang="en-US" sz="2200" dirty="0" b="0">
                <a:solidFill>
                  <a:srgbClr val="243B53"/>
                </a:solidFill>
                <a:latin typeface="Arial"/>
                <a:ea typeface="Arial"/>
                <a:cs typeface="Arial"/>
              </a:rPr>
              <a:t>Alum hardens the gelatin</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Buffer: </a:t>
            </a:r>
            <a:r>
              <a:rPr lang="en-US" sz="2200" dirty="0" b="0">
                <a:solidFill>
                  <a:srgbClr val="243B53"/>
                </a:solidFill>
                <a:latin typeface="Arial"/>
                <a:ea typeface="Arial"/>
                <a:cs typeface="Arial"/>
              </a:rPr>
              <a:t>Holds pH steady</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Solvent: </a:t>
            </a:r>
            <a:r>
              <a:rPr lang="en-US" sz="2200" dirty="0" b="0">
                <a:solidFill>
                  <a:srgbClr val="243B53"/>
                </a:solidFill>
                <a:latin typeface="Arial"/>
                <a:ea typeface="Arial"/>
                <a:cs typeface="Arial"/>
              </a:rPr>
              <a:t>Water carries the chemicals</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2126597113"/>
      </p:ext>
    </p:extLst>
  </p:cSld>
  <p:clrMapOvr>
    <a:masterClrMapping/>
  </p:clrMapOvr>
</p:sld>
</file>

<file path=ppt/slides/slide3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6EC4BD0-345E-ADBA-181D-CCEBA4F19E04}"/>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Signs of exhausted solutions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D190AB81-0AE7-1D2B-5B38-F3844985C9C7}"/>
              </a:ext>
            </a:extLst>
          </p:cNvPr>
          <p:cNvSpPr>
            <a:spLocks noGrp="1"/>
          </p:cNvSpPr>
          <p:nvPr>
            <p:ph sz="half" idx="1"/>
          </p:nvPr>
        </p:nvSpPr>
        <p:spPr>
          <a:xfrm>
            <a:off x="670560"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Developer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Low density and weak contrast</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Brown or dark solution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Longer time needed</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Chemical fog</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4" name="Content Placeholder 3">
            <a:extLst>
              <a:ext uri="{FF2B5EF4-FFF2-40B4-BE49-F238E27FC236}">
                <a16:creationId id="{85731F1B-9F46-9F27-B708-CDB01F0C0D0C}"/>
              </a:ext>
            </a:extLst>
          </p:cNvPr>
          <p:cNvSpPr>
            <a:spLocks noGrp="1"/>
          </p:cNvSpPr>
          <p:nvPr>
            <p:ph sz="half" idx="2"/>
          </p:nvPr>
        </p:nvSpPr>
        <p:spPr>
          <a:xfrm>
            <a:off x="6291072" y="1748790"/>
            <a:ext cx="5230368"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Fixer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Clearing takes much longer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Milky or cloudy film</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Yellow-brown stain later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Sticky or soft gelatin</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2142057330"/>
      </p:ext>
    </p:extLst>
  </p:cSld>
  <p:clrMapOvr>
    <a:masterClrMapping/>
  </p:clrMapOvr>
</p:sld>
</file>

<file path=ppt/slides/slide4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D6F9CE0F-CB64-D78F-BBC9-832229A612C2}"/>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pitchFamily="34" charset="0"/>
                <a:ea typeface="Poppins SemiBold" pitchFamily="34" charset="-122"/>
                <a:cs typeface="Poppins SemiBold" pitchFamily="34" charset="-120"/>
              </a:rPr>
              <a:t>Processing Artifacts</a:t>
            </a:r>
            <a:br>
              <a:rPr lang="en-US" dirty="0">
                <a:solidFill>
                  <a:srgbClr val="EE0000"/>
                </a:solidFill>
              </a:rPr>
            </a:b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BF148CA3-A61E-35F3-FFC0-E786FC194496}"/>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This can be Classified into different categories </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b="0" dirty="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Handling: </a:t>
            </a:r>
            <a:r>
              <a:rPr lang="en-US" sz="2200" dirty="0" b="0">
                <a:solidFill>
                  <a:srgbClr val="243B53"/>
                </a:solidFill>
                <a:latin typeface="Arial"/>
                <a:ea typeface="Arial"/>
                <a:cs typeface="Arial"/>
              </a:rPr>
              <a:t>Crescents, finger marks, static, scratches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Light: </a:t>
            </a:r>
            <a:r>
              <a:rPr lang="en-US" sz="2200" dirty="0" b="0">
                <a:solidFill>
                  <a:srgbClr val="243B53"/>
                </a:solidFill>
                <a:latin typeface="Arial"/>
                <a:ea typeface="Arial"/>
                <a:cs typeface="Arial"/>
              </a:rPr>
              <a:t>Light leaks, safelight fog, white-light exposure</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Chemical: </a:t>
            </a:r>
            <a:r>
              <a:rPr lang="en-US" sz="2200" dirty="0" b="0">
                <a:solidFill>
                  <a:srgbClr val="243B53"/>
                </a:solidFill>
                <a:latin typeface="Arial"/>
                <a:ea typeface="Arial"/>
                <a:cs typeface="Arial"/>
              </a:rPr>
              <a:t>Fog, dichroic stain, contamination spots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Agitation and solution: </a:t>
            </a:r>
            <a:r>
              <a:rPr lang="en-US" sz="2200" dirty="0" b="0">
                <a:solidFill>
                  <a:srgbClr val="243B53"/>
                </a:solidFill>
                <a:latin typeface="Arial"/>
                <a:ea typeface="Arial"/>
                <a:cs typeface="Arial"/>
              </a:rPr>
              <a:t>Air bells, streaks, stains, reticulation</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65240294"/>
      </p:ext>
    </p:extLst>
  </p:cSld>
  <p:clrMapOvr>
    <a:masterClrMapping/>
  </p:clrMapOvr>
</p:sld>
</file>

<file path=ppt/slides/slide4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B8EA341A-E5CC-1FC7-8B50-98602BF07173}"/>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Handling artifacts</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C37E8058-C93F-D2FE-A63D-DC359BE48C36}"/>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Crescent marks: </a:t>
            </a:r>
            <a:r>
              <a:rPr lang="en-US" sz="2200" dirty="0" b="0">
                <a:solidFill>
                  <a:srgbClr val="243B53"/>
                </a:solidFill>
                <a:latin typeface="Arial"/>
                <a:ea typeface="Arial"/>
                <a:cs typeface="Arial"/>
              </a:rPr>
              <a:t>Cause: Film bent or kinked. Prevention: Hold by edges, avoid flexing</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Finger marks: </a:t>
            </a:r>
            <a:r>
              <a:rPr lang="en-US" sz="2200" dirty="0" b="0">
                <a:solidFill>
                  <a:srgbClr val="243B53"/>
                </a:solidFill>
                <a:latin typeface="Arial"/>
                <a:ea typeface="Arial"/>
                <a:cs typeface="Arial"/>
              </a:rPr>
              <a:t>Cause: Dirty or wet hands. Prevention: Dry, clean hands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Static: </a:t>
            </a:r>
            <a:r>
              <a:rPr lang="en-US" sz="2200" dirty="0" b="0">
                <a:solidFill>
                  <a:srgbClr val="243B53"/>
                </a:solidFill>
                <a:latin typeface="Arial"/>
                <a:ea typeface="Arial"/>
                <a:cs typeface="Arial"/>
              </a:rPr>
              <a:t>Cause: Dry air, quick film removal. Prevention: Humidity control, slow handling</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Scratches: </a:t>
            </a:r>
            <a:r>
              <a:rPr lang="en-US" sz="2200" dirty="0" b="0">
                <a:solidFill>
                  <a:srgbClr val="243B53"/>
                </a:solidFill>
                <a:latin typeface="Arial"/>
                <a:ea typeface="Arial"/>
                <a:cs typeface="Arial"/>
              </a:rPr>
              <a:t>Cause: Rough surfaces or hangers. Prevention: Smooth surfaces, careful loading</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799703966"/>
      </p:ext>
    </p:extLst>
  </p:cSld>
  <p:clrMapOvr>
    <a:masterClrMapping/>
  </p:clrMapOvr>
</p:sld>
</file>

<file path=ppt/slides/slide4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988FF752-2430-E3A9-AEF2-3A6AC208D0E3}"/>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Light and fog artifacts</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170B018A-F2DE-6293-F245-FBE0490A383A}"/>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Light fog: </a:t>
            </a:r>
            <a:r>
              <a:rPr lang="en-US" sz="2200" dirty="0" b="0">
                <a:solidFill>
                  <a:srgbClr val="243B53"/>
                </a:solidFill>
                <a:latin typeface="Arial"/>
                <a:ea typeface="Arial"/>
                <a:cs typeface="Arial"/>
              </a:rPr>
              <a:t>Cause: Light leak or white light. Prevention: Test and seal darkroom</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Safelight fog: </a:t>
            </a:r>
            <a:r>
              <a:rPr lang="en-US" sz="2200" dirty="0" b="0">
                <a:solidFill>
                  <a:srgbClr val="243B53"/>
                </a:solidFill>
                <a:latin typeface="Arial"/>
                <a:ea typeface="Arial"/>
                <a:cs typeface="Arial"/>
              </a:rPr>
              <a:t>Cause: Wrong filter, bulb or distance. Prevention: Correct filter, 15 W, about 1.2 m</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Chemical fog: </a:t>
            </a:r>
            <a:r>
              <a:rPr lang="en-US" sz="2200" dirty="0" b="0">
                <a:solidFill>
                  <a:srgbClr val="243B53"/>
                </a:solidFill>
                <a:latin typeface="Arial"/>
                <a:ea typeface="Arial"/>
                <a:cs typeface="Arial"/>
              </a:rPr>
              <a:t>Cause: Warm or contaminated developer. Prevention: Control temperature, fresh chemicals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Dichroic fog: </a:t>
            </a:r>
            <a:r>
              <a:rPr lang="en-US" sz="2200" dirty="0" b="0">
                <a:solidFill>
                  <a:srgbClr val="243B53"/>
                </a:solidFill>
                <a:latin typeface="Arial"/>
                <a:ea typeface="Arial"/>
                <a:cs typeface="Arial"/>
              </a:rPr>
              <a:t>Cause: Fixer in developer, weak fixing. Prevention: Prevent splashes, fresh fixer</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27183181"/>
      </p:ext>
    </p:extLst>
  </p:cSld>
  <p:clrMapOvr>
    <a:masterClrMapping/>
  </p:clrMapOvr>
</p:sld>
</file>

<file path=ppt/slides/slide4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E32B1030-00DE-8FB2-E754-960FFBCE16DF}"/>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a:ea typeface="Poppins SemiBold"/>
                <a:cs typeface="Poppins SemiBold"/>
              </a:rPr>
              <a:t>Solution and agitation artifacts</a:t>
            </a: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78AC09E8-D5CF-995F-37C0-9BFC42B7B2E3}"/>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Air bells (pale spots): </a:t>
            </a:r>
            <a:r>
              <a:rPr lang="en-US" sz="2200" dirty="0" b="0">
                <a:solidFill>
                  <a:srgbClr val="243B53"/>
                </a:solidFill>
                <a:latin typeface="Arial"/>
                <a:ea typeface="Arial"/>
                <a:cs typeface="Arial"/>
              </a:rPr>
              <a:t>Cause: Bubbles cling to film. Prevention: Tap hanger, agitate</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Streaks, uneven density: </a:t>
            </a:r>
            <a:r>
              <a:rPr lang="en-US" sz="2200" dirty="0" b="0">
                <a:solidFill>
                  <a:srgbClr val="243B53"/>
                </a:solidFill>
                <a:latin typeface="Arial"/>
                <a:ea typeface="Arial"/>
                <a:cs typeface="Arial"/>
              </a:rPr>
              <a:t>Cause: No agitation. Prevention: Agitate at the start</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Dark spots: </a:t>
            </a:r>
            <a:r>
              <a:rPr lang="en-US" sz="2200" dirty="0" b="0">
                <a:solidFill>
                  <a:srgbClr val="243B53"/>
                </a:solidFill>
                <a:latin typeface="Arial"/>
                <a:ea typeface="Arial"/>
                <a:cs typeface="Arial"/>
              </a:rPr>
              <a:t>Cause: Developer splashes before immersion. Prevention: Keep area clean</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White spots: </a:t>
            </a:r>
            <a:r>
              <a:rPr lang="en-US" sz="2200" dirty="0" b="0">
                <a:solidFill>
                  <a:srgbClr val="243B53"/>
                </a:solidFill>
                <a:latin typeface="Arial"/>
                <a:ea typeface="Arial"/>
                <a:cs typeface="Arial"/>
              </a:rPr>
              <a:t>Cause: Fixer splashes before development. Prevention: Keep area clean</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629028711"/>
      </p:ext>
    </p:extLst>
  </p:cSld>
  <p:clrMapOvr>
    <a:masterClrMapping/>
  </p:clrMapOvr>
</p:sld>
</file>

<file path=ppt/slides/slide4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C20319FD-596A-B2DD-8F65-9F054245D4EA}"/>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How to Prevent artifacts</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F7936D2C-3C7C-2C2C-0763-CEB46BEBE977}"/>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Handle film by the edges with clean, dry hands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Keep solutions fresh, clean and at the right temperature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Agitate at the start of development and fixing</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Wash thoroughly and dry in clean air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Study every artifact film, not only discard it</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Every artifact points to the cause that should be fixed.</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2175375619"/>
      </p:ext>
    </p:extLst>
  </p:cSld>
  <p:clrMapOvr>
    <a:masterClrMapping/>
  </p:clrMapOvr>
</p:sld>
</file>

<file path=ppt/slides/slide4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92D48D93-3219-2E87-91E5-CF85442F2648}"/>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pitchFamily="34" charset="0"/>
                <a:ea typeface="Poppins SemiBold" pitchFamily="34" charset="-122"/>
                <a:cs typeface="Poppins SemiBold" pitchFamily="34" charset="-120"/>
              </a:rPr>
              <a:t>Sequence of Processing</a:t>
            </a:r>
            <a:br>
              <a:rPr lang="en-US" dirty="0">
                <a:solidFill>
                  <a:srgbClr val="EE0000"/>
                </a:solidFill>
              </a:rPr>
            </a:b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D356D4F9-CE99-78C7-6719-9BFAF80630FF}"/>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The five stages</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1. Develop: </a:t>
            </a:r>
            <a:r>
              <a:rPr lang="en-US" sz="2200" dirty="0" b="0">
                <a:solidFill>
                  <a:srgbClr val="243B53"/>
                </a:solidFill>
                <a:latin typeface="Arial"/>
                <a:ea typeface="Arial"/>
                <a:cs typeface="Arial"/>
              </a:rPr>
              <a:t>About 5 min at 20 °C</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2. Rinse: </a:t>
            </a:r>
            <a:r>
              <a:rPr lang="en-US" sz="2200" dirty="0" b="0">
                <a:solidFill>
                  <a:srgbClr val="243B53"/>
                </a:solidFill>
                <a:latin typeface="Arial"/>
                <a:ea typeface="Arial"/>
                <a:cs typeface="Arial"/>
              </a:rPr>
              <a:t>About 30 to 60 seconds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3. Fix: </a:t>
            </a:r>
            <a:r>
              <a:rPr lang="en-US" sz="2200" dirty="0" b="0">
                <a:solidFill>
                  <a:srgbClr val="243B53"/>
                </a:solidFill>
                <a:latin typeface="Arial"/>
                <a:ea typeface="Arial"/>
                <a:cs typeface="Arial"/>
              </a:rPr>
              <a:t>About 10 minutes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4. Wash: </a:t>
            </a:r>
            <a:r>
              <a:rPr lang="en-US" sz="2200" dirty="0" b="0">
                <a:solidFill>
                  <a:srgbClr val="243B53"/>
                </a:solidFill>
                <a:latin typeface="Arial"/>
                <a:ea typeface="Arial"/>
                <a:cs typeface="Arial"/>
              </a:rPr>
              <a:t>20 to 30 minutes</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5. Dry: </a:t>
            </a:r>
            <a:r>
              <a:rPr lang="en-US" sz="2200" dirty="0" b="0">
                <a:solidFill>
                  <a:srgbClr val="243B53"/>
                </a:solidFill>
                <a:latin typeface="Arial"/>
                <a:ea typeface="Arial"/>
                <a:cs typeface="Arial"/>
              </a:rPr>
              <a:t>Warm filtered air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Each stage prepares the film for the next, and none can be skipped.</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949417048"/>
      </p:ext>
    </p:extLst>
  </p:cSld>
  <p:clrMapOvr>
    <a:masterClrMapping/>
  </p:clrMapOvr>
</p:sld>
</file>

<file path=ppt/slides/slide4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22BCB37D-E5D2-2E13-A4A3-CF03E935E0D6}"/>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Before processing: preparation</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67E2BCBA-0C0B-12C9-3D59-2AB9DEEE0A10}"/>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Check developer temperature and set the timer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Confirm safelight only before opening film</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Clip film firmly on the correct hanger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Hold hanger by the corners and edges only</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019848472"/>
      </p:ext>
    </p:extLst>
  </p:cSld>
  <p:clrMapOvr>
    <a:masterClrMapping/>
  </p:clrMapOvr>
</p:sld>
</file>

<file path=ppt/slides/slide4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36022FA4-618C-AFF1-5C85-FC6F4B1655C9}"/>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Processing stages</a:t>
            </a:r>
            <a:endParaRPr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CE06E23E-A115-70CA-709E-BBE74E8B4863}"/>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Stage 1: Developing</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About 5 minutes at 20 °C, or as per the maker's chart</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Agitate at the start, then at intervals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Exposed silver halide is reduced to metallic silver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Tap hanger to dislodge air bells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Drain for a few seconds before the rinse</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The latent image becomes visible.</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3448580609"/>
      </p:ext>
    </p:extLst>
  </p:cSld>
  <p:clrMapOvr>
    <a:masterClrMapping/>
  </p:clrMapOvr>
</p:sld>
</file>

<file path=ppt/slides/slide4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7524B1C6-906F-FDBC-1D33-64D0952206FC}"/>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Stage 2: Rinse (stop bath)</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34EB26B0-E4F2-747C-BC57-7DE22F4927D4}"/>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30 to 60 seconds in agitated clean water or stop bath</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Halts development and removes alkaline developer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Protects the fixer from rapid exhaustion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Drain before moving to the fixer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A good rinse protects the fixer and prevents stain.</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989721560"/>
      </p:ext>
    </p:extLst>
  </p:cSld>
  <p:clrMapOvr>
    <a:masterClrMapping/>
  </p:clrMapOvr>
</p:sld>
</file>

<file path=ppt/slides/slide4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65F7379E-480C-A39B-ED31-1495EB15DAF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Stage 3: Fixing</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3A0DC4B3-C292-D346-B26F-ABBDE29F7FC1}"/>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About 10 minutes, at least twice the clearing time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Thiosulfate dissolves unexposed silver halide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Acid stops development and hardener firms the gelatin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Agitate on entry for even action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Check clearing time regularly</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Fixing makes the image permanent and stable.</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247093839"/>
      </p:ext>
    </p:extLst>
  </p:cSld>
  <p:clrMapOvr>
    <a:masterClrMapping/>
  </p:clrMapOvr>
</p:sld>
</file>

<file path=ppt/slides/slide5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32407344-A2DF-6F52-9C29-8330D9BB4C0B}"/>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Stage 4: Washing</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94829F20-5812-3BDD-7884-AEC0BF4141AC}"/>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20 to 30 minutes in running water</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Removes residual thiosulfate and silver compounds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Poor washing causes brown stain with time</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An incomplete wash shortens the life of the radiograph.</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225900975"/>
      </p:ext>
    </p:extLst>
  </p:cSld>
  <p:clrMapOvr>
    <a:masterClrMapping/>
  </p:clrMapOvr>
</p:sld>
</file>

<file path=ppt/slides/slide5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4998844E-24D1-2B00-C313-443B5CDA89A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Stage 5: Drying</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D4F2D2BA-81DD-7D32-6F8C-8BA56156C066}"/>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Warm, filtered air in a cabinet or rack</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Dust and drips cause marks, so keep air clean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Wet film is soft and scratches easily</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Remove from hangers only when completely dry</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Label and file once dry</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Handle wet film gently; the gelatin is soft.</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733157025"/>
      </p:ext>
    </p:extLst>
  </p:cSld>
  <p:clrMapOvr>
    <a:masterClrMapping/>
  </p:clrMapOvr>
</p:sld>
</file>

<file path=ppt/slides/slide5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F7D30A9F-5B42-694C-9117-06FAEA199EF0}"/>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Processing summary</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15A58FE0-B131-F567-BF4F-CC5EB3D4E92F}"/>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Developing: </a:t>
            </a:r>
            <a:r>
              <a:rPr lang="en-US" dirty="0" sz="2200" b="0">
                <a:solidFill>
                  <a:srgbClr val="243B53"/>
                </a:solidFill>
                <a:latin typeface="Arial"/>
                <a:ea typeface="Arial"/>
                <a:cs typeface="Arial"/>
              </a:rPr>
              <a:t>Approximate time: 5 min at 20 °C. Purpose: Make latent image visible</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Rinse: </a:t>
            </a:r>
            <a:r>
              <a:rPr lang="en-US" dirty="0" sz="2200" b="0">
                <a:solidFill>
                  <a:srgbClr val="243B53"/>
                </a:solidFill>
                <a:latin typeface="Arial"/>
                <a:ea typeface="Arial"/>
                <a:cs typeface="Arial"/>
              </a:rPr>
              <a:t>Approximate time: 30 to 60 s. Purpose: Stop development</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Fixing: </a:t>
            </a:r>
            <a:r>
              <a:rPr lang="en-US" dirty="0" sz="2200" b="0">
                <a:solidFill>
                  <a:srgbClr val="243B53"/>
                </a:solidFill>
                <a:latin typeface="Arial"/>
                <a:ea typeface="Arial"/>
                <a:cs typeface="Arial"/>
              </a:rPr>
              <a:t>Approximate time: About 10 min. Purpose: Remove unexposed halide</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Washing: </a:t>
            </a:r>
            <a:r>
              <a:rPr lang="en-US" dirty="0" sz="2200" b="0">
                <a:solidFill>
                  <a:srgbClr val="243B53"/>
                </a:solidFill>
                <a:latin typeface="Arial"/>
                <a:ea typeface="Arial"/>
                <a:cs typeface="Arial"/>
              </a:rPr>
              <a:t>Approximate time: 20 to 30 min. Purpose: Remove residual chemicals</a:t>
            </a:r>
            <a:endParaRPr lang="en-US" dirty="0"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b="0" dirty="0" sz="2200">
                <a:solidFill>
                  <a:srgbClr val="243B53"/>
                </a:solidFill>
                <a:latin typeface="Arial"/>
                <a:ea typeface="Arial"/>
                <a:cs typeface="Arial"/>
              </a:rPr>
              <a:t>Drying: </a:t>
            </a:r>
            <a:r>
              <a:rPr lang="en-US" dirty="0" sz="2200" b="0">
                <a:solidFill>
                  <a:srgbClr val="243B53"/>
                </a:solidFill>
                <a:latin typeface="Arial"/>
                <a:ea typeface="Arial"/>
                <a:cs typeface="Arial"/>
              </a:rPr>
              <a:t>Approximate time: Until dry. Purpose: Finish the radiograph</a:t>
            </a:r>
            <a:endParaRPr lang="en-US" dirty="0"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375142917"/>
      </p:ext>
    </p:extLst>
  </p:cSld>
  <p:clrMapOvr>
    <a:masterClrMapping/>
  </p:clrMapOvr>
</p:sld>
</file>

<file path=ppt/slides/slide5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54E43715-F93B-FB80-7289-E1856DD15F6E}"/>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b="1" dirty="0" sz="3200">
                <a:solidFill>
                  <a:srgbClr val="0056D2"/>
                </a:solidFill>
                <a:latin typeface="Poppins SemiBold" pitchFamily="34" charset="0"/>
                <a:ea typeface="Poppins SemiBold" pitchFamily="34" charset="-122"/>
                <a:cs typeface="Poppins SemiBold" pitchFamily="34" charset="-120"/>
              </a:rPr>
              <a:t>Silver Recovery and Conservation</a:t>
            </a:r>
            <a:br>
              <a:rPr lang="en-US" dirty="0"/>
            </a:br>
            <a:endParaRPr lang="en-US" dirty="0"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C5071209-9650-1C88-4590-8AEF1374892B}"/>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Silver recovery and conservation involve reclaiming precious metallic silver from used or discarded </a:t>
            </a:r>
            <a:r>
              <a:rPr lang="en-US" sz="2200" dirty="0" err="1" b="0">
                <a:solidFill>
                  <a:srgbClr val="243B53"/>
                </a:solidFill>
                <a:latin typeface="Arial"/>
                <a:ea typeface="Arial"/>
                <a:cs typeface="Arial"/>
              </a:rPr>
              <a:t>xray</a:t>
            </a:r>
            <a:r>
              <a:rPr lang="en-US" sz="2200" dirty="0" b="0">
                <a:solidFill>
                  <a:srgbClr val="243B53"/>
                </a:solidFill>
                <a:latin typeface="Arial"/>
                <a:ea typeface="Arial"/>
                <a:cs typeface="Arial"/>
              </a:rPr>
              <a:t> films.</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Why recover silver?</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Used fixer carries dissolved silver from unexposed halide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Silver has real economic value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Silver is toxic to aquatic life, so it must not go down drains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Regulations often require recovery or safe disposal</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a:t>
            </a:r>
            <a:r>
              <a:rPr lang="en-US" sz="2200" dirty="0" b="0">
                <a:solidFill>
                  <a:srgbClr val="243B53"/>
                </a:solidFill>
                <a:latin typeface="Arial"/>
                <a:ea typeface="Arial"/>
                <a:cs typeface="Arial"/>
              </a:rPr>
              <a:t> Reduce repeats with correct exposure technique is essential for silver conservation</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907924472"/>
      </p:ext>
    </p:extLst>
  </p:cSld>
  <p:clrMapOvr>
    <a:masterClrMapping/>
  </p:clrMapOvr>
</p:sld>
</file>

<file path=ppt/slides/slide5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A5791B59-0334-7672-A90D-F7E0DF499CF2}"/>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Sources of silver</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00E45884-6EBB-3860-53F2-5FA3E05C1143}"/>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Used fixer: </a:t>
            </a:r>
            <a:r>
              <a:rPr lang="en-US" sz="2200" dirty="0" b="0">
                <a:solidFill>
                  <a:srgbClr val="243B53"/>
                </a:solidFill>
                <a:latin typeface="Arial"/>
                <a:ea typeface="Arial"/>
                <a:cs typeface="Arial"/>
              </a:rPr>
              <a:t>Main source of dissolved silver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Fixer overflow: </a:t>
            </a:r>
            <a:r>
              <a:rPr lang="en-US" sz="2200" dirty="0" b="0">
                <a:solidFill>
                  <a:srgbClr val="243B53"/>
                </a:solidFill>
                <a:latin typeface="Arial"/>
                <a:ea typeface="Arial"/>
                <a:cs typeface="Arial"/>
              </a:rPr>
              <a:t>Carries silver out of the tank</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Waste film: </a:t>
            </a:r>
            <a:r>
              <a:rPr lang="en-US" sz="2200" dirty="0" b="0">
                <a:solidFill>
                  <a:srgbClr val="243B53"/>
                </a:solidFill>
                <a:latin typeface="Arial"/>
                <a:ea typeface="Arial"/>
                <a:cs typeface="Arial"/>
              </a:rPr>
              <a:t>Rejected and old films contain silver</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a:solidFill>
                  <a:srgbClr val="243B53"/>
                </a:solidFill>
                <a:latin typeface="Arial"/>
                <a:ea typeface="Arial"/>
                <a:cs typeface="Arial"/>
              </a:rPr>
              <a:t>Wash water: </a:t>
            </a:r>
            <a:r>
              <a:rPr lang="en-US" sz="2200" dirty="0" b="0">
                <a:solidFill>
                  <a:srgbClr val="243B53"/>
                </a:solidFill>
                <a:latin typeface="Arial"/>
                <a:ea typeface="Arial"/>
                <a:cs typeface="Arial"/>
              </a:rPr>
              <a:t>Trace silver from carryover</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994274616"/>
      </p:ext>
    </p:extLst>
  </p:cSld>
  <p:clrMapOvr>
    <a:masterClrMapping/>
  </p:clrMapOvr>
</p:sld>
</file>

<file path=ppt/slides/slide5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258F7FBB-7603-EE55-59B2-6888251361DB}"/>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Silver recovery methods</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9DDD530B-516E-9252-5B34-6787D810C45F}"/>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z="2000">
                <a:solidFill>
                  <a:srgbClr val="243B53"/>
                </a:solidFill>
                <a:latin typeface="Arial"/>
                <a:ea typeface="Arial"/>
                <a:cs typeface="Arial"/>
              </a:rPr>
              <a:t>Metallic replacement: </a:t>
            </a:r>
            <a:r>
              <a:rPr lang="en-US" dirty="0" sz="2000" b="0">
                <a:solidFill>
                  <a:srgbClr val="243B53"/>
                </a:solidFill>
                <a:latin typeface="Arial"/>
                <a:ea typeface="Arial"/>
                <a:cs typeface="Arial"/>
              </a:rPr>
              <a:t>Principle: Used fixer is passed through a container containing iron or steel </a:t>
            </a:r>
            <a:r>
              <a:rPr lang="en-US" dirty="0" err="1" sz="2000" b="0">
                <a:solidFill>
                  <a:srgbClr val="243B53"/>
                </a:solidFill>
                <a:latin typeface="Arial"/>
                <a:ea typeface="Arial"/>
                <a:cs typeface="Arial"/>
              </a:rPr>
              <a:t>wool.Steel</a:t>
            </a:r>
            <a:r>
              <a:rPr lang="en-US" dirty="0" sz="2000" b="0">
                <a:solidFill>
                  <a:srgbClr val="243B53"/>
                </a:solidFill>
                <a:latin typeface="Arial"/>
                <a:ea typeface="Arial"/>
                <a:cs typeface="Arial"/>
              </a:rPr>
              <a:t> wool or iron replaces silver from solution due to displacement action causing metallic silver to be deposited. Notes: Cheap, simple</a:t>
            </a:r>
            <a:endParaRPr sz="200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z="2000">
                <a:solidFill>
                  <a:srgbClr val="243B53"/>
                </a:solidFill>
                <a:latin typeface="Arial"/>
                <a:ea typeface="Arial"/>
                <a:cs typeface="Arial"/>
              </a:rPr>
              <a:t>Electrolytic: </a:t>
            </a:r>
            <a:r>
              <a:rPr lang="en-US" dirty="0" sz="2000" b="0">
                <a:solidFill>
                  <a:srgbClr val="243B53"/>
                </a:solidFill>
                <a:latin typeface="Arial"/>
                <a:ea typeface="Arial"/>
                <a:cs typeface="Arial"/>
              </a:rPr>
              <a:t>Principle: electric current is passed through used fixer solution. The current plates or collect silver onto a cathode. Notes: High recovery; fixer can often be reused</a:t>
            </a:r>
            <a:endParaRPr lang="en-US" dirty="0" sz="200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z="2000">
                <a:solidFill>
                  <a:srgbClr val="243B53"/>
                </a:solidFill>
                <a:latin typeface="Arial"/>
                <a:ea typeface="Arial"/>
                <a:cs typeface="Arial"/>
              </a:rPr>
              <a:t>Chemical precipitation: </a:t>
            </a:r>
            <a:r>
              <a:rPr lang="en-US" dirty="0" sz="2000" b="0">
                <a:solidFill>
                  <a:srgbClr val="243B53"/>
                </a:solidFill>
                <a:latin typeface="Arial"/>
                <a:ea typeface="Arial"/>
                <a:cs typeface="Arial"/>
              </a:rPr>
              <a:t>Principle: Reagent or chemical added to the used fixer solution forms insoluble silver compound that can be separated and collected. Notes: Sludge (solid deposit containing recovered silver and other materials) needs careful handling</a:t>
            </a:r>
            <a:endParaRPr lang="en-US" dirty="0" sz="2000" b="0">
              <a:solidFill>
                <a:srgbClr val="243B53"/>
              </a:solidFill>
              <a:latin typeface="Arial"/>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z="2000">
                <a:solidFill>
                  <a:srgbClr val="243B53"/>
                </a:solidFill>
                <a:latin typeface="Arial"/>
                <a:ea typeface="Arial"/>
                <a:cs typeface="Arial"/>
              </a:rPr>
              <a:t>Ion exchange: </a:t>
            </a:r>
            <a:r>
              <a:rPr lang="en-US" dirty="0" sz="2000" b="0">
                <a:solidFill>
                  <a:srgbClr val="243B53"/>
                </a:solidFill>
                <a:latin typeface="Arial"/>
                <a:ea typeface="Arial"/>
                <a:cs typeface="Arial"/>
              </a:rPr>
              <a:t>Principle: Resin captures silver ions. Notes: Used on larger scales</a:t>
            </a:r>
            <a:endParaRPr lang="en-US" dirty="0"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3187214748"/>
      </p:ext>
    </p:extLst>
  </p:cSld>
  <p:clrMapOvr>
    <a:masterClrMapping/>
  </p:clrMapOvr>
</p:sld>
</file>

<file path=ppt/slides/slide5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C2DAEAFF-F505-25DA-A4D8-D528F5792814}"/>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Safe storage and disposal</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635C4525-BB5F-0557-B061-E701CB06A86C}"/>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Collect used fixer in labelled, sealed containers</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Store away from developer, acids and heat</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Use a licensed contractor to collect waste</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Never pour used fixer or silver sludge down a drain</a:t>
            </a:r>
            <a:endParaRPr lang="en-US" sz="2200" dirty="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a:ea typeface="Arial"/>
                <a:cs typeface="Arial"/>
              </a:rPr>
              <a:t>Keep disposal records for inspection</a:t>
            </a:r>
            <a:endParaRPr lang="en-US" sz="2200" dirty="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i="1" dirty="0" b="0">
                <a:solidFill>
                  <a:srgbClr val="243B53"/>
                </a:solidFill>
                <a:latin typeface="Arial"/>
                <a:ea typeface="Arial"/>
                <a:cs typeface="Arial"/>
              </a:rPr>
              <a:t>Key point: Recover, store safely, and dispose through approved routes.</a:t>
            </a:r>
            <a:endParaRPr lang="en-US" sz="2200" dirty="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582389588"/>
      </p:ext>
    </p:extLst>
  </p:cSld>
  <p:clrMapOvr>
    <a:masterClrMapping/>
  </p:clrMapOvr>
</p:sld>
</file>

<file path=ppt/slides/slide5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0C13ADD1-EB7A-AAC2-604E-D024132D2603}"/>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Conclusion</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2CA0802D-CADC-3D05-B591-69E9256E73FD}"/>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Single-bath processing is simple but limited, and mainly a teaching concept</a:t>
            </a:r>
            <a:endParaRPr lang="en-US" dirty="0"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a:ea typeface="Arial"/>
                <a:cs typeface="Arial"/>
              </a:rPr>
              <a:t>Conventional processing uses separate baths and gives reliable diagnostic quality</a:t>
            </a:r>
            <a:endParaRPr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Always read time and temperature together</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Keep developer and fixer apart at all times</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Wash fully and dry in clean air</a:t>
            </a:r>
            <a:endParaRPr lang="en-US" dirty="0" sz="2200" b="0">
              <a:solidFill>
                <a:srgbClr val="243B53"/>
              </a:solidFill>
              <a:latin typeface="Arial"/>
              <a:ea typeface="Arial"/>
              <a:cs typeface="Arial"/>
            </a:endParaRPr>
          </a:p>
          <a:p>
            <a:pPr algn="l" marL="0" indent="0">
              <a:lnSpc>
                <a:spcPct val="118000"/>
              </a:lnSpc>
              <a:spcBef>
                <a:spcPts val="0"/>
              </a:spcBef>
              <a:spcAft>
                <a:spcPts val="450"/>
              </a:spcAft>
              <a:buSzPct val="100000"/>
              <a:defRPr sz="2200" b="0">
                <a:solidFill>
                  <a:srgbClr val="243B53"/>
                </a:solidFill>
                <a:latin typeface="Arial"/>
                <a:ea typeface="Arial"/>
                <a:cs typeface="Arial"/>
              </a:defRPr>
            </a:pPr>
            <a:r>
              <a:rPr lang="en-US" dirty="0" sz="2200" b="0">
                <a:solidFill>
                  <a:srgbClr val="243B53"/>
                </a:solidFill>
                <a:latin typeface="Arial"/>
                <a:ea typeface="Arial"/>
                <a:cs typeface="Arial"/>
              </a:rPr>
              <a:t>Recover silver and dispose of waste through approved routes</a:t>
            </a:r>
            <a:endParaRPr lang="en-US" dirty="0"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3766204373"/>
      </p:ext>
    </p:extLst>
  </p:cSld>
  <p:clrMapOvr>
    <a:masterClrMapping/>
  </p:clrMapOvr>
</p:sld>
</file>

<file path=ppt/slides/slide5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6F564297-BFDA-7261-C69D-D1E634646EBD}"/>
              </a:ext>
            </a:extLst>
          </p:cNvPr>
          <p:cNvSpPr>
            <a:spLocks noGrp="1"/>
          </p:cNvSpPr>
          <p:nvPr>
            <p:ph type="title"/>
          </p:nvPr>
        </p:nvSpPr>
        <p:spPr>
          <a:xfrm rot="20220895">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Advice</a:t>
            </a:r>
            <a:endParaRPr sz="3200" b="1">
              <a:solidFill>
                <a:srgbClr val="0056D2"/>
              </a:solidFill>
              <a:latin typeface="Poppins SemiBold"/>
              <a:ea typeface="Poppins SemiBold"/>
              <a:cs typeface="Poppins SemiBold"/>
            </a:endParaRPr>
          </a:p>
        </p:txBody>
      </p:sp>
      <p:sp>
        <p:nvSpPr>
          <p:cNvPr id="3" name="Content Placeholder 2">
            <a:extLst>
              <a:ext uri="{FF2B5EF4-FFF2-40B4-BE49-F238E27FC236}">
                <a16:creationId id="{56BAE297-4FCE-7809-5485-61A8B6E53EAE}"/>
              </a:ext>
            </a:extLst>
          </p:cNvPr>
          <p:cNvSpPr>
            <a:spLocks noGrp="1"/>
          </p:cNvSpPr>
          <p:nvPr>
            <p:ph idx="1"/>
          </p:nvPr>
        </p:nvSpPr>
        <p:spPr>
          <a:xfrm rot="20274652">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dirty="0" b="0">
                <a:solidFill>
                  <a:srgbClr val="243B53"/>
                </a:solidFill>
                <a:latin typeface="Arial"/>
                <a:ea typeface="Arial"/>
                <a:cs typeface="Arial"/>
              </a:rPr>
              <a:t>Make quality processing a habit for accurate diagnosis</a:t>
            </a:r>
            <a:endParaRPr lang="en-US" sz="2200" dirty="0" b="0">
              <a:solidFill>
                <a:srgbClr val="243B53"/>
              </a:solidFill>
              <a:latin typeface="Arial"/>
              <a:ea typeface="Arial"/>
              <a:cs typeface="Arial"/>
            </a:endParaRPr>
          </a:p>
        </p:txBody>
      </p:sp>
    </p:spTree>
    <p:extLst>
      <p:ext uri="{BB962C8B-B14F-4D97-AF65-F5344CB8AC3E}">
        <p14:creationId val="368884524"/>
      </p:ext>
    </p:extLst>
  </p:cSld>
  <p:clrMapOvr>
    <a:masterClrMapping/>
  </p:clrMapOvr>
</p:sld>
</file>

<file path=ppt/slides/slide5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2" name="Title 1">
            <a:extLst>
              <a:ext uri="{FF2B5EF4-FFF2-40B4-BE49-F238E27FC236}">
                <a16:creationId id="{8342881E-C6A9-D36F-8F65-70AAF8021A99}"/>
              </a:ext>
            </a:extLst>
          </p:cNvPr>
          <p:cNvSpPr>
            <a:spLocks noGrp="1"/>
          </p:cNvSpPr>
          <p:nvPr>
            <p:ph type="title"/>
          </p:nvPr>
        </p:nvSpPr>
        <p:spPr>
          <a:xfrm>
            <a:off x="670560" y="445770"/>
            <a:ext cx="1085088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a:solidFill>
                  <a:srgbClr val="0056D2"/>
                </a:solidFill>
                <a:latin typeface="Poppins SemiBold"/>
                <a:ea typeface="Poppins SemiBold"/>
                <a:cs typeface="Poppins SemiBold"/>
              </a:rPr>
              <a:t>References </a:t>
            </a:r>
            <a:endParaRPr lang="en-US" sz="3200" dirty="0" b="1">
              <a:solidFill>
                <a:srgbClr val="0056D2"/>
              </a:solidFill>
              <a:latin typeface="Poppins SemiBold"/>
              <a:ea typeface="Poppins SemiBold"/>
              <a:cs typeface="Poppins SemiBold"/>
            </a:endParaRPr>
          </a:p>
        </p:txBody>
      </p:sp>
      <p:sp>
        <p:nvSpPr>
          <p:cNvPr id="3" name="Content Placeholder 2">
            <a:extLst>
              <a:ext uri="{FF2B5EF4-FFF2-40B4-BE49-F238E27FC236}">
                <a16:creationId id="{E63035A0-D83B-C2CC-37C2-8E4C9D926B6A}"/>
              </a:ext>
            </a:extLst>
          </p:cNvPr>
          <p:cNvSpPr>
            <a:spLocks noGrp="1"/>
          </p:cNvSpPr>
          <p:nvPr>
            <p:ph idx="1"/>
          </p:nvPr>
        </p:nvSpPr>
        <p:spPr>
          <a:xfrm>
            <a:off x="670560" y="1748790"/>
            <a:ext cx="1085088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1950" b="0">
                <a:solidFill>
                  <a:srgbClr val="243B53"/>
                </a:solidFill>
                <a:latin typeface="Arial"/>
                <a:ea typeface="Arial"/>
                <a:cs typeface="Arial"/>
              </a:defRPr>
            </a:pPr>
            <a:r>
              <a:rPr lang="en-US" dirty="0" sz="1950" b="0">
                <a:solidFill>
                  <a:srgbClr val="243B53"/>
                </a:solidFill>
                <a:latin typeface="Arial"/>
                <a:ea typeface="Arial"/>
                <a:cs typeface="Arial"/>
              </a:rPr>
              <a:t>1. Bushong SC. Radiologic science for technologists: physics, biology, and protection. 11th ed. St. Louis: Elsevier; 2017.</a:t>
            </a:r>
            <a:endParaRPr lang="en-US" dirty="0" sz="1950" b="0">
              <a:solidFill>
                <a:srgbClr val="243B53"/>
              </a:solidFill>
              <a:latin typeface="Arial"/>
              <a:ea typeface="Arial"/>
              <a:cs typeface="Arial"/>
            </a:endParaRPr>
          </a:p>
          <a:p>
            <a:pPr marL="0" indent="0" algn="l">
              <a:lnSpc>
                <a:spcPct val="118000"/>
              </a:lnSpc>
              <a:spcBef>
                <a:spcPts val="0"/>
              </a:spcBef>
              <a:spcAft>
                <a:spcPts val="450"/>
              </a:spcAft>
              <a:buNone/>
              <a:defRPr sz="1950" b="0">
                <a:solidFill>
                  <a:srgbClr val="243B53"/>
                </a:solidFill>
                <a:latin typeface="Arial"/>
                <a:ea typeface="Arial"/>
                <a:cs typeface="Arial"/>
              </a:defRPr>
            </a:pPr>
            <a:r>
              <a:rPr lang="en-US" dirty="0" sz="1950" b="0">
                <a:solidFill>
                  <a:srgbClr val="243B53"/>
                </a:solidFill>
                <a:latin typeface="Arial"/>
                <a:ea typeface="Arial"/>
                <a:cs typeface="Arial"/>
              </a:rPr>
              <a:t>2. Carlton RR, Adler AM, </a:t>
            </a:r>
            <a:r>
              <a:rPr lang="en-US" dirty="0" err="1" sz="1950" b="0">
                <a:solidFill>
                  <a:srgbClr val="243B53"/>
                </a:solidFill>
                <a:latin typeface="Arial"/>
                <a:ea typeface="Arial"/>
                <a:cs typeface="Arial"/>
              </a:rPr>
              <a:t>Balac</a:t>
            </a:r>
            <a:r>
              <a:rPr lang="en-US" dirty="0" sz="1950" b="0">
                <a:solidFill>
                  <a:srgbClr val="243B53"/>
                </a:solidFill>
                <a:latin typeface="Arial"/>
                <a:ea typeface="Arial"/>
                <a:cs typeface="Arial"/>
              </a:rPr>
              <a:t> V. Principles of radiographic imaging: an art and a science. 6th ed. Boston: Cengage Learning; 2019.</a:t>
            </a:r>
            <a:endParaRPr lang="en-US" dirty="0" sz="1950" b="0">
              <a:solidFill>
                <a:srgbClr val="243B53"/>
              </a:solidFill>
              <a:latin typeface="Arial"/>
              <a:ea typeface="Arial"/>
              <a:cs typeface="Arial"/>
            </a:endParaRPr>
          </a:p>
          <a:p>
            <a:pPr marL="0" indent="0" algn="l">
              <a:lnSpc>
                <a:spcPct val="118000"/>
              </a:lnSpc>
              <a:spcBef>
                <a:spcPts val="0"/>
              </a:spcBef>
              <a:spcAft>
                <a:spcPts val="450"/>
              </a:spcAft>
              <a:buNone/>
              <a:defRPr sz="1950" b="0">
                <a:solidFill>
                  <a:srgbClr val="243B53"/>
                </a:solidFill>
                <a:latin typeface="Arial"/>
                <a:ea typeface="Arial"/>
                <a:cs typeface="Arial"/>
              </a:defRPr>
            </a:pPr>
            <a:r>
              <a:rPr lang="en-US" dirty="0" sz="1950" b="0">
                <a:solidFill>
                  <a:srgbClr val="243B53"/>
                </a:solidFill>
                <a:latin typeface="Arial"/>
                <a:ea typeface="Arial"/>
                <a:cs typeface="Arial"/>
              </a:rPr>
              <a:t>3. </a:t>
            </a:r>
            <a:r>
              <a:rPr lang="en-US" dirty="0" err="1" sz="1950" b="0">
                <a:solidFill>
                  <a:srgbClr val="243B53"/>
                </a:solidFill>
                <a:latin typeface="Arial"/>
                <a:ea typeface="Arial"/>
                <a:cs typeface="Arial"/>
              </a:rPr>
              <a:t>Bushberg</a:t>
            </a:r>
            <a:r>
              <a:rPr lang="en-US" dirty="0" sz="1950" b="0">
                <a:solidFill>
                  <a:srgbClr val="243B53"/>
                </a:solidFill>
                <a:latin typeface="Arial"/>
                <a:ea typeface="Arial"/>
                <a:cs typeface="Arial"/>
              </a:rPr>
              <a:t> JT, Seibert JA, Leidholdt EM Jr, Boone JM. The essential physics of medical imaging. 3rd ed. Philadelphia: Lippincott Williams &amp; Wilkins; 2012.</a:t>
            </a:r>
            <a:endParaRPr lang="en-US" dirty="0" sz="1950" b="0">
              <a:solidFill>
                <a:srgbClr val="243B53"/>
              </a:solidFill>
              <a:latin typeface="Arial"/>
              <a:ea typeface="Arial"/>
              <a:cs typeface="Arial"/>
            </a:endParaRPr>
          </a:p>
          <a:p>
            <a:pPr marL="0" indent="0" algn="l">
              <a:lnSpc>
                <a:spcPct val="118000"/>
              </a:lnSpc>
              <a:spcBef>
                <a:spcPts val="0"/>
              </a:spcBef>
              <a:spcAft>
                <a:spcPts val="450"/>
              </a:spcAft>
              <a:buNone/>
              <a:defRPr sz="1950" b="0">
                <a:solidFill>
                  <a:srgbClr val="243B53"/>
                </a:solidFill>
                <a:latin typeface="Arial"/>
                <a:ea typeface="Arial"/>
                <a:cs typeface="Arial"/>
              </a:defRPr>
            </a:pPr>
            <a:r>
              <a:rPr lang="en-US" dirty="0" sz="1950" b="0">
                <a:solidFill>
                  <a:srgbClr val="243B53"/>
                </a:solidFill>
                <a:latin typeface="Arial"/>
                <a:ea typeface="Arial"/>
                <a:cs typeface="Arial"/>
              </a:rPr>
              <a:t>4. Carroll QB. Radiography in the digital age. 3rd ed. Springfield (IL): Charles C Thomas; 2018.</a:t>
            </a:r>
            <a:endParaRPr lang="en-US" dirty="0" sz="1950" b="0">
              <a:solidFill>
                <a:srgbClr val="243B53"/>
              </a:solidFill>
              <a:latin typeface="Arial"/>
              <a:ea typeface="Arial"/>
              <a:cs typeface="Arial"/>
            </a:endParaRPr>
          </a:p>
          <a:p>
            <a:pPr marL="0" indent="0" algn="l">
              <a:lnSpc>
                <a:spcPct val="118000"/>
              </a:lnSpc>
              <a:spcBef>
                <a:spcPts val="0"/>
              </a:spcBef>
              <a:spcAft>
                <a:spcPts val="450"/>
              </a:spcAft>
              <a:buNone/>
              <a:defRPr sz="1950" b="0">
                <a:solidFill>
                  <a:srgbClr val="243B53"/>
                </a:solidFill>
                <a:latin typeface="Arial"/>
                <a:ea typeface="Arial"/>
                <a:cs typeface="Arial"/>
              </a:defRPr>
            </a:pPr>
            <a:r>
              <a:rPr lang="en-US" dirty="0" sz="1950" b="0">
                <a:solidFill>
                  <a:srgbClr val="243B53"/>
                </a:solidFill>
                <a:latin typeface="Arial"/>
                <a:ea typeface="Arial"/>
                <a:cs typeface="Arial"/>
              </a:rPr>
              <a:t>5. Fauber TL. Radiographic imaging and exposure. 6th ed. St. Louis: Elsevier; 2021.</a:t>
            </a:r>
            <a:endParaRPr lang="en-US" dirty="0" sz="1950" b="0">
              <a:solidFill>
                <a:srgbClr val="243B53"/>
              </a:solidFill>
              <a:latin typeface="Arial"/>
              <a:ea typeface="Arial"/>
              <a:cs typeface="Arial"/>
            </a:endParaRPr>
          </a:p>
          <a:p>
            <a:pPr marL="0" indent="0" algn="l">
              <a:lnSpc>
                <a:spcPct val="118000"/>
              </a:lnSpc>
              <a:spcBef>
                <a:spcPts val="0"/>
              </a:spcBef>
              <a:spcAft>
                <a:spcPts val="450"/>
              </a:spcAft>
              <a:buNone/>
              <a:defRPr sz="1950" b="0">
                <a:solidFill>
                  <a:srgbClr val="243B53"/>
                </a:solidFill>
                <a:latin typeface="Arial"/>
                <a:ea typeface="Arial"/>
                <a:cs typeface="Arial"/>
              </a:defRPr>
            </a:pPr>
            <a:r>
              <a:rPr lang="en-US" dirty="0" sz="1950" b="0">
                <a:solidFill>
                  <a:srgbClr val="243B53"/>
                </a:solidFill>
                <a:latin typeface="Arial"/>
                <a:ea typeface="Arial"/>
                <a:cs typeface="Arial"/>
              </a:rPr>
              <a:t>6. Papp J. Quality management in the imaging sciences. 6th ed. St. Louis: Elsevier; 2018.</a:t>
            </a:r>
            <a:endParaRPr lang="en-US" dirty="0" sz="1950" b="0">
              <a:solidFill>
                <a:srgbClr val="243B53"/>
              </a:solidFill>
              <a:latin typeface="Arial"/>
              <a:ea typeface="Arial"/>
              <a:cs typeface="Arial"/>
            </a:endParaRPr>
          </a:p>
          <a:p>
            <a:pPr marL="0" indent="0" algn="l">
              <a:lnSpc>
                <a:spcPct val="118000"/>
              </a:lnSpc>
              <a:spcBef>
                <a:spcPts val="0"/>
              </a:spcBef>
              <a:spcAft>
                <a:spcPts val="450"/>
              </a:spcAft>
              <a:buNone/>
              <a:defRPr sz="1950" b="0">
                <a:solidFill>
                  <a:srgbClr val="243B53"/>
                </a:solidFill>
                <a:latin typeface="Arial"/>
                <a:ea typeface="Arial"/>
                <a:cs typeface="Arial"/>
              </a:defRPr>
            </a:pPr>
            <a:r>
              <a:rPr lang="en-US" dirty="0" sz="1950" b="0">
                <a:solidFill>
                  <a:srgbClr val="243B53"/>
                </a:solidFill>
                <a:latin typeface="Arial"/>
                <a:ea typeface="Arial"/>
                <a:cs typeface="Arial"/>
              </a:rPr>
              <a:t>7. Ball J, Price T. Chesney's radiographic imaging. 6th ed. Oxford: Blackwell Science; 1995.</a:t>
            </a:r>
            <a:endParaRPr lang="en-US" dirty="0" sz="195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Tree>
    <p:extLst>
      <p:ext uri="{BB962C8B-B14F-4D97-AF65-F5344CB8AC3E}">
        <p14:creationId val="641868289"/>
      </p:ext>
    </p:extLst>
  </p:cSld>
  <p:clrMapOvr>
    <a:masterClrMapping/>
  </p:clrMapOvr>
</p:sld>
</file>

<file path=ppt/slides/slide6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670560" y="1405890"/>
            <a:ext cx="792480" cy="41148"/>
          </a:xfrm>
          <a:prstGeom prst="rect">
            <a:avLst/>
          </a:prstGeom>
          <a:solidFill>
            <a:srgbClr val="0056D2"/>
          </a:solidFill>
          <a:ln>
            <a:noFill/>
          </a:ln>
        </p:spPr>
      </p:sp>
      <p:sp>
        <p:nvSpPr>
          <p:cNvPr id="3" name="TextBox 2">
            <a:extLst>
              <a:ext uri="{FF2B5EF4-FFF2-40B4-BE49-F238E27FC236}">
                <a16:creationId id="{8F254E95-1039-543A-D21D-0A31D01285F1}"/>
              </a:ext>
            </a:extLst>
          </p:cNvPr>
          <p:cNvSpPr txBox="1"/>
          <p:nvPr/>
        </p:nvSpPr>
        <p:spPr>
          <a:xfrm rot="19792689">
            <a:off x="670560" y="445770"/>
            <a:ext cx="10850880" cy="857250"/>
          </a:xfrm>
          <a:prstGeom prst="rect">
            <a:avLst/>
          </a:prstGeom>
          <a:noFill/>
        </p:spPr>
        <p:txBody>
          <a:bodyPr wrap="square" rtlCol="0"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i="1" dirty="0" b="1">
                <a:solidFill>
                  <a:srgbClr val="0056D2"/>
                </a:solidFill>
                <a:latin typeface="Poppins SemiBold"/>
                <a:ea typeface="Poppins SemiBold"/>
                <a:cs typeface="Poppins SemiBold"/>
              </a:rPr>
              <a:t>Thanks for listening</a:t>
            </a:r>
            <a:endParaRPr sz="3200" b="1">
              <a:solidFill>
                <a:srgbClr val="0056D2"/>
              </a:solidFill>
              <a:latin typeface="Poppins SemiBold"/>
              <a:ea typeface="Poppins SemiBold"/>
              <a:cs typeface="Poppins SemiBold"/>
            </a:endParaRPr>
          </a:p>
        </p:txBody>
      </p:sp>
    </p:spTree>
    <p:extLst>
      <p:ext uri="{BB962C8B-B14F-4D97-AF65-F5344CB8AC3E}">
        <p14:creationId val="1633036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Film Burn</Template>
  <TotalTime>802</TotalTime>
  <Words>3358</Words>
  <Application>Microsoft Office PowerPoint</Application>
  <PresentationFormat>Widescreen</PresentationFormat>
  <Paragraphs>395</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Calibri</vt:lpstr>
      <vt:lpstr>Calibri Light</vt:lpstr>
      <vt:lpstr>Cambria</vt:lpstr>
      <vt:lpstr>Times New Roman</vt:lpstr>
      <vt:lpstr>Office Theme</vt:lpstr>
      <vt:lpstr>PowerPoint Presentation</vt:lpstr>
      <vt:lpstr>Course outline</vt:lpstr>
      <vt:lpstr>Learning objectives</vt:lpstr>
      <vt:lpstr>Why processing matters</vt:lpstr>
      <vt:lpstr>What is a single-bath system?</vt:lpstr>
      <vt:lpstr>Chemistry inside a monobath</vt:lpstr>
      <vt:lpstr>How a monobath works</vt:lpstr>
      <vt:lpstr>Advantages and limitations</vt:lpstr>
      <vt:lpstr>Where single-bath is used</vt:lpstr>
      <vt:lpstr>Problems with single-bath processing</vt:lpstr>
      <vt:lpstr>What is conventional processing?</vt:lpstr>
      <vt:lpstr>Manual processing stages and tanks</vt:lpstr>
      <vt:lpstr>MANUAL PROCESSING TANKS</vt:lpstr>
      <vt:lpstr>Why use separate baths?</vt:lpstr>
      <vt:lpstr>What each bath does</vt:lpstr>
      <vt:lpstr>Manual processing technique</vt:lpstr>
      <vt:lpstr>Time and temperature control</vt:lpstr>
      <vt:lpstr>Tank arrangement</vt:lpstr>
      <vt:lpstr>Advantages and limitations</vt:lpstr>
      <vt:lpstr>Single-bath vs conventional</vt:lpstr>
      <vt:lpstr>What is an integrated system?</vt:lpstr>
      <vt:lpstr>Components of the unit</vt:lpstr>
      <vt:lpstr>Layout of the tanks</vt:lpstr>
      <vt:lpstr>Advantages and limitations</vt:lpstr>
      <vt:lpstr>Manual vs automatic processing</vt:lpstr>
      <vt:lpstr>Darkroom Construction, Layout and Materials </vt:lpstr>
      <vt:lpstr>Entrances</vt:lpstr>
      <vt:lpstr>Darkroom equipments</vt:lpstr>
      <vt:lpstr>Film storage devices</vt:lpstr>
      <vt:lpstr>PowerPoint Presentation</vt:lpstr>
      <vt:lpstr>Materials: use and avoid</vt:lpstr>
      <vt:lpstr>Safelight and illumination</vt:lpstr>
      <vt:lpstr>Care and Maintenance of Equipment </vt:lpstr>
      <vt:lpstr>Maintenance schedule</vt:lpstr>
      <vt:lpstr>Cleaning a processing tank</vt:lpstr>
      <vt:lpstr>COR: Control of Chemistry and Replenishment </vt:lpstr>
      <vt:lpstr>Developer chemistry</vt:lpstr>
      <vt:lpstr>Fixer chemistry</vt:lpstr>
      <vt:lpstr>Signs of exhausted solutions</vt:lpstr>
      <vt:lpstr>Processing Artifacts </vt:lpstr>
      <vt:lpstr>Handling artifacts</vt:lpstr>
      <vt:lpstr>Light and fog artifacts</vt:lpstr>
      <vt:lpstr>Solution and agitation artifacts</vt:lpstr>
      <vt:lpstr>How to Prevent artifacts</vt:lpstr>
      <vt:lpstr>Sequence of Processing </vt:lpstr>
      <vt:lpstr>Before processing: preparation</vt:lpstr>
      <vt:lpstr>Processing stages</vt:lpstr>
      <vt:lpstr>Stage 2: Rinse (stop bath)</vt:lpstr>
      <vt:lpstr>Stage 3: Fixing</vt:lpstr>
      <vt:lpstr>Stage 4: Washing</vt:lpstr>
      <vt:lpstr>Stage 5: Drying</vt:lpstr>
      <vt:lpstr>Processing summary</vt:lpstr>
      <vt:lpstr>Silver Recovery and Conservation </vt:lpstr>
      <vt:lpstr>Sources of silver</vt:lpstr>
      <vt:lpstr>Silver recovery methods</vt:lpstr>
      <vt:lpstr>Safe storage and disposal</vt:lpstr>
      <vt:lpstr>Conclusion</vt:lpstr>
      <vt:lpstr>Advice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Egop Brownson Egop</dc:creator>
  <cp:lastModifiedBy>Egop Brownson Egop</cp:lastModifiedBy>
  <cp:revision>44</cp:revision>
  <dcterms:created xsi:type="dcterms:W3CDTF">2026-10-18T08:40:26Z</dcterms:created>
  <dcterms:modified xsi:type="dcterms:W3CDTF">2026-10-21T03:39:17Z</dcterms:modified>
</cp:coreProperties>
</file>