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439AB-9163-4496-BB08-0BDCC8D6F7A3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D6A5F-1EBE-4617-8CBE-BEC437BBB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63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6A5F-1EBE-4617-8CBE-BEC437BBB9C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3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E759-0D70-FD80-5800-A9582C269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953CF-3337-CAA1-9713-97B7CC4AD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61A75-56D1-0B00-263C-987C619F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92650-F921-5250-D3CF-E7B3FACE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02E89-84DF-2720-48D1-07816EF9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6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4FA1-4AB9-8AE7-3066-126961B8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F591-4057-B227-13FC-932B4D25D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31F3C-9340-B01B-00D7-C076ECB2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B0C7F-8F33-047D-05E4-E11C2FEC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F7163-55EE-28EA-3E4E-2504B69A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7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D465-CDE0-E433-A29C-F2A23BD2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47DCD-5CAB-0728-A0C0-3FDE19CDC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5869A-9C53-BD7E-A294-50521015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DF85D-F1ED-7BD4-BE0C-06C3663B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37B23-67BA-FB32-852A-6AA9E394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6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992C-6480-B2B5-0AB8-6C911CAD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61A3-FF5F-9013-8867-10B21120F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FEA1C-97D4-1169-B8A6-0DDC2C98F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A69CA-1682-A9E8-55DF-36AAA565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55ADB-BAA9-385F-DD90-49E9C1FFC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1BB38-1ECE-45EA-F643-6652B80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2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A1AA-3646-4792-FBD0-60328B5B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8BD61-5A47-A748-4022-A0C6050AC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7EB2B-040E-0842-08B8-8EE8FBDC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5B6F4-C720-18F8-E614-DE89CBABE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5C544-ACBF-6D1F-393D-EDA769635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D9A98B-CC0C-4281-6138-3F241EAD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8E29A-F47A-3843-EA29-C1ED8751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AA85B-9E68-736E-A2C6-07D82708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9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713F6-0449-5231-67BC-9B0B4550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F9361-A528-FAFE-CF94-C8F9AF63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242C6-057A-0AD9-3C7D-50632C0B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BDBF0-120F-67BE-6F44-D7FE2A07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3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94246-CBE3-4A3A-9B43-AE27D47BF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3957B-D9CA-ADC5-3068-F0A45F76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52C81-E5D9-958A-7C2D-D7C94D13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4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C9B2-52CE-4C9A-6927-01950401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AC40A-5F53-BA21-8449-A79D51154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AB243-78FE-1E3F-E13D-403864F1B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50DAB-EDD1-0074-E3C8-1F11CFB29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01286-AAEA-5B4C-03A7-475E2209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94BC7-29FF-C8F0-FA00-C23FE9D9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1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4AB6-E342-7375-0202-F20A5178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8273F-F148-C934-4AF7-3F69DDBA82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45669-0E8F-4639-56E8-16DED2CB1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673A2-E5F6-A848-200B-DED77903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101C1-B7EC-B18A-E531-C8DFAE32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88CDE-4DBA-00B8-58DA-C5ED9284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20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5DD8-D4E0-1774-9A14-D5A11713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B81B5-07EF-DADE-F21E-76D5B4BF2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1DB21-2B13-A22D-25B8-2789BD829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948F7-1636-B6E0-ACA7-44D95DC8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BADE0-3C2A-25B9-BCD2-0EC5C82B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2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92C19F-7CCC-ABDA-5828-691C6CF0A9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47F2F-D3D3-1CE8-8EC1-682D76613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038EF-B4BD-1E2C-6225-C43291B3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6B74F-DC62-F4DE-AC3D-54AAFB65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C04A8-DDD4-71A2-0FD1-83DF734D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6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5BB72-4B25-0ADC-8BC2-907CEC23A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D7799-918A-B5DE-B0C1-0D6437CFA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B59A-E721-4CE6-5C17-4CE487511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BCC79-E96F-48F7-8468-60C8F1551AA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B4510-D0FA-63F9-7D69-481513736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3872B-A40C-59E7-8678-37EA71965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3F39C-C6F4-4707-B350-01803DEC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6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327277-A195-104D-7A67-086BBEBF3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9151"/>
            <a:ext cx="9144000" cy="631639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EE0000"/>
                </a:solidFill>
              </a:rPr>
              <a:t>MXT208 </a:t>
            </a:r>
          </a:p>
          <a:p>
            <a:r>
              <a:rPr lang="en-US" sz="3200" b="1" dirty="0">
                <a:solidFill>
                  <a:srgbClr val="EE0000"/>
                </a:solidFill>
              </a:rPr>
              <a:t>CARE OF PATIENT AND HEALTH MANAGEMENT</a:t>
            </a:r>
          </a:p>
          <a:p>
            <a:r>
              <a:rPr lang="en-US" sz="3200" b="1" dirty="0"/>
              <a:t>RRBN PREGISTRATION RETRAINING COURSE FOR XRAY TECHNICIAN </a:t>
            </a:r>
          </a:p>
          <a:p>
            <a:r>
              <a:rPr lang="en-US" sz="3200" b="1" dirty="0">
                <a:solidFill>
                  <a:srgbClr val="EE0000"/>
                </a:solidFill>
              </a:rPr>
              <a:t>BY</a:t>
            </a:r>
          </a:p>
          <a:p>
            <a:r>
              <a:rPr lang="en-US" sz="3200" b="1" dirty="0"/>
              <a:t>EGOP BROWNSON EGOP</a:t>
            </a:r>
          </a:p>
          <a:p>
            <a:r>
              <a:rPr lang="en-US" sz="3200" b="1" dirty="0"/>
              <a:t>21</a:t>
            </a:r>
            <a:r>
              <a:rPr lang="en-US" sz="3200" b="1" baseline="30000" dirty="0"/>
              <a:t>ST</a:t>
            </a:r>
            <a:r>
              <a:rPr lang="en-US" sz="3200" b="1" dirty="0"/>
              <a:t>  0CTOBER,2026</a:t>
            </a:r>
          </a:p>
          <a:p>
            <a:r>
              <a:rPr lang="en-US" sz="3200" b="1" dirty="0">
                <a:solidFill>
                  <a:srgbClr val="EE0000"/>
                </a:solidFill>
              </a:rPr>
              <a:t>@</a:t>
            </a:r>
          </a:p>
          <a:p>
            <a:r>
              <a:rPr lang="en-US" sz="3200" b="1" dirty="0">
                <a:solidFill>
                  <a:srgbClr val="EE0000"/>
                </a:solidFill>
              </a:rPr>
              <a:t>FACULTY OF BASIC MEDICAL SCIENCES</a:t>
            </a:r>
          </a:p>
          <a:p>
            <a:r>
              <a:rPr lang="en-US" sz="3200" b="1" dirty="0">
                <a:solidFill>
                  <a:srgbClr val="EE0000"/>
                </a:solidFill>
              </a:rPr>
              <a:t>COLLEGE OF MEDICAL SCIENCES</a:t>
            </a:r>
          </a:p>
          <a:p>
            <a:r>
              <a:rPr lang="en-US" sz="3200" b="1" dirty="0">
                <a:solidFill>
                  <a:srgbClr val="EE0000"/>
                </a:solidFill>
              </a:rPr>
              <a:t>RIVERS STATE UNIVERSITY, PORT-HARCOURT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17916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9755-A26F-27BD-C418-56E185A3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Introduction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59D13-54B8-FA7A-6424-0BCAFCD3D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Care of the patient is the foundation of radiography</a:t>
            </a:r>
          </a:p>
          <a:p>
            <a:pPr marL="0" indent="0">
              <a:lnSpc>
                <a:spcPts val="28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Health care management keeps services safe and efficient</a:t>
            </a:r>
          </a:p>
          <a:p>
            <a:pPr>
              <a:lnSpc>
                <a:spcPts val="28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X-ray technician is the patient's first and occasionally last contact</a:t>
            </a:r>
          </a:p>
          <a:p>
            <a:pPr>
              <a:lnSpc>
                <a:spcPts val="28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Good care improves image quality and outcomes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51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0396-753E-0525-3632-39D56D25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Aim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193FB-4222-678A-CC6F-AC580EFFF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 equip Radiographers and X-ray technicians with skills for safe, ethical, patient-</a:t>
            </a:r>
            <a:r>
              <a:rPr lang="en-US" sz="3200" dirty="0" err="1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centred</a:t>
            </a:r>
            <a:r>
              <a:rPr lang="en-US" sz="32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care</a:t>
            </a:r>
          </a:p>
          <a:p>
            <a:pPr>
              <a:lnSpc>
                <a:spcPts val="28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 build basic knowledge of health care management in </a:t>
            </a:r>
            <a:r>
              <a:rPr lang="en-US" sz="3200" dirty="0" err="1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Radiodiagnostic</a:t>
            </a:r>
            <a:r>
              <a:rPr lang="en-US" sz="32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or Radiology department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49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3EC2F-76E4-1795-773B-7E1D6F9F1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Objectives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A04F5-CD47-F703-7FB4-C22E8C3B1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1690688"/>
            <a:ext cx="12065391" cy="5167311"/>
          </a:xfrm>
        </p:spPr>
        <p:txBody>
          <a:bodyPr>
            <a:noAutofit/>
          </a:bodyPr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roles as radiographer or technician in the health care team</a:t>
            </a:r>
          </a:p>
          <a:p>
            <a:pPr>
              <a:lnSpc>
                <a:spcPts val="2800"/>
              </a:lnSpc>
            </a:pPr>
            <a:endParaRPr lang="en-US" dirty="0"/>
          </a:p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ethics, consent and confidentiality</a:t>
            </a:r>
          </a:p>
          <a:p>
            <a:pPr>
              <a:lnSpc>
                <a:spcPts val="2800"/>
              </a:lnSpc>
            </a:pPr>
            <a:endParaRPr lang="en-US" dirty="0"/>
          </a:p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and monitor patients safely</a:t>
            </a:r>
          </a:p>
          <a:p>
            <a:pPr>
              <a:lnSpc>
                <a:spcPts val="2800"/>
              </a:lnSpc>
            </a:pPr>
            <a:endParaRPr lang="en-US" dirty="0"/>
          </a:p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infection control and radiation protection</a:t>
            </a:r>
          </a:p>
          <a:p>
            <a:pPr>
              <a:lnSpc>
                <a:spcPts val="2800"/>
              </a:lnSpc>
            </a:pPr>
            <a:endParaRPr lang="en-US" dirty="0"/>
          </a:p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basic departmental management and quality assurance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77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D25C-DC00-7AF3-2AEF-8816FE8D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003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Outline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E22D2-684C-C5C3-9A6C-9EA639314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7618"/>
            <a:ext cx="10515600" cy="5009345"/>
          </a:xfrm>
        </p:spPr>
        <p:txBody>
          <a:bodyPr>
            <a:normAutofit/>
          </a:bodyPr>
          <a:lstStyle/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Health care system and patient care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Ethics and communication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Rights, consent and confidentiality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Assessment and vital signs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Infection control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Transfer and positioning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Special patient groups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Radiation safety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Contrast media and emergencies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Health care management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Quality and records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10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0C7C-CBC1-32FF-622A-D37A5DCA4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Definition of Patient Care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D7A0E-1B46-DA51-3ADD-9AEF7785E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that meets physical, emotional and social needs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Begins at the request form, occasionally ends after the patient leaves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6982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D9BA-705A-C44B-121F-4D8931D1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Levels of Health Care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3313-351B-D204-4D94-1C4034AC6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clinics and health </a:t>
            </a:r>
            <a:r>
              <a:rPr lang="en-US" sz="3200" dirty="0" err="1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centres</a:t>
            </a:r>
            <a:endParaRPr lang="en-US" sz="3200" dirty="0">
              <a:solidFill>
                <a:srgbClr val="1C2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general hospitals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Tertiary: teaching and specialist hospitals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Radiographers and Technicians serves all the above three levels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66376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14F7-D189-1EFC-02E8-80F209AF5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Health Care Team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4F07E-3E43-A16B-913C-CEFA44F8F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Doctors, nurses, pharmacists, laboratory scientists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Radiologists, radiographers, X-ray technicians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member has defined duties and limits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 protects the patient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15924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9A56-93A7-E35C-2AF9-81FE905E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Role of  X-ray </a:t>
            </a:r>
            <a:r>
              <a:rPr lang="en-US" b="1" dirty="0" err="1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Radographer</a:t>
            </a:r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/ Technician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9D23F-8E07-CD3C-9CDE-D42E8DD0E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3" y="2124221"/>
            <a:ext cx="11774659" cy="4529795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patient and equipment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diagnostic images safely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patient, self and others from radiation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under the radiographer and radiologist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72203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51E8-87DA-9E43-CF1C-378A3280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Qualities of a Good Radiographer/X-ray Technician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17A99-981D-5E08-79C7-FAAB457FB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98" y="2082017"/>
            <a:ext cx="10917702" cy="4094945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and patience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and attention to detail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and punctuality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Willingness to keep learning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03588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3AB5-D96F-1CEF-C882-13E83E0E2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Ethics, Professionalism and Communication</a:t>
            </a:r>
            <a:br>
              <a:rPr lang="en-US" dirty="0">
                <a:solidFill>
                  <a:srgbClr val="EE0000"/>
                </a:solidFill>
              </a:rPr>
            </a:b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6F498-0843-78D0-A953-B022D0CF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5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Georgia" pitchFamily="18" charset="0"/>
                <a:ea typeface="Georgia" pitchFamily="18" charset="-122"/>
                <a:cs typeface="Georgia" pitchFamily="18" charset="-120"/>
              </a:rPr>
              <a:t>What is Ethics?</a:t>
            </a:r>
          </a:p>
          <a:p>
            <a:r>
              <a:rPr lang="en-US" sz="3600" dirty="0">
                <a:latin typeface="Georgia" pitchFamily="18" charset="0"/>
              </a:rPr>
              <a:t>This is the moral principles and professional value guiding the behavior of health care professionals in caring for patients</a:t>
            </a:r>
          </a:p>
          <a:p>
            <a:r>
              <a:rPr lang="en-US" sz="3600" dirty="0">
                <a:latin typeface="Georgia" pitchFamily="18" charset="0"/>
              </a:rPr>
              <a:t>Maintaining patient confidentiality</a:t>
            </a:r>
          </a:p>
          <a:p>
            <a:r>
              <a:rPr lang="en-US" sz="3600" dirty="0">
                <a:latin typeface="Georgia" pitchFamily="18" charset="0"/>
              </a:rPr>
              <a:t>Being honest and professionally accountable</a:t>
            </a:r>
          </a:p>
          <a:p>
            <a:r>
              <a:rPr lang="en-US" sz="3600" dirty="0">
                <a:latin typeface="Georgia" pitchFamily="18" charset="0"/>
              </a:rPr>
              <a:t>Keeping accurate patient record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3882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000A7-CDB0-E5FE-EAA7-3471C74B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Principles of Medical Ethics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D439F-EAFE-6924-45F3-5BFE6CC4E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2025747"/>
            <a:ext cx="11830930" cy="446712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Autonomy: respect patient choices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Beneficence: act for the patient's good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Non-maleficence: do no harm, apply appropriate radiation protection measures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Justice: treat every patient fairly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571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BA9B6-C237-1C55-6B71-B011119F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Professionalism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9518B-FD87-EC6F-DB34-881AE116E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17" y="1690688"/>
            <a:ext cx="11760591" cy="5005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Entails</a:t>
            </a: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Neat uniform and name tag</a:t>
            </a:r>
          </a:p>
          <a:p>
            <a:pPr marL="0" indent="0">
              <a:lnSpc>
                <a:spcPts val="2800"/>
              </a:lnSpc>
              <a:buNone/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and integrity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for all patients regardless of status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 professional should act within his or her scope of practice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22237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1D76-D4B6-72A7-5BB7-0FAA58CD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015"/>
            <a:ext cx="10515600" cy="104101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Principles of Communication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E516-A4C3-AC1F-1241-1EBD038F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1899138"/>
            <a:ext cx="11887200" cy="4958862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 the patient and introduce yourself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identity before any exposure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simple, non-technical language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actively and allow questions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50729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ACC8-2014-6612-9286-EE1462414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Verbal and Non-verbal Communication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FDA52-5788-E337-E5C6-E582B46F3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070080" cy="5032375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tone and eye contact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friendly posture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patient's facial expressions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only with permission and purpose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9404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04BF-927B-42DA-2A1B-BFED1E1C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Barriers to Communication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C7EC6-27FE-2B89-0B98-C1E688FFF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and cultural differences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Hearing or vision impairment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Pain, fear and anxiety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and lack of privacy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15754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7D00A-A080-DD54-8536-9E853687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Communicating with Anxious Patients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DBCFC-8B8F-7227-905E-E93AFB000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each step before it happens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 about discomfort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Reassure without false promises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a relative to stay where it is safe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4012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B4FE-6384-8B3E-74DC-DF3AD22F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Patient Rights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81504-F7F2-BA10-FAD6-307FED126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1825624"/>
            <a:ext cx="11929403" cy="5032375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Dignity and respectful care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about the procedure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 of an examination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confidentiality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80503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0D93-F171-233E-7EF8-7149D7F7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Informed Consent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42448-DBE5-0779-2913-E2F3FE05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02" y="1825624"/>
            <a:ext cx="10875498" cy="5032375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understands purpose, benefits and risks</a:t>
            </a:r>
          </a:p>
          <a:p>
            <a:pPr>
              <a:lnSpc>
                <a:spcPts val="2800"/>
              </a:lnSpc>
            </a:pPr>
            <a:endParaRPr lang="en-US" sz="3600" dirty="0">
              <a:solidFill>
                <a:srgbClr val="1C2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Verbal consent for routine X-rays</a:t>
            </a:r>
          </a:p>
          <a:p>
            <a:pPr>
              <a:lnSpc>
                <a:spcPts val="2800"/>
              </a:lnSpc>
            </a:pPr>
            <a:endParaRPr lang="en-US" sz="3600" dirty="0">
              <a:solidFill>
                <a:srgbClr val="1C2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consent for invasive or contrast studies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66894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57BE-5EB6-FCE9-4D27-01EABDFD6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Consent in Special Cases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5099D-8EAF-18BE-F916-104A0A883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Children: parent or guardian consents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Unconscious patients: emergency doctrine applies</a:t>
            </a:r>
          </a:p>
          <a:p>
            <a:pPr marL="0" indent="0">
              <a:lnSpc>
                <a:spcPts val="2800"/>
              </a:lnSpc>
              <a:buNone/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Mentally impaired: next of kin or legal guardian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 case in case of litigation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35520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9293-2CE0-2267-81B2-B493F8D2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Principle of Confidentiality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2CA2A-608D-6FA6-A72D-2120A99B8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17" y="1825625"/>
            <a:ext cx="11676185" cy="4667250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information only with colleagues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discuss patient cases in public areas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images and records using secure password system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a breach of this principle damages trust and may be punishable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20814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E189-E872-05A2-24B6-C5B16FCF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Patient Assessment and Vital Signs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6811F-455E-8ABE-62C5-960F29956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1943471" cy="51378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Patient assessment start with Preparation</a:t>
            </a:r>
          </a:p>
          <a:p>
            <a:pPr marL="0" indent="0">
              <a:buNone/>
            </a:pPr>
            <a:endParaRPr lang="en-US" b="1" dirty="0">
              <a:solidFill>
                <a:srgbClr val="12323B"/>
              </a:solidFill>
              <a:latin typeface="Georgia" pitchFamily="18" charset="0"/>
              <a:ea typeface="Georgia" pitchFamily="18" charset="-122"/>
              <a:cs typeface="Georgia" pitchFamily="18" charset="-12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request form completely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name, age, sex and examination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pregnancy in women of child-bearing age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metal objects and change gowns as needed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07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63F2-3DDB-6E4C-9303-E98D16DE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Patient History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C8CD7-911D-2596-AD1D-45342622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for the examination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imaging 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Allergies</a:t>
            </a:r>
            <a:endParaRPr lang="en-US" sz="3600" dirty="0"/>
          </a:p>
          <a:p>
            <a:pPr marL="0" indent="0">
              <a:lnSpc>
                <a:spcPts val="2800"/>
              </a:lnSpc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05091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767A-FB70-DA54-7B03-C64FBDDA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Vital Signs Overview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672D8-C9C7-74FE-D66C-A1C279031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9" y="1825624"/>
            <a:ext cx="11746522" cy="5032375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pulse, respiration, blood pressure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the body's basic function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before and after risky procedures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abnormal values immediately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68569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1178-57CF-FCBF-EF19-57E79B3B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Normal Adult Values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7F28-558F-87F4-8625-6B65EBD3A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5747"/>
            <a:ext cx="12192000" cy="4832253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 36.5 to 37.5 degrees C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Pulse: 60 to 100 beats per minute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Respiration: 12 to 20 breaths per minute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pressure: about 120/80 mmHg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02900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B80F-F3E0-D990-F072-04E300F5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err="1">
                <a:solidFill>
                  <a:srgbClr val="EE0000"/>
                </a:solidFill>
              </a:rPr>
              <a:t>Aseptique</a:t>
            </a:r>
            <a:r>
              <a:rPr lang="en-US" sz="5400" b="1" dirty="0">
                <a:solidFill>
                  <a:srgbClr val="EE0000"/>
                </a:solidFill>
              </a:rPr>
              <a:t>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0E218-C0B4-E488-7AD2-6F3EE3D57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18" y="1983545"/>
            <a:ext cx="11535508" cy="4193418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hand 40 to 60 seconds with soap and water</a:t>
            </a:r>
          </a:p>
          <a:p>
            <a:pPr>
              <a:lnSpc>
                <a:spcPts val="2800"/>
              </a:lnSpc>
            </a:pPr>
            <a:endParaRPr lang="en-US" sz="3600" dirty="0">
              <a:solidFill>
                <a:srgbClr val="1C2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every patient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contact with body fluids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rub if hands are not visibly soiled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66840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BF2C-3DEC-1683-742C-3C310DEF6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876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Standard Precautions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A7801-4079-774C-4715-194F08372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36430"/>
            <a:ext cx="12192000" cy="5521569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patient as potentially infectious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Gloves, aprons, masks and eye protection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handling of sharps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disposal of clinical waste</a:t>
            </a:r>
          </a:p>
          <a:p>
            <a:pPr>
              <a:lnSpc>
                <a:spcPts val="2800"/>
              </a:lnSpc>
            </a:pPr>
            <a:endParaRPr lang="en-US" sz="3200" dirty="0">
              <a:solidFill>
                <a:srgbClr val="1C2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800"/>
              </a:lnSpc>
              <a:buSzPct val="100000"/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recap needles</a:t>
            </a:r>
          </a:p>
          <a:p>
            <a:pPr>
              <a:lnSpc>
                <a:spcPts val="2800"/>
              </a:lnSpc>
            </a:pPr>
            <a:endParaRPr lang="en-US" sz="3200" dirty="0">
              <a:solidFill>
                <a:srgbClr val="1C2A2E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2800"/>
              </a:lnSpc>
              <a:buSzPct val="100000"/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needle-stick injuries immediately</a:t>
            </a:r>
            <a:endParaRPr lang="en-US" sz="3200" dirty="0"/>
          </a:p>
          <a:p>
            <a:pPr>
              <a:lnSpc>
                <a:spcPts val="2800"/>
              </a:lnSpc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07156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C0B2-9583-C2A5-E324-4CCC9947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Cleaning Equipment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26A13-2AF3-991B-F081-F5CC1FB91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1825625"/>
            <a:ext cx="11577711" cy="4351338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 table, cassettes and radiographic </a:t>
            </a:r>
            <a:r>
              <a:rPr lang="en-US" sz="3600" dirty="0" err="1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equipments</a:t>
            </a:r>
            <a:endParaRPr lang="en-US" sz="3600" dirty="0">
              <a:solidFill>
                <a:srgbClr val="1C2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 disinfectant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lead aprons regularly</a:t>
            </a:r>
          </a:p>
          <a:p>
            <a:pPr>
              <a:lnSpc>
                <a:spcPts val="2800"/>
              </a:lnSpc>
            </a:pPr>
            <a:endParaRPr lang="en-US" sz="3600" dirty="0">
              <a:solidFill>
                <a:srgbClr val="1C2A2E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05700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B97F-6075-1F73-EB86-7744875D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EE0000"/>
                </a:solidFill>
              </a:rPr>
              <a:t>Transfer of patient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80AE-A22C-FDFD-9358-6DF52BE35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Mostly by</a:t>
            </a:r>
          </a:p>
          <a:p>
            <a:pPr marL="0" indent="0">
              <a:buNone/>
            </a:pPr>
            <a:r>
              <a:rPr lang="en-US" sz="3600" dirty="0"/>
              <a:t> </a:t>
            </a:r>
          </a:p>
          <a:p>
            <a:r>
              <a:rPr lang="en-US" sz="3600" dirty="0"/>
              <a:t>Wheelchair</a:t>
            </a:r>
          </a:p>
          <a:p>
            <a:endParaRPr lang="en-US" sz="3600" dirty="0"/>
          </a:p>
          <a:p>
            <a:r>
              <a:rPr lang="en-US" sz="3600" dirty="0"/>
              <a:t>Trolley </a:t>
            </a:r>
          </a:p>
        </p:txBody>
      </p:sp>
    </p:spTree>
    <p:extLst>
      <p:ext uri="{BB962C8B-B14F-4D97-AF65-F5344CB8AC3E}">
        <p14:creationId xmlns:p14="http://schemas.microsoft.com/office/powerpoint/2010/main" val="2625858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D413-4B1E-7ABF-873B-8CA8E44F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Care of </a:t>
            </a:r>
            <a:r>
              <a:rPr lang="en-US" b="1" dirty="0" err="1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Paediatric</a:t>
            </a:r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Patients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92D6D-64FC-A90D-6DD6-67C3DC21B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friendly, playful approach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Involve the parent or guardian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 err="1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Immobilise</a:t>
            </a: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gently and shield the child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lowest possible dose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25354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6C95-328C-32B1-A6CD-8CCE2F85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Care of Elderly Patients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1020-C289-4ACB-BABE-35393B18F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extra time for movement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fragile skin and joints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hearing and memory problems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falls on the table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14237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A8589-A5B7-E6E1-555E-BBBB7A46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Care of Pregnant Patients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8442B-1BC8-7A57-2CCE-F6AE617A4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a 10 day rule, ask about pregnancy before every examination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abdominal exposure when possible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and limit the field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1618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329DA-6104-6A9F-F95E-30883CE7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Care of Unconscious and Critically Ill Patients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4A430-C321-755D-A20E-A13F62B2A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the airway and monitor breathing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with the ward nurse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mobile X-ray when transfer is unsafe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lines and monitors attached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04801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A05E-82A7-E655-E185-DBC44C00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Radiation Protection and Safety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1B7B4-76FC-A526-71F8-4830F9D4C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Why Radiation Protection Matters</a:t>
            </a:r>
          </a:p>
          <a:p>
            <a:pPr marL="0" indent="0">
              <a:buNone/>
            </a:pPr>
            <a:endParaRPr lang="en-US" b="1" dirty="0">
              <a:solidFill>
                <a:srgbClr val="12323B"/>
              </a:solidFill>
              <a:latin typeface="Georgia" pitchFamily="18" charset="0"/>
              <a:ea typeface="Georgia" pitchFamily="18" charset="-122"/>
              <a:cs typeface="Georgia" pitchFamily="18" charset="-12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X-rays can damage cells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are stochastic or deterministic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74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5B3E-0E0A-F276-58CE-618ACBB9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ALARA Principle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F122-8B54-8EBE-E8D3-C0F4E7F2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289"/>
            <a:ext cx="10515600" cy="403867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Low As Reasonably Achievable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tools: time, distance, shielding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Justification, </a:t>
            </a:r>
            <a:r>
              <a:rPr lang="en-US" sz="3600" dirty="0" err="1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</a:t>
            </a: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dose limits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72580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BF39-B519-A609-068A-22DCB128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Protecting the Patient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26935-B7B8-9F1A-E4D7-A3011B1D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Justify the examination</a:t>
            </a:r>
          </a:p>
          <a:p>
            <a:pPr>
              <a:lnSpc>
                <a:spcPts val="28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Collimate to the area of interest</a:t>
            </a:r>
          </a:p>
          <a:p>
            <a:pPr>
              <a:lnSpc>
                <a:spcPts val="28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 gonad and thyroid shields correctly</a:t>
            </a:r>
          </a:p>
          <a:p>
            <a:pPr>
              <a:lnSpc>
                <a:spcPts val="28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Avoid repeat exposures by selecting appropriate technique and correct exposure factors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561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5499-AAB3-576D-7DD7-63EC0A07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Protecting the Staff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E7B07-D17B-B7B2-1205-B7DC77FF7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behind the control barrier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lead aprons for mobile and fluoroscopy work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a personal dosimeter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hold a patient during exposure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960205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EE05-8B23-CC66-7AA8-35DB4E62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Dose Limits and Monitoring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F0543-22BA-1656-E970-BBE13C40F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limit: 20 mSv per year (five-year average)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limit: 1 mSv per year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dosimeter readings regularly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any overexposure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94045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CF7A-755B-C0F6-7C37-6CCAB7DB7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Contrast Media and Emergency Care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ABE7A-7529-2561-1D1F-230512A7B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Contrast Media Basics</a:t>
            </a: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visibility of soft tissue and vessels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Iodinated and barium agents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allergy and kidney function first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consent for injections</a:t>
            </a:r>
            <a:endParaRPr lang="en-US" sz="3600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322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8CB5-F24B-D36D-E29A-A63B44B0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Contrast Reactions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D36B-CF02-DF0A-3992-E8E4DE62F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Mild: itching, nausea, hives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Moderate: vomiting, wheeze, facial swelling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Severe: collapse, airway swelling, shock</a:t>
            </a:r>
          </a:p>
          <a:p>
            <a:pPr marL="0" indent="0">
              <a:lnSpc>
                <a:spcPts val="2800"/>
              </a:lnSpc>
              <a:buNone/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injection and call for help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861246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7D79-0644-905C-83D5-8020860D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Emergency Response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30E99-4D76-67BD-FBF2-05D6732C8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the crash trolley is to get emergency drugs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emergency number and team call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Life Support: check for responsiveness, call for help, compress the chest about 100 to 120 times per minute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oxygen and suction ready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971964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DB0D-5647-931C-29D0-FE3F6C5E3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Health Management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63661-059C-08A5-9D78-5B1861A9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57" y="1825625"/>
            <a:ext cx="11030243" cy="488466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Is Health Management?</a:t>
            </a: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Planning, organization and coordination of radiographic services so that imaging is delivered safely and efficiently for overall wellbeing of the patient.</a:t>
            </a:r>
          </a:p>
          <a:p>
            <a:pPr>
              <a:lnSpc>
                <a:spcPts val="2800"/>
              </a:lnSpc>
            </a:pPr>
            <a:endParaRPr lang="en-US" sz="3600" dirty="0">
              <a:solidFill>
                <a:srgbClr val="1C2A2E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Every health professional contributes</a:t>
            </a:r>
          </a:p>
          <a:p>
            <a:pPr>
              <a:lnSpc>
                <a:spcPts val="28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Aim: efficient, safe, quality services</a:t>
            </a:r>
          </a:p>
          <a:p>
            <a:pPr marL="0" indent="0">
              <a:lnSpc>
                <a:spcPts val="28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212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CFDB-C40C-C2E6-65BE-F3BD9EBA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Organisation</a:t>
            </a:r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of a Radiology Department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652BB-BC05-30FF-D1C7-9DDB9C253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Reception, waiting area, examination rooms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and image processing area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room and records store</a:t>
            </a:r>
          </a:p>
          <a:p>
            <a:pPr>
              <a:lnSpc>
                <a:spcPts val="2800"/>
              </a:lnSpc>
            </a:pPr>
            <a:endParaRPr lang="en-US" sz="3200" dirty="0"/>
          </a:p>
          <a:p>
            <a:pPr>
              <a:lnSpc>
                <a:spcPts val="2800"/>
              </a:lnSpc>
            </a:pPr>
            <a:r>
              <a:rPr lang="en-US" sz="32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patient flow lowers waiting time for effective health management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58256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617D-E5E8-939F-822D-B9CD19F1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EE0000"/>
                </a:solidFill>
              </a:rPr>
              <a:t>Collaboration and teamwork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F6D53-87B1-5CEB-073A-8DD72BC72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48" y="1825625"/>
            <a:ext cx="11690252" cy="4351338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Radiologist, radiographers, technicians, </a:t>
            </a:r>
            <a:r>
              <a:rPr lang="en-US" sz="3600" dirty="0" err="1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nurses,e.t.c</a:t>
            </a:r>
            <a:endParaRPr lang="en-US" sz="3600" dirty="0">
              <a:solidFill>
                <a:srgbClr val="1C2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 member have their specific duties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member deserves respect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professional development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445996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21DD5-A5D8-1EF5-4A74-10D75AF42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Quality Assurance in Radiography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BA023-6A5A-FD5F-DE47-7A1D637CB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4842461"/>
          </a:xfrm>
        </p:spPr>
        <p:txBody>
          <a:bodyPr>
            <a:normAutofit/>
          </a:bodyPr>
          <a:lstStyle/>
          <a:p>
            <a:pPr marL="0" indent="0">
              <a:lnSpc>
                <a:spcPts val="2800"/>
              </a:lnSpc>
              <a:buNone/>
            </a:pPr>
            <a:endParaRPr lang="en-US" sz="3600" dirty="0">
              <a:solidFill>
                <a:srgbClr val="1C2A2E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This involves systematic checks that keep images and care reliable. It involves</a:t>
            </a:r>
          </a:p>
          <a:p>
            <a:pPr marL="0" indent="0">
              <a:lnSpc>
                <a:spcPts val="28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Equipment tests: output, alignment, collimation</a:t>
            </a:r>
          </a:p>
          <a:p>
            <a:pPr>
              <a:lnSpc>
                <a:spcPts val="28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Image reject analysis</a:t>
            </a:r>
          </a:p>
          <a:p>
            <a:pPr>
              <a:lnSpc>
                <a:spcPts val="28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Patient feedback and audits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0513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F968-B78D-F634-1BDB-63078DB7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E0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Professional Development</a:t>
            </a:r>
            <a:endParaRPr lang="en-US" dirty="0">
              <a:solidFill>
                <a:srgbClr val="EE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44F29-6E9A-AB0A-F2DA-8E46ADA14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234" y="1825625"/>
            <a:ext cx="10889566" cy="4351338"/>
          </a:xfrm>
        </p:spPr>
        <p:txBody>
          <a:bodyPr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your professional association for conferences, </a:t>
            </a:r>
            <a:r>
              <a:rPr lang="en-US" dirty="0" err="1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seminar,e.t.c</a:t>
            </a:r>
            <a:endParaRPr lang="en-US" dirty="0">
              <a:solidFill>
                <a:srgbClr val="1C2A2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endParaRPr lang="en-US" dirty="0"/>
          </a:p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training and updates</a:t>
            </a:r>
          </a:p>
          <a:p>
            <a:pPr>
              <a:lnSpc>
                <a:spcPts val="2800"/>
              </a:lnSpc>
            </a:pPr>
            <a:endParaRPr lang="en-US" dirty="0"/>
          </a:p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on practice</a:t>
            </a:r>
          </a:p>
          <a:p>
            <a:pPr>
              <a:lnSpc>
                <a:spcPts val="2800"/>
              </a:lnSpc>
            </a:pPr>
            <a:endParaRPr lang="en-US" dirty="0"/>
          </a:p>
          <a:p>
            <a:pPr>
              <a:lnSpc>
                <a:spcPts val="2800"/>
              </a:lnSpc>
            </a:pPr>
            <a:r>
              <a:rPr lang="en-US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this improves stand of health care delivery and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0128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794E-6E52-9EE2-20A7-64284C69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EE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30C16-8E88-2D7A-6946-28A3853F8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618" y="1853761"/>
            <a:ext cx="11380763" cy="4351338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is the heart of radiography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consent and communication build trust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and radiation control protect everyone </a:t>
            </a:r>
          </a:p>
          <a:p>
            <a:pPr>
              <a:lnSpc>
                <a:spcPts val="2800"/>
              </a:lnSpc>
            </a:pPr>
            <a:endParaRPr lang="en-US" sz="3600" dirty="0"/>
          </a:p>
          <a:p>
            <a:pPr>
              <a:lnSpc>
                <a:spcPts val="2800"/>
              </a:lnSpc>
            </a:pPr>
            <a:r>
              <a:rPr lang="en-US" sz="3600" dirty="0">
                <a:solidFill>
                  <a:srgbClr val="1C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management and quality keep services safe</a:t>
            </a: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492113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B46C82-2E12-A1D1-122D-789A187A6C6C}"/>
              </a:ext>
            </a:extLst>
          </p:cNvPr>
          <p:cNvSpPr txBox="1"/>
          <p:nvPr/>
        </p:nvSpPr>
        <p:spPr>
          <a:xfrm rot="19280075">
            <a:off x="3024555" y="2967335"/>
            <a:ext cx="6895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314325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1359</Words>
  <Application>Microsoft Office PowerPoint</Application>
  <PresentationFormat>Widescreen</PresentationFormat>
  <Paragraphs>374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Georgia</vt:lpstr>
      <vt:lpstr>Times New Roman</vt:lpstr>
      <vt:lpstr>Office Theme</vt:lpstr>
      <vt:lpstr>PowerPoint Presentation</vt:lpstr>
      <vt:lpstr>Introduction</vt:lpstr>
      <vt:lpstr>Aim</vt:lpstr>
      <vt:lpstr>Objectives</vt:lpstr>
      <vt:lpstr>Outline</vt:lpstr>
      <vt:lpstr>Definition of Patient Care</vt:lpstr>
      <vt:lpstr>Levels of Health Care</vt:lpstr>
      <vt:lpstr>The Health Care Team</vt:lpstr>
      <vt:lpstr>Role of  X-ray Radographer/ Technician</vt:lpstr>
      <vt:lpstr>Qualities of a Good Radiographer/X-ray Technician</vt:lpstr>
      <vt:lpstr>Ethics, Professionalism and Communication </vt:lpstr>
      <vt:lpstr>Principles of Medical Ethics</vt:lpstr>
      <vt:lpstr>Professionalism</vt:lpstr>
      <vt:lpstr>Principles of Communication</vt:lpstr>
      <vt:lpstr>Verbal and Non-verbal Communication</vt:lpstr>
      <vt:lpstr>Barriers to Communication</vt:lpstr>
      <vt:lpstr>Communicating with Anxious Patients</vt:lpstr>
      <vt:lpstr>Patient Rights</vt:lpstr>
      <vt:lpstr>Informed Consent</vt:lpstr>
      <vt:lpstr>Consent in Special Cases</vt:lpstr>
      <vt:lpstr>Principle of Confidentiality</vt:lpstr>
      <vt:lpstr>Patient Assessment and Vital Signs</vt:lpstr>
      <vt:lpstr>Patient History</vt:lpstr>
      <vt:lpstr>Vital Signs Overview</vt:lpstr>
      <vt:lpstr>Normal Adult Values</vt:lpstr>
      <vt:lpstr>Aseptique techniques</vt:lpstr>
      <vt:lpstr>Standard Precautions</vt:lpstr>
      <vt:lpstr>Cleaning Equipment</vt:lpstr>
      <vt:lpstr>Transfer of patient</vt:lpstr>
      <vt:lpstr>Care of Paediatric Patients</vt:lpstr>
      <vt:lpstr>Care of Elderly Patients</vt:lpstr>
      <vt:lpstr>Care of Pregnant Patients</vt:lpstr>
      <vt:lpstr>Care of Unconscious and Critically Ill Patients</vt:lpstr>
      <vt:lpstr>Radiation Protection and Safety</vt:lpstr>
      <vt:lpstr>The ALARA Principle</vt:lpstr>
      <vt:lpstr>Protecting the Patient</vt:lpstr>
      <vt:lpstr>Protecting the Staff</vt:lpstr>
      <vt:lpstr>Dose Limits and Monitoring</vt:lpstr>
      <vt:lpstr>Contrast Media and Emergency Care</vt:lpstr>
      <vt:lpstr>Contrast Reactions</vt:lpstr>
      <vt:lpstr>Emergency Response</vt:lpstr>
      <vt:lpstr>Health Management</vt:lpstr>
      <vt:lpstr>Organisation of a Radiology Department</vt:lpstr>
      <vt:lpstr>Collaboration and teamwork</vt:lpstr>
      <vt:lpstr>Quality Assurance in Radiography</vt:lpstr>
      <vt:lpstr>Professional Development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Egop Brownson Egop</dc:creator>
  <cp:lastModifiedBy>Egop Brownson Egop</cp:lastModifiedBy>
  <cp:revision>30</cp:revision>
  <dcterms:created xsi:type="dcterms:W3CDTF">2026-10-18T21:38:43Z</dcterms:created>
  <dcterms:modified xsi:type="dcterms:W3CDTF">2026-10-20T20:32:54Z</dcterms:modified>
</cp:coreProperties>
</file>