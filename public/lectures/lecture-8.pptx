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67" d="100"/>
          <a:sy n="67" d="100"/>
        </p:scale>
        <p:origin x="-780"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A445E3-9051-4474-BECF-6379D8CE1637}" type="datetimeFigureOut">
              <a:rPr lang="en-US" smtClean="0"/>
              <a:t>10/20/2026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D28A99-6B95-45CE-B9B3-6462DFDFD2E0}" type="slidenum">
              <a:rPr lang="en-US" smtClean="0"/>
              <a:t>‹#›</a:t>
            </a:fld>
            <a:endParaRPr lang="en-US"/>
          </a:p>
        </p:txBody>
      </p:sp>
    </p:spTree>
    <p:extLst>
      <p:ext uri="{BB962C8B-B14F-4D97-AF65-F5344CB8AC3E}">
        <p14:creationId xmlns:p14="http://schemas.microsoft.com/office/powerpoint/2010/main" val="646826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25</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26</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27</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28</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29</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30</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31</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32</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33</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34</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35</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36</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37</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38</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39</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40</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41</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42</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43</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44</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45</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46</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47</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48</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49</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50</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51</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52</a:t>
            </a:fld>
            <a:endParaRPr lang="en-US"/>
          </a:p>
        </p:txBody>
      </p:sp>
    </p:spTree>
    <p:extLst>
      <p:ext uri="{BB962C8B-B14F-4D97-AF65-F5344CB8AC3E}">
        <p14:creationId xmlns:p14="http://schemas.microsoft.com/office/powerpoint/2010/main" val="489166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D28A99-6B95-45CE-B9B3-6462DFDFD2E0}" type="slidenum">
              <a:rPr lang="en-US" smtClean="0"/>
              <a:t>53</a:t>
            </a:fld>
            <a:endParaRPr lang="en-US"/>
          </a:p>
        </p:txBody>
      </p:sp>
    </p:spTree>
    <p:extLst>
      <p:ext uri="{BB962C8B-B14F-4D97-AF65-F5344CB8AC3E}">
        <p14:creationId xmlns:p14="http://schemas.microsoft.com/office/powerpoint/2010/main" val="48916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95A447-0516-8A1A-50FA-E5294764B0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xmlns="" id="{D74FBE28-2207-62BB-B447-50A7B45F23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xmlns="" id="{0B8CA130-A0D0-55D3-8251-5CD759FAA379}"/>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B438CA01-50B1-71C8-31EC-07281D21E1AC}"/>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F435DA81-3329-01B1-65D8-91D50A533B9B}"/>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820692835"/>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BF64F1-9E0A-51EC-33DE-4F23B0ECFA33}"/>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0D9E297D-9044-141A-286B-F6B5B18FA9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FAEBD9DA-8A1B-892B-F11A-20536397A7B8}"/>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5707A927-02D8-E7E5-7BFF-303BF8FC330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324984E2-7F7E-CE16-72F0-0AF36F66AB2C}"/>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274059271"/>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A6C636-D1BF-F893-2E77-A2ABC69E75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63659E39-2FA0-813E-90D3-0E55CE9179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7434958-7FDE-E133-7A1B-A21CC5432F8F}"/>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4ED274C4-35B3-E4AC-7A2D-1337D9C6E75F}"/>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C7C9D92B-DF49-CE2E-8375-4C3288474769}"/>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2281762017"/>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E9BB52-20EE-F362-755D-1E48D7DA0D1D}"/>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E51A136D-B8F3-0401-E7C6-D644C97F1F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F07F2DE4-29BF-F443-32F0-2005C6B8FF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02CC6017-8D90-E676-BBD7-4BF3CD083FD5}"/>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6" name="Footer Placeholder 5">
            <a:extLst>
              <a:ext uri="{FF2B5EF4-FFF2-40B4-BE49-F238E27FC236}">
                <a16:creationId xmlns:a16="http://schemas.microsoft.com/office/drawing/2014/main" xmlns="" id="{A5D299A2-E3F3-B839-259E-74D5856D6F91}"/>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070C00B2-0D17-33FD-44EB-AB55ED34F9A3}"/>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948579946"/>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DC7E4A-7891-77FF-C2B7-BFD8FA46E311}"/>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CD422A8E-1A2C-8CD2-0213-02B02ABA07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146E723-210D-28E5-2634-24025CF00F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7C5AE788-C9A2-E883-2634-9094383ADC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DF89DA6-470D-7211-9797-E44AA7FA92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25331A7A-19A3-8F4D-E2C0-8684B2067C73}"/>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8" name="Footer Placeholder 7">
            <a:extLst>
              <a:ext uri="{FF2B5EF4-FFF2-40B4-BE49-F238E27FC236}">
                <a16:creationId xmlns:a16="http://schemas.microsoft.com/office/drawing/2014/main" xmlns="" id="{985ABC95-FC11-D31C-4A14-317B4305D4A4}"/>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xmlns="" id="{7D921731-CA88-5792-7A61-40D5580829D4}"/>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189250060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1DD466-6735-7E42-83D3-C40FEFCC0FC2}"/>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C10BB170-6717-2962-D874-3A3B231DD541}"/>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4" name="Footer Placeholder 3">
            <a:extLst>
              <a:ext uri="{FF2B5EF4-FFF2-40B4-BE49-F238E27FC236}">
                <a16:creationId xmlns:a16="http://schemas.microsoft.com/office/drawing/2014/main" xmlns="" id="{97BB47EE-F219-0C7E-CB14-1306970E8227}"/>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xmlns="" id="{C100FF26-CD1F-FDA1-12ED-E05CC0AC82A6}"/>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90618358"/>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5CA9A5E-1AC2-B9F4-4DA1-A4AAC59FBEEE}"/>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3" name="Footer Placeholder 2">
            <a:extLst>
              <a:ext uri="{FF2B5EF4-FFF2-40B4-BE49-F238E27FC236}">
                <a16:creationId xmlns:a16="http://schemas.microsoft.com/office/drawing/2014/main" xmlns="" id="{70A0E66B-05DD-327A-A630-703E8ECDDAD2}"/>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xmlns="" id="{C8755FC9-0241-1F16-02C3-1C4B21793359}"/>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663760671"/>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A4A781-3C8F-AA72-7CDE-15B9D7C169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E0653FF5-4984-55BC-8B6E-4A35D1276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8959C11A-E80A-D30E-3B96-1A571C0826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B1E8B45-593F-07BB-6F4E-9F4EC707A0B0}"/>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6" name="Footer Placeholder 5">
            <a:extLst>
              <a:ext uri="{FF2B5EF4-FFF2-40B4-BE49-F238E27FC236}">
                <a16:creationId xmlns:a16="http://schemas.microsoft.com/office/drawing/2014/main" xmlns="" id="{295CB1AF-F269-C3AD-3422-9DA015E420D6}"/>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CF6CAF11-977E-78C7-505C-2367FD09D677}"/>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4247868624"/>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9B9FF4-B395-0D8A-3DFB-C1B45A3AF3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2F2BAF1D-C384-4A56-C941-C4824A9DC8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xmlns="" id="{01AD6E10-F42A-C84F-CBBE-F57317C51D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9BE7B77-BF22-8F4A-58C7-56FA7A112F90}"/>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6" name="Footer Placeholder 5">
            <a:extLst>
              <a:ext uri="{FF2B5EF4-FFF2-40B4-BE49-F238E27FC236}">
                <a16:creationId xmlns:a16="http://schemas.microsoft.com/office/drawing/2014/main" xmlns="" id="{B46FE963-9FF3-A6C7-B67B-62A5EF11EDD9}"/>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45CF0A6E-E390-D0A3-6B8F-870E1076E9B7}"/>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46811896"/>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E00298-B7C6-AE58-3C74-F4BC396CB92B}"/>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18588963-FC8D-6E90-8E33-D26E398BBF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5F025AB2-3DC3-C6C3-F526-2DA907329178}"/>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36AFFB23-5B33-25FF-8134-322B08105F3D}"/>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2F87B2FA-8D6F-8ECC-F3FB-381F8F73DE59}"/>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1493524134"/>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AB00E33-A6B3-B278-003C-35C609BA92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55D960B9-3EDE-FEE0-9B4D-180D68BA48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804045B9-ACC5-00C5-5C9E-CCF283A0D477}"/>
              </a:ext>
            </a:extLst>
          </p:cNvPr>
          <p:cNvSpPr>
            <a:spLocks noGrp="1"/>
          </p:cNvSpPr>
          <p:nvPr>
            <p:ph type="dt" sz="half" idx="10"/>
          </p:nvPr>
        </p:nvSpPr>
        <p:spPr/>
        <p:txBody>
          <a:body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DF10ECC3-AD2A-35D5-2884-74D71624F05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4A381DA8-B185-68A9-A3A1-430B32766854}"/>
              </a:ext>
            </a:extLst>
          </p:cNvPr>
          <p:cNvSpPr>
            <a:spLocks noGrp="1"/>
          </p:cNvSpPr>
          <p:nvPr>
            <p:ph type="sldNum" sz="quarter" idx="12"/>
          </p:nvPr>
        </p:nvSpPr>
        <p:spPr/>
        <p:txBody>
          <a:bodyPr/>
          <a:lstStyle/>
          <a:p>
            <a:fld id="{21AD94E9-DB8A-4FE5-AE37-694D08137CDF}" type="slidenum">
              <a:rPr lang="x-none" smtClean="0"/>
              <a:t>‹#›</a:t>
            </a:fld>
            <a:endParaRPr lang="x-none"/>
          </a:p>
        </p:txBody>
      </p:sp>
    </p:spTree>
    <p:extLst>
      <p:ext uri="{BB962C8B-B14F-4D97-AF65-F5344CB8AC3E}">
        <p14:creationId xmlns:p14="http://schemas.microsoft.com/office/powerpoint/2010/main" val="352699028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08F05CF-59C6-9583-17AE-B549305E2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C058F04F-76D4-F2B6-4ED5-126B77E279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AA9DA97F-7F2B-FA5E-9D7D-C55C0717E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23C798-488E-4910-8F24-F71D0E0C4770}" type="datetimeFigureOut">
              <a:rPr lang="x-none" smtClean="0"/>
              <a:t>10/20/2026</a:t>
            </a:fld>
            <a:endParaRPr lang="x-none"/>
          </a:p>
        </p:txBody>
      </p:sp>
      <p:sp>
        <p:nvSpPr>
          <p:cNvPr id="5" name="Footer Placeholder 4">
            <a:extLst>
              <a:ext uri="{FF2B5EF4-FFF2-40B4-BE49-F238E27FC236}">
                <a16:creationId xmlns:a16="http://schemas.microsoft.com/office/drawing/2014/main" xmlns="" id="{D1010509-CCF3-9244-2BD0-533A8030F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xmlns="" id="{934437BA-9B65-77A7-2C7E-B9C91C7CD5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AD94E9-DB8A-4FE5-AE37-694D08137CDF}" type="slidenum">
              <a:rPr lang="x-none" smtClean="0"/>
              <a:t>‹#›</a:t>
            </a:fld>
            <a:endParaRPr lang="x-none"/>
          </a:p>
        </p:txBody>
      </p:sp>
    </p:spTree>
    <p:extLst>
      <p:ext uri="{BB962C8B-B14F-4D97-AF65-F5344CB8AC3E}">
        <p14:creationId xmlns:p14="http://schemas.microsoft.com/office/powerpoint/2010/main" val="3357734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8E2450-B875-2EAB-A94F-6EDB91932739}"/>
              </a:ext>
            </a:extLst>
          </p:cNvPr>
          <p:cNvSpPr>
            <a:spLocks noGrp="1"/>
          </p:cNvSpPr>
          <p:nvPr>
            <p:ph type="ctrTitle"/>
          </p:nvPr>
        </p:nvSpPr>
        <p:spPr>
          <a:xfrm>
            <a:off x="1524000" y="1600199"/>
            <a:ext cx="9144000" cy="1177925"/>
          </a:xfrm>
        </p:spPr>
        <p:txBody>
          <a:bodyPr>
            <a:normAutofit fontScale="90000"/>
          </a:bodyPr>
          <a:lstStyle/>
          <a:p>
            <a:r>
              <a:rPr lang="en-US" b="1" dirty="0"/>
              <a:t>MXT112: ATOMIC AND RADIATION PHYSICS</a:t>
            </a:r>
            <a:r>
              <a:rPr lang="x-none" dirty="0"/>
              <a:t/>
            </a:r>
            <a:br>
              <a:rPr lang="x-none" dirty="0"/>
            </a:br>
            <a:endParaRPr lang="x-none" sz="2000" b="1" dirty="0"/>
          </a:p>
        </p:txBody>
      </p:sp>
      <p:sp>
        <p:nvSpPr>
          <p:cNvPr id="3" name="Subtitle 2">
            <a:extLst>
              <a:ext uri="{FF2B5EF4-FFF2-40B4-BE49-F238E27FC236}">
                <a16:creationId xmlns:a16="http://schemas.microsoft.com/office/drawing/2014/main" xmlns="" id="{A605FC69-A361-3D84-0B44-009179890FA9}"/>
              </a:ext>
            </a:extLst>
          </p:cNvPr>
          <p:cNvSpPr>
            <a:spLocks noGrp="1"/>
          </p:cNvSpPr>
          <p:nvPr>
            <p:ph type="subTitle" idx="1"/>
          </p:nvPr>
        </p:nvSpPr>
        <p:spPr>
          <a:xfrm>
            <a:off x="1524000" y="5076093"/>
            <a:ext cx="9144000" cy="515816"/>
          </a:xfrm>
        </p:spPr>
        <p:txBody>
          <a:bodyPr/>
          <a:lstStyle/>
          <a:p>
            <a:r>
              <a:rPr lang="en-US" dirty="0"/>
              <a:t>RAD. Patrick Collins</a:t>
            </a:r>
            <a:endParaRPr lang="x-none" dirty="0"/>
          </a:p>
        </p:txBody>
      </p:sp>
      <p:sp>
        <p:nvSpPr>
          <p:cNvPr id="4" name="TextBox 3">
            <a:extLst>
              <a:ext uri="{FF2B5EF4-FFF2-40B4-BE49-F238E27FC236}">
                <a16:creationId xmlns:a16="http://schemas.microsoft.com/office/drawing/2014/main" xmlns="" id="{B0BC35AE-C7CA-F935-65F1-CB0D8D9EC256}"/>
              </a:ext>
            </a:extLst>
          </p:cNvPr>
          <p:cNvSpPr txBox="1"/>
          <p:nvPr/>
        </p:nvSpPr>
        <p:spPr>
          <a:xfrm>
            <a:off x="2391508" y="2801325"/>
            <a:ext cx="6037384" cy="369332"/>
          </a:xfrm>
          <a:prstGeom prst="rect">
            <a:avLst/>
          </a:prstGeom>
          <a:noFill/>
        </p:spPr>
        <p:txBody>
          <a:bodyPr wrap="square" rtlCol="0">
            <a:spAutoFit/>
          </a:bodyPr>
          <a:lstStyle/>
          <a:p>
            <a:pPr algn="ctr"/>
            <a:r>
              <a:rPr lang="en-US" dirty="0"/>
              <a:t>	Tuesday 20</a:t>
            </a:r>
            <a:r>
              <a:rPr lang="en-US" baseline="30000" dirty="0"/>
              <a:t>th</a:t>
            </a:r>
            <a:r>
              <a:rPr lang="en-US" dirty="0"/>
              <a:t> October, 2026</a:t>
            </a:r>
            <a:endParaRPr lang="x-none" dirty="0"/>
          </a:p>
        </p:txBody>
      </p:sp>
    </p:spTree>
    <p:extLst>
      <p:ext uri="{BB962C8B-B14F-4D97-AF65-F5344CB8AC3E}">
        <p14:creationId xmlns:p14="http://schemas.microsoft.com/office/powerpoint/2010/main" val="2513339185"/>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8B7196A-6096-CB30-E915-125F5DFB2743}"/>
              </a:ext>
            </a:extLst>
          </p:cNvPr>
          <p:cNvSpPr>
            <a:spLocks noGrp="1"/>
          </p:cNvSpPr>
          <p:nvPr>
            <p:ph idx="1"/>
          </p:nvPr>
        </p:nvSpPr>
        <p:spPr>
          <a:xfrm>
            <a:off x="838200" y="633046"/>
            <a:ext cx="10515600" cy="5543917"/>
          </a:xfrm>
        </p:spPr>
        <p:txBody>
          <a:bodyPr>
            <a:normAutofit/>
          </a:bodyPr>
          <a:lstStyle/>
          <a:p>
            <a:pPr marL="0" indent="0" algn="ctr">
              <a:buNone/>
            </a:pPr>
            <a:r>
              <a:rPr lang="en-US" sz="3200" b="1" dirty="0"/>
              <a:t>INTRODUCTION:</a:t>
            </a:r>
            <a:endParaRPr lang="x-none" sz="3200" b="1" dirty="0"/>
          </a:p>
          <a:p>
            <a:pPr marL="0" indent="0" algn="just">
              <a:buNone/>
            </a:pPr>
            <a:r>
              <a:rPr lang="en-US" sz="3200" dirty="0"/>
              <a:t>Atomic and radiation physics is the branch of science dedicated to understanding the fundamental structure of matter at the subatomic level and how atoms interact with, emit, and absorb energy in the form of radiation.</a:t>
            </a:r>
            <a:endParaRPr lang="x-none" sz="3200" dirty="0"/>
          </a:p>
          <a:p>
            <a:pPr marL="0" indent="0" algn="just">
              <a:buNone/>
            </a:pPr>
            <a:endParaRPr lang="en-US" sz="3200" dirty="0"/>
          </a:p>
          <a:p>
            <a:pPr marL="0" indent="0" algn="just">
              <a:buNone/>
            </a:pPr>
            <a:r>
              <a:rPr lang="en-US" sz="3200" dirty="0"/>
              <a:t>At its core, atomic physics explores the structure of the atom- primarily focusing on the arrangement, behavior and quantum transition of electrons orbiting the atomic nucleus.  Radiation Physis extends this study to the emissions produced by these atonic and nuclear processes, covering the full</a:t>
            </a:r>
            <a:endParaRPr lang="x-none" sz="3200" dirty="0"/>
          </a:p>
          <a:p>
            <a:pPr marL="0" indent="0">
              <a:buNone/>
            </a:pPr>
            <a:endParaRPr lang="x-none" sz="3200" dirty="0"/>
          </a:p>
        </p:txBody>
      </p:sp>
    </p:spTree>
    <p:extLst>
      <p:ext uri="{BB962C8B-B14F-4D97-AF65-F5344CB8AC3E}">
        <p14:creationId xmlns:p14="http://schemas.microsoft.com/office/powerpoint/2010/main" val="2552064601"/>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F8AD718-C055-F49D-7425-EDAEFCA8846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EA09504-CD55-CB84-C24F-08E0C7038008}"/>
              </a:ext>
            </a:extLst>
          </p:cNvPr>
          <p:cNvSpPr>
            <a:spLocks noGrp="1"/>
          </p:cNvSpPr>
          <p:nvPr>
            <p:ph idx="1"/>
          </p:nvPr>
        </p:nvSpPr>
        <p:spPr>
          <a:xfrm>
            <a:off x="838200" y="633046"/>
            <a:ext cx="10515600" cy="5543917"/>
          </a:xfrm>
        </p:spPr>
        <p:txBody>
          <a:bodyPr>
            <a:normAutofit/>
          </a:bodyPr>
          <a:lstStyle/>
          <a:p>
            <a:pPr marL="0" indent="0">
              <a:buNone/>
            </a:pPr>
            <a:r>
              <a:rPr lang="en-US" sz="3200" dirty="0"/>
              <a:t>spectrum of electromagnetic waves (such as X-ray and Gamma rays) as well as energetic particles (like Alpha and beta particles).  Together, these fields form the physical foundation for modern quantum mechanics, nuclear energy, medical imaging, radiation therapy and advanced spectroscopy.</a:t>
            </a:r>
            <a:endParaRPr lang="x-none" sz="3200" dirty="0"/>
          </a:p>
          <a:p>
            <a:pPr marL="0" indent="0">
              <a:buNone/>
            </a:pPr>
            <a:endParaRPr lang="x-none" sz="3200" dirty="0"/>
          </a:p>
        </p:txBody>
      </p:sp>
    </p:spTree>
    <p:extLst>
      <p:ext uri="{BB962C8B-B14F-4D97-AF65-F5344CB8AC3E}">
        <p14:creationId xmlns:p14="http://schemas.microsoft.com/office/powerpoint/2010/main" val="2093119774"/>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303BA0C-AAF9-95EA-3129-EACBAD7E97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F86831F-2A7A-B458-8D7F-800627BDB2CA}"/>
              </a:ext>
            </a:extLst>
          </p:cNvPr>
          <p:cNvSpPr>
            <a:spLocks noGrp="1"/>
          </p:cNvSpPr>
          <p:nvPr>
            <p:ph idx="1"/>
          </p:nvPr>
        </p:nvSpPr>
        <p:spPr>
          <a:xfrm>
            <a:off x="838200" y="633046"/>
            <a:ext cx="10515600" cy="5543917"/>
          </a:xfrm>
        </p:spPr>
        <p:txBody>
          <a:bodyPr>
            <a:normAutofit/>
          </a:bodyPr>
          <a:lstStyle/>
          <a:p>
            <a:pPr marL="0" indent="0" algn="ctr">
              <a:buNone/>
            </a:pPr>
            <a:r>
              <a:rPr lang="en-US" b="1" dirty="0">
                <a:latin typeface="Times New Roman" panose="02020603050405020304" pitchFamily="18" charset="0"/>
                <a:cs typeface="Times New Roman" panose="02020603050405020304" pitchFamily="18" charset="0"/>
              </a:rPr>
              <a:t>THE MEASUREMENT AND UNIT IN ATOMIC AND RADIATION PHYSICS </a:t>
            </a:r>
            <a:r>
              <a:rPr lang="en-US" dirty="0">
                <a:latin typeface="Times New Roman" panose="02020603050405020304" pitchFamily="18" charset="0"/>
                <a:cs typeface="Times New Roman" panose="02020603050405020304" pitchFamily="18" charset="0"/>
              </a:rPr>
              <a:t> </a:t>
            </a:r>
            <a:endParaRPr lang="x-none"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 Atomic and Radiation Physics, physical properties are measured across microscopic length scales, extremely high energy levels, and Radioactive decay process. Because standard SI Units like meters, Joules, and Kilograms are inconveniently large at the atomic level, specialized atomic and nuclear units are used alongside standard SI definitions. </a:t>
            </a:r>
            <a:endParaRPr lang="x-none" dirty="0">
              <a:latin typeface="Times New Roman" panose="02020603050405020304" pitchFamily="18" charset="0"/>
              <a:cs typeface="Times New Roman" panose="02020603050405020304" pitchFamily="18" charset="0"/>
            </a:endParaRPr>
          </a:p>
          <a:p>
            <a:pPr marL="0" indent="0">
              <a:buNone/>
            </a:pPr>
            <a:endParaRPr lang="x-none"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6511707"/>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85A298B-EB60-0CAF-AB88-7FD5B7A8C1D4}"/>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xmlns="" id="{F4737BB5-5426-4D6E-3478-3DE2799B08F3}"/>
              </a:ext>
            </a:extLst>
          </p:cNvPr>
          <p:cNvGraphicFramePr>
            <a:graphicFrameLocks noGrp="1"/>
          </p:cNvGraphicFramePr>
          <p:nvPr>
            <p:ph idx="1"/>
            <p:extLst>
              <p:ext uri="{D42A27DB-BD31-4B8C-83A1-F6EECF244321}">
                <p14:modId xmlns:p14="http://schemas.microsoft.com/office/powerpoint/2010/main" val="724066902"/>
              </p:ext>
            </p:extLst>
          </p:nvPr>
        </p:nvGraphicFramePr>
        <p:xfrm>
          <a:off x="865632" y="2095617"/>
          <a:ext cx="10960608" cy="2666765"/>
        </p:xfrm>
        <a:graphic>
          <a:graphicData uri="http://schemas.openxmlformats.org/drawingml/2006/table">
            <a:tbl>
              <a:tblPr firstRow="1" firstCol="1" bandRow="1">
                <a:tableStyleId>{5C22544A-7EE6-4342-B048-85BDC9FD1C3A}</a:tableStyleId>
              </a:tblPr>
              <a:tblGrid>
                <a:gridCol w="2740152">
                  <a:extLst>
                    <a:ext uri="{9D8B030D-6E8A-4147-A177-3AD203B41FA5}">
                      <a16:colId xmlns:a16="http://schemas.microsoft.com/office/drawing/2014/main" xmlns="" val="332296493"/>
                    </a:ext>
                  </a:extLst>
                </a:gridCol>
                <a:gridCol w="2740152">
                  <a:extLst>
                    <a:ext uri="{9D8B030D-6E8A-4147-A177-3AD203B41FA5}">
                      <a16:colId xmlns:a16="http://schemas.microsoft.com/office/drawing/2014/main" xmlns="" val="4261598267"/>
                    </a:ext>
                  </a:extLst>
                </a:gridCol>
                <a:gridCol w="2740152">
                  <a:extLst>
                    <a:ext uri="{9D8B030D-6E8A-4147-A177-3AD203B41FA5}">
                      <a16:colId xmlns:a16="http://schemas.microsoft.com/office/drawing/2014/main" xmlns="" val="700207067"/>
                    </a:ext>
                  </a:extLst>
                </a:gridCol>
                <a:gridCol w="2740152">
                  <a:extLst>
                    <a:ext uri="{9D8B030D-6E8A-4147-A177-3AD203B41FA5}">
                      <a16:colId xmlns:a16="http://schemas.microsoft.com/office/drawing/2014/main" xmlns="" val="2441376778"/>
                    </a:ext>
                  </a:extLst>
                </a:gridCol>
              </a:tblGrid>
              <a:tr h="1071555">
                <a:tc>
                  <a:txBody>
                    <a:bodyPr/>
                    <a:lstStyle/>
                    <a:p>
                      <a:pPr>
                        <a:lnSpc>
                          <a:spcPct val="107000"/>
                        </a:lnSpc>
                        <a:spcAft>
                          <a:spcPts val="800"/>
                        </a:spcAft>
                        <a:buNone/>
                      </a:pPr>
                      <a:r>
                        <a:rPr lang="en-US" sz="1100" kern="100" dirty="0">
                          <a:effectLst/>
                        </a:rPr>
                        <a:t>Physical Quantity</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100" kern="100" dirty="0">
                          <a:effectLst/>
                        </a:rPr>
                        <a:t>Symbol</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100" kern="100">
                          <a:effectLst/>
                        </a:rPr>
                        <a:t>Common non-SI/atomic unit</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100" kern="100">
                          <a:effectLst/>
                        </a:rPr>
                        <a:t>Standard Unit</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493582859"/>
                  </a:ext>
                </a:extLst>
              </a:tr>
              <a:tr h="523655">
                <a:tc>
                  <a:txBody>
                    <a:bodyPr/>
                    <a:lstStyle/>
                    <a:p>
                      <a:pPr>
                        <a:lnSpc>
                          <a:spcPct val="107000"/>
                        </a:lnSpc>
                        <a:spcAft>
                          <a:spcPts val="800"/>
                        </a:spcAft>
                        <a:buNone/>
                      </a:pPr>
                      <a:r>
                        <a:rPr lang="en-US" sz="1100" kern="100">
                          <a:effectLst/>
                        </a:rPr>
                        <a:t>Energy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100" kern="100">
                          <a:effectLst/>
                        </a:rPr>
                        <a:t>£</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100" kern="100">
                          <a:effectLst/>
                        </a:rPr>
                        <a:t>Electron volt (eV)</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100" kern="100">
                          <a:effectLst/>
                        </a:rPr>
                        <a:t>Joule (J)</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628894021"/>
                  </a:ext>
                </a:extLst>
              </a:tr>
              <a:tr h="1071555">
                <a:tc>
                  <a:txBody>
                    <a:bodyPr/>
                    <a:lstStyle/>
                    <a:p>
                      <a:pPr>
                        <a:lnSpc>
                          <a:spcPct val="107000"/>
                        </a:lnSpc>
                        <a:spcAft>
                          <a:spcPts val="800"/>
                        </a:spcAft>
                        <a:buNone/>
                      </a:pPr>
                      <a:r>
                        <a:rPr lang="en-US" sz="1100" kern="100" dirty="0">
                          <a:effectLst/>
                        </a:rPr>
                        <a:t>Mass </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100" kern="100">
                          <a:effectLst/>
                        </a:rPr>
                        <a:t>M</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100" kern="100">
                          <a:effectLst/>
                        </a:rPr>
                        <a:t>Atomic mass unit (u/Da)</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US" sz="1100" kern="100" dirty="0">
                          <a:effectLst/>
                        </a:rPr>
                        <a:t> </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821386932"/>
                  </a:ext>
                </a:extLst>
              </a:tr>
            </a:tbl>
          </a:graphicData>
        </a:graphic>
      </p:graphicFrame>
      <p:sp>
        <p:nvSpPr>
          <p:cNvPr id="4" name="Rectangle 1">
            <a:extLst>
              <a:ext uri="{FF2B5EF4-FFF2-40B4-BE49-F238E27FC236}">
                <a16:creationId xmlns:a16="http://schemas.microsoft.com/office/drawing/2014/main" xmlns="" id="{7CA95829-B757-EB29-4C44-C087DFE2D44D}"/>
              </a:ext>
            </a:extLst>
          </p:cNvPr>
          <p:cNvSpPr>
            <a:spLocks noChangeArrowheads="1"/>
          </p:cNvSpPr>
          <p:nvPr/>
        </p:nvSpPr>
        <p:spPr bwMode="auto">
          <a:xfrm>
            <a:off x="-2108447" y="-449937"/>
            <a:ext cx="19613383"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x-none"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FUNDAMENTAL PHYSICAL QUANTITIES AND BASE UNITS:</a:t>
            </a:r>
            <a:endParaRPr kumimoji="0" lang="en-US" altLang="x-none"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x-none"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xmlns="" id="{4D7E0A9C-4488-BB29-12DB-E059124AF227}"/>
              </a:ext>
            </a:extLst>
          </p:cNvPr>
          <p:cNvSpPr txBox="1"/>
          <p:nvPr/>
        </p:nvSpPr>
        <p:spPr>
          <a:xfrm>
            <a:off x="865632" y="1243959"/>
            <a:ext cx="9826752" cy="646331"/>
          </a:xfrm>
          <a:prstGeom prst="rect">
            <a:avLst/>
          </a:prstGeom>
          <a:noFill/>
        </p:spPr>
        <p:txBody>
          <a:bodyPr wrap="square" rtlCol="0">
            <a:spAutoFit/>
          </a:bodyPr>
          <a:lstStyle/>
          <a:p>
            <a:r>
              <a:rPr lang="en-US" b="1" dirty="0"/>
              <a:t>1. FUNDAMENTAL PHYSICAL QUANTITIES AND BASE UNITS:</a:t>
            </a:r>
            <a:endParaRPr lang="x-none" b="1" dirty="0"/>
          </a:p>
          <a:p>
            <a:endParaRPr lang="x-none" dirty="0"/>
          </a:p>
        </p:txBody>
      </p:sp>
    </p:spTree>
    <p:extLst>
      <p:ext uri="{BB962C8B-B14F-4D97-AF65-F5344CB8AC3E}">
        <p14:creationId xmlns:p14="http://schemas.microsoft.com/office/powerpoint/2010/main" val="1412430932"/>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xmlns="" id="{E356751D-0A48-E827-7C0F-2709C29891E3}"/>
                  </a:ext>
                </a:extLst>
              </p:cNvPr>
              <p:cNvGraphicFramePr>
                <a:graphicFrameLocks noGrp="1"/>
              </p:cNvGraphicFramePr>
              <p:nvPr>
                <p:ph idx="1"/>
                <p:extLst>
                  <p:ext uri="{D42A27DB-BD31-4B8C-83A1-F6EECF244321}">
                    <p14:modId xmlns:p14="http://schemas.microsoft.com/office/powerpoint/2010/main" val="3307545932"/>
                  </p:ext>
                </p:extLst>
              </p:nvPr>
            </p:nvGraphicFramePr>
            <p:xfrm>
              <a:off x="855785" y="1137139"/>
              <a:ext cx="10292861" cy="4583722"/>
            </p:xfrm>
            <a:graphic>
              <a:graphicData uri="http://schemas.openxmlformats.org/drawingml/2006/table">
                <a:tbl>
                  <a:tblPr firstRow="1" firstCol="1" bandRow="1">
                    <a:tableStyleId>{5C22544A-7EE6-4342-B048-85BDC9FD1C3A}</a:tableStyleId>
                  </a:tblPr>
                  <a:tblGrid>
                    <a:gridCol w="1932989">
                      <a:extLst>
                        <a:ext uri="{9D8B030D-6E8A-4147-A177-3AD203B41FA5}">
                          <a16:colId xmlns:a16="http://schemas.microsoft.com/office/drawing/2014/main" xmlns="" val="1358837769"/>
                        </a:ext>
                      </a:extLst>
                    </a:gridCol>
                    <a:gridCol w="1194267">
                      <a:extLst>
                        <a:ext uri="{9D8B030D-6E8A-4147-A177-3AD203B41FA5}">
                          <a16:colId xmlns:a16="http://schemas.microsoft.com/office/drawing/2014/main" xmlns="" val="2313522261"/>
                        </a:ext>
                      </a:extLst>
                    </a:gridCol>
                    <a:gridCol w="2856392">
                      <a:extLst>
                        <a:ext uri="{9D8B030D-6E8A-4147-A177-3AD203B41FA5}">
                          <a16:colId xmlns:a16="http://schemas.microsoft.com/office/drawing/2014/main" xmlns="" val="456723420"/>
                        </a:ext>
                      </a:extLst>
                    </a:gridCol>
                    <a:gridCol w="1994550">
                      <a:extLst>
                        <a:ext uri="{9D8B030D-6E8A-4147-A177-3AD203B41FA5}">
                          <a16:colId xmlns:a16="http://schemas.microsoft.com/office/drawing/2014/main" xmlns="" val="3945053086"/>
                        </a:ext>
                      </a:extLst>
                    </a:gridCol>
                    <a:gridCol w="2314663">
                      <a:extLst>
                        <a:ext uri="{9D8B030D-6E8A-4147-A177-3AD203B41FA5}">
                          <a16:colId xmlns:a16="http://schemas.microsoft.com/office/drawing/2014/main" xmlns="" val="1550545992"/>
                        </a:ext>
                      </a:extLst>
                    </a:gridCol>
                  </a:tblGrid>
                  <a:tr h="1017602">
                    <a:tc>
                      <a:txBody>
                        <a:bodyPr/>
                        <a:lstStyle/>
                        <a:p>
                          <a:pPr marL="457200">
                            <a:lnSpc>
                              <a:spcPct val="107000"/>
                            </a:lnSpc>
                            <a:buNone/>
                          </a:pPr>
                          <a:r>
                            <a:rPr lang="en-US" sz="1100" kern="100">
                              <a:effectLst/>
                            </a:rPr>
                            <a:t>DOSE CATEGORY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SYMBOL</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COMMON NON-SI ATOMIC UNIT </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STANDARED SI UNIT</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RELATIONSHIP/CONVERSION</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028048324"/>
                      </a:ext>
                    </a:extLst>
                  </a:tr>
                  <a:tr h="502632">
                    <a:tc>
                      <a:txBody>
                        <a:bodyPr/>
                        <a:lstStyle/>
                        <a:p>
                          <a:pPr marL="457200">
                            <a:lnSpc>
                              <a:spcPct val="107000"/>
                            </a:lnSpc>
                            <a:buNone/>
                          </a:pPr>
                          <a:r>
                            <a:rPr lang="en-US" sz="1100" kern="100">
                              <a:effectLst/>
                            </a:rPr>
                            <a:t>Energy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Electron volt (eV)</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Joule (J)</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dirty="0">
                              <a:effectLst/>
                            </a:rPr>
                            <a:t>1 eV = 1.6022 x</a:t>
                          </a:r>
                          <a14:m>
                            <m:oMath xmlns:m="http://schemas.openxmlformats.org/officeDocument/2006/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−19</m:t>
                                  </m:r>
                                </m:sup>
                              </m:sSup>
                            </m:oMath>
                          </a14:m>
                          <a:r>
                            <a:rPr lang="en-US" sz="1100" kern="100" dirty="0">
                              <a:effectLst/>
                            </a:rPr>
                            <a:t>J</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594099194"/>
                      </a:ext>
                    </a:extLst>
                  </a:tr>
                  <a:tr h="1017602">
                    <a:tc>
                      <a:txBody>
                        <a:bodyPr/>
                        <a:lstStyle/>
                        <a:p>
                          <a:pPr marL="457200">
                            <a:lnSpc>
                              <a:spcPct val="107000"/>
                            </a:lnSpc>
                            <a:buNone/>
                          </a:pPr>
                          <a:r>
                            <a:rPr lang="en-US" sz="1100" kern="100">
                              <a:effectLst/>
                            </a:rPr>
                            <a:t>Mass</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m</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Atomic mass unit (u/Da)</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Kilogram (kg)</a:t>
                          </a:r>
                          <a:endParaRPr lang="x-none" sz="1100" kern="100">
                            <a:effectLst/>
                          </a:endParaRPr>
                        </a:p>
                        <a:p>
                          <a:pPr marL="457200">
                            <a:lnSpc>
                              <a:spcPct val="107000"/>
                            </a:lnSpc>
                            <a:buNone/>
                          </a:pPr>
                          <a:r>
                            <a:rPr lang="en-US" sz="1100" kern="100">
                              <a:effectLst/>
                            </a:rPr>
                            <a:t>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1 u =  1.6605 x </a:t>
                          </a:r>
                          <a14:m>
                            <m:oMath xmlns:m="http://schemas.openxmlformats.org/officeDocument/2006/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−27</m:t>
                                  </m:r>
                                </m:sup>
                              </m:sSup>
                              <m:r>
                                <a:rPr lang="en-US" sz="1100" kern="100">
                                  <a:effectLst/>
                                  <a:latin typeface="Cambria Math"/>
                                </a:rPr>
                                <m:t>𝑘𝑔</m:t>
                              </m:r>
                            </m:oMath>
                          </a14:m>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258128323"/>
                      </a:ext>
                    </a:extLst>
                  </a:tr>
                  <a:tr h="1040622">
                    <a:tc>
                      <a:txBody>
                        <a:bodyPr/>
                        <a:lstStyle/>
                        <a:p>
                          <a:pPr marL="457200">
                            <a:lnSpc>
                              <a:spcPct val="107000"/>
                            </a:lnSpc>
                            <a:buNone/>
                          </a:pPr>
                          <a:r>
                            <a:rPr lang="en-US" sz="1100" kern="100">
                              <a:effectLst/>
                            </a:rPr>
                            <a:t>Length / Distance</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ɤ.ʎ</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Angstrom (Å)/ fermi (</a:t>
                          </a:r>
                          <a:r>
                            <a:rPr lang="en-US" sz="1100" kern="100" dirty="0" err="1">
                              <a:effectLst/>
                            </a:rPr>
                            <a:t>fm</a:t>
                          </a:r>
                          <a:r>
                            <a:rPr lang="en-US" sz="1100" kern="100" dirty="0">
                              <a:effectLst/>
                            </a:rPr>
                            <a:t>)</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Meter (m)</a:t>
                          </a:r>
                          <a:endParaRPr lang="x-none" sz="1100" kern="100">
                            <a:effectLst/>
                          </a:endParaRPr>
                        </a:p>
                        <a:p>
                          <a:pPr marL="457200">
                            <a:lnSpc>
                              <a:spcPct val="107000"/>
                            </a:lnSpc>
                            <a:buNone/>
                          </a:pPr>
                          <a:r>
                            <a:rPr lang="en-US" sz="1100" kern="100">
                              <a:effectLst/>
                            </a:rPr>
                            <a:t>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1 Å= </a:t>
                          </a:r>
                          <a14:m>
                            <m:oMath xmlns:m="http://schemas.openxmlformats.org/officeDocument/2006/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−10</m:t>
                                  </m:r>
                                </m:sup>
                              </m:sSup>
                              <m:r>
                                <a:rPr lang="en-US" sz="1100" kern="100">
                                  <a:effectLst/>
                                  <a:latin typeface="Cambria Math"/>
                                </a:rPr>
                                <m:t>𝑚</m:t>
                              </m:r>
                              <m:r>
                                <a:rPr lang="en-US" sz="1100" kern="100">
                                  <a:effectLst/>
                                  <a:latin typeface="Cambria Math"/>
                                </a:rPr>
                                <m:t>;1</m:t>
                              </m:r>
                              <m:r>
                                <a:rPr lang="en-US" sz="1100" kern="100">
                                  <a:effectLst/>
                                  <a:latin typeface="Cambria Math"/>
                                </a:rPr>
                                <m:t>𝑓𝑚</m:t>
                              </m:r>
                              <m:r>
                                <a:rPr lang="en-US" sz="1100" kern="100">
                                  <a:effectLst/>
                                  <a:latin typeface="Cambria Math"/>
                                </a:rPr>
                                <m:t>= </m:t>
                              </m:r>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−15</m:t>
                                  </m:r>
                                </m:sup>
                              </m:sSup>
                              <m:r>
                                <a:rPr lang="en-US" sz="1100" kern="100">
                                  <a:effectLst/>
                                  <a:latin typeface="Cambria Math"/>
                                </a:rPr>
                                <m:t>𝑚</m:t>
                              </m:r>
                            </m:oMath>
                          </a14:m>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131587818"/>
                      </a:ext>
                    </a:extLst>
                  </a:tr>
                  <a:tr h="502632">
                    <a:tc>
                      <a:txBody>
                        <a:bodyPr/>
                        <a:lstStyle/>
                        <a:p>
                          <a:pPr marL="457200">
                            <a:lnSpc>
                              <a:spcPct val="107000"/>
                            </a:lnSpc>
                            <a:buNone/>
                          </a:pPr>
                          <a:r>
                            <a:rPr lang="en-US" sz="1100" kern="100">
                              <a:effectLst/>
                            </a:rPr>
                            <a:t>Electric Charge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q,e</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Elementary charge (e)</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Coulomb (c)</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1e = 1.6022 x </a:t>
                          </a:r>
                          <a14:m>
                            <m:oMath xmlns:m="http://schemas.openxmlformats.org/officeDocument/2006/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−19</m:t>
                                  </m:r>
                                </m:sup>
                              </m:sSup>
                              <m:r>
                                <a:rPr lang="en-US" sz="1100" kern="100">
                                  <a:effectLst/>
                                  <a:latin typeface="Cambria Math"/>
                                </a:rPr>
                                <m:t>𝐶</m:t>
                              </m:r>
                            </m:oMath>
                          </a14:m>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665504887"/>
                      </a:ext>
                    </a:extLst>
                  </a:tr>
                  <a:tr h="502632">
                    <a:tc>
                      <a:txBody>
                        <a:bodyPr/>
                        <a:lstStyle/>
                        <a:p>
                          <a:pPr marL="457200">
                            <a:lnSpc>
                              <a:spcPct val="107000"/>
                            </a:lnSpc>
                            <a:buNone/>
                          </a:pPr>
                          <a:r>
                            <a:rPr lang="en-US" sz="1100" kern="100">
                              <a:effectLst/>
                            </a:rPr>
                            <a:t>Coss section &amp; (area)</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σ</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Barn (b)</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Square meter (</a:t>
                          </a:r>
                          <a14:m>
                            <m:oMath xmlns:m="http://schemas.openxmlformats.org/officeDocument/2006/math">
                              <m:sSup>
                                <m:sSupPr>
                                  <m:ctrlPr>
                                    <a:rPr lang="x-none" sz="1100" i="1" kern="100">
                                      <a:effectLst/>
                                      <a:latin typeface="Cambria Math"/>
                                    </a:rPr>
                                  </m:ctrlPr>
                                </m:sSupPr>
                                <m:e>
                                  <m:r>
                                    <a:rPr lang="en-US" sz="1100" kern="100">
                                      <a:effectLst/>
                                      <a:latin typeface="Cambria Math"/>
                                    </a:rPr>
                                    <m:t>𝑚</m:t>
                                  </m:r>
                                </m:e>
                                <m:sup>
                                  <m:r>
                                    <a:rPr lang="en-US" sz="1100" kern="100">
                                      <a:effectLst/>
                                      <a:latin typeface="Cambria Math"/>
                                    </a:rPr>
                                    <m:t>2</m:t>
                                  </m:r>
                                </m:sup>
                              </m:sSup>
                            </m:oMath>
                          </a14:m>
                          <a:r>
                            <a:rPr lang="en-US" sz="1100" kern="100">
                              <a:effectLst/>
                            </a:rPr>
                            <a:t>)</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dirty="0">
                              <a:effectLst/>
                            </a:rPr>
                            <a:t>1b=</a:t>
                          </a:r>
                          <a14:m>
                            <m:oMath xmlns:m="http://schemas.openxmlformats.org/officeDocument/2006/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−28</m:t>
                                  </m:r>
                                </m:sup>
                              </m:sSup>
                              <m:r>
                                <a:rPr lang="en-US" sz="1100" kern="100">
                                  <a:effectLst/>
                                  <a:latin typeface="Cambria Math"/>
                                </a:rPr>
                                <m:t> </m:t>
                              </m:r>
                            </m:oMath>
                          </a14:m>
                          <a:r>
                            <a:rPr lang="en-US" sz="1100" kern="100" dirty="0">
                              <a:effectLst/>
                            </a:rPr>
                            <a:t>  </a:t>
                          </a:r>
                          <a14:m>
                            <m:oMath xmlns:m="http://schemas.openxmlformats.org/officeDocument/2006/math">
                              <m:sSup>
                                <m:sSupPr>
                                  <m:ctrlPr>
                                    <a:rPr lang="x-none" sz="1100" i="1" kern="100">
                                      <a:effectLst/>
                                      <a:latin typeface="Cambria Math"/>
                                    </a:rPr>
                                  </m:ctrlPr>
                                </m:sSupPr>
                                <m:e>
                                  <m:r>
                                    <a:rPr lang="en-US" sz="1100" kern="100">
                                      <a:effectLst/>
                                      <a:latin typeface="Cambria Math"/>
                                    </a:rPr>
                                    <m:t>𝑚</m:t>
                                  </m:r>
                                </m:e>
                                <m:sup>
                                  <m:r>
                                    <a:rPr lang="en-US" sz="1100" kern="100">
                                      <a:effectLst/>
                                      <a:latin typeface="Cambria Math"/>
                                    </a:rPr>
                                    <m:t>2</m:t>
                                  </m:r>
                                </m:sup>
                              </m:sSup>
                            </m:oMath>
                          </a14:m>
                          <a:r>
                            <a:rPr lang="en-US" sz="1100" kern="100" dirty="0">
                              <a:effectLst/>
                            </a:rPr>
                            <a:t>= 100f</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59532402"/>
                      </a:ext>
                    </a:extLst>
                  </a:tr>
                </a:tbl>
              </a:graphicData>
            </a:graphic>
          </p:graphicFrame>
        </mc:Choice>
        <mc:Fallback xmlns="">
          <p:graphicFrame>
            <p:nvGraphicFramePr>
              <p:cNvPr id="4" name="Content Placeholder 3">
                <a:extLst>
                  <a:ext uri="{FF2B5EF4-FFF2-40B4-BE49-F238E27FC236}">
                    <a16:creationId xmlns:a16="http://schemas.microsoft.com/office/drawing/2014/main" id="{E356751D-0A48-E827-7C0F-2709C29891E3}"/>
                  </a:ext>
                </a:extLst>
              </p:cNvPr>
              <p:cNvGraphicFramePr>
                <a:graphicFrameLocks noGrp="1"/>
              </p:cNvGraphicFramePr>
              <p:nvPr>
                <p:ph idx="1"/>
                <p:extLst>
                  <p:ext uri="{D42A27DB-BD31-4B8C-83A1-F6EECF244321}">
                    <p14:modId xmlns:p14="http://schemas.microsoft.com/office/powerpoint/2010/main" val="3307545932"/>
                  </p:ext>
                </p:extLst>
              </p:nvPr>
            </p:nvGraphicFramePr>
            <p:xfrm>
              <a:off x="855785" y="1137139"/>
              <a:ext cx="10292861" cy="4583722"/>
            </p:xfrm>
            <a:graphic>
              <a:graphicData uri="http://schemas.openxmlformats.org/drawingml/2006/table">
                <a:tbl>
                  <a:tblPr firstRow="1" firstCol="1" bandRow="1">
                    <a:tableStyleId>{5C22544A-7EE6-4342-B048-85BDC9FD1C3A}</a:tableStyleId>
                  </a:tblPr>
                  <a:tblGrid>
                    <a:gridCol w="1932989">
                      <a:extLst>
                        <a:ext uri="{9D8B030D-6E8A-4147-A177-3AD203B41FA5}">
                          <a16:colId xmlns:a16="http://schemas.microsoft.com/office/drawing/2014/main" val="1358837769"/>
                        </a:ext>
                      </a:extLst>
                    </a:gridCol>
                    <a:gridCol w="1194267">
                      <a:extLst>
                        <a:ext uri="{9D8B030D-6E8A-4147-A177-3AD203B41FA5}">
                          <a16:colId xmlns:a16="http://schemas.microsoft.com/office/drawing/2014/main" val="2313522261"/>
                        </a:ext>
                      </a:extLst>
                    </a:gridCol>
                    <a:gridCol w="2856392">
                      <a:extLst>
                        <a:ext uri="{9D8B030D-6E8A-4147-A177-3AD203B41FA5}">
                          <a16:colId xmlns:a16="http://schemas.microsoft.com/office/drawing/2014/main" val="456723420"/>
                        </a:ext>
                      </a:extLst>
                    </a:gridCol>
                    <a:gridCol w="1994550">
                      <a:extLst>
                        <a:ext uri="{9D8B030D-6E8A-4147-A177-3AD203B41FA5}">
                          <a16:colId xmlns:a16="http://schemas.microsoft.com/office/drawing/2014/main" val="3945053086"/>
                        </a:ext>
                      </a:extLst>
                    </a:gridCol>
                    <a:gridCol w="2314663">
                      <a:extLst>
                        <a:ext uri="{9D8B030D-6E8A-4147-A177-3AD203B41FA5}">
                          <a16:colId xmlns:a16="http://schemas.microsoft.com/office/drawing/2014/main" val="1550545992"/>
                        </a:ext>
                      </a:extLst>
                    </a:gridCol>
                  </a:tblGrid>
                  <a:tr h="1017602">
                    <a:tc>
                      <a:txBody>
                        <a:bodyPr/>
                        <a:lstStyle/>
                        <a:p>
                          <a:pPr marL="457200">
                            <a:lnSpc>
                              <a:spcPct val="107000"/>
                            </a:lnSpc>
                            <a:buNone/>
                          </a:pPr>
                          <a:r>
                            <a:rPr lang="en-US" sz="1100" kern="100">
                              <a:effectLst/>
                            </a:rPr>
                            <a:t>DOSE CATEGORY  </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SYMBOL</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COMMON NON-SI ATOMIC UNIT </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STANDARED SI UNIT</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RELATIONSHIP/CONVERSION</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28048324"/>
                      </a:ext>
                    </a:extLst>
                  </a:tr>
                  <a:tr h="502632">
                    <a:tc>
                      <a:txBody>
                        <a:bodyPr/>
                        <a:lstStyle/>
                        <a:p>
                          <a:pPr marL="457200">
                            <a:lnSpc>
                              <a:spcPct val="107000"/>
                            </a:lnSpc>
                            <a:buNone/>
                          </a:pPr>
                          <a:r>
                            <a:rPr lang="en-US" sz="1100" kern="100">
                              <a:effectLst/>
                            </a:rPr>
                            <a:t>Energy </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Electron volt (eV)</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Joule (J)</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NG"/>
                        </a:p>
                      </a:txBody>
                      <a:tcPr marL="68580" marR="68580" marT="0" marB="0">
                        <a:blipFill>
                          <a:blip r:embed="rId2"/>
                          <a:stretch>
                            <a:fillRect l="-344737" t="-209639" r="-1316" b="-608434"/>
                          </a:stretch>
                        </a:blipFill>
                      </a:tcPr>
                    </a:tc>
                    <a:extLst>
                      <a:ext uri="{0D108BD9-81ED-4DB2-BD59-A6C34878D82A}">
                        <a16:rowId xmlns:a16="http://schemas.microsoft.com/office/drawing/2014/main" val="2594099194"/>
                      </a:ext>
                    </a:extLst>
                  </a:tr>
                  <a:tr h="1017602">
                    <a:tc>
                      <a:txBody>
                        <a:bodyPr/>
                        <a:lstStyle/>
                        <a:p>
                          <a:pPr marL="457200">
                            <a:lnSpc>
                              <a:spcPct val="107000"/>
                            </a:lnSpc>
                            <a:buNone/>
                          </a:pPr>
                          <a:r>
                            <a:rPr lang="en-US" sz="1100" kern="100">
                              <a:effectLst/>
                            </a:rPr>
                            <a:t>Mass</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m</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Atomic mass unit (u/Da)</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Kilogram (kg)</a:t>
                          </a:r>
                          <a:endParaRPr lang="en-NG" sz="1100" kern="100">
                            <a:effectLst/>
                          </a:endParaRPr>
                        </a:p>
                        <a:p>
                          <a:pPr marL="457200">
                            <a:lnSpc>
                              <a:spcPct val="107000"/>
                            </a:lnSpc>
                            <a:buNone/>
                          </a:pPr>
                          <a:r>
                            <a:rPr lang="en-US" sz="1100" kern="100">
                              <a:effectLst/>
                            </a:rPr>
                            <a:t> </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NG"/>
                        </a:p>
                      </a:txBody>
                      <a:tcPr marL="68580" marR="68580" marT="0" marB="0">
                        <a:blipFill>
                          <a:blip r:embed="rId2"/>
                          <a:stretch>
                            <a:fillRect l="-344737" t="-153892" r="-1316" b="-202395"/>
                          </a:stretch>
                        </a:blipFill>
                      </a:tcPr>
                    </a:tc>
                    <a:extLst>
                      <a:ext uri="{0D108BD9-81ED-4DB2-BD59-A6C34878D82A}">
                        <a16:rowId xmlns:a16="http://schemas.microsoft.com/office/drawing/2014/main" val="1258128323"/>
                      </a:ext>
                    </a:extLst>
                  </a:tr>
                  <a:tr h="1040622">
                    <a:tc>
                      <a:txBody>
                        <a:bodyPr/>
                        <a:lstStyle/>
                        <a:p>
                          <a:pPr marL="457200">
                            <a:lnSpc>
                              <a:spcPct val="107000"/>
                            </a:lnSpc>
                            <a:buNone/>
                          </a:pPr>
                          <a:r>
                            <a:rPr lang="en-US" sz="1100" kern="100">
                              <a:effectLst/>
                            </a:rPr>
                            <a:t>Length / Distance</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ɤ.ʎ</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Angstrom (Å)/ fermi (</a:t>
                          </a:r>
                          <a:r>
                            <a:rPr lang="en-US" sz="1100" kern="100" dirty="0" err="1">
                              <a:effectLst/>
                            </a:rPr>
                            <a:t>fm</a:t>
                          </a:r>
                          <a:r>
                            <a:rPr lang="en-US" sz="1100" kern="100" dirty="0">
                              <a:effectLst/>
                            </a:rPr>
                            <a:t>)</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Meter (m)</a:t>
                          </a:r>
                          <a:endParaRPr lang="en-NG" sz="1100" kern="100">
                            <a:effectLst/>
                          </a:endParaRPr>
                        </a:p>
                        <a:p>
                          <a:pPr marL="457200">
                            <a:lnSpc>
                              <a:spcPct val="107000"/>
                            </a:lnSpc>
                            <a:buNone/>
                          </a:pPr>
                          <a:r>
                            <a:rPr lang="en-US" sz="1100" kern="100">
                              <a:effectLst/>
                            </a:rPr>
                            <a:t> </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NG"/>
                        </a:p>
                      </a:txBody>
                      <a:tcPr marL="68580" marR="68580" marT="0" marB="0">
                        <a:blipFill>
                          <a:blip r:embed="rId2"/>
                          <a:stretch>
                            <a:fillRect l="-344737" t="-247953" r="-1316" b="-97661"/>
                          </a:stretch>
                        </a:blipFill>
                      </a:tcPr>
                    </a:tc>
                    <a:extLst>
                      <a:ext uri="{0D108BD9-81ED-4DB2-BD59-A6C34878D82A}">
                        <a16:rowId xmlns:a16="http://schemas.microsoft.com/office/drawing/2014/main" val="1131587818"/>
                      </a:ext>
                    </a:extLst>
                  </a:tr>
                  <a:tr h="502632">
                    <a:tc>
                      <a:txBody>
                        <a:bodyPr/>
                        <a:lstStyle/>
                        <a:p>
                          <a:pPr marL="457200">
                            <a:lnSpc>
                              <a:spcPct val="107000"/>
                            </a:lnSpc>
                            <a:buNone/>
                          </a:pPr>
                          <a:r>
                            <a:rPr lang="en-US" sz="1100" kern="100">
                              <a:effectLst/>
                            </a:rPr>
                            <a:t>Electric Charge </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q,e</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Elementary charge (e)</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Coulomb (c)</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NG"/>
                        </a:p>
                      </a:txBody>
                      <a:tcPr marL="68580" marR="68580" marT="0" marB="0">
                        <a:blipFill>
                          <a:blip r:embed="rId2"/>
                          <a:stretch>
                            <a:fillRect l="-344737" t="-725610" r="-1316" b="-103659"/>
                          </a:stretch>
                        </a:blipFill>
                      </a:tcPr>
                    </a:tc>
                    <a:extLst>
                      <a:ext uri="{0D108BD9-81ED-4DB2-BD59-A6C34878D82A}">
                        <a16:rowId xmlns:a16="http://schemas.microsoft.com/office/drawing/2014/main" val="3665504887"/>
                      </a:ext>
                    </a:extLst>
                  </a:tr>
                  <a:tr h="502632">
                    <a:tc>
                      <a:txBody>
                        <a:bodyPr/>
                        <a:lstStyle/>
                        <a:p>
                          <a:pPr marL="457200">
                            <a:lnSpc>
                              <a:spcPct val="107000"/>
                            </a:lnSpc>
                            <a:buNone/>
                          </a:pPr>
                          <a:r>
                            <a:rPr lang="en-US" sz="1100" kern="100">
                              <a:effectLst/>
                            </a:rPr>
                            <a:t>Coss section &amp; (area)</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σ</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Barn (b)</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NG"/>
                        </a:p>
                      </a:txBody>
                      <a:tcPr marL="68580" marR="68580" marT="0" marB="0">
                        <a:blipFill>
                          <a:blip r:embed="rId2"/>
                          <a:stretch>
                            <a:fillRect l="-300612" t="-815663" r="-117737" b="-2410"/>
                          </a:stretch>
                        </a:blipFill>
                      </a:tcPr>
                    </a:tc>
                    <a:tc>
                      <a:txBody>
                        <a:bodyPr/>
                        <a:lstStyle/>
                        <a:p>
                          <a:endParaRPr lang="en-NG"/>
                        </a:p>
                      </a:txBody>
                      <a:tcPr marL="68580" marR="68580" marT="0" marB="0">
                        <a:blipFill>
                          <a:blip r:embed="rId2"/>
                          <a:stretch>
                            <a:fillRect l="-344737" t="-815663" r="-1316" b="-2410"/>
                          </a:stretch>
                        </a:blipFill>
                      </a:tcPr>
                    </a:tc>
                    <a:extLst>
                      <a:ext uri="{0D108BD9-81ED-4DB2-BD59-A6C34878D82A}">
                        <a16:rowId xmlns:a16="http://schemas.microsoft.com/office/drawing/2014/main" val="1059532402"/>
                      </a:ext>
                    </a:extLst>
                  </a:tr>
                </a:tbl>
              </a:graphicData>
            </a:graphic>
          </p:graphicFrame>
        </mc:Fallback>
      </mc:AlternateContent>
    </p:spTree>
    <p:extLst>
      <p:ext uri="{BB962C8B-B14F-4D97-AF65-F5344CB8AC3E}">
        <p14:creationId xmlns:p14="http://schemas.microsoft.com/office/powerpoint/2010/main" val="3795014896"/>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056A454D-0C1A-D2C6-EE87-A2E1F31DB076}"/>
                  </a:ext>
                </a:extLst>
              </p:cNvPr>
              <p:cNvSpPr>
                <a:spLocks noGrp="1"/>
              </p:cNvSpPr>
              <p:nvPr>
                <p:ph idx="1"/>
              </p:nvPr>
            </p:nvSpPr>
            <p:spPr>
              <a:xfrm>
                <a:off x="838200" y="844062"/>
                <a:ext cx="10515600" cy="5332901"/>
              </a:xfrm>
            </p:spPr>
            <p:txBody>
              <a:bodyPr>
                <a:normAutofit fontScale="92500"/>
              </a:bodyPr>
              <a:lstStyle/>
              <a:p>
                <a:pPr marL="0" indent="0">
                  <a:buNone/>
                </a:pPr>
                <a:r>
                  <a:rPr lang="en-US" dirty="0"/>
                  <a:t> </a:t>
                </a:r>
                <a:r>
                  <a:rPr lang="en-US" b="1" dirty="0"/>
                  <a:t>2. RADIOACTIVE DECAY AND ACTIVITY </a:t>
                </a:r>
                <a:endParaRPr lang="x-none" b="1" dirty="0"/>
              </a:p>
              <a:p>
                <a:pPr>
                  <a:buFont typeface="Wingdings" panose="05000000000000000000" pitchFamily="2" charset="2"/>
                  <a:buChar char="ü"/>
                </a:pPr>
                <a:r>
                  <a:rPr lang="en-US" dirty="0"/>
                  <a:t>These units quantify the rate at which radioactive nuclei transform or decay over time </a:t>
                </a:r>
                <a:endParaRPr lang="x-none" dirty="0"/>
              </a:p>
              <a:p>
                <a:pPr lvl="0">
                  <a:buFont typeface="Wingdings" panose="05000000000000000000" pitchFamily="2" charset="2"/>
                  <a:buChar char="ü"/>
                </a:pPr>
                <a:r>
                  <a:rPr lang="en-US" dirty="0"/>
                  <a:t>Activity (A): the rate of nuclear decays per unit time (A= </a:t>
                </a:r>
                <a14:m>
                  <m:oMath xmlns:m="http://schemas.openxmlformats.org/officeDocument/2006/math">
                    <m:r>
                      <a:rPr lang="en-US" i="1">
                        <a:latin typeface="Cambria Math"/>
                      </a:rPr>
                      <m:t> </m:t>
                    </m:r>
                    <m:f>
                      <m:fPr>
                        <m:ctrlPr>
                          <a:rPr lang="x-none" i="1">
                            <a:latin typeface="Cambria Math"/>
                          </a:rPr>
                        </m:ctrlPr>
                      </m:fPr>
                      <m:num>
                        <m:r>
                          <a:rPr lang="en-US" i="1">
                            <a:latin typeface="Cambria Math"/>
                          </a:rPr>
                          <m:t>𝑑𝑁</m:t>
                        </m:r>
                      </m:num>
                      <m:den>
                        <m:r>
                          <a:rPr lang="en-US" i="1">
                            <a:latin typeface="Cambria Math"/>
                          </a:rPr>
                          <m:t>𝐼</m:t>
                        </m:r>
                      </m:den>
                    </m:f>
                  </m:oMath>
                </a14:m>
                <a:r>
                  <a:rPr lang="en-US" dirty="0"/>
                  <a:t> ).</a:t>
                </a:r>
                <a:endParaRPr lang="x-none" dirty="0"/>
              </a:p>
              <a:p>
                <a:pPr lvl="0">
                  <a:buFont typeface="Wingdings" panose="05000000000000000000" pitchFamily="2" charset="2"/>
                  <a:buChar char="ü"/>
                </a:pPr>
                <a:r>
                  <a:rPr lang="en-US" dirty="0"/>
                  <a:t>SI Unit: becquerel (Bq) – defined as 1 decay per second (</a:t>
                </a:r>
                <a:r>
                  <a:rPr lang="en-US" dirty="0" err="1"/>
                  <a:t>dps</a:t>
                </a:r>
                <a:r>
                  <a:rPr lang="en-US" dirty="0"/>
                  <a:t>).</a:t>
                </a:r>
                <a:endParaRPr lang="x-none" dirty="0"/>
              </a:p>
              <a:p>
                <a:pPr lvl="0">
                  <a:buFont typeface="Wingdings" panose="05000000000000000000" pitchFamily="2" charset="2"/>
                  <a:buChar char="ü"/>
                </a:pPr>
                <a:r>
                  <a:rPr lang="en-US" dirty="0"/>
                  <a:t>Traditional unit:  curie (ci) Originally based on 1 gram of radium – 226 </a:t>
                </a:r>
                <a:endParaRPr lang="x-none" dirty="0"/>
              </a:p>
              <a:p>
                <a:pPr>
                  <a:buFont typeface="Wingdings" panose="05000000000000000000" pitchFamily="2" charset="2"/>
                  <a:buChar char="ü"/>
                </a:pPr>
                <a:r>
                  <a:rPr lang="en-US" dirty="0"/>
                  <a:t>1Ci =3.7 x </a:t>
                </a:r>
                <a14:m>
                  <m:oMath xmlns:m="http://schemas.openxmlformats.org/officeDocument/2006/math">
                    <m:sSup>
                      <m:sSupPr>
                        <m:ctrlPr>
                          <a:rPr lang="x-none" i="1">
                            <a:latin typeface="Cambria Math"/>
                          </a:rPr>
                        </m:ctrlPr>
                      </m:sSupPr>
                      <m:e>
                        <m:r>
                          <a:rPr lang="en-US" i="1">
                            <a:latin typeface="Cambria Math"/>
                          </a:rPr>
                          <m:t>10</m:t>
                        </m:r>
                      </m:e>
                      <m:sup>
                        <m:r>
                          <a:rPr lang="en-US" i="1">
                            <a:latin typeface="Cambria Math"/>
                          </a:rPr>
                          <m:t>10</m:t>
                        </m:r>
                      </m:sup>
                    </m:sSup>
                  </m:oMath>
                </a14:m>
                <a:r>
                  <a:rPr lang="en-US" dirty="0"/>
                  <a:t> Bq = 37GBq</a:t>
                </a:r>
                <a:endParaRPr lang="x-none" dirty="0"/>
              </a:p>
              <a:p>
                <a:pPr lvl="0">
                  <a:buFont typeface="Wingdings" panose="05000000000000000000" pitchFamily="2" charset="2"/>
                  <a:buChar char="ü"/>
                </a:pPr>
                <a:r>
                  <a:rPr lang="en-US" dirty="0"/>
                  <a:t>Half-life (T ½  ) : The time required for half of the radioactive atoms in a sample to decay.  Measured in seconds (s), minutes, hours, or years.  </a:t>
                </a:r>
                <a:endParaRPr lang="x-none" dirty="0"/>
              </a:p>
              <a:p>
                <a:pPr lvl="0">
                  <a:buFont typeface="Wingdings" panose="05000000000000000000" pitchFamily="2" charset="2"/>
                  <a:buChar char="ü"/>
                </a:pPr>
                <a:r>
                  <a:rPr lang="en-US" dirty="0"/>
                  <a:t>Decay constant (ʎ):  the probability of decay per unit time (ʎ=</a:t>
                </a:r>
                <a14:m>
                  <m:oMath xmlns:m="http://schemas.openxmlformats.org/officeDocument/2006/math">
                    <m:r>
                      <a:rPr lang="en-US" i="1">
                        <a:latin typeface="Cambria Math"/>
                      </a:rPr>
                      <m:t> </m:t>
                    </m:r>
                    <m:f>
                      <m:fPr>
                        <m:ctrlPr>
                          <a:rPr lang="x-none" i="1">
                            <a:latin typeface="Cambria Math"/>
                          </a:rPr>
                        </m:ctrlPr>
                      </m:fPr>
                      <m:num>
                        <m:r>
                          <a:rPr lang="en-US" i="1">
                            <a:latin typeface="Cambria Math"/>
                          </a:rPr>
                          <m:t>𝐼𝑛</m:t>
                        </m:r>
                        <m:r>
                          <a:rPr lang="en-US" i="1">
                            <a:latin typeface="Cambria Math"/>
                          </a:rPr>
                          <m:t>2</m:t>
                        </m:r>
                      </m:num>
                      <m:den>
                        <m:r>
                          <m:rPr>
                            <m:sty m:val="p"/>
                          </m:rPr>
                          <a:rPr lang="en-US">
                            <a:latin typeface="Cambria Math"/>
                          </a:rPr>
                          <m:t>T</m:t>
                        </m:r>
                        <m:r>
                          <a:rPr lang="en-US">
                            <a:latin typeface="Cambria Math"/>
                          </a:rPr>
                          <m:t> ½  </m:t>
                        </m:r>
                      </m:den>
                    </m:f>
                  </m:oMath>
                </a14:m>
                <a:r>
                  <a:rPr lang="en-US" dirty="0"/>
                  <a:t>). Measured in seconds in </a:t>
                </a:r>
                <a14:m>
                  <m:oMath xmlns:m="http://schemas.openxmlformats.org/officeDocument/2006/math">
                    <m:sSup>
                      <m:sSupPr>
                        <m:ctrlPr>
                          <a:rPr lang="x-none" i="1">
                            <a:latin typeface="Cambria Math"/>
                          </a:rPr>
                        </m:ctrlPr>
                      </m:sSupPr>
                      <m:e>
                        <m:r>
                          <a:rPr lang="en-US" i="1">
                            <a:latin typeface="Cambria Math"/>
                          </a:rPr>
                          <m:t>𝑆</m:t>
                        </m:r>
                      </m:e>
                      <m:sup>
                        <m:r>
                          <a:rPr lang="en-US" i="1">
                            <a:latin typeface="Cambria Math"/>
                          </a:rPr>
                          <m:t>−1</m:t>
                        </m:r>
                      </m:sup>
                    </m:sSup>
                  </m:oMath>
                </a14:m>
                <a:endParaRPr lang="x-none" dirty="0"/>
              </a:p>
              <a:p>
                <a:pPr marL="0" indent="0">
                  <a:buNone/>
                </a:pPr>
                <a:endParaRPr lang="x-none" dirty="0"/>
              </a:p>
            </p:txBody>
          </p:sp>
        </mc:Choice>
        <mc:Fallback xmlns="">
          <p:sp>
            <p:nvSpPr>
              <p:cNvPr id="3" name="Content Placeholder 2">
                <a:extLst>
                  <a:ext uri="{FF2B5EF4-FFF2-40B4-BE49-F238E27FC236}">
                    <a16:creationId xmlns:a16="http://schemas.microsoft.com/office/drawing/2014/main" id="{056A454D-0C1A-D2C6-EE87-A2E1F31DB076}"/>
                  </a:ext>
                </a:extLst>
              </p:cNvPr>
              <p:cNvSpPr>
                <a:spLocks noGrp="1" noRot="1" noChangeAspect="1" noMove="1" noResize="1" noEditPoints="1" noAdjustHandles="1" noChangeArrowheads="1" noChangeShapeType="1" noTextEdit="1"/>
              </p:cNvSpPr>
              <p:nvPr>
                <p:ph idx="1"/>
              </p:nvPr>
            </p:nvSpPr>
            <p:spPr>
              <a:xfrm>
                <a:off x="838200" y="844062"/>
                <a:ext cx="10515600" cy="5332901"/>
              </a:xfrm>
              <a:blipFill>
                <a:blip r:embed="rId2"/>
                <a:stretch>
                  <a:fillRect l="-928" t="-1714" b="-1486"/>
                </a:stretch>
              </a:blipFill>
            </p:spPr>
            <p:txBody>
              <a:bodyPr/>
              <a:lstStyle/>
              <a:p>
                <a:r>
                  <a:rPr lang="en-NG">
                    <a:noFill/>
                  </a:rPr>
                  <a:t> </a:t>
                </a:r>
              </a:p>
            </p:txBody>
          </p:sp>
        </mc:Fallback>
      </mc:AlternateContent>
    </p:spTree>
    <p:extLst>
      <p:ext uri="{BB962C8B-B14F-4D97-AF65-F5344CB8AC3E}">
        <p14:creationId xmlns:p14="http://schemas.microsoft.com/office/powerpoint/2010/main" val="281320894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AF49A33-9B60-922A-45DF-A926AC5080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1398312-92DB-052C-5603-01729C60CE0F}"/>
              </a:ext>
            </a:extLst>
          </p:cNvPr>
          <p:cNvSpPr>
            <a:spLocks noGrp="1"/>
          </p:cNvSpPr>
          <p:nvPr>
            <p:ph idx="1"/>
          </p:nvPr>
        </p:nvSpPr>
        <p:spPr>
          <a:xfrm>
            <a:off x="838200" y="844062"/>
            <a:ext cx="10515600" cy="5332901"/>
          </a:xfrm>
        </p:spPr>
        <p:txBody>
          <a:bodyPr>
            <a:normAutofit/>
          </a:bodyPr>
          <a:lstStyle/>
          <a:p>
            <a:pPr marL="0" lvl="0" indent="0" algn="just">
              <a:buNone/>
            </a:pPr>
            <a:r>
              <a:rPr lang="en-US" b="1" dirty="0">
                <a:latin typeface="Times New Roman" panose="02020603050405020304" pitchFamily="18" charset="0"/>
                <a:cs typeface="Times New Roman" panose="02020603050405020304" pitchFamily="18" charset="0"/>
              </a:rPr>
              <a:t>3. RADIATION EXPOSURE, ABSORBED DOSE, &amp; DOSIMENTERY </a:t>
            </a:r>
            <a:endParaRPr lang="x-none"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Radiation measurement distinguishes between the energy present in the environment, the energy absorbed by matter, and the biological harm caused to biological tissue.  </a:t>
            </a:r>
            <a:endParaRPr lang="x-none" dirty="0">
              <a:latin typeface="Times New Roman" panose="02020603050405020304" pitchFamily="18" charset="0"/>
              <a:cs typeface="Times New Roman" panose="02020603050405020304" pitchFamily="18" charset="0"/>
            </a:endParaRPr>
          </a:p>
          <a:p>
            <a:pPr marL="0" indent="0" algn="just">
              <a:buNone/>
            </a:pPr>
            <a:endParaRPr lang="x-none" dirty="0">
              <a:latin typeface="Times New Roman" panose="02020603050405020304" pitchFamily="18" charset="0"/>
              <a:cs typeface="Times New Roman" panose="02020603050405020304" pitchFamily="18" charset="0"/>
            </a:endParaRPr>
          </a:p>
          <a:p>
            <a:pPr marL="0" indent="0" algn="just">
              <a:buNone/>
            </a:pPr>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479943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xmlns="" id="{D238D64A-EC82-5405-DDA5-07B0058CA317}"/>
                  </a:ext>
                </a:extLst>
              </p:cNvPr>
              <p:cNvGraphicFramePr>
                <a:graphicFrameLocks noGrp="1"/>
              </p:cNvGraphicFramePr>
              <p:nvPr>
                <p:ph idx="1"/>
                <p:extLst>
                  <p:ext uri="{D42A27DB-BD31-4B8C-83A1-F6EECF244321}">
                    <p14:modId xmlns:p14="http://schemas.microsoft.com/office/powerpoint/2010/main" val="893525211"/>
                  </p:ext>
                </p:extLst>
              </p:nvPr>
            </p:nvGraphicFramePr>
            <p:xfrm>
              <a:off x="668215" y="633046"/>
              <a:ext cx="10773509" cy="5498123"/>
            </p:xfrm>
            <a:graphic>
              <a:graphicData uri="http://schemas.openxmlformats.org/drawingml/2006/table">
                <a:tbl>
                  <a:tblPr firstRow="1" firstCol="1" bandRow="1">
                    <a:tableStyleId>{5C22544A-7EE6-4342-B048-85BDC9FD1C3A}</a:tableStyleId>
                  </a:tblPr>
                  <a:tblGrid>
                    <a:gridCol w="2306249">
                      <a:extLst>
                        <a:ext uri="{9D8B030D-6E8A-4147-A177-3AD203B41FA5}">
                          <a16:colId xmlns:a16="http://schemas.microsoft.com/office/drawing/2014/main" xmlns="" val="538891981"/>
                        </a:ext>
                      </a:extLst>
                    </a:gridCol>
                    <a:gridCol w="2181795">
                      <a:extLst>
                        <a:ext uri="{9D8B030D-6E8A-4147-A177-3AD203B41FA5}">
                          <a16:colId xmlns:a16="http://schemas.microsoft.com/office/drawing/2014/main" xmlns="" val="269011205"/>
                        </a:ext>
                      </a:extLst>
                    </a:gridCol>
                    <a:gridCol w="2310654">
                      <a:extLst>
                        <a:ext uri="{9D8B030D-6E8A-4147-A177-3AD203B41FA5}">
                          <a16:colId xmlns:a16="http://schemas.microsoft.com/office/drawing/2014/main" xmlns="" val="2639555213"/>
                        </a:ext>
                      </a:extLst>
                    </a:gridCol>
                    <a:gridCol w="1788610">
                      <a:extLst>
                        <a:ext uri="{9D8B030D-6E8A-4147-A177-3AD203B41FA5}">
                          <a16:colId xmlns:a16="http://schemas.microsoft.com/office/drawing/2014/main" xmlns="" val="4084497551"/>
                        </a:ext>
                      </a:extLst>
                    </a:gridCol>
                    <a:gridCol w="2186201">
                      <a:extLst>
                        <a:ext uri="{9D8B030D-6E8A-4147-A177-3AD203B41FA5}">
                          <a16:colId xmlns:a16="http://schemas.microsoft.com/office/drawing/2014/main" xmlns="" val="1811870346"/>
                        </a:ext>
                      </a:extLst>
                    </a:gridCol>
                  </a:tblGrid>
                  <a:tr h="997837">
                    <a:tc>
                      <a:txBody>
                        <a:bodyPr/>
                        <a:lstStyle/>
                        <a:p>
                          <a:pPr marL="457200">
                            <a:lnSpc>
                              <a:spcPct val="107000"/>
                            </a:lnSpc>
                            <a:buNone/>
                          </a:pPr>
                          <a:r>
                            <a:rPr lang="en-US" sz="1100" kern="100">
                              <a:effectLst/>
                            </a:rPr>
                            <a:t>DOSE CATEGORY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WHAT IT MEASURES</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SI UNIT</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TRADITIONAL/NON-SI UNIT</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CONVERSION</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607158774"/>
                      </a:ext>
                    </a:extLst>
                  </a:tr>
                  <a:tr h="997837">
                    <a:tc>
                      <a:txBody>
                        <a:bodyPr/>
                        <a:lstStyle/>
                        <a:p>
                          <a:pPr marL="457200">
                            <a:lnSpc>
                              <a:spcPct val="107000"/>
                            </a:lnSpc>
                            <a:buNone/>
                          </a:pPr>
                          <a:r>
                            <a:rPr lang="en-US" sz="1100" kern="100" dirty="0">
                              <a:effectLst/>
                            </a:rPr>
                            <a:t>Exposure (X)</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Ionization produced by X-rays /gamma rays in air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Coulomb per kilogram (C/kg)</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Roentgen (R)</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dirty="0">
                              <a:effectLst/>
                            </a:rPr>
                            <a:t>1 R =2.58x</a:t>
                          </a:r>
                          <a14:m>
                            <m:oMath xmlns:m="http://schemas.openxmlformats.org/officeDocument/2006/math">
                              <m:sSup>
                                <m:sSupPr>
                                  <m:ctrlPr>
                                    <a:rPr lang="x-none" sz="1100" i="1" kern="100">
                                      <a:effectLst/>
                                      <a:latin typeface="Cambria Math"/>
                                    </a:rPr>
                                  </m:ctrlPr>
                                </m:sSupPr>
                                <m:e>
                                  <m:r>
                                    <a:rPr lang="en-US" sz="1100" kern="100">
                                      <a:effectLst/>
                                      <a:latin typeface="Cambria Math"/>
                                    </a:rPr>
                                    <m:t>10</m:t>
                                  </m:r>
                                </m:e>
                                <m:sup>
                                  <m:r>
                                    <a:rPr lang="en-US" sz="1100" kern="100">
                                      <a:effectLst/>
                                      <a:latin typeface="Cambria Math"/>
                                    </a:rPr>
                                    <m:t>−4</m:t>
                                  </m:r>
                                </m:sup>
                              </m:sSup>
                            </m:oMath>
                          </a14:m>
                          <a:r>
                            <a:rPr lang="en-US" sz="1100" kern="100" dirty="0">
                              <a:effectLst/>
                            </a:rPr>
                            <a:t> c/kg</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735038593"/>
                      </a:ext>
                    </a:extLst>
                  </a:tr>
                  <a:tr h="997837">
                    <a:tc>
                      <a:txBody>
                        <a:bodyPr/>
                        <a:lstStyle/>
                        <a:p>
                          <a:pPr marL="457200">
                            <a:lnSpc>
                              <a:spcPct val="107000"/>
                            </a:lnSpc>
                            <a:buNone/>
                          </a:pPr>
                          <a:r>
                            <a:rPr lang="en-US" sz="1100" kern="100">
                              <a:effectLst/>
                            </a:rPr>
                            <a:t>Absorbed Dose (D)</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Radiation Energy deposited per unit mass of material</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Gray (Gy), (1Gy= 1J/kg)</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Rad (rad)</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1Gy = 100 rad</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53913565"/>
                      </a:ext>
                    </a:extLst>
                  </a:tr>
                  <a:tr h="996571">
                    <a:tc>
                      <a:txBody>
                        <a:bodyPr/>
                        <a:lstStyle/>
                        <a:p>
                          <a:pPr marL="457200">
                            <a:lnSpc>
                              <a:spcPct val="107000"/>
                            </a:lnSpc>
                            <a:buNone/>
                          </a:pPr>
                          <a:r>
                            <a:rPr lang="en-US" sz="1100" kern="100">
                              <a:effectLst/>
                            </a:rPr>
                            <a:t>Equivalent Dose (H)</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Absorbed dose adjusted for radiation type (H=</a:t>
                          </a:r>
                          <a14:m>
                            <m:oMath xmlns:m="http://schemas.openxmlformats.org/officeDocument/2006/math">
                              <m:sSup>
                                <m:sSupPr>
                                  <m:ctrlPr>
                                    <a:rPr lang="x-none" sz="1100" i="1" kern="100">
                                      <a:effectLst/>
                                      <a:latin typeface="Cambria Math"/>
                                    </a:rPr>
                                  </m:ctrlPr>
                                </m:sSupPr>
                                <m:e>
                                  <m:r>
                                    <a:rPr lang="en-US" sz="1100" kern="100">
                                      <a:effectLst/>
                                      <a:latin typeface="Cambria Math"/>
                                    </a:rPr>
                                    <m:t>𝐷</m:t>
                                  </m:r>
                                </m:e>
                                <m:sup>
                                  <m:r>
                                    <a:rPr lang="en-US" sz="1100" kern="100">
                                      <a:effectLst/>
                                      <a:latin typeface="Cambria Math"/>
                                    </a:rPr>
                                    <m:t>𝑥𝑤</m:t>
                                  </m:r>
                                </m:sup>
                              </m:sSup>
                              <m:r>
                                <a:rPr lang="en-US" sz="1100" kern="100">
                                  <a:effectLst/>
                                  <a:latin typeface="Cambria Math"/>
                                </a:rPr>
                                <m:t>𝑅</m:t>
                              </m:r>
                            </m:oMath>
                          </a14:m>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Sievert (</a:t>
                          </a:r>
                          <a:r>
                            <a:rPr lang="en-US" sz="1100" kern="100" dirty="0" err="1">
                              <a:effectLst/>
                            </a:rPr>
                            <a:t>Sv</a:t>
                          </a:r>
                          <a:r>
                            <a:rPr lang="en-US" sz="1100" kern="100" dirty="0">
                              <a:effectLst/>
                            </a:rPr>
                            <a:t>) (1 </a:t>
                          </a:r>
                          <a:r>
                            <a:rPr lang="en-US" sz="1100" kern="100" dirty="0" err="1">
                              <a:effectLst/>
                            </a:rPr>
                            <a:t>Sv</a:t>
                          </a:r>
                          <a:r>
                            <a:rPr lang="en-US" sz="1100" kern="100" dirty="0">
                              <a:effectLst/>
                            </a:rPr>
                            <a:t> = 1J/kg)</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Rem (rem)</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1 Sv = 100 rem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878378813"/>
                      </a:ext>
                    </a:extLst>
                  </a:tr>
                  <a:tr h="1508041">
                    <a:tc>
                      <a:txBody>
                        <a:bodyPr/>
                        <a:lstStyle/>
                        <a:p>
                          <a:pPr marL="457200">
                            <a:lnSpc>
                              <a:spcPct val="107000"/>
                            </a:lnSpc>
                            <a:buNone/>
                          </a:pPr>
                          <a:r>
                            <a:rPr lang="en-US" sz="1100" kern="100">
                              <a:effectLst/>
                            </a:rPr>
                            <a:t>Effective Dose (E)</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Biological risk taking into account specific tissue sensitivity. </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Sievert (</a:t>
                          </a:r>
                          <a:r>
                            <a:rPr lang="en-US" sz="1100" kern="100" dirty="0" err="1">
                              <a:effectLst/>
                            </a:rPr>
                            <a:t>Sv</a:t>
                          </a:r>
                          <a:r>
                            <a:rPr lang="en-US" sz="1100" kern="100" dirty="0">
                              <a:effectLst/>
                            </a:rPr>
                            <a:t>)</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Rem (rem)</a:t>
                          </a:r>
                          <a:endParaRPr lang="x-none"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dirty="0">
                              <a:effectLst/>
                            </a:rPr>
                            <a:t>1Sv = 100 rem</a:t>
                          </a:r>
                          <a:endParaRPr lang="x-none"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604810729"/>
                      </a:ext>
                    </a:extLst>
                  </a:tr>
                </a:tbl>
              </a:graphicData>
            </a:graphic>
          </p:graphicFrame>
        </mc:Choice>
        <mc:Fallback xmlns="">
          <p:graphicFrame>
            <p:nvGraphicFramePr>
              <p:cNvPr id="4" name="Content Placeholder 3">
                <a:extLst>
                  <a:ext uri="{FF2B5EF4-FFF2-40B4-BE49-F238E27FC236}">
                    <a16:creationId xmlns:a16="http://schemas.microsoft.com/office/drawing/2014/main" id="{D238D64A-EC82-5405-DDA5-07B0058CA317}"/>
                  </a:ext>
                </a:extLst>
              </p:cNvPr>
              <p:cNvGraphicFramePr>
                <a:graphicFrameLocks noGrp="1"/>
              </p:cNvGraphicFramePr>
              <p:nvPr>
                <p:ph idx="1"/>
                <p:extLst>
                  <p:ext uri="{D42A27DB-BD31-4B8C-83A1-F6EECF244321}">
                    <p14:modId xmlns:p14="http://schemas.microsoft.com/office/powerpoint/2010/main" val="893525211"/>
                  </p:ext>
                </p:extLst>
              </p:nvPr>
            </p:nvGraphicFramePr>
            <p:xfrm>
              <a:off x="668215" y="633046"/>
              <a:ext cx="10773509" cy="5498123"/>
            </p:xfrm>
            <a:graphic>
              <a:graphicData uri="http://schemas.openxmlformats.org/drawingml/2006/table">
                <a:tbl>
                  <a:tblPr firstRow="1" firstCol="1" bandRow="1">
                    <a:tableStyleId>{5C22544A-7EE6-4342-B048-85BDC9FD1C3A}</a:tableStyleId>
                  </a:tblPr>
                  <a:tblGrid>
                    <a:gridCol w="2306249">
                      <a:extLst>
                        <a:ext uri="{9D8B030D-6E8A-4147-A177-3AD203B41FA5}">
                          <a16:colId xmlns:a16="http://schemas.microsoft.com/office/drawing/2014/main" val="538891981"/>
                        </a:ext>
                      </a:extLst>
                    </a:gridCol>
                    <a:gridCol w="2181795">
                      <a:extLst>
                        <a:ext uri="{9D8B030D-6E8A-4147-A177-3AD203B41FA5}">
                          <a16:colId xmlns:a16="http://schemas.microsoft.com/office/drawing/2014/main" val="269011205"/>
                        </a:ext>
                      </a:extLst>
                    </a:gridCol>
                    <a:gridCol w="2310654">
                      <a:extLst>
                        <a:ext uri="{9D8B030D-6E8A-4147-A177-3AD203B41FA5}">
                          <a16:colId xmlns:a16="http://schemas.microsoft.com/office/drawing/2014/main" val="2639555213"/>
                        </a:ext>
                      </a:extLst>
                    </a:gridCol>
                    <a:gridCol w="1788610">
                      <a:extLst>
                        <a:ext uri="{9D8B030D-6E8A-4147-A177-3AD203B41FA5}">
                          <a16:colId xmlns:a16="http://schemas.microsoft.com/office/drawing/2014/main" val="4084497551"/>
                        </a:ext>
                      </a:extLst>
                    </a:gridCol>
                    <a:gridCol w="2186201">
                      <a:extLst>
                        <a:ext uri="{9D8B030D-6E8A-4147-A177-3AD203B41FA5}">
                          <a16:colId xmlns:a16="http://schemas.microsoft.com/office/drawing/2014/main" val="1811870346"/>
                        </a:ext>
                      </a:extLst>
                    </a:gridCol>
                  </a:tblGrid>
                  <a:tr h="997837">
                    <a:tc>
                      <a:txBody>
                        <a:bodyPr/>
                        <a:lstStyle/>
                        <a:p>
                          <a:pPr marL="457200">
                            <a:lnSpc>
                              <a:spcPct val="107000"/>
                            </a:lnSpc>
                            <a:buNone/>
                          </a:pPr>
                          <a:r>
                            <a:rPr lang="en-US" sz="1100" kern="100">
                              <a:effectLst/>
                            </a:rPr>
                            <a:t>DOSE CATEGORY  </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WHAT IT MEASURES</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SI UNIT</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TRADITIONAL/NON-SI UNIT</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CONVERSION</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07158774"/>
                      </a:ext>
                    </a:extLst>
                  </a:tr>
                  <a:tr h="997837">
                    <a:tc>
                      <a:txBody>
                        <a:bodyPr/>
                        <a:lstStyle/>
                        <a:p>
                          <a:pPr marL="457200">
                            <a:lnSpc>
                              <a:spcPct val="107000"/>
                            </a:lnSpc>
                            <a:buNone/>
                          </a:pPr>
                          <a:r>
                            <a:rPr lang="en-US" sz="1100" kern="100" dirty="0">
                              <a:effectLst/>
                            </a:rPr>
                            <a:t>Exposure (X)</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Ionization produced by X-rays /gamma rays in air </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Coulomb per kilogram (C/kg)</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Roentgen (R)</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NG"/>
                        </a:p>
                      </a:txBody>
                      <a:tcPr marL="68580" marR="68580" marT="0" marB="0">
                        <a:blipFill>
                          <a:blip r:embed="rId2"/>
                          <a:stretch>
                            <a:fillRect l="-392758" t="-104268" r="-1393" b="-351829"/>
                          </a:stretch>
                        </a:blipFill>
                      </a:tcPr>
                    </a:tc>
                    <a:extLst>
                      <a:ext uri="{0D108BD9-81ED-4DB2-BD59-A6C34878D82A}">
                        <a16:rowId xmlns:a16="http://schemas.microsoft.com/office/drawing/2014/main" val="2735038593"/>
                      </a:ext>
                    </a:extLst>
                  </a:tr>
                  <a:tr h="997837">
                    <a:tc>
                      <a:txBody>
                        <a:bodyPr/>
                        <a:lstStyle/>
                        <a:p>
                          <a:pPr marL="457200">
                            <a:lnSpc>
                              <a:spcPct val="107000"/>
                            </a:lnSpc>
                            <a:buNone/>
                          </a:pPr>
                          <a:r>
                            <a:rPr lang="en-US" sz="1100" kern="100">
                              <a:effectLst/>
                            </a:rPr>
                            <a:t>Absorbed Dose (D)</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Radiation Energy deposited per unit mass of material</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Gray (Gy), (1Gy= 1J/kg)</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Rad (rad)</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1Gy = 100 rad</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53913565"/>
                      </a:ext>
                    </a:extLst>
                  </a:tr>
                  <a:tr h="996571">
                    <a:tc>
                      <a:txBody>
                        <a:bodyPr/>
                        <a:lstStyle/>
                        <a:p>
                          <a:pPr marL="457200">
                            <a:lnSpc>
                              <a:spcPct val="107000"/>
                            </a:lnSpc>
                            <a:buNone/>
                          </a:pPr>
                          <a:r>
                            <a:rPr lang="en-US" sz="1100" kern="100">
                              <a:effectLst/>
                            </a:rPr>
                            <a:t>Equivalent Dose (H)</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NG"/>
                        </a:p>
                      </a:txBody>
                      <a:tcPr marL="68580" marR="68580" marT="0" marB="0">
                        <a:blipFill>
                          <a:blip r:embed="rId2"/>
                          <a:stretch>
                            <a:fillRect l="-105571" t="-306135" r="-288579" b="-153374"/>
                          </a:stretch>
                        </a:blipFill>
                      </a:tcPr>
                    </a:tc>
                    <a:tc>
                      <a:txBody>
                        <a:bodyPr/>
                        <a:lstStyle/>
                        <a:p>
                          <a:pPr marL="457200">
                            <a:lnSpc>
                              <a:spcPct val="107000"/>
                            </a:lnSpc>
                            <a:buNone/>
                          </a:pPr>
                          <a:r>
                            <a:rPr lang="en-US" sz="1100" kern="100" dirty="0">
                              <a:effectLst/>
                            </a:rPr>
                            <a:t>Sievert (</a:t>
                          </a:r>
                          <a:r>
                            <a:rPr lang="en-US" sz="1100" kern="100" dirty="0" err="1">
                              <a:effectLst/>
                            </a:rPr>
                            <a:t>Sv</a:t>
                          </a:r>
                          <a:r>
                            <a:rPr lang="en-US" sz="1100" kern="100" dirty="0">
                              <a:effectLst/>
                            </a:rPr>
                            <a:t>) (1 </a:t>
                          </a:r>
                          <a:r>
                            <a:rPr lang="en-US" sz="1100" kern="100" dirty="0" err="1">
                              <a:effectLst/>
                            </a:rPr>
                            <a:t>Sv</a:t>
                          </a:r>
                          <a:r>
                            <a:rPr lang="en-US" sz="1100" kern="100" dirty="0">
                              <a:effectLst/>
                            </a:rPr>
                            <a:t> = 1J/kg)</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Rem (rem)</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a:effectLst/>
                            </a:rPr>
                            <a:t>1 Sv = 100 rem </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78378813"/>
                      </a:ext>
                    </a:extLst>
                  </a:tr>
                  <a:tr h="1508041">
                    <a:tc>
                      <a:txBody>
                        <a:bodyPr/>
                        <a:lstStyle/>
                        <a:p>
                          <a:pPr marL="457200">
                            <a:lnSpc>
                              <a:spcPct val="107000"/>
                            </a:lnSpc>
                            <a:buNone/>
                          </a:pPr>
                          <a:r>
                            <a:rPr lang="en-US" sz="1100" kern="100">
                              <a:effectLst/>
                            </a:rPr>
                            <a:t>Effective Dose (E)</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Biological risk taking into account specific tissue sensitivity. </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dirty="0">
                              <a:effectLst/>
                            </a:rPr>
                            <a:t>Sievert (</a:t>
                          </a:r>
                          <a:r>
                            <a:rPr lang="en-US" sz="1100" kern="100" dirty="0" err="1">
                              <a:effectLst/>
                            </a:rPr>
                            <a:t>Sv</a:t>
                          </a:r>
                          <a:r>
                            <a:rPr lang="en-US" sz="1100" kern="100" dirty="0">
                              <a:effectLst/>
                            </a:rPr>
                            <a:t>)</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buNone/>
                          </a:pPr>
                          <a:r>
                            <a:rPr lang="en-US" sz="1100" kern="100">
                              <a:effectLst/>
                            </a:rPr>
                            <a:t>Rem (rem)</a:t>
                          </a:r>
                          <a:endParaRPr lang="en-NG"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7000"/>
                            </a:lnSpc>
                            <a:spcAft>
                              <a:spcPts val="800"/>
                            </a:spcAft>
                            <a:buNone/>
                          </a:pPr>
                          <a:r>
                            <a:rPr lang="en-US" sz="1100" kern="100" dirty="0">
                              <a:effectLst/>
                            </a:rPr>
                            <a:t>1Sv = 100 rem</a:t>
                          </a:r>
                          <a:endParaRPr lang="en-NG"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04810729"/>
                      </a:ext>
                    </a:extLst>
                  </a:tr>
                </a:tbl>
              </a:graphicData>
            </a:graphic>
          </p:graphicFrame>
        </mc:Fallback>
      </mc:AlternateContent>
    </p:spTree>
    <p:extLst>
      <p:ext uri="{BB962C8B-B14F-4D97-AF65-F5344CB8AC3E}">
        <p14:creationId xmlns:p14="http://schemas.microsoft.com/office/powerpoint/2010/main" val="334133759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15D31A5E-36CF-4BD5-AEF8-CB2E3B14E958}"/>
                  </a:ext>
                </a:extLst>
              </p:cNvPr>
              <p:cNvSpPr>
                <a:spLocks noGrp="1"/>
              </p:cNvSpPr>
              <p:nvPr>
                <p:ph idx="1"/>
              </p:nvPr>
            </p:nvSpPr>
            <p:spPr>
              <a:xfrm>
                <a:off x="838200" y="644769"/>
                <a:ext cx="10515600" cy="5532194"/>
              </a:xfrm>
            </p:spPr>
            <p:txBody>
              <a:bodyPr>
                <a:normAutofit lnSpcReduction="10000"/>
              </a:bodyPr>
              <a:lstStyle/>
              <a:p>
                <a:pPr marL="0" indent="0" algn="just">
                  <a:buNone/>
                </a:pPr>
                <a:r>
                  <a:rPr lang="en-US" b="1" dirty="0">
                    <a:latin typeface="Times New Roman" panose="02020603050405020304" pitchFamily="18" charset="0"/>
                    <a:cs typeface="Times New Roman" panose="02020603050405020304" pitchFamily="18" charset="0"/>
                  </a:rPr>
                  <a:t>RADIATION WEIGHTING FACTORS (WR):  </a:t>
                </a:r>
                <a:r>
                  <a:rPr lang="en-US" dirty="0">
                    <a:latin typeface="Times New Roman" panose="02020603050405020304" pitchFamily="18" charset="0"/>
                    <a:cs typeface="Times New Roman" panose="02020603050405020304" pitchFamily="18" charset="0"/>
                  </a:rPr>
                  <a:t>photons and electrons have WR =1, protons have WR =2 to 5, and alpha particles/ heavy fragments have WR =20 (causing 20 times more biological damage for the same absorbed energy in Gray)</a:t>
                </a:r>
                <a:endParaRPr lang="x-none"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lvl="0"/>
                <a:r>
                  <a:rPr lang="en-US" dirty="0"/>
                  <a:t>NATURAL ATOMIC UNITS’ SYSTEM (Hartree Units)</a:t>
                </a:r>
                <a:endParaRPr lang="x-none" dirty="0"/>
              </a:p>
              <a:p>
                <a:r>
                  <a:rPr lang="en-US" dirty="0"/>
                  <a:t>In theoretical atomic physics and quantum chemistry fundamental physical constants are set equal to 1(n= Me = e=4TEσ = 1) to simplify quantum mechanical equations:  </a:t>
                </a:r>
                <a:endParaRPr lang="x-none" dirty="0"/>
              </a:p>
              <a:p>
                <a:r>
                  <a:rPr lang="en-US" dirty="0"/>
                  <a:t> </a:t>
                </a:r>
                <a:endParaRPr lang="x-none" dirty="0"/>
              </a:p>
              <a:p>
                <a:pPr lvl="0"/>
                <a:r>
                  <a:rPr lang="en-US" dirty="0"/>
                  <a:t>Atomic Unit of length (Bohr Radius, </a:t>
                </a:r>
                <a:r>
                  <a:rPr lang="en-US" dirty="0" err="1"/>
                  <a:t>ao</a:t>
                </a:r>
                <a:r>
                  <a:rPr lang="en-US" dirty="0"/>
                  <a:t>): </a:t>
                </a:r>
                <a:endParaRPr lang="x-none" dirty="0"/>
              </a:p>
              <a:p>
                <a:r>
                  <a:rPr lang="en-US" dirty="0" err="1"/>
                  <a:t>ao</a:t>
                </a:r>
                <a:r>
                  <a:rPr lang="en-US" dirty="0"/>
                  <a:t> =  =</a:t>
                </a:r>
                <a14:m>
                  <m:oMath xmlns:m="http://schemas.openxmlformats.org/officeDocument/2006/math">
                    <m:r>
                      <a:rPr lang="en-US" i="1">
                        <a:latin typeface="Cambria Math"/>
                      </a:rPr>
                      <m:t> </m:t>
                    </m:r>
                    <m:f>
                      <m:fPr>
                        <m:ctrlPr>
                          <a:rPr lang="x-none" i="1">
                            <a:latin typeface="Cambria Math"/>
                          </a:rPr>
                        </m:ctrlPr>
                      </m:fPr>
                      <m:num>
                        <m:r>
                          <a:rPr lang="en-US" i="1">
                            <a:latin typeface="Cambria Math"/>
                          </a:rPr>
                          <m:t>4</m:t>
                        </m:r>
                        <m:r>
                          <a:rPr lang="en-US" i="1">
                            <a:latin typeface="Cambria Math"/>
                          </a:rPr>
                          <m:t>𝑇𝐸𝑜</m:t>
                        </m:r>
                      </m:num>
                      <m:den>
                        <m:r>
                          <m:rPr>
                            <m:sty m:val="p"/>
                          </m:rPr>
                          <a:rPr lang="en-US">
                            <a:latin typeface="Cambria Math"/>
                          </a:rPr>
                          <m:t>T</m:t>
                        </m:r>
                        <m:r>
                          <a:rPr lang="en-US">
                            <a:latin typeface="Cambria Math"/>
                          </a:rPr>
                          <m:t> ½  </m:t>
                        </m:r>
                      </m:den>
                    </m:f>
                  </m:oMath>
                </a14:m>
                <a:r>
                  <a:rPr lang="en-US" dirty="0"/>
                  <a:t>  </a:t>
                </a:r>
                <a:endParaRPr lang="x-none" dirty="0"/>
              </a:p>
              <a:p>
                <a:pPr marL="0" indent="0" algn="just">
                  <a:buNone/>
                </a:pPr>
                <a:endParaRPr lang="x-none"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5D31A5E-36CF-4BD5-AEF8-CB2E3B14E958}"/>
                  </a:ext>
                </a:extLst>
              </p:cNvPr>
              <p:cNvSpPr>
                <a:spLocks noGrp="1" noRot="1" noChangeAspect="1" noMove="1" noResize="1" noEditPoints="1" noAdjustHandles="1" noChangeArrowheads="1" noChangeShapeType="1" noTextEdit="1"/>
              </p:cNvSpPr>
              <p:nvPr>
                <p:ph idx="1"/>
              </p:nvPr>
            </p:nvSpPr>
            <p:spPr>
              <a:xfrm>
                <a:off x="838200" y="644769"/>
                <a:ext cx="10515600" cy="5532194"/>
              </a:xfrm>
              <a:blipFill>
                <a:blip r:embed="rId2"/>
                <a:stretch>
                  <a:fillRect l="-1217" t="-2756" r="-1159"/>
                </a:stretch>
              </a:blipFill>
            </p:spPr>
            <p:txBody>
              <a:bodyPr/>
              <a:lstStyle/>
              <a:p>
                <a:r>
                  <a:rPr lang="en-NG">
                    <a:noFill/>
                  </a:rPr>
                  <a:t> </a:t>
                </a:r>
              </a:p>
            </p:txBody>
          </p:sp>
        </mc:Fallback>
      </mc:AlternateContent>
    </p:spTree>
    <p:extLst>
      <p:ext uri="{BB962C8B-B14F-4D97-AF65-F5344CB8AC3E}">
        <p14:creationId xmlns:p14="http://schemas.microsoft.com/office/powerpoint/2010/main" val="90136838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DBD1C6F-2D4A-68E1-5FE1-CE6C053C8CFA}"/>
              </a:ext>
            </a:extLst>
          </p:cNvPr>
          <p:cNvSpPr>
            <a:spLocks noGrp="1"/>
          </p:cNvSpPr>
          <p:nvPr>
            <p:ph idx="1"/>
          </p:nvPr>
        </p:nvSpPr>
        <p:spPr>
          <a:xfrm>
            <a:off x="838200" y="726831"/>
            <a:ext cx="10515600" cy="5450132"/>
          </a:xfrm>
        </p:spPr>
        <p:txBody>
          <a:bodyPr/>
          <a:lstStyle/>
          <a:p>
            <a:endParaRPr lang="x-none" dirty="0"/>
          </a:p>
        </p:txBody>
      </p:sp>
    </p:spTree>
    <p:extLst>
      <p:ext uri="{BB962C8B-B14F-4D97-AF65-F5344CB8AC3E}">
        <p14:creationId xmlns:p14="http://schemas.microsoft.com/office/powerpoint/2010/main" val="202841707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7C7C985-F0EA-8278-AC4F-A8B1E4A9F5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1ED50F3-5640-71EE-9EED-046765306516}"/>
              </a:ext>
            </a:extLst>
          </p:cNvPr>
          <p:cNvSpPr>
            <a:spLocks noGrp="1"/>
          </p:cNvSpPr>
          <p:nvPr>
            <p:ph idx="1"/>
          </p:nvPr>
        </p:nvSpPr>
        <p:spPr>
          <a:xfrm>
            <a:off x="838200" y="726831"/>
            <a:ext cx="10515600" cy="5450132"/>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FORCE, WORK, ENERGY, TEMPERATURE, AND HEAT </a:t>
            </a:r>
            <a:endParaRPr lang="x-none"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 atomic and radiation physics, these fire core concepts describe how subatomic particles, nuclei and radiation interact, move and exchange energy: </a:t>
            </a:r>
          </a:p>
          <a:p>
            <a:pPr marL="0" indent="0" algn="just">
              <a:buNone/>
            </a:pPr>
            <a:endParaRPr lang="x-none" dirty="0">
              <a:latin typeface="Times New Roman" panose="02020603050405020304" pitchFamily="18" charset="0"/>
              <a:cs typeface="Times New Roman" panose="02020603050405020304" pitchFamily="18" charset="0"/>
            </a:endParaRPr>
          </a:p>
          <a:p>
            <a:pPr marL="0" lvl="0" indent="0" algn="just">
              <a:buNone/>
            </a:pPr>
            <a:r>
              <a:rPr lang="en-US" b="1" dirty="0">
                <a:latin typeface="Times New Roman" panose="02020603050405020304" pitchFamily="18" charset="0"/>
                <a:cs typeface="Times New Roman" panose="02020603050405020304" pitchFamily="18" charset="0"/>
              </a:rPr>
              <a:t>A) FORCE</a:t>
            </a:r>
            <a:r>
              <a:rPr lang="en-US" dirty="0">
                <a:latin typeface="Times New Roman" panose="02020603050405020304" pitchFamily="18" charset="0"/>
                <a:cs typeface="Times New Roman" panose="02020603050405020304" pitchFamily="18" charset="0"/>
              </a:rPr>
              <a:t> </a:t>
            </a:r>
            <a:endParaRPr lang="x-none"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Definition: force is any interaction that, when unopposed, causes an object or particle to accelerate in the atomic realm, Macroscopic pusses and pulls give way to: </a:t>
            </a:r>
          </a:p>
          <a:p>
            <a:pPr marL="0" indent="0" algn="just">
              <a:buNone/>
            </a:pPr>
            <a:endParaRPr lang="x-none"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fundamental forces: the strong nuclear force, (holding quarks and nucleons together) the weak nuclear force (responsibility responsible for radioactive decay like beta decay), the electromagnetic force (binding electrons to atomic nuclei), and gravity (negligible at the subatomic scale).</a:t>
            </a:r>
            <a:endParaRPr lang="x-none"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SI Unit: newton (N)</a:t>
            </a:r>
            <a:endParaRPr lang="x-none" dirty="0">
              <a:latin typeface="Times New Roman" panose="02020603050405020304" pitchFamily="18" charset="0"/>
              <a:cs typeface="Times New Roman" panose="02020603050405020304" pitchFamily="18" charset="0"/>
            </a:endParaRPr>
          </a:p>
          <a:p>
            <a:pPr algn="just"/>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516882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C357EA6-6A90-3E12-5AB6-C88246BA2A5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0883693B-51CB-052C-211F-C9637A9189E2}"/>
                  </a:ext>
                </a:extLst>
              </p:cNvPr>
              <p:cNvSpPr>
                <a:spLocks noGrp="1"/>
              </p:cNvSpPr>
              <p:nvPr>
                <p:ph idx="1"/>
              </p:nvPr>
            </p:nvSpPr>
            <p:spPr>
              <a:xfrm>
                <a:off x="838200" y="726831"/>
                <a:ext cx="10515600" cy="5450132"/>
              </a:xfrm>
            </p:spPr>
            <p:txBody>
              <a:bodyPr>
                <a:normAutofit fontScale="92500" lnSpcReduction="20000"/>
              </a:bodyPr>
              <a:lstStyle/>
              <a:p>
                <a:pPr marL="0" lvl="0" indent="0" algn="just">
                  <a:buNone/>
                </a:pPr>
                <a:r>
                  <a:rPr lang="en-US" b="1" dirty="0">
                    <a:latin typeface="Times New Roman" panose="02020603050405020304" pitchFamily="18" charset="0"/>
                    <a:cs typeface="Times New Roman" panose="02020603050405020304" pitchFamily="18" charset="0"/>
                  </a:rPr>
                  <a:t>B) WORK</a:t>
                </a:r>
                <a:endParaRPr lang="x-none"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Definition: is the transfer of energy that occurs when a force act upon a particle or system and displaces it through a distance (calculated as force multiply by the displacement in the direction of the force (W = </a:t>
                </a:r>
                <a:r>
                  <a:rPr lang="en-US" dirty="0" err="1">
                    <a:latin typeface="Times New Roman" panose="02020603050405020304" pitchFamily="18" charset="0"/>
                    <a:cs typeface="Times New Roman" panose="02020603050405020304" pitchFamily="18" charset="0"/>
                  </a:rPr>
                  <a:t>fxd</a:t>
                </a:r>
                <a:r>
                  <a:rPr lang="en-US" dirty="0">
                    <a:latin typeface="Times New Roman" panose="02020603050405020304" pitchFamily="18" charset="0"/>
                    <a:cs typeface="Times New Roman" panose="02020603050405020304" pitchFamily="18" charset="0"/>
                  </a:rPr>
                  <a:t>)).  At the atomic level, work is done when an electrical accelerate and electron across a potential difference, or when radiation exerts radiation pressure. SI Unit: joule (J).</a:t>
                </a:r>
                <a:endParaRPr lang="x-none" dirty="0">
                  <a:latin typeface="Times New Roman" panose="02020603050405020304" pitchFamily="18" charset="0"/>
                  <a:cs typeface="Times New Roman" panose="02020603050405020304" pitchFamily="18" charset="0"/>
                </a:endParaRPr>
              </a:p>
              <a:p>
                <a:pPr marL="0" indent="0" algn="just">
                  <a:buNone/>
                </a:pPr>
                <a:endParaRPr lang="x-none" dirty="0">
                  <a:latin typeface="Times New Roman" panose="02020603050405020304" pitchFamily="18" charset="0"/>
                  <a:cs typeface="Times New Roman" panose="02020603050405020304" pitchFamily="18" charset="0"/>
                </a:endParaRPr>
              </a:p>
              <a:p>
                <a:pPr marL="0" lvl="0" indent="0" algn="just">
                  <a:buNone/>
                </a:pPr>
                <a:r>
                  <a:rPr lang="en-US" b="1" dirty="0">
                    <a:latin typeface="Times New Roman" panose="02020603050405020304" pitchFamily="18" charset="0"/>
                    <a:cs typeface="Times New Roman" panose="02020603050405020304" pitchFamily="18" charset="0"/>
                  </a:rPr>
                  <a:t>C) ENERGY</a:t>
                </a:r>
                <a:endParaRPr lang="x-none"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Definition: the fundamental capacity of matter or radiation to perform work or produce heat. In atomic physics, energy is quantized and exists in district states (such as electron shell level or nuclear binding energy).  It appears as kinetic energy (due to the motion of particles) and potential energy (stored in electric, magnetic, or nuclear force fields, such as ionization energy or mass energy equivalent £= </a:t>
                </a:r>
                <a14:m>
                  <m:oMath xmlns:m="http://schemas.openxmlformats.org/officeDocument/2006/math">
                    <m:sSup>
                      <m:sSupPr>
                        <m:ctrlPr>
                          <a:rPr lang="x-none" i="1">
                            <a:latin typeface="Cambria Math"/>
                          </a:rPr>
                        </m:ctrlPr>
                      </m:sSupPr>
                      <m:e>
                        <m:r>
                          <a:rPr lang="en-US" i="1">
                            <a:latin typeface="Cambria Math"/>
                          </a:rPr>
                          <m:t>𝑀𝐶</m:t>
                        </m:r>
                      </m:e>
                      <m:sup>
                        <m:r>
                          <a:rPr lang="en-US" i="1">
                            <a:latin typeface="Cambria Math"/>
                          </a:rPr>
                          <m:t>2</m:t>
                        </m:r>
                      </m:sup>
                    </m:sSup>
                  </m:oMath>
                </a14:m>
                <a:r>
                  <a:rPr lang="en-US" dirty="0">
                    <a:latin typeface="Times New Roman" panose="02020603050405020304" pitchFamily="18" charset="0"/>
                    <a:cs typeface="Times New Roman" panose="02020603050405020304" pitchFamily="18" charset="0"/>
                  </a:rPr>
                  <a:t>). </a:t>
                </a:r>
                <a:endParaRPr lang="x-none"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SI Unit: joule (J) or electron-volt (eV) for subatomic scales </a:t>
                </a:r>
                <a:endParaRPr lang="x-none" dirty="0">
                  <a:latin typeface="Times New Roman" panose="02020603050405020304" pitchFamily="18" charset="0"/>
                  <a:cs typeface="Times New Roman" panose="02020603050405020304" pitchFamily="18" charset="0"/>
                </a:endParaRPr>
              </a:p>
              <a:p>
                <a:pPr algn="just"/>
                <a:endParaRPr lang="x-none"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883693B-51CB-052C-211F-C9637A9189E2}"/>
                  </a:ext>
                </a:extLst>
              </p:cNvPr>
              <p:cNvSpPr>
                <a:spLocks noGrp="1" noRot="1" noChangeAspect="1" noMove="1" noResize="1" noEditPoints="1" noAdjustHandles="1" noChangeArrowheads="1" noChangeShapeType="1" noTextEdit="1"/>
              </p:cNvSpPr>
              <p:nvPr>
                <p:ph idx="1"/>
              </p:nvPr>
            </p:nvSpPr>
            <p:spPr>
              <a:xfrm>
                <a:off x="838200" y="726831"/>
                <a:ext cx="10515600" cy="5450132"/>
              </a:xfrm>
              <a:blipFill>
                <a:blip r:embed="rId2"/>
                <a:stretch>
                  <a:fillRect l="-1043" t="-3020" r="-986"/>
                </a:stretch>
              </a:blipFill>
            </p:spPr>
            <p:txBody>
              <a:bodyPr/>
              <a:lstStyle/>
              <a:p>
                <a:r>
                  <a:rPr lang="en-NG">
                    <a:noFill/>
                  </a:rPr>
                  <a:t> </a:t>
                </a:r>
              </a:p>
            </p:txBody>
          </p:sp>
        </mc:Fallback>
      </mc:AlternateContent>
    </p:spTree>
    <p:extLst>
      <p:ext uri="{BB962C8B-B14F-4D97-AF65-F5344CB8AC3E}">
        <p14:creationId xmlns:p14="http://schemas.microsoft.com/office/powerpoint/2010/main" val="184122669"/>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0C68F0-9A7E-4974-B75D-7F7A8FB3B4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2145EF0-C9F4-CEFE-3E79-2D36FAC67DA5}"/>
              </a:ext>
            </a:extLst>
          </p:cNvPr>
          <p:cNvSpPr>
            <a:spLocks noGrp="1"/>
          </p:cNvSpPr>
          <p:nvPr>
            <p:ph idx="1"/>
          </p:nvPr>
        </p:nvSpPr>
        <p:spPr>
          <a:xfrm>
            <a:off x="838200" y="726831"/>
            <a:ext cx="10515600" cy="5450132"/>
          </a:xfrm>
        </p:spPr>
        <p:txBody>
          <a:bodyPr>
            <a:normAutofit/>
          </a:bodyPr>
          <a:lstStyle/>
          <a:p>
            <a:pPr marL="0" lvl="0" indent="0">
              <a:buNone/>
            </a:pPr>
            <a:r>
              <a:rPr lang="en-US" b="1" dirty="0">
                <a:latin typeface="Times New Roman" panose="02020603050405020304" pitchFamily="18" charset="0"/>
                <a:cs typeface="Times New Roman" panose="02020603050405020304" pitchFamily="18" charset="0"/>
              </a:rPr>
              <a:t>D) TEMPERATURE </a:t>
            </a:r>
            <a:endParaRPr lang="x-none"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Definition: An intensive physical property that measured the average kinetic of the Microscopic transitional, rotation, and vibrational motion of particles within a substance. It dictate the direction of thermal equilibrium and the statistical distribution of particles velocities (such as the Maxwell – Boltzmann distribution)</a:t>
            </a:r>
            <a:endParaRPr lang="x-none"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SI Unit:  Kelvin (k) (or Celsius, oC)</a:t>
            </a:r>
            <a:endParaRPr lang="x-none" dirty="0">
              <a:latin typeface="Times New Roman" panose="02020603050405020304" pitchFamily="18" charset="0"/>
              <a:cs typeface="Times New Roman" panose="02020603050405020304" pitchFamily="18" charset="0"/>
            </a:endParaRPr>
          </a:p>
          <a:p>
            <a:pPr algn="just"/>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74072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4EF359B-A306-7DE9-B5B0-0F64A6ED7F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4752813-6729-F81A-D7F5-E398BC0658B9}"/>
              </a:ext>
            </a:extLst>
          </p:cNvPr>
          <p:cNvSpPr>
            <a:spLocks noGrp="1"/>
          </p:cNvSpPr>
          <p:nvPr>
            <p:ph idx="1"/>
          </p:nvPr>
        </p:nvSpPr>
        <p:spPr>
          <a:xfrm>
            <a:off x="838200" y="726831"/>
            <a:ext cx="10515600" cy="5450132"/>
          </a:xfrm>
        </p:spPr>
        <p:txBody>
          <a:bodyPr>
            <a:normAutofit/>
          </a:bodyPr>
          <a:lstStyle/>
          <a:p>
            <a:pPr marL="0" lvl="0" indent="0" algn="just">
              <a:buNone/>
            </a:pPr>
            <a:r>
              <a:rPr lang="en-US" b="1" dirty="0">
                <a:latin typeface="Times New Roman" panose="02020603050405020304" pitchFamily="18" charset="0"/>
                <a:cs typeface="Times New Roman" panose="02020603050405020304" pitchFamily="18" charset="0"/>
              </a:rPr>
              <a:t>E) HEAT</a:t>
            </a:r>
            <a:endParaRPr lang="x-none"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Definition: the spontaneous transfer of Thermal energy from a region or object of higher temperature. Heat is not something an object “contains” : rather, it is energy in transit driven by a temperature gradient.  In atomic and radiation contexts, this transfer happens via conduction, conversion, or thermal radiation (the emission of electromagnet waves like infrared or black body radiation).</a:t>
            </a:r>
            <a:endParaRPr lang="x-none"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SI Unit: joule (J) (or calories) </a:t>
            </a:r>
            <a:endParaRPr lang="x-none"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endParaRPr lang="x-none" dirty="0">
              <a:latin typeface="Times New Roman" panose="02020603050405020304" pitchFamily="18" charset="0"/>
              <a:cs typeface="Times New Roman" panose="02020603050405020304" pitchFamily="18" charset="0"/>
            </a:endParaRPr>
          </a:p>
          <a:p>
            <a:pPr algn="just"/>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558368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1EFD8F-1ACE-B81B-8617-F165E94BBC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EF0A382-C03B-A5A7-7000-70828C478361}"/>
              </a:ext>
            </a:extLst>
          </p:cNvPr>
          <p:cNvSpPr>
            <a:spLocks noGrp="1"/>
          </p:cNvSpPr>
          <p:nvPr>
            <p:ph idx="1"/>
          </p:nvPr>
        </p:nvSpPr>
        <p:spPr>
          <a:xfrm>
            <a:off x="838200" y="726831"/>
            <a:ext cx="10515600" cy="5450132"/>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THE ATOMIC STRUCTURE</a:t>
            </a:r>
            <a:endParaRPr lang="x-none"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An atom is the basic building block of matter, consisting of a tiny, dense central core called the nucleus surrounded by a cloud or orbiting electrons. Over 99.9% of an atoms mass is in the nucleus, while over 99% of its volume is empty space.</a:t>
            </a:r>
            <a:endParaRPr lang="x-none" dirty="0">
              <a:latin typeface="Times New Roman" panose="02020603050405020304" pitchFamily="18" charset="0"/>
              <a:cs typeface="Times New Roman" panose="02020603050405020304" pitchFamily="18" charset="0"/>
            </a:endParaRPr>
          </a:p>
          <a:p>
            <a:pPr marL="0" indent="0">
              <a:buNone/>
            </a:pPr>
            <a:endParaRPr lang="x-none"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The central nucleus: The nucleus sits at the center of the atoms and contains two types of subatomic particles called nucleons:</a:t>
            </a:r>
            <a:endParaRPr lang="x-none" dirty="0">
              <a:latin typeface="Times New Roman" panose="02020603050405020304" pitchFamily="18" charset="0"/>
              <a:cs typeface="Times New Roman" panose="02020603050405020304" pitchFamily="18" charset="0"/>
            </a:endParaRPr>
          </a:p>
          <a:p>
            <a:pPr marL="0" indent="0" algn="just">
              <a:buNone/>
            </a:pPr>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7121804"/>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615FCFC-1122-CCE3-4BD6-A12E38A79F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912183-7518-7618-CAAB-71ACADA5D19B}"/>
              </a:ext>
            </a:extLst>
          </p:cNvPr>
          <p:cNvSpPr>
            <a:spLocks noGrp="1"/>
          </p:cNvSpPr>
          <p:nvPr>
            <p:ph idx="1"/>
          </p:nvPr>
        </p:nvSpPr>
        <p:spPr>
          <a:xfrm>
            <a:off x="838200" y="726831"/>
            <a:ext cx="10515600" cy="5450132"/>
          </a:xfrm>
        </p:spPr>
        <p:txBody>
          <a:bodyPr>
            <a:normAutofit fontScale="92500"/>
          </a:bodyPr>
          <a:lstStyle/>
          <a:p>
            <a:pPr lvl="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PROTONS:</a:t>
            </a:r>
          </a:p>
          <a:p>
            <a:pPr lvl="0"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CHARGE:  POSITIVE (+1}</a:t>
            </a:r>
            <a:endParaRPr lang="x-none"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Mass: Approximately 1 atomic mass unit {amu}</a:t>
            </a:r>
            <a:endParaRPr lang="x-none"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Role: The number of protons is the atomic number (Z). Which defines the identity of the chemical element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carbon always has 6 protons).</a:t>
            </a:r>
          </a:p>
          <a:p>
            <a:pPr algn="just">
              <a:buFont typeface="Wingdings" panose="05000000000000000000" pitchFamily="2" charset="2"/>
              <a:buChar char="ü"/>
            </a:pPr>
            <a:endParaRPr lang="x-none"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NEUTRONS:</a:t>
            </a:r>
            <a:endParaRPr lang="x-none"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CHARGE: Neutral (0, no charge)</a:t>
            </a:r>
            <a:endParaRPr lang="x-none"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Mass: Approximately 1 amu (very close to a protons mass)</a:t>
            </a:r>
            <a:endParaRPr lang="x-none"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Role:  They act as nuclear “glue “using the strong nuclear force to bind protons together and overcome electromagnetic repulsion.  Variants of an element with different numbers of neutrons are called isotopes.</a:t>
            </a:r>
            <a:endParaRPr lang="x-none" dirty="0">
              <a:latin typeface="Times New Roman" panose="02020603050405020304" pitchFamily="18" charset="0"/>
              <a:cs typeface="Times New Roman" panose="02020603050405020304" pitchFamily="18" charset="0"/>
            </a:endParaRPr>
          </a:p>
          <a:p>
            <a:pPr marL="0" indent="0" algn="just">
              <a:buNone/>
            </a:pPr>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464137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68E4282-007E-4F95-BCD9-15AFE9CDD8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4F10A48-2EC5-17DC-FCC6-55154D233673}"/>
              </a:ext>
            </a:extLst>
          </p:cNvPr>
          <p:cNvSpPr>
            <a:spLocks noGrp="1"/>
          </p:cNvSpPr>
          <p:nvPr>
            <p:ph idx="1"/>
          </p:nvPr>
        </p:nvSpPr>
        <p:spPr>
          <a:xfrm>
            <a:off x="838200" y="726830"/>
            <a:ext cx="10515600" cy="5802923"/>
          </a:xfrm>
        </p:spPr>
        <p:txBody>
          <a:bodyPr>
            <a:normAutofit fontScale="92500" lnSpcReduction="20000"/>
          </a:bodyPr>
          <a:lstStyle/>
          <a:p>
            <a:pPr marL="0" indent="0" algn="just">
              <a:buNone/>
            </a:pPr>
            <a:r>
              <a:rPr lang="en-US" b="1" dirty="0">
                <a:latin typeface="Times New Roman" pitchFamily="18" charset="0"/>
                <a:cs typeface="Times New Roman" pitchFamily="18" charset="0"/>
              </a:rPr>
              <a:t>2. the Electron cloud and shells </a:t>
            </a:r>
            <a:endParaRPr lang="x-none" b="1" dirty="0">
              <a:latin typeface="Times New Roman" pitchFamily="18" charset="0"/>
              <a:cs typeface="Times New Roman" pitchFamily="18" charset="0"/>
            </a:endParaRPr>
          </a:p>
          <a:p>
            <a:pPr marL="0" indent="0" algn="just">
              <a:buNone/>
            </a:pPr>
            <a:r>
              <a:rPr lang="en-US" dirty="0">
                <a:latin typeface="Times New Roman" pitchFamily="18" charset="0"/>
                <a:cs typeface="Times New Roman" pitchFamily="18" charset="0"/>
              </a:rPr>
              <a:t>Surrounding the nucleus is a vast region where electron reside. </a:t>
            </a:r>
          </a:p>
          <a:p>
            <a:pPr marL="0" indent="0" algn="just">
              <a:buNone/>
            </a:pPr>
            <a:endParaRPr lang="x-none" dirty="0">
              <a:latin typeface="Times New Roman" pitchFamily="18" charset="0"/>
              <a:cs typeface="Times New Roman" pitchFamily="18" charset="0"/>
            </a:endParaRPr>
          </a:p>
          <a:p>
            <a:pPr lvl="0" algn="just">
              <a:buFont typeface="Wingdings" panose="05000000000000000000" pitchFamily="2" charset="2"/>
              <a:buChar char="Ø"/>
            </a:pPr>
            <a:r>
              <a:rPr lang="en-US" b="1" dirty="0">
                <a:latin typeface="Times New Roman" pitchFamily="18" charset="0"/>
                <a:cs typeface="Times New Roman" pitchFamily="18" charset="0"/>
              </a:rPr>
              <a:t>ELECTRONS:</a:t>
            </a:r>
            <a:endParaRPr lang="x-none" b="1" dirty="0">
              <a:latin typeface="Times New Roman" pitchFamily="18" charset="0"/>
              <a:cs typeface="Times New Roman" pitchFamily="18" charset="0"/>
            </a:endParaRPr>
          </a:p>
          <a:p>
            <a:pPr algn="just">
              <a:buFont typeface="Wingdings" panose="05000000000000000000" pitchFamily="2" charset="2"/>
              <a:buChar char="ü"/>
            </a:pPr>
            <a:r>
              <a:rPr lang="en-US" dirty="0">
                <a:latin typeface="Times New Roman" pitchFamily="18" charset="0"/>
                <a:cs typeface="Times New Roman" pitchFamily="18" charset="0"/>
              </a:rPr>
              <a:t>Charge: negative (-1, equal in magnitude to a proton’s positive charge)</a:t>
            </a:r>
            <a:endParaRPr lang="x-none" dirty="0">
              <a:latin typeface="Times New Roman" pitchFamily="18" charset="0"/>
              <a:cs typeface="Times New Roman" pitchFamily="18" charset="0"/>
            </a:endParaRPr>
          </a:p>
          <a:p>
            <a:pPr algn="just">
              <a:buFont typeface="Wingdings" panose="05000000000000000000" pitchFamily="2" charset="2"/>
              <a:buChar char="ü"/>
            </a:pPr>
            <a:r>
              <a:rPr lang="en-US" dirty="0">
                <a:latin typeface="Times New Roman" pitchFamily="18" charset="0"/>
                <a:cs typeface="Times New Roman" pitchFamily="18" charset="0"/>
              </a:rPr>
              <a:t>Mass: Negligible (about 1/1836 the mass of a proton, or approximately 0-amu)</a:t>
            </a:r>
            <a:endParaRPr lang="x-none" dirty="0">
              <a:latin typeface="Times New Roman" pitchFamily="18" charset="0"/>
              <a:cs typeface="Times New Roman" pitchFamily="18" charset="0"/>
            </a:endParaRPr>
          </a:p>
          <a:p>
            <a:pPr algn="just">
              <a:buFont typeface="Wingdings" panose="05000000000000000000" pitchFamily="2" charset="2"/>
              <a:buChar char="ü"/>
            </a:pPr>
            <a:r>
              <a:rPr lang="en-US" dirty="0">
                <a:latin typeface="Times New Roman" pitchFamily="18" charset="0"/>
                <a:cs typeface="Times New Roman" pitchFamily="18" charset="0"/>
              </a:rPr>
              <a:t>Role: they occupy specific energy levels, shells, 0r orbitals around the nucleus. </a:t>
            </a:r>
            <a:endParaRPr lang="x-none" dirty="0">
              <a:latin typeface="Times New Roman" pitchFamily="18" charset="0"/>
              <a:cs typeface="Times New Roman" pitchFamily="18" charset="0"/>
            </a:endParaRPr>
          </a:p>
          <a:p>
            <a:pPr marL="0" indent="0" algn="just">
              <a:buNone/>
            </a:pPr>
            <a:endParaRPr lang="x-none" dirty="0">
              <a:latin typeface="Times New Roman" pitchFamily="18" charset="0"/>
              <a:cs typeface="Times New Roman" pitchFamily="18" charset="0"/>
            </a:endParaRPr>
          </a:p>
          <a:p>
            <a:pPr lvl="0" algn="just">
              <a:buFont typeface="Wingdings" panose="05000000000000000000" pitchFamily="2" charset="2"/>
              <a:buChar char="Ø"/>
            </a:pPr>
            <a:r>
              <a:rPr lang="en-US" b="1" dirty="0">
                <a:latin typeface="Times New Roman" pitchFamily="18" charset="0"/>
                <a:cs typeface="Times New Roman" pitchFamily="18" charset="0"/>
              </a:rPr>
              <a:t>ELECTRONS SHELL CAPACITIES:</a:t>
            </a:r>
            <a:endParaRPr lang="x-none" b="1" dirty="0">
              <a:latin typeface="Times New Roman" pitchFamily="18" charset="0"/>
              <a:cs typeface="Times New Roman" pitchFamily="18" charset="0"/>
            </a:endParaRPr>
          </a:p>
          <a:p>
            <a:pPr algn="just">
              <a:buFont typeface="Wingdings" panose="05000000000000000000" pitchFamily="2" charset="2"/>
              <a:buChar char="ü"/>
            </a:pPr>
            <a:r>
              <a:rPr lang="en-US" dirty="0">
                <a:latin typeface="Times New Roman" pitchFamily="18" charset="0"/>
                <a:cs typeface="Times New Roman" pitchFamily="18" charset="0"/>
              </a:rPr>
              <a:t>1</a:t>
            </a:r>
            <a:r>
              <a:rPr lang="en-US" baseline="30000" dirty="0">
                <a:latin typeface="Times New Roman" pitchFamily="18" charset="0"/>
                <a:cs typeface="Times New Roman" pitchFamily="18" charset="0"/>
              </a:rPr>
              <a:t>st </a:t>
            </a:r>
            <a:r>
              <a:rPr lang="en-US" dirty="0">
                <a:latin typeface="Times New Roman" pitchFamily="18" charset="0"/>
                <a:cs typeface="Times New Roman" pitchFamily="18" charset="0"/>
              </a:rPr>
              <a:t>shell: (closest to the nucleus): up to 2 electrons</a:t>
            </a:r>
            <a:endParaRPr lang="x-none" dirty="0">
              <a:latin typeface="Times New Roman" pitchFamily="18" charset="0"/>
              <a:cs typeface="Times New Roman" pitchFamily="18" charset="0"/>
            </a:endParaRPr>
          </a:p>
          <a:p>
            <a:pPr algn="just">
              <a:buFont typeface="Wingdings" panose="05000000000000000000" pitchFamily="2" charset="2"/>
              <a:buChar char="ü"/>
            </a:pPr>
            <a:r>
              <a:rPr lang="en-US" dirty="0">
                <a:latin typeface="Times New Roman" pitchFamily="18" charset="0"/>
                <a:cs typeface="Times New Roman" pitchFamily="18" charset="0"/>
              </a:rPr>
              <a:t>2</a:t>
            </a:r>
            <a:r>
              <a:rPr lang="en-US" baseline="30000" dirty="0">
                <a:latin typeface="Times New Roman" pitchFamily="18" charset="0"/>
                <a:cs typeface="Times New Roman" pitchFamily="18" charset="0"/>
              </a:rPr>
              <a:t>nd</a:t>
            </a:r>
            <a:r>
              <a:rPr lang="en-US" dirty="0">
                <a:latin typeface="Times New Roman" pitchFamily="18" charset="0"/>
                <a:cs typeface="Times New Roman" pitchFamily="18" charset="0"/>
              </a:rPr>
              <a:t> shell: up to 8 electrons </a:t>
            </a:r>
            <a:endParaRPr lang="x-none" dirty="0">
              <a:latin typeface="Times New Roman" pitchFamily="18" charset="0"/>
              <a:cs typeface="Times New Roman" pitchFamily="18" charset="0"/>
            </a:endParaRPr>
          </a:p>
          <a:p>
            <a:pPr algn="just">
              <a:buFont typeface="Wingdings" panose="05000000000000000000" pitchFamily="2" charset="2"/>
              <a:buChar char="ü"/>
            </a:pPr>
            <a:r>
              <a:rPr lang="en-US" dirty="0">
                <a:latin typeface="Times New Roman" pitchFamily="18" charset="0"/>
                <a:cs typeface="Times New Roman" pitchFamily="18" charset="0"/>
              </a:rPr>
              <a:t>3</a:t>
            </a:r>
            <a:r>
              <a:rPr lang="en-US" baseline="30000" dirty="0">
                <a:latin typeface="Times New Roman" pitchFamily="18" charset="0"/>
                <a:cs typeface="Times New Roman" pitchFamily="18" charset="0"/>
              </a:rPr>
              <a:t>rd</a:t>
            </a:r>
            <a:r>
              <a:rPr lang="en-US" dirty="0">
                <a:latin typeface="Times New Roman" pitchFamily="18" charset="0"/>
                <a:cs typeface="Times New Roman" pitchFamily="18" charset="0"/>
              </a:rPr>
              <a:t> shell: up to 8 or more electrons depending on the element </a:t>
            </a:r>
            <a:endParaRPr lang="x-none" dirty="0">
              <a:latin typeface="Times New Roman" panose="02020603050405020304" pitchFamily="18" charset="0"/>
              <a:cs typeface="Times New Roman" panose="02020603050405020304" pitchFamily="18" charset="0"/>
            </a:endParaRPr>
          </a:p>
          <a:p>
            <a:pPr marL="0" indent="0" algn="just">
              <a:buNone/>
            </a:pPr>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2263302"/>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726830"/>
            <a:ext cx="10515600" cy="5802923"/>
          </a:xfrm>
        </p:spPr>
        <p:txBody>
          <a:bodyPr>
            <a:normAutofit/>
          </a:bodyPr>
          <a:lstStyle/>
          <a:p>
            <a:pPr lvl="0">
              <a:buFont typeface="Wingdings" panose="05000000000000000000" pitchFamily="2" charset="2"/>
              <a:buChar char="Ø"/>
            </a:pPr>
            <a:r>
              <a:rPr lang="en-US" b="1" dirty="0">
                <a:latin typeface="Times New Roman" pitchFamily="18" charset="0"/>
                <a:cs typeface="Times New Roman" pitchFamily="18" charset="0"/>
              </a:rPr>
              <a:t>VALENCE ELECTRONS:</a:t>
            </a:r>
            <a:endParaRPr lang="x-none" b="1"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The electrons in the outermost shell. They govern how the atoms bonds ad reacts chemically with other atoms. </a:t>
            </a:r>
            <a:endParaRPr lang="x-none"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 </a:t>
            </a:r>
            <a:endParaRPr lang="x-none" dirty="0">
              <a:latin typeface="Times New Roman" pitchFamily="18" charset="0"/>
              <a:cs typeface="Times New Roman" pitchFamily="18" charset="0"/>
            </a:endParaRPr>
          </a:p>
          <a:p>
            <a:pPr marL="0" indent="0">
              <a:buNone/>
            </a:pPr>
            <a:r>
              <a:rPr lang="en-US" b="1" dirty="0">
                <a:latin typeface="Times New Roman" pitchFamily="18" charset="0"/>
                <a:cs typeface="Times New Roman" pitchFamily="18" charset="0"/>
              </a:rPr>
              <a:t>3. Key Atomic Measurements  </a:t>
            </a:r>
            <a:endParaRPr lang="x-none" b="1" dirty="0">
              <a:latin typeface="Times New Roman" pitchFamily="18" charset="0"/>
              <a:cs typeface="Times New Roman" pitchFamily="18" charset="0"/>
            </a:endParaRPr>
          </a:p>
          <a:p>
            <a:pPr>
              <a:buFont typeface="Wingdings" panose="05000000000000000000" pitchFamily="2" charset="2"/>
              <a:buChar char="ü"/>
            </a:pPr>
            <a:r>
              <a:rPr lang="en-US" dirty="0">
                <a:latin typeface="Times New Roman" pitchFamily="18" charset="0"/>
                <a:cs typeface="Times New Roman" pitchFamily="18" charset="0"/>
              </a:rPr>
              <a:t>Atomic number (Z):  Total count of protons in the nucleus </a:t>
            </a:r>
            <a:endParaRPr lang="x-none" dirty="0">
              <a:latin typeface="Times New Roman" pitchFamily="18" charset="0"/>
              <a:cs typeface="Times New Roman" pitchFamily="18" charset="0"/>
            </a:endParaRPr>
          </a:p>
          <a:p>
            <a:pPr>
              <a:buFont typeface="Wingdings" panose="05000000000000000000" pitchFamily="2" charset="2"/>
              <a:buChar char="ü"/>
            </a:pPr>
            <a:r>
              <a:rPr lang="en-US" dirty="0">
                <a:latin typeface="Times New Roman" pitchFamily="18" charset="0"/>
                <a:cs typeface="Times New Roman" pitchFamily="18" charset="0"/>
              </a:rPr>
              <a:t>Mass: number (A): Total count of protons plus neutrons (A= Z+N)</a:t>
            </a:r>
            <a:endParaRPr lang="x-none" dirty="0">
              <a:latin typeface="Times New Roman" pitchFamily="18" charset="0"/>
              <a:cs typeface="Times New Roman" pitchFamily="18" charset="0"/>
            </a:endParaRPr>
          </a:p>
          <a:p>
            <a:pPr>
              <a:buFont typeface="Wingdings" panose="05000000000000000000" pitchFamily="2" charset="2"/>
              <a:buChar char="ü"/>
            </a:pPr>
            <a:r>
              <a:rPr lang="en-US" dirty="0">
                <a:latin typeface="Times New Roman" pitchFamily="18" charset="0"/>
                <a:cs typeface="Times New Roman" pitchFamily="18" charset="0"/>
              </a:rPr>
              <a:t>Electrical Balance: in a standard neutral atom, the number of negative electrons equals the number of positive.  If an atom gains or loss electrons, it becomes a charged particle called an ion. </a:t>
            </a:r>
            <a:endParaRPr lang="x-none" dirty="0">
              <a:latin typeface="Times New Roman" panose="02020603050405020304" pitchFamily="18" charset="0"/>
              <a:cs typeface="Times New Roman" panose="02020603050405020304" pitchFamily="18" charset="0"/>
            </a:endParaRPr>
          </a:p>
          <a:p>
            <a:pPr marL="0" indent="0" algn="just">
              <a:buNone/>
            </a:pPr>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5827969"/>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726830"/>
            <a:ext cx="10515600" cy="5802923"/>
          </a:xfrm>
        </p:spPr>
        <p:txBody>
          <a:bodyPr>
            <a:normAutofit/>
          </a:bodyPr>
          <a:lstStyle/>
          <a:p>
            <a:pPr>
              <a:buFont typeface="Wingdings" pitchFamily="2" charset="2"/>
              <a:buChar char="Ø"/>
            </a:pPr>
            <a:r>
              <a:rPr lang="en-US" b="1" dirty="0">
                <a:latin typeface="Times New Roman" pitchFamily="18" charset="0"/>
                <a:cs typeface="Times New Roman" pitchFamily="18" charset="0"/>
              </a:rPr>
              <a:t>Key features of the periodic table:</a:t>
            </a:r>
          </a:p>
          <a:p>
            <a:pPr lvl="0">
              <a:buFont typeface="Wingdings" pitchFamily="2" charset="2"/>
              <a:buChar char="ü"/>
            </a:pPr>
            <a:r>
              <a:rPr lang="en-US" dirty="0">
                <a:latin typeface="Times New Roman" pitchFamily="18" charset="0"/>
                <a:cs typeface="Times New Roman" pitchFamily="18" charset="0"/>
              </a:rPr>
              <a:t>Total elements: 118 confirmed chemical elements, ordered by increasing atomic number (number of protons) from Hydrogen ( 1) to </a:t>
            </a:r>
            <a:r>
              <a:rPr lang="en-US" dirty="0" err="1" smtClean="0">
                <a:latin typeface="Times New Roman" pitchFamily="18" charset="0"/>
                <a:cs typeface="Times New Roman" pitchFamily="18" charset="0"/>
              </a:rPr>
              <a:t>organesson</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( 118 ).</a:t>
            </a:r>
          </a:p>
          <a:p>
            <a:pPr lvl="0">
              <a:buFont typeface="Wingdings" pitchFamily="2" charset="2"/>
              <a:buChar char="ü"/>
            </a:pPr>
            <a:r>
              <a:rPr lang="en-US" dirty="0">
                <a:latin typeface="Times New Roman" pitchFamily="18" charset="0"/>
                <a:cs typeface="Times New Roman" pitchFamily="18" charset="0"/>
              </a:rPr>
              <a:t>Periods (rows): There are 7 horizontal rows. Each period indicates the number of electron shells an atom has.</a:t>
            </a:r>
          </a:p>
          <a:p>
            <a:pPr lvl="0">
              <a:buFont typeface="Wingdings" pitchFamily="2" charset="2"/>
              <a:buChar char="ü"/>
            </a:pPr>
            <a:r>
              <a:rPr lang="en-US" dirty="0">
                <a:latin typeface="Times New Roman" pitchFamily="18" charset="0"/>
                <a:cs typeface="Times New Roman" pitchFamily="18" charset="0"/>
              </a:rPr>
              <a:t>Groups (Columns): There are 18 vertical columns. Elements in the same group share similar chemical properties because they have the same number of valence electrons.</a:t>
            </a:r>
          </a:p>
          <a:p>
            <a:pPr lvl="0">
              <a:buFont typeface="Wingdings" pitchFamily="2" charset="2"/>
              <a:buChar char="ü"/>
            </a:pPr>
            <a:r>
              <a:rPr lang="en-US" dirty="0">
                <a:latin typeface="Times New Roman" pitchFamily="18" charset="0"/>
                <a:cs typeface="Times New Roman" pitchFamily="18" charset="0"/>
              </a:rPr>
              <a:t>Main classification:</a:t>
            </a:r>
          </a:p>
          <a:p>
            <a:pPr lvl="0">
              <a:buFont typeface="Wingdings" pitchFamily="2" charset="2"/>
              <a:buChar char="ü"/>
            </a:pPr>
            <a:r>
              <a:rPr lang="en-US" dirty="0">
                <a:latin typeface="Times New Roman" pitchFamily="18" charset="0"/>
                <a:cs typeface="Times New Roman" pitchFamily="18" charset="0"/>
              </a:rPr>
              <a:t>Metals: Found on the left and center.</a:t>
            </a:r>
          </a:p>
          <a:p>
            <a:pPr lvl="0">
              <a:buFont typeface="Wingdings" pitchFamily="2" charset="2"/>
              <a:buChar char="ü"/>
            </a:pPr>
            <a:endParaRPr lang="en-US" dirty="0">
              <a:latin typeface="Times New Roman" pitchFamily="18" charset="0"/>
              <a:cs typeface="Times New Roman" pitchFamily="18" charset="0"/>
            </a:endParaRPr>
          </a:p>
          <a:p>
            <a:pPr marL="0" indent="0" algn="just">
              <a:buNone/>
            </a:pPr>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4023976"/>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726830"/>
            <a:ext cx="10515600" cy="5802923"/>
          </a:xfrm>
        </p:spPr>
        <p:txBody>
          <a:bodyPr>
            <a:normAutofit/>
          </a:bodyPr>
          <a:lstStyle/>
          <a:p>
            <a:pPr lvl="0" algn="just">
              <a:buFont typeface="Wingdings" pitchFamily="2" charset="2"/>
              <a:buChar char="ü"/>
            </a:pPr>
            <a:r>
              <a:rPr lang="en-US" dirty="0">
                <a:latin typeface="Times New Roman" pitchFamily="18" charset="0"/>
                <a:cs typeface="Times New Roman" pitchFamily="18" charset="0"/>
              </a:rPr>
              <a:t>Non – metals: Found on the upper right (including Halogens and noble gasses).</a:t>
            </a:r>
          </a:p>
          <a:p>
            <a:pPr lvl="0" algn="just">
              <a:buFont typeface="Wingdings" pitchFamily="2" charset="2"/>
              <a:buChar char="ü"/>
            </a:pPr>
            <a:r>
              <a:rPr lang="en-US" dirty="0">
                <a:latin typeface="Times New Roman" pitchFamily="18" charset="0"/>
                <a:cs typeface="Times New Roman" pitchFamily="18" charset="0"/>
              </a:rPr>
              <a:t>Special series: The lanthanide and Actinide series (atomic numbers 57 – 71 and 89 – 103) are placed at the bottom to keep the table compact</a:t>
            </a:r>
            <a:r>
              <a:rPr lang="en-US" dirty="0" smtClean="0">
                <a:latin typeface="Times New Roman" pitchFamily="18" charset="0"/>
                <a:cs typeface="Times New Roman" pitchFamily="18" charset="0"/>
              </a:rPr>
              <a:t>.</a:t>
            </a:r>
          </a:p>
          <a:p>
            <a:pPr lvl="0" algn="just">
              <a:buFont typeface="Wingdings" pitchFamily="2" charset="2"/>
              <a:buChar char="ü"/>
            </a:pPr>
            <a:endParaRPr lang="en-US"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itchFamily="18" charset="0"/>
                <a:cs typeface="Times New Roman" pitchFamily="18" charset="0"/>
              </a:rPr>
              <a:t>THE CONCEPT OF ISOTPES, IONIZATION, AND EXCITATION</a:t>
            </a:r>
          </a:p>
          <a:p>
            <a:pPr marL="0" indent="0" algn="just">
              <a:buNone/>
            </a:pPr>
            <a:r>
              <a:rPr lang="en-US" dirty="0">
                <a:latin typeface="Times New Roman" pitchFamily="18" charset="0"/>
                <a:cs typeface="Times New Roman" pitchFamily="18" charset="0"/>
              </a:rPr>
              <a:t>Isotopes, ionization, and excitation are fundamental concepts in chemistry and physics that describe the structure of atoms and show how they interact with energy.</a:t>
            </a:r>
          </a:p>
          <a:p>
            <a:pPr marL="0" lvl="0" indent="0" algn="just">
              <a:buNone/>
            </a:pPr>
            <a:endParaRPr lang="x-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86423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marL="0" indent="0" algn="just">
              <a:buNone/>
            </a:pPr>
            <a:r>
              <a:rPr lang="en-US" b="1" dirty="0" smtClean="0">
                <a:latin typeface="Times New Roman" pitchFamily="18" charset="0"/>
                <a:cs typeface="Times New Roman" pitchFamily="18" charset="0"/>
              </a:rPr>
              <a:t>1. ISOTOPES </a:t>
            </a:r>
            <a:r>
              <a:rPr lang="en-US" b="1" dirty="0">
                <a:latin typeface="Times New Roman" pitchFamily="18" charset="0"/>
                <a:cs typeface="Times New Roman" pitchFamily="18" charset="0"/>
              </a:rPr>
              <a:t>( changes in the nucleus )</a:t>
            </a:r>
          </a:p>
          <a:p>
            <a:pPr algn="just">
              <a:buFont typeface="Wingdings" pitchFamily="2" charset="2"/>
              <a:buChar char="ü"/>
            </a:pPr>
            <a:r>
              <a:rPr lang="en-US" dirty="0">
                <a:latin typeface="Times New Roman" pitchFamily="18" charset="0"/>
                <a:cs typeface="Times New Roman" pitchFamily="18" charset="0"/>
              </a:rPr>
              <a:t>Isotopes are variants of a single chemical element that have same number of protons but a different number of neutrons in their nuclei.</a:t>
            </a:r>
          </a:p>
          <a:p>
            <a:pPr lvl="0" algn="just">
              <a:buFont typeface="Wingdings" pitchFamily="2" charset="2"/>
              <a:buChar char="ü"/>
            </a:pPr>
            <a:r>
              <a:rPr lang="en-US" dirty="0">
                <a:latin typeface="Times New Roman" pitchFamily="18" charset="0"/>
                <a:cs typeface="Times New Roman" pitchFamily="18" charset="0"/>
              </a:rPr>
              <a:t>The core concept: Because they have the same number of protons ( and electrons 0, isotopes of an element share the exact same chemical properties. However, because their neutrons counts differ, they have different physical masses.</a:t>
            </a:r>
          </a:p>
          <a:p>
            <a:pPr lvl="0" algn="just">
              <a:buFont typeface="Wingdings" pitchFamily="2" charset="2"/>
              <a:buChar char="ü"/>
            </a:pPr>
            <a:r>
              <a:rPr lang="en-US" dirty="0">
                <a:latin typeface="Times New Roman" pitchFamily="18" charset="0"/>
                <a:cs typeface="Times New Roman" pitchFamily="18" charset="0"/>
              </a:rPr>
              <a:t>Example: carbon – 12 and carbon – 14 are both isotopes of carbon. Both have 6 protons. Carbon – 12 has 6 neutrons ( stable and common ), while carbon – 14 has 8 neutrons ( unstable and radioactive, used in carbon dating ).</a:t>
            </a:r>
          </a:p>
        </p:txBody>
      </p:sp>
    </p:spTree>
    <p:extLst>
      <p:ext uri="{BB962C8B-B14F-4D97-AF65-F5344CB8AC3E}">
        <p14:creationId xmlns:p14="http://schemas.microsoft.com/office/powerpoint/2010/main" val="3046033143"/>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marL="514350" indent="-514350">
              <a:buAutoNum type="arabicPlain" startAt="2"/>
            </a:pPr>
            <a:r>
              <a:rPr lang="en-US" b="1" dirty="0" smtClean="0">
                <a:latin typeface="Times New Roman" pitchFamily="18" charset="0"/>
                <a:cs typeface="Times New Roman" pitchFamily="18" charset="0"/>
              </a:rPr>
              <a:t>IONIZATION </a:t>
            </a:r>
            <a:r>
              <a:rPr lang="en-US" b="1" dirty="0">
                <a:latin typeface="Times New Roman" pitchFamily="18" charset="0"/>
                <a:cs typeface="Times New Roman" pitchFamily="18" charset="0"/>
              </a:rPr>
              <a:t>( loss or gain of electron </a:t>
            </a:r>
            <a:r>
              <a:rPr lang="en-US" b="1" dirty="0" smtClean="0">
                <a:latin typeface="Times New Roman" pitchFamily="18" charset="0"/>
                <a:cs typeface="Times New Roman" pitchFamily="18" charset="0"/>
              </a:rPr>
              <a:t>)</a:t>
            </a:r>
          </a:p>
          <a:p>
            <a:pPr marL="0" indent="0">
              <a:buNone/>
            </a:pPr>
            <a:endParaRPr lang="en-US" b="1" dirty="0">
              <a:latin typeface="Times New Roman" pitchFamily="18" charset="0"/>
              <a:cs typeface="Times New Roman" pitchFamily="18" charset="0"/>
            </a:endParaRPr>
          </a:p>
          <a:p>
            <a:pPr>
              <a:buFont typeface="Wingdings" pitchFamily="2" charset="2"/>
              <a:buChar char="ü"/>
            </a:pPr>
            <a:r>
              <a:rPr lang="en-US" dirty="0">
                <a:latin typeface="Times New Roman" pitchFamily="18" charset="0"/>
                <a:cs typeface="Times New Roman" pitchFamily="18" charset="0"/>
              </a:rPr>
              <a:t>Ionization is the process by which an atom or molecule gains a net positive or negative charge by gaining or losing electrons.</a:t>
            </a:r>
          </a:p>
          <a:p>
            <a:pPr lvl="0">
              <a:buFont typeface="Wingdings" pitchFamily="2" charset="2"/>
              <a:buChar char="ü"/>
            </a:pPr>
            <a:r>
              <a:rPr lang="en-US" dirty="0">
                <a:latin typeface="Times New Roman" pitchFamily="18" charset="0"/>
                <a:cs typeface="Times New Roman" pitchFamily="18" charset="0"/>
              </a:rPr>
              <a:t>The core concept: Atoms are naturally neutral because they have an equal number of protons ( + ) and electrons ( - ) . If you add enough energy to an atom, you can completely rip an electron away from it. This  turns the neutral atom into a charged particle called an ion</a:t>
            </a:r>
          </a:p>
          <a:p>
            <a:pPr lvl="0">
              <a:buFont typeface="Wingdings" pitchFamily="2" charset="2"/>
              <a:buChar char="ü"/>
            </a:pPr>
            <a:r>
              <a:rPr lang="en-US" dirty="0">
                <a:latin typeface="Times New Roman" pitchFamily="18" charset="0"/>
                <a:cs typeface="Times New Roman" pitchFamily="18" charset="0"/>
              </a:rPr>
              <a:t>Example. When a neutral sodium ( Na ) atom loses an electron, it becomes a positively charged sodium ion ( Na+ ).</a:t>
            </a:r>
          </a:p>
          <a:p>
            <a:pPr>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57103555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marL="0" indent="0" algn="just">
              <a:buNone/>
            </a:pPr>
            <a:r>
              <a:rPr lang="en-US" b="1" dirty="0" smtClean="0">
                <a:latin typeface="Times New Roman" pitchFamily="18" charset="0"/>
                <a:cs typeface="Times New Roman" pitchFamily="18" charset="0"/>
              </a:rPr>
              <a:t>3  </a:t>
            </a:r>
            <a:r>
              <a:rPr lang="en-US" b="1" dirty="0">
                <a:latin typeface="Times New Roman" pitchFamily="18" charset="0"/>
                <a:cs typeface="Times New Roman" pitchFamily="18" charset="0"/>
              </a:rPr>
              <a:t>EXCITATION ( Shifting Electron Energy Levels )</a:t>
            </a:r>
          </a:p>
          <a:p>
            <a:pPr algn="just">
              <a:buFont typeface="Wingdings" pitchFamily="2" charset="2"/>
              <a:buChar char="ü"/>
            </a:pPr>
            <a:r>
              <a:rPr lang="en-US" dirty="0" smtClean="0">
                <a:latin typeface="Times New Roman" pitchFamily="18" charset="0"/>
                <a:cs typeface="Times New Roman" pitchFamily="18" charset="0"/>
              </a:rPr>
              <a:t>Excitation </a:t>
            </a:r>
            <a:r>
              <a:rPr lang="en-US" dirty="0">
                <a:latin typeface="Times New Roman" pitchFamily="18" charset="0"/>
                <a:cs typeface="Times New Roman" pitchFamily="18" charset="0"/>
              </a:rPr>
              <a:t>occurs when an electron inside an atom absorbs energy and jump to a higher energy level ( shell ),without leaving the atom entirely,</a:t>
            </a:r>
          </a:p>
          <a:p>
            <a:pPr lvl="0" algn="just">
              <a:buFont typeface="Wingdings" pitchFamily="2" charset="2"/>
              <a:buChar char="ü"/>
            </a:pPr>
            <a:r>
              <a:rPr lang="en-US" dirty="0">
                <a:latin typeface="Times New Roman" pitchFamily="18" charset="0"/>
                <a:cs typeface="Times New Roman" pitchFamily="18" charset="0"/>
              </a:rPr>
              <a:t>The core concept: Unlike ionization – where the electron is </a:t>
            </a:r>
            <a:r>
              <a:rPr lang="en-US" dirty="0" smtClean="0">
                <a:latin typeface="Times New Roman" pitchFamily="18" charset="0"/>
                <a:cs typeface="Times New Roman" pitchFamily="18" charset="0"/>
              </a:rPr>
              <a:t>permanently </a:t>
            </a:r>
            <a:r>
              <a:rPr lang="en-US" dirty="0">
                <a:latin typeface="Times New Roman" pitchFamily="18" charset="0"/>
                <a:cs typeface="Times New Roman" pitchFamily="18" charset="0"/>
              </a:rPr>
              <a:t>kicked out – excitation keeps the electron bound to the atom. The atom simply enters a temporary unstable “  excited state “”. When the electron eventually falls back down to its original, stable “ground state “, it releases that absorbed energy as a flash of light ( a photon ).</a:t>
            </a:r>
          </a:p>
          <a:p>
            <a:pPr lvl="0" algn="just">
              <a:buFont typeface="Wingdings" pitchFamily="2" charset="2"/>
              <a:buChar char="ü"/>
            </a:pPr>
            <a:r>
              <a:rPr lang="en-US" dirty="0">
                <a:latin typeface="Times New Roman" pitchFamily="18" charset="0"/>
                <a:cs typeface="Times New Roman" pitchFamily="18" charset="0"/>
              </a:rPr>
              <a:t>Example: Neon sign work because of excitation. Electricity pumps energy into the neon gas atoms, </a:t>
            </a:r>
            <a:r>
              <a:rPr lang="en-US" dirty="0" smtClean="0">
                <a:latin typeface="Times New Roman" pitchFamily="18" charset="0"/>
                <a:cs typeface="Times New Roman" pitchFamily="18" charset="0"/>
              </a:rPr>
              <a:t>exiting </a:t>
            </a:r>
            <a:r>
              <a:rPr lang="en-US" dirty="0">
                <a:latin typeface="Times New Roman" pitchFamily="18" charset="0"/>
                <a:cs typeface="Times New Roman" pitchFamily="18" charset="0"/>
              </a:rPr>
              <a:t>their electrons. As those electrons drop back down to their normal level, they emit the glowing colored light you see.</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26750996"/>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fontScale="92500" lnSpcReduction="20000"/>
          </a:bodyPr>
          <a:lstStyle/>
          <a:p>
            <a:pPr marL="0" indent="0" algn="just">
              <a:buNone/>
            </a:pPr>
            <a:r>
              <a:rPr lang="en-US" b="1" dirty="0">
                <a:latin typeface="Times New Roman" pitchFamily="18" charset="0"/>
                <a:cs typeface="Times New Roman" pitchFamily="18" charset="0"/>
              </a:rPr>
              <a:t>ELECTRICAL CHARGE:</a:t>
            </a:r>
          </a:p>
          <a:p>
            <a:pPr algn="just">
              <a:buFont typeface="Wingdings" pitchFamily="2" charset="2"/>
              <a:buChar char="ü"/>
            </a:pPr>
            <a:r>
              <a:rPr lang="en-US" dirty="0">
                <a:latin typeface="Times New Roman" pitchFamily="18" charset="0"/>
                <a:cs typeface="Times New Roman" pitchFamily="18" charset="0"/>
              </a:rPr>
              <a:t>DEFINITION: Electrical charge is a functional physical property of subatomic particles  ( such as a  protons neutrons) that causes them to experience a force when placed in an electric or magnetic field. It is measured in coulombs ( C ).</a:t>
            </a:r>
          </a:p>
          <a:p>
            <a:pPr lvl="0" algn="just">
              <a:buFont typeface="Wingdings" pitchFamily="2" charset="2"/>
              <a:buChar char="ü"/>
            </a:pPr>
            <a:r>
              <a:rPr lang="en-US" dirty="0">
                <a:latin typeface="Times New Roman" pitchFamily="18" charset="0"/>
                <a:cs typeface="Times New Roman" pitchFamily="18" charset="0"/>
              </a:rPr>
              <a:t>Key Rules : Like charges repel each other, and opposite charges attract each </a:t>
            </a:r>
            <a:r>
              <a:rPr lang="en-US" dirty="0" err="1">
                <a:latin typeface="Times New Roman" pitchFamily="18" charset="0"/>
                <a:cs typeface="Times New Roman" pitchFamily="18" charset="0"/>
              </a:rPr>
              <a:t>othe</a:t>
            </a:r>
            <a:r>
              <a:rPr lang="en-US" dirty="0">
                <a:latin typeface="Times New Roman" pitchFamily="18" charset="0"/>
                <a:cs typeface="Times New Roman" pitchFamily="18" charset="0"/>
              </a:rPr>
              <a:t>. Charge is conser</a:t>
            </a:r>
            <a:r>
              <a:rPr lang="en-US" i="1" dirty="0">
                <a:latin typeface="Times New Roman" pitchFamily="18" charset="0"/>
                <a:cs typeface="Times New Roman" pitchFamily="18" charset="0"/>
              </a:rPr>
              <a:t>v</a:t>
            </a:r>
            <a:r>
              <a:rPr lang="en-US" dirty="0">
                <a:latin typeface="Times New Roman" pitchFamily="18" charset="0"/>
                <a:cs typeface="Times New Roman" pitchFamily="18" charset="0"/>
              </a:rPr>
              <a:t>ed and quantized.</a:t>
            </a:r>
          </a:p>
          <a:p>
            <a:pPr lvl="0" algn="just">
              <a:buFont typeface="Wingdings" pitchFamily="2" charset="2"/>
              <a:buChar char="ü"/>
            </a:pPr>
            <a:r>
              <a:rPr lang="en-US" dirty="0">
                <a:latin typeface="Times New Roman" pitchFamily="18" charset="0"/>
                <a:cs typeface="Times New Roman" pitchFamily="18" charset="0"/>
              </a:rPr>
              <a:t>Example: Rubbing a plastic comb against your hair transfers  electrons, giving the comb a negative electric charge that can pick up small pieces of paper</a:t>
            </a:r>
            <a:r>
              <a:rPr lang="en-US"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marL="0" indent="0" algn="just">
              <a:buNone/>
            </a:pPr>
            <a:r>
              <a:rPr lang="en-US" b="1" dirty="0">
                <a:latin typeface="Times New Roman" pitchFamily="18" charset="0"/>
                <a:cs typeface="Times New Roman" pitchFamily="18" charset="0"/>
              </a:rPr>
              <a:t>ELECTRIC CURRENT:</a:t>
            </a:r>
          </a:p>
          <a:p>
            <a:pPr lvl="0" algn="just">
              <a:buFont typeface="Wingdings" pitchFamily="2" charset="2"/>
              <a:buChar char="ü"/>
            </a:pPr>
            <a:r>
              <a:rPr lang="en-US" dirty="0">
                <a:latin typeface="Times New Roman" pitchFamily="18" charset="0"/>
                <a:cs typeface="Times New Roman" pitchFamily="18" charset="0"/>
              </a:rPr>
              <a:t>Definition: Electric current is the rate of flow of electric </a:t>
            </a:r>
            <a:r>
              <a:rPr lang="en-US" dirty="0" err="1">
                <a:latin typeface="Times New Roman" pitchFamily="18" charset="0"/>
                <a:cs typeface="Times New Roman" pitchFamily="18" charset="0"/>
              </a:rPr>
              <a:t>chargepast</a:t>
            </a:r>
            <a:r>
              <a:rPr lang="en-US" dirty="0">
                <a:latin typeface="Times New Roman" pitchFamily="18" charset="0"/>
                <a:cs typeface="Times New Roman" pitchFamily="18" charset="0"/>
              </a:rPr>
              <a:t> a giving point in a circuit. It is measured in Amperes ( A ), where 1A = 1 c/s.</a:t>
            </a:r>
          </a:p>
          <a:p>
            <a:pPr lvl="0" algn="just">
              <a:buFont typeface="Wingdings" pitchFamily="2" charset="2"/>
              <a:buChar char="ü"/>
            </a:pPr>
            <a:r>
              <a:rPr lang="en-US" dirty="0">
                <a:latin typeface="Times New Roman" pitchFamily="18" charset="0"/>
                <a:cs typeface="Times New Roman" pitchFamily="18" charset="0"/>
              </a:rPr>
              <a:t>Key Rules: current  flows through a closed circuit from a higher potential ( Positive terminal ) to a low potential ( Negative terminal )</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648132492"/>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lvl="0">
              <a:buFont typeface="Wingdings" pitchFamily="2" charset="2"/>
              <a:buChar char="ü"/>
            </a:pPr>
            <a:r>
              <a:rPr lang="en-US" dirty="0">
                <a:latin typeface="Times New Roman" pitchFamily="18" charset="0"/>
                <a:cs typeface="Times New Roman" pitchFamily="18" charset="0"/>
              </a:rPr>
              <a:t>Example: The stream of electrons </a:t>
            </a:r>
            <a:r>
              <a:rPr lang="en-US" dirty="0" smtClean="0">
                <a:latin typeface="Times New Roman" pitchFamily="18" charset="0"/>
                <a:cs typeface="Times New Roman" pitchFamily="18" charset="0"/>
              </a:rPr>
              <a:t>flowing </a:t>
            </a:r>
            <a:r>
              <a:rPr lang="en-US" dirty="0">
                <a:latin typeface="Times New Roman" pitchFamily="18" charset="0"/>
                <a:cs typeface="Times New Roman" pitchFamily="18" charset="0"/>
              </a:rPr>
              <a:t>through a copper wires inside a wall to turn on a house hold light bulb.</a:t>
            </a:r>
          </a:p>
          <a:p>
            <a:pPr marL="0" indent="0">
              <a:buNone/>
            </a:pPr>
            <a:r>
              <a:rPr lang="en-US" dirty="0">
                <a:latin typeface="Times New Roman" pitchFamily="18" charset="0"/>
                <a:cs typeface="Times New Roman" pitchFamily="18" charset="0"/>
              </a:rPr>
              <a:t>    	</a:t>
            </a:r>
          </a:p>
          <a:p>
            <a:pPr marL="0" indent="0">
              <a:buNone/>
            </a:pPr>
            <a:r>
              <a:rPr lang="en-US" b="1" dirty="0">
                <a:latin typeface="Times New Roman" pitchFamily="18" charset="0"/>
                <a:cs typeface="Times New Roman" pitchFamily="18" charset="0"/>
              </a:rPr>
              <a:t>ELECTRIC POTENTIAL ( voltage )</a:t>
            </a:r>
            <a:r>
              <a:rPr lang="en-US" dirty="0">
                <a:latin typeface="Times New Roman" pitchFamily="18" charset="0"/>
                <a:cs typeface="Times New Roman" pitchFamily="18" charset="0"/>
              </a:rPr>
              <a:t>	</a:t>
            </a:r>
          </a:p>
          <a:p>
            <a:pPr lvl="0">
              <a:buFont typeface="Wingdings" pitchFamily="2" charset="2"/>
              <a:buChar char="ü"/>
            </a:pPr>
            <a:r>
              <a:rPr lang="en-US" dirty="0">
                <a:latin typeface="Times New Roman" pitchFamily="18" charset="0"/>
                <a:cs typeface="Times New Roman" pitchFamily="18" charset="0"/>
              </a:rPr>
              <a:t>Definition: Electrical potential ( Often called voltage ) is the amount of electric potential energy per unit charge at a point in an electric field , or the work done to move a unit charge between two points . It is measured in volts ( V ).</a:t>
            </a:r>
          </a:p>
          <a:p>
            <a:pPr lvl="0">
              <a:buFont typeface="Wingdings" pitchFamily="2" charset="2"/>
              <a:buChar char="ü"/>
            </a:pPr>
            <a:r>
              <a:rPr lang="en-US" dirty="0">
                <a:latin typeface="Times New Roman" pitchFamily="18" charset="0"/>
                <a:cs typeface="Times New Roman" pitchFamily="18" charset="0"/>
              </a:rPr>
              <a:t>Key Rules: It acts as the “” Electrical pressure “” that pushes free charges through a conductor.</a:t>
            </a:r>
          </a:p>
          <a:p>
            <a:pPr lvl="0">
              <a:buFont typeface="Wingdings" pitchFamily="2" charset="2"/>
              <a:buChar char="ü"/>
            </a:pPr>
            <a:r>
              <a:rPr lang="en-US" dirty="0">
                <a:latin typeface="Times New Roman" pitchFamily="18" charset="0"/>
                <a:cs typeface="Times New Roman" pitchFamily="18" charset="0"/>
              </a:rPr>
              <a:t>Example: A standard 1.5- volt AA battery providing the potential difference needed to run a TV remote control.</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445857488"/>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marL="0" indent="0" algn="just">
              <a:buNone/>
            </a:pPr>
            <a:r>
              <a:rPr lang="en-US" b="1" dirty="0">
                <a:latin typeface="Times New Roman" pitchFamily="18" charset="0"/>
                <a:cs typeface="Times New Roman" pitchFamily="18" charset="0"/>
              </a:rPr>
              <a:t>CAPACITANCE:</a:t>
            </a:r>
          </a:p>
          <a:p>
            <a:pPr lvl="0" algn="just">
              <a:buFont typeface="Wingdings" pitchFamily="2" charset="2"/>
              <a:buChar char="ü"/>
            </a:pPr>
            <a:r>
              <a:rPr lang="en-US" dirty="0">
                <a:latin typeface="Times New Roman" pitchFamily="18" charset="0"/>
                <a:cs typeface="Times New Roman" pitchFamily="18" charset="0"/>
              </a:rPr>
              <a:t>Definition: The ability of a component or circuit to store electrical energy in the form of an electrical charge measured in Farads ( F )</a:t>
            </a:r>
          </a:p>
          <a:p>
            <a:pPr lvl="0" algn="just">
              <a:buFont typeface="Wingdings" pitchFamily="2" charset="2"/>
              <a:buChar char="ü"/>
            </a:pPr>
            <a:r>
              <a:rPr lang="en-US" dirty="0">
                <a:latin typeface="Times New Roman" pitchFamily="18" charset="0"/>
                <a:cs typeface="Times New Roman" pitchFamily="18" charset="0"/>
              </a:rPr>
              <a:t>Example: A camera flash unit uses a capacitor to store charge rapidly and then release it all at once to produce a bright , instantaneous burst of light</a:t>
            </a:r>
            <a:r>
              <a:rPr lang="en-US"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marL="0" indent="0" algn="just">
              <a:buNone/>
            </a:pPr>
            <a:r>
              <a:rPr lang="en-US" b="1" dirty="0">
                <a:latin typeface="Times New Roman" pitchFamily="18" charset="0"/>
                <a:cs typeface="Times New Roman" pitchFamily="18" charset="0"/>
              </a:rPr>
              <a:t>CAPACITORS:</a:t>
            </a:r>
          </a:p>
          <a:p>
            <a:pPr lvl="0" algn="just">
              <a:buFont typeface="Wingdings" pitchFamily="2" charset="2"/>
              <a:buChar char="ü"/>
            </a:pPr>
            <a:r>
              <a:rPr lang="en-US" dirty="0">
                <a:latin typeface="Times New Roman" pitchFamily="18" charset="0"/>
                <a:cs typeface="Times New Roman" pitchFamily="18" charset="0"/>
              </a:rPr>
              <a:t>Definition: Passive electric components made of two conductive plates separated by an insulating material ( a dielectric ), designed to temporarily store and discharge electrical energy.</a:t>
            </a:r>
          </a:p>
          <a:p>
            <a:pPr algn="just">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164573406"/>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marL="0" indent="0">
              <a:buNone/>
            </a:pPr>
            <a:r>
              <a:rPr lang="en-US" b="1" dirty="0">
                <a:latin typeface="Times New Roman" pitchFamily="18" charset="0"/>
                <a:cs typeface="Times New Roman" pitchFamily="18" charset="0"/>
              </a:rPr>
              <a:t>ELECTROMAGNETIC </a:t>
            </a:r>
            <a:r>
              <a:rPr lang="en-US" b="1" dirty="0" smtClean="0">
                <a:latin typeface="Times New Roman" pitchFamily="18" charset="0"/>
                <a:cs typeface="Times New Roman" pitchFamily="18" charset="0"/>
              </a:rPr>
              <a:t>INDUCTION</a:t>
            </a:r>
          </a:p>
          <a:p>
            <a:pPr marL="0" indent="0">
              <a:buNone/>
            </a:pPr>
            <a:endParaRPr lang="en-US" b="1" dirty="0">
              <a:latin typeface="Times New Roman" pitchFamily="18" charset="0"/>
              <a:cs typeface="Times New Roman" pitchFamily="18" charset="0"/>
            </a:endParaRPr>
          </a:p>
          <a:p>
            <a:pPr lvl="0">
              <a:buFont typeface="Wingdings" pitchFamily="2" charset="2"/>
              <a:buChar char="ü"/>
            </a:pPr>
            <a:r>
              <a:rPr lang="en-US" dirty="0">
                <a:latin typeface="Times New Roman" pitchFamily="18" charset="0"/>
                <a:cs typeface="Times New Roman" pitchFamily="18" charset="0"/>
              </a:rPr>
              <a:t>Definition    : Electromagnetic induction is the process of generating an electromotive force ( Voltage )and an electric current in a conductor by exposing </a:t>
            </a:r>
            <a:r>
              <a:rPr lang="en-US" dirty="0" smtClean="0">
                <a:latin typeface="Times New Roman" pitchFamily="18" charset="0"/>
                <a:cs typeface="Times New Roman" pitchFamily="18" charset="0"/>
              </a:rPr>
              <a:t>into </a:t>
            </a:r>
            <a:r>
              <a:rPr lang="en-US" dirty="0">
                <a:latin typeface="Times New Roman" pitchFamily="18" charset="0"/>
                <a:cs typeface="Times New Roman" pitchFamily="18" charset="0"/>
              </a:rPr>
              <a:t>a changing magnetic field or moving it through a magnetic field.</a:t>
            </a:r>
          </a:p>
          <a:p>
            <a:pPr lvl="0">
              <a:buFont typeface="Wingdings" pitchFamily="2" charset="2"/>
              <a:buChar char="ü"/>
            </a:pPr>
            <a:r>
              <a:rPr lang="en-US" dirty="0">
                <a:latin typeface="Times New Roman" pitchFamily="18" charset="0"/>
                <a:cs typeface="Times New Roman" pitchFamily="18" charset="0"/>
              </a:rPr>
              <a:t>Key Rules:  First discovered by </a:t>
            </a:r>
            <a:r>
              <a:rPr lang="en-US" dirty="0" smtClean="0">
                <a:latin typeface="Times New Roman" pitchFamily="18" charset="0"/>
                <a:cs typeface="Times New Roman" pitchFamily="18" charset="0"/>
              </a:rPr>
              <a:t>Michael </a:t>
            </a:r>
            <a:r>
              <a:rPr lang="en-US" dirty="0">
                <a:latin typeface="Times New Roman" pitchFamily="18" charset="0"/>
                <a:cs typeface="Times New Roman" pitchFamily="18" charset="0"/>
              </a:rPr>
              <a:t>Faraday , the induced voltage depends on the rate of change </a:t>
            </a:r>
            <a:r>
              <a:rPr lang="en-US" dirty="0" smtClean="0">
                <a:latin typeface="Times New Roman" pitchFamily="18" charset="0"/>
                <a:cs typeface="Times New Roman" pitchFamily="18" charset="0"/>
              </a:rPr>
              <a:t>of </a:t>
            </a:r>
            <a:r>
              <a:rPr lang="en-US" dirty="0">
                <a:latin typeface="Times New Roman" pitchFamily="18" charset="0"/>
                <a:cs typeface="Times New Roman" pitchFamily="18" charset="0"/>
              </a:rPr>
              <a:t>magnetic flux and the number of turns in a coil ( Faraday”s Law )’</a:t>
            </a:r>
          </a:p>
          <a:p>
            <a:pPr lvl="0">
              <a:buFont typeface="Wingdings" pitchFamily="2" charset="2"/>
              <a:buChar char="ü"/>
            </a:pPr>
            <a:r>
              <a:rPr lang="en-US" dirty="0">
                <a:latin typeface="Times New Roman" pitchFamily="18" charset="0"/>
                <a:cs typeface="Times New Roman" pitchFamily="18" charset="0"/>
              </a:rPr>
              <a:t>Example: A bicycle dynamo or a large power plant generator where spinning magnets inside wire coil generate AC electricity for homes</a:t>
            </a:r>
            <a:r>
              <a:rPr lang="en-US" dirty="0" smtClean="0">
                <a:latin typeface="Times New Roman" pitchFamily="18" charset="0"/>
                <a:cs typeface="Times New Roman" pitchFamily="18" charset="0"/>
              </a:rPr>
              <a:t>.</a:t>
            </a:r>
          </a:p>
          <a:p>
            <a:pPr>
              <a:buFont typeface="Wingdings" pitchFamily="2" charset="2"/>
              <a:buChar char="ü"/>
            </a:pPr>
            <a:r>
              <a:rPr lang="en-US" dirty="0"/>
              <a:t>electrolytic capacitor used inside a computer power supply to smooth out voltage fluctuations filter electrical noise,</a:t>
            </a:r>
          </a:p>
          <a:p>
            <a:pPr lvl="0">
              <a:buFont typeface="Wingdings" pitchFamily="2" charset="2"/>
              <a:buChar char="ü"/>
            </a:pPr>
            <a:endParaRPr lang="en-US" dirty="0">
              <a:latin typeface="Times New Roman" pitchFamily="18" charset="0"/>
              <a:cs typeface="Times New Roman" pitchFamily="18" charset="0"/>
            </a:endParaRPr>
          </a:p>
          <a:p>
            <a:pPr>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55963723"/>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marL="0" indent="0">
              <a:buNone/>
            </a:pPr>
            <a:r>
              <a:rPr lang="en-US" b="1" dirty="0" smtClean="0">
                <a:latin typeface="Times New Roman" pitchFamily="18" charset="0"/>
                <a:cs typeface="Times New Roman" pitchFamily="18" charset="0"/>
              </a:rPr>
              <a:t>RESISTANCE</a:t>
            </a:r>
            <a:endParaRPr lang="en-US" b="1" dirty="0">
              <a:latin typeface="Times New Roman" pitchFamily="18" charset="0"/>
              <a:cs typeface="Times New Roman" pitchFamily="18" charset="0"/>
            </a:endParaRPr>
          </a:p>
          <a:p>
            <a:pPr lvl="0">
              <a:buFont typeface="Wingdings" pitchFamily="2" charset="2"/>
              <a:buChar char="ü"/>
            </a:pPr>
            <a:r>
              <a:rPr lang="en-US" dirty="0">
                <a:latin typeface="Times New Roman" pitchFamily="18" charset="0"/>
                <a:cs typeface="Times New Roman" pitchFamily="18" charset="0"/>
              </a:rPr>
              <a:t>Definition: The opposition offered by a material or component to the flow of electric current, measured in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0" lvl="0" indent="0">
              <a:buNone/>
            </a:pPr>
            <a:endParaRPr lang="en-US" dirty="0">
              <a:latin typeface="Times New Roman" pitchFamily="18" charset="0"/>
              <a:cs typeface="Times New Roman" pitchFamily="18" charset="0"/>
            </a:endParaRPr>
          </a:p>
          <a:p>
            <a:pPr lvl="0">
              <a:buFont typeface="Wingdings" pitchFamily="2" charset="2"/>
              <a:buChar char="ü"/>
            </a:pPr>
            <a:r>
              <a:rPr lang="en-US" dirty="0">
                <a:latin typeface="Times New Roman" pitchFamily="18" charset="0"/>
                <a:cs typeface="Times New Roman" pitchFamily="18" charset="0"/>
              </a:rPr>
              <a:t>Example: The tungsten filament inside a traditional incandescent light bulb; it resists the flow of electrons so heavily that it heats up and glows to produce light.</a:t>
            </a: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66335985"/>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lnSpcReduction="10000"/>
          </a:bodyPr>
          <a:lstStyle/>
          <a:p>
            <a:pPr marL="0" indent="0" algn="just">
              <a:buNone/>
            </a:pPr>
            <a:r>
              <a:rPr lang="en-US" b="1" dirty="0" err="1">
                <a:latin typeface="Times New Roman" pitchFamily="18" charset="0"/>
                <a:cs typeface="Times New Roman" pitchFamily="18" charset="0"/>
              </a:rPr>
              <a:t>Ohm”s</a:t>
            </a:r>
            <a:r>
              <a:rPr lang="en-US" b="1" dirty="0">
                <a:latin typeface="Times New Roman" pitchFamily="18" charset="0"/>
                <a:cs typeface="Times New Roman" pitchFamily="18" charset="0"/>
              </a:rPr>
              <a:t> Law</a:t>
            </a:r>
          </a:p>
          <a:p>
            <a:pPr lvl="0" algn="just">
              <a:buFont typeface="Wingdings" pitchFamily="2" charset="2"/>
              <a:buChar char="ü"/>
            </a:pPr>
            <a:r>
              <a:rPr lang="en-US" dirty="0">
                <a:latin typeface="Times New Roman" pitchFamily="18" charset="0"/>
                <a:cs typeface="Times New Roman" pitchFamily="18" charset="0"/>
              </a:rPr>
              <a:t>Definition: A fundamental principle stating that the voltage  ( V ) across a conductor is directly proportional to the current ( I ) flowing through it, multiplied by the resistance</a:t>
            </a:r>
            <a:r>
              <a:rPr lang="en-US"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lvl="0" algn="just">
              <a:buFont typeface="Wingdings" pitchFamily="2" charset="2"/>
              <a:buChar char="ü"/>
            </a:pPr>
            <a:r>
              <a:rPr lang="en-US" dirty="0">
                <a:latin typeface="Times New Roman" pitchFamily="18" charset="0"/>
                <a:cs typeface="Times New Roman" pitchFamily="18" charset="0"/>
              </a:rPr>
              <a:t>Formula:   V = I * R  .( Also written as I = V/R or R = V/I </a:t>
            </a:r>
            <a:r>
              <a:rPr lang="en-US"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lvl="0" algn="just">
              <a:buFont typeface="Wingdings" pitchFamily="2" charset="2"/>
              <a:buChar char="ü"/>
            </a:pPr>
            <a:r>
              <a:rPr lang="en-US" dirty="0">
                <a:latin typeface="Times New Roman" pitchFamily="18" charset="0"/>
                <a:cs typeface="Times New Roman" pitchFamily="18" charset="0"/>
              </a:rPr>
              <a:t>Example: If you connect a 12 – volt </a:t>
            </a:r>
            <a:r>
              <a:rPr lang="en-US" dirty="0" err="1">
                <a:latin typeface="Times New Roman" pitchFamily="18" charset="0"/>
                <a:cs typeface="Times New Roman" pitchFamily="18" charset="0"/>
              </a:rPr>
              <a:t>battry</a:t>
            </a:r>
            <a:r>
              <a:rPr lang="en-US" dirty="0">
                <a:latin typeface="Times New Roman" pitchFamily="18" charset="0"/>
                <a:cs typeface="Times New Roman" pitchFamily="18" charset="0"/>
              </a:rPr>
              <a:t> ( V = 12V ) to a circuit with a 4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resistance ( R = 4ohm”s ) the current ( I ) flowing through the circuit will be I = 12V/ 4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 3amps</a:t>
            </a:r>
            <a:r>
              <a:rPr lang="en-US"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algn="just">
              <a:buFont typeface="Wingdings" pitchFamily="2" charset="2"/>
              <a:buChar char="ü"/>
            </a:pPr>
            <a:r>
              <a:rPr lang="en-US" dirty="0">
                <a:latin typeface="Times New Roman" pitchFamily="18" charset="0"/>
                <a:cs typeface="Times New Roman" pitchFamily="18" charset="0"/>
              </a:rPr>
              <a:t>To calculate total resistance ( </a:t>
            </a:r>
            <a:r>
              <a:rPr lang="en-US" dirty="0" err="1">
                <a:latin typeface="Times New Roman" pitchFamily="18" charset="0"/>
                <a:cs typeface="Times New Roman" pitchFamily="18" charset="0"/>
              </a:rPr>
              <a:t>Rtotal</a:t>
            </a:r>
            <a:r>
              <a:rPr lang="en-US" dirty="0">
                <a:latin typeface="Times New Roman" pitchFamily="18" charset="0"/>
                <a:cs typeface="Times New Roman" pitchFamily="18" charset="0"/>
              </a:rPr>
              <a:t> ) , use simple algebraic formulas depending on whether the component are wired in a series or parallel configuration.</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44856040"/>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marL="0" lvl="0" indent="0" algn="just">
              <a:buNone/>
            </a:pPr>
            <a:r>
              <a:rPr lang="en-US" b="1" dirty="0" smtClean="0">
                <a:latin typeface="Times New Roman" pitchFamily="18" charset="0"/>
                <a:cs typeface="Times New Roman" pitchFamily="18" charset="0"/>
              </a:rPr>
              <a:t>1. Resistance </a:t>
            </a:r>
            <a:r>
              <a:rPr lang="en-US" b="1" dirty="0">
                <a:latin typeface="Times New Roman" pitchFamily="18" charset="0"/>
                <a:cs typeface="Times New Roman" pitchFamily="18" charset="0"/>
              </a:rPr>
              <a:t>in series </a:t>
            </a:r>
          </a:p>
          <a:p>
            <a:pPr lvl="0" algn="just">
              <a:buFont typeface="Wingdings" pitchFamily="2" charset="2"/>
              <a:buChar char="ü"/>
            </a:pPr>
            <a:r>
              <a:rPr lang="en-US" dirty="0">
                <a:latin typeface="Times New Roman" pitchFamily="18" charset="0"/>
                <a:cs typeface="Times New Roman" pitchFamily="18" charset="0"/>
              </a:rPr>
              <a:t>Rules: current flows sequentially through a single path. So you add the individual resistance values together</a:t>
            </a:r>
            <a:r>
              <a:rPr lang="en-US"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lvl="0" algn="just">
              <a:buFont typeface="Wingdings" pitchFamily="2" charset="2"/>
              <a:buChar char="ü"/>
            </a:pPr>
            <a:r>
              <a:rPr lang="en-US" dirty="0">
                <a:latin typeface="Times New Roman" pitchFamily="18" charset="0"/>
                <a:cs typeface="Times New Roman" pitchFamily="18" charset="0"/>
              </a:rPr>
              <a:t>Formula: </a:t>
            </a:r>
            <a:r>
              <a:rPr lang="en-US" dirty="0" err="1">
                <a:latin typeface="Times New Roman" pitchFamily="18" charset="0"/>
                <a:cs typeface="Times New Roman" pitchFamily="18" charset="0"/>
              </a:rPr>
              <a:t>Rtotal</a:t>
            </a:r>
            <a:r>
              <a:rPr lang="en-US" dirty="0">
                <a:latin typeface="Times New Roman" pitchFamily="18" charset="0"/>
                <a:cs typeface="Times New Roman" pitchFamily="18" charset="0"/>
              </a:rPr>
              <a:t> = R1 + R2 + R3 + …..; example: you have three resistors in series with the following values: R1 = 100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 R2 = 20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,and R3 = 30 </a:t>
            </a:r>
            <a:r>
              <a:rPr lang="en-US" dirty="0" err="1">
                <a:latin typeface="Times New Roman" pitchFamily="18" charset="0"/>
                <a:cs typeface="Times New Roman" pitchFamily="18" charset="0"/>
              </a:rPr>
              <a:t>ohm”s</a:t>
            </a:r>
            <a:r>
              <a:rPr lang="en-US"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algn="just">
              <a:buFont typeface="Wingdings" pitchFamily="2" charset="2"/>
              <a:buChar char="ü"/>
            </a:pPr>
            <a:r>
              <a:rPr lang="en-US" dirty="0" err="1">
                <a:latin typeface="Times New Roman" pitchFamily="18" charset="0"/>
                <a:cs typeface="Times New Roman" pitchFamily="18" charset="0"/>
              </a:rPr>
              <a:t>Rtotal</a:t>
            </a:r>
            <a:r>
              <a:rPr lang="en-US" dirty="0">
                <a:latin typeface="Times New Roman" pitchFamily="18" charset="0"/>
                <a:cs typeface="Times New Roman" pitchFamily="18" charset="0"/>
              </a:rPr>
              <a:t> =( 100 + 20 + 30 )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 150 </a:t>
            </a:r>
            <a:r>
              <a:rPr lang="en-US" dirty="0" err="1" smtClean="0">
                <a:latin typeface="Times New Roman" pitchFamily="18" charset="0"/>
                <a:cs typeface="Times New Roman" pitchFamily="18" charset="0"/>
              </a:rPr>
              <a:t>ohm”s</a:t>
            </a:r>
            <a:endParaRPr lang="en-US" dirty="0" smtClean="0">
              <a:latin typeface="Times New Roman" pitchFamily="18" charset="0"/>
              <a:cs typeface="Times New Roman" pitchFamily="18" charset="0"/>
            </a:endParaRPr>
          </a:p>
          <a:p>
            <a:pPr marL="0" indent="0" algn="just">
              <a:buNone/>
            </a:pPr>
            <a:endParaRPr lang="en-US" dirty="0">
              <a:latin typeface="Times New Roman" pitchFamily="18" charset="0"/>
              <a:cs typeface="Times New Roman" pitchFamily="18" charset="0"/>
            </a:endParaRPr>
          </a:p>
          <a:p>
            <a:pPr lvl="0" algn="just">
              <a:buFont typeface="Wingdings" pitchFamily="2" charset="2"/>
              <a:buChar char="ü"/>
            </a:pPr>
            <a:r>
              <a:rPr lang="en-US" dirty="0">
                <a:latin typeface="Times New Roman" pitchFamily="18" charset="0"/>
                <a:cs typeface="Times New Roman" pitchFamily="18" charset="0"/>
              </a:rPr>
              <a:t>Key takeaway: The total resistance in series is always greater than the largest individual resistance </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588999002"/>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marL="0" lvl="0" indent="0">
              <a:buNone/>
            </a:pPr>
            <a:r>
              <a:rPr lang="en-US" b="1" dirty="0" smtClean="0"/>
              <a:t>1. Resistance </a:t>
            </a:r>
            <a:r>
              <a:rPr lang="en-US" b="1" dirty="0"/>
              <a:t>in Parallel</a:t>
            </a:r>
          </a:p>
          <a:p>
            <a:pPr lvl="0">
              <a:buFont typeface="Wingdings" pitchFamily="2" charset="2"/>
              <a:buChar char="ü"/>
            </a:pPr>
            <a:r>
              <a:rPr lang="en-US" dirty="0"/>
              <a:t>Rule: components share the same voltage nodes and the current splits across multiple branches. You sum the reciprocals of  the individual  resistances</a:t>
            </a:r>
            <a:r>
              <a:rPr lang="en-US" dirty="0" smtClean="0"/>
              <a:t>.</a:t>
            </a:r>
          </a:p>
          <a:p>
            <a:pPr marL="0" lvl="0" indent="0">
              <a:buNone/>
            </a:pPr>
            <a:endParaRPr lang="en-US" dirty="0"/>
          </a:p>
          <a:p>
            <a:pPr lvl="0">
              <a:buFont typeface="Wingdings" pitchFamily="2" charset="2"/>
              <a:buChar char="ü"/>
            </a:pPr>
            <a:r>
              <a:rPr lang="en-US" dirty="0" err="1"/>
              <a:t>Fomula</a:t>
            </a:r>
            <a:r>
              <a:rPr lang="en-US" dirty="0"/>
              <a:t>:  1 / </a:t>
            </a:r>
            <a:r>
              <a:rPr lang="en-US" dirty="0" err="1"/>
              <a:t>Rtotal</a:t>
            </a:r>
            <a:r>
              <a:rPr lang="en-US" dirty="0"/>
              <a:t> = 1/R1 + 1/R2 + 1/R3 + ……  for just two resistors , use the simplified product – over – sum rule :  </a:t>
            </a:r>
            <a:r>
              <a:rPr lang="en-US" dirty="0" err="1"/>
              <a:t>Rtotal</a:t>
            </a:r>
            <a:r>
              <a:rPr lang="en-US" dirty="0"/>
              <a:t> = R1 * R2/ R1 + </a:t>
            </a:r>
            <a:r>
              <a:rPr lang="en-US" dirty="0" smtClean="0"/>
              <a:t>R2</a:t>
            </a:r>
          </a:p>
          <a:p>
            <a:pPr marL="0" lvl="0" indent="0">
              <a:buNone/>
            </a:pPr>
            <a:endParaRPr lang="en-US" dirty="0"/>
          </a:p>
          <a:p>
            <a:pPr>
              <a:buFont typeface="Wingdings" pitchFamily="2" charset="2"/>
              <a:buChar char="ü"/>
            </a:pPr>
            <a:r>
              <a:rPr lang="en-US" dirty="0"/>
              <a:t>Example calculation: You have three resistors in parallel with the following values, R1 = 100 </a:t>
            </a:r>
            <a:r>
              <a:rPr lang="en-US" dirty="0" err="1"/>
              <a:t>ohm”s</a:t>
            </a:r>
            <a:r>
              <a:rPr lang="en-US" dirty="0"/>
              <a:t>  R2 = 20 </a:t>
            </a:r>
            <a:r>
              <a:rPr lang="en-US" dirty="0" err="1"/>
              <a:t>ohm”s</a:t>
            </a:r>
            <a:r>
              <a:rPr lang="en-US" dirty="0"/>
              <a:t>, and R3 = 50 </a:t>
            </a:r>
            <a:r>
              <a:rPr lang="en-US" dirty="0" err="1"/>
              <a:t>ohm”s</a:t>
            </a:r>
            <a:endParaRPr lang="en-US" dirty="0"/>
          </a:p>
          <a:p>
            <a:pPr algn="just">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05804702"/>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lvl="0">
              <a:buFont typeface="Wingdings" pitchFamily="2" charset="2"/>
              <a:buChar char="ü"/>
            </a:pPr>
            <a:r>
              <a:rPr lang="en-US" dirty="0">
                <a:latin typeface="Times New Roman" pitchFamily="18" charset="0"/>
                <a:cs typeface="Times New Roman" pitchFamily="18" charset="0"/>
              </a:rPr>
              <a:t>Find the sum of the reciprocals,   1/ </a:t>
            </a:r>
            <a:r>
              <a:rPr lang="en-US" dirty="0" err="1">
                <a:latin typeface="Times New Roman" pitchFamily="18" charset="0"/>
                <a:cs typeface="Times New Roman" pitchFamily="18" charset="0"/>
              </a:rPr>
              <a:t>Rtotal</a:t>
            </a:r>
            <a:r>
              <a:rPr lang="en-US" dirty="0">
                <a:latin typeface="Times New Roman" pitchFamily="18" charset="0"/>
                <a:cs typeface="Times New Roman" pitchFamily="18" charset="0"/>
              </a:rPr>
              <a:t> = 1/100 + 1/20 + 1/50  </a:t>
            </a:r>
          </a:p>
          <a:p>
            <a:pPr>
              <a:buFont typeface="Wingdings" pitchFamily="2" charset="2"/>
              <a:buChar char="ü"/>
            </a:pPr>
            <a:r>
              <a:rPr lang="en-US" dirty="0">
                <a:latin typeface="Times New Roman" pitchFamily="18" charset="0"/>
                <a:cs typeface="Times New Roman" pitchFamily="18" charset="0"/>
              </a:rPr>
              <a:t>1/</a:t>
            </a:r>
            <a:r>
              <a:rPr lang="en-US" dirty="0" err="1">
                <a:latin typeface="Times New Roman" pitchFamily="18" charset="0"/>
                <a:cs typeface="Times New Roman" pitchFamily="18" charset="0"/>
              </a:rPr>
              <a:t>Rtotal</a:t>
            </a:r>
            <a:r>
              <a:rPr lang="en-US" dirty="0">
                <a:latin typeface="Times New Roman" pitchFamily="18" charset="0"/>
                <a:cs typeface="Times New Roman" pitchFamily="18" charset="0"/>
              </a:rPr>
              <a:t> = 0.01 + 0.02 + o.05 = 0.08</a:t>
            </a:r>
          </a:p>
          <a:p>
            <a:pPr>
              <a:buFont typeface="Wingdings" pitchFamily="2" charset="2"/>
              <a:buChar char="ü"/>
            </a:pPr>
            <a:r>
              <a:rPr lang="en-US" dirty="0">
                <a:latin typeface="Times New Roman" pitchFamily="18" charset="0"/>
                <a:cs typeface="Times New Roman" pitchFamily="18" charset="0"/>
              </a:rPr>
              <a:t>Ii} invert the result to find </a:t>
            </a:r>
            <a:r>
              <a:rPr lang="en-US" dirty="0" err="1">
                <a:latin typeface="Times New Roman" pitchFamily="18" charset="0"/>
                <a:cs typeface="Times New Roman" pitchFamily="18" charset="0"/>
              </a:rPr>
              <a:t>Rtotal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Rtotal</a:t>
            </a:r>
            <a:r>
              <a:rPr lang="en-US" dirty="0">
                <a:latin typeface="Times New Roman" pitchFamily="18" charset="0"/>
                <a:cs typeface="Times New Roman" pitchFamily="18" charset="0"/>
              </a:rPr>
              <a:t> = 1/0.08 = 12.5 </a:t>
            </a:r>
            <a:r>
              <a:rPr lang="en-US" dirty="0" err="1">
                <a:latin typeface="Times New Roman" pitchFamily="18" charset="0"/>
                <a:cs typeface="Times New Roman" pitchFamily="18" charset="0"/>
              </a:rPr>
              <a:t>ohm”s</a:t>
            </a:r>
            <a:endParaRPr lang="en-US" dirty="0">
              <a:latin typeface="Times New Roman" pitchFamily="18" charset="0"/>
              <a:cs typeface="Times New Roman" pitchFamily="18" charset="0"/>
            </a:endParaRPr>
          </a:p>
          <a:p>
            <a:pPr lvl="0">
              <a:buFont typeface="Wingdings" pitchFamily="2" charset="2"/>
              <a:buChar char="ü"/>
            </a:pPr>
            <a:r>
              <a:rPr lang="en-US" dirty="0">
                <a:latin typeface="Times New Roman" pitchFamily="18" charset="0"/>
                <a:cs typeface="Times New Roman" pitchFamily="18" charset="0"/>
              </a:rPr>
              <a:t>Takeaway: The total resistance in a parallel always less than the smallest individual   resistor  in the branch.</a:t>
            </a:r>
          </a:p>
          <a:p>
            <a:pPr lvl="0">
              <a:buFont typeface="Wingdings" pitchFamily="2" charset="2"/>
              <a:buChar char="ü"/>
            </a:pPr>
            <a:r>
              <a:rPr lang="en-US" dirty="0">
                <a:latin typeface="Times New Roman" pitchFamily="18" charset="0"/>
                <a:cs typeface="Times New Roman" pitchFamily="18" charset="0"/>
              </a:rPr>
              <a:t>Combination ( Series – parallel ) circuits</a:t>
            </a:r>
          </a:p>
          <a:p>
            <a:pPr lvl="0">
              <a:buFont typeface="Wingdings" pitchFamily="2" charset="2"/>
              <a:buChar char="ü"/>
            </a:pPr>
            <a:r>
              <a:rPr lang="en-US" dirty="0">
                <a:latin typeface="Times New Roman" pitchFamily="18" charset="0"/>
                <a:cs typeface="Times New Roman" pitchFamily="18" charset="0"/>
              </a:rPr>
              <a:t>Rule: Break the circuit down step – by – step , calculate the equivalent resistance of the parallel section first , then treat that result as a single resistor added to the series components.</a:t>
            </a:r>
          </a:p>
          <a:p>
            <a:pPr algn="just">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270001983"/>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a:bodyPr>
          <a:lstStyle/>
          <a:p>
            <a:pPr>
              <a:buFont typeface="Wingdings" pitchFamily="2" charset="2"/>
              <a:buChar char="ü"/>
            </a:pPr>
            <a:r>
              <a:rPr lang="en-US" dirty="0">
                <a:latin typeface="Times New Roman" pitchFamily="18" charset="0"/>
                <a:cs typeface="Times New Roman" pitchFamily="18" charset="0"/>
              </a:rPr>
              <a:t>Example calculation : R1 = 100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in series with a parallel  pair R2 = 50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and R3 =  50 ohms</a:t>
            </a:r>
          </a:p>
          <a:p>
            <a:pPr lvl="0">
              <a:buFont typeface="Wingdings" pitchFamily="2" charset="2"/>
              <a:buChar char="ü"/>
            </a:pPr>
            <a:r>
              <a:rPr lang="en-US" dirty="0">
                <a:latin typeface="Times New Roman" pitchFamily="18" charset="0"/>
                <a:cs typeface="Times New Roman" pitchFamily="18" charset="0"/>
              </a:rPr>
              <a:t>Calculate the parallel pair ( R2 and R3 ) ; </a:t>
            </a:r>
          </a:p>
          <a:p>
            <a:pPr>
              <a:buFont typeface="Wingdings" pitchFamily="2" charset="2"/>
              <a:buChar char="ü"/>
            </a:pPr>
            <a:r>
              <a:rPr lang="en-US" dirty="0" err="1">
                <a:latin typeface="Times New Roman" pitchFamily="18" charset="0"/>
                <a:cs typeface="Times New Roman" pitchFamily="18" charset="0"/>
              </a:rPr>
              <a:t>Rtotal</a:t>
            </a:r>
            <a:r>
              <a:rPr lang="en-US" dirty="0">
                <a:latin typeface="Times New Roman" pitchFamily="18" charset="0"/>
                <a:cs typeface="Times New Roman" pitchFamily="18" charset="0"/>
              </a:rPr>
              <a:t> = 50 * 50 / 50 + 50 = 2500 / 100 = 25 ohms</a:t>
            </a:r>
          </a:p>
          <a:p>
            <a:pPr lvl="0">
              <a:buFont typeface="Wingdings" pitchFamily="2" charset="2"/>
              <a:buChar char="ü"/>
            </a:pPr>
            <a:r>
              <a:rPr lang="en-US" dirty="0">
                <a:latin typeface="Times New Roman" pitchFamily="18" charset="0"/>
                <a:cs typeface="Times New Roman" pitchFamily="18" charset="0"/>
              </a:rPr>
              <a:t>Add the series resistor { R1 }to the parallel equivalent. </a:t>
            </a:r>
          </a:p>
          <a:p>
            <a:pPr>
              <a:buFont typeface="Wingdings" pitchFamily="2" charset="2"/>
              <a:buChar char="ü"/>
            </a:pPr>
            <a:r>
              <a:rPr lang="en-US" dirty="0" err="1">
                <a:latin typeface="Times New Roman" pitchFamily="18" charset="0"/>
                <a:cs typeface="Times New Roman" pitchFamily="18" charset="0"/>
              </a:rPr>
              <a:t>Rtotal</a:t>
            </a:r>
            <a:r>
              <a:rPr lang="en-US" dirty="0">
                <a:latin typeface="Times New Roman" pitchFamily="18" charset="0"/>
                <a:cs typeface="Times New Roman" pitchFamily="18" charset="0"/>
              </a:rPr>
              <a:t> = R1 + </a:t>
            </a:r>
            <a:r>
              <a:rPr lang="en-US" dirty="0" err="1">
                <a:latin typeface="Times New Roman" pitchFamily="18" charset="0"/>
                <a:cs typeface="Times New Roman" pitchFamily="18" charset="0"/>
              </a:rPr>
              <a:t>Rparallel</a:t>
            </a:r>
            <a:r>
              <a:rPr lang="en-US" dirty="0">
                <a:latin typeface="Times New Roman" pitchFamily="18" charset="0"/>
                <a:cs typeface="Times New Roman" pitchFamily="18" charset="0"/>
              </a:rPr>
              <a:t> = 100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+ 25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 125 </a:t>
            </a:r>
            <a:r>
              <a:rPr lang="en-US" dirty="0" err="1">
                <a:latin typeface="Times New Roman" pitchFamily="18" charset="0"/>
                <a:cs typeface="Times New Roman" pitchFamily="18" charset="0"/>
              </a:rPr>
              <a:t>ohm”s</a:t>
            </a:r>
            <a:endParaRPr lang="en-US" dirty="0">
              <a:latin typeface="Times New Roman" pitchFamily="18" charset="0"/>
              <a:cs typeface="Times New Roman" pitchFamily="18" charset="0"/>
            </a:endParaRPr>
          </a:p>
          <a:p>
            <a:pPr algn="just">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776293364"/>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38200" y="485776"/>
            <a:ext cx="10515600" cy="6043978"/>
          </a:xfrm>
        </p:spPr>
        <p:txBody>
          <a:bodyPr>
            <a:normAutofit fontScale="92500" lnSpcReduction="10000"/>
          </a:bodyPr>
          <a:lstStyle/>
          <a:p>
            <a:pPr marL="0" indent="0">
              <a:buNone/>
            </a:pPr>
            <a:r>
              <a:rPr lang="en-US" b="1" dirty="0">
                <a:latin typeface="Times New Roman" pitchFamily="18" charset="0"/>
                <a:cs typeface="Times New Roman" pitchFamily="18" charset="0"/>
              </a:rPr>
              <a:t>ENERGY:</a:t>
            </a:r>
          </a:p>
          <a:p>
            <a:pPr lvl="0">
              <a:buFont typeface="Wingdings" pitchFamily="2" charset="2"/>
              <a:buChar char="ü"/>
            </a:pPr>
            <a:r>
              <a:rPr lang="en-US" dirty="0">
                <a:latin typeface="Times New Roman" pitchFamily="18" charset="0"/>
                <a:cs typeface="Times New Roman" pitchFamily="18" charset="0"/>
              </a:rPr>
              <a:t>Definition:  Energy is the capacity or the ability to do work or cause change.</a:t>
            </a:r>
          </a:p>
          <a:p>
            <a:pPr lvl="0">
              <a:buFont typeface="Wingdings" pitchFamily="2" charset="2"/>
              <a:buChar char="ü"/>
            </a:pPr>
            <a:r>
              <a:rPr lang="en-US" dirty="0">
                <a:latin typeface="Times New Roman" pitchFamily="18" charset="0"/>
                <a:cs typeface="Times New Roman" pitchFamily="18" charset="0"/>
              </a:rPr>
              <a:t>SI unit: joule ( J )</a:t>
            </a:r>
          </a:p>
          <a:p>
            <a:pPr lvl="0">
              <a:buFont typeface="Wingdings" pitchFamily="2" charset="2"/>
              <a:buChar char="ü"/>
            </a:pPr>
            <a:r>
              <a:rPr lang="en-US" dirty="0">
                <a:latin typeface="Times New Roman" pitchFamily="18" charset="0"/>
                <a:cs typeface="Times New Roman" pitchFamily="18" charset="0"/>
              </a:rPr>
              <a:t>Key concept: Energy can change from one form to another ( such as potential, kinetic, thermal , electrical, or chemical), following the law of conservation of energy.</a:t>
            </a:r>
          </a:p>
          <a:p>
            <a:pPr lvl="0">
              <a:buFont typeface="Wingdings" pitchFamily="2" charset="2"/>
              <a:buChar char="ü"/>
            </a:pPr>
            <a:r>
              <a:rPr lang="en-US" dirty="0">
                <a:latin typeface="Times New Roman" pitchFamily="18" charset="0"/>
                <a:cs typeface="Times New Roman" pitchFamily="18" charset="0"/>
              </a:rPr>
              <a:t>Examples:  </a:t>
            </a:r>
          </a:p>
          <a:p>
            <a:pPr>
              <a:buFont typeface="Wingdings" pitchFamily="2" charset="2"/>
              <a:buChar char="ü"/>
            </a:pPr>
            <a:r>
              <a:rPr lang="en-US" dirty="0">
                <a:latin typeface="Times New Roman" pitchFamily="18" charset="0"/>
                <a:cs typeface="Times New Roman" pitchFamily="18" charset="0"/>
              </a:rPr>
              <a:t>I}  Kinetic Energy: a car moving down a high way or a runner sprinting.</a:t>
            </a:r>
          </a:p>
          <a:p>
            <a:pPr>
              <a:buFont typeface="Wingdings" pitchFamily="2" charset="2"/>
              <a:buChar char="ü"/>
            </a:pPr>
            <a:r>
              <a:rPr lang="en-US" dirty="0">
                <a:latin typeface="Times New Roman" pitchFamily="18" charset="0"/>
                <a:cs typeface="Times New Roman" pitchFamily="18" charset="0"/>
              </a:rPr>
              <a:t>Ii} Potential energy: A book resting on a high shelf or a stretched rubber band storing elastic energy.</a:t>
            </a:r>
          </a:p>
          <a:p>
            <a:pPr>
              <a:buFont typeface="Wingdings" pitchFamily="2" charset="2"/>
              <a:buChar char="ü"/>
            </a:pPr>
            <a:r>
              <a:rPr lang="en-US" dirty="0">
                <a:latin typeface="Times New Roman" pitchFamily="18" charset="0"/>
                <a:cs typeface="Times New Roman" pitchFamily="18" charset="0"/>
              </a:rPr>
              <a:t>Iii}  Chemical Energy : Food you digest or gasoline burned in an engine.</a:t>
            </a:r>
          </a:p>
          <a:p>
            <a:pPr>
              <a:buFont typeface="Wingdings" pitchFamily="2" charset="2"/>
              <a:buChar char="ü"/>
            </a:pPr>
            <a:r>
              <a:rPr lang="en-US" dirty="0">
                <a:latin typeface="Times New Roman" pitchFamily="18" charset="0"/>
                <a:cs typeface="Times New Roman" pitchFamily="18" charset="0"/>
              </a:rPr>
              <a:t>Iv}  Electrical Energy: Electricity powering a refrigerator over a 24 – hour period.</a:t>
            </a:r>
          </a:p>
          <a:p>
            <a:pPr marL="0" indent="0">
              <a:buNone/>
            </a:pPr>
            <a:endParaRPr lang="en-US" dirty="0">
              <a:latin typeface="Times New Roman" pitchFamily="18" charset="0"/>
              <a:cs typeface="Times New Roman" pitchFamily="18" charset="0"/>
            </a:endParaRP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546174835"/>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7BF99F-A2D0-4EF0-75CC-A738933C640B}"/>
              </a:ext>
            </a:extLst>
          </p:cNvPr>
          <p:cNvSpPr>
            <a:spLocks noGrp="1"/>
          </p:cNvSpPr>
          <p:nvPr>
            <p:ph idx="1"/>
          </p:nvPr>
        </p:nvSpPr>
        <p:spPr>
          <a:xfrm>
            <a:off x="881063" y="571501"/>
            <a:ext cx="10515600" cy="6043978"/>
          </a:xfrm>
        </p:spPr>
        <p:txBody>
          <a:bodyPr>
            <a:normAutofit fontScale="92500" lnSpcReduction="10000"/>
          </a:bodyPr>
          <a:lstStyle/>
          <a:p>
            <a:pPr marL="0" indent="0">
              <a:buNone/>
            </a:pPr>
            <a:r>
              <a:rPr lang="en-US" b="1" dirty="0"/>
              <a:t>POWER</a:t>
            </a:r>
          </a:p>
          <a:p>
            <a:pPr lvl="0">
              <a:buFont typeface="Wingdings" pitchFamily="2" charset="2"/>
              <a:buChar char="ü"/>
            </a:pPr>
            <a:r>
              <a:rPr lang="en-US" dirty="0">
                <a:latin typeface="Times New Roman" pitchFamily="18" charset="0"/>
                <a:cs typeface="Times New Roman" pitchFamily="18" charset="0"/>
              </a:rPr>
              <a:t>Definition: power is the rate at which energy is transferred, used, or converted over time. </a:t>
            </a:r>
          </a:p>
          <a:p>
            <a:pPr lvl="0">
              <a:buFont typeface="Wingdings" pitchFamily="2" charset="2"/>
              <a:buChar char="ü"/>
            </a:pPr>
            <a:r>
              <a:rPr lang="en-US" dirty="0">
                <a:latin typeface="Times New Roman" pitchFamily="18" charset="0"/>
                <a:cs typeface="Times New Roman" pitchFamily="18" charset="0"/>
              </a:rPr>
              <a:t>SI unit: Watt ( W ) , which equals one joule per second ( J/S }.</a:t>
            </a:r>
          </a:p>
          <a:p>
            <a:pPr lvl="0">
              <a:buFont typeface="Wingdings" pitchFamily="2" charset="2"/>
              <a:buChar char="ü"/>
            </a:pPr>
            <a:r>
              <a:rPr lang="en-US" dirty="0" err="1">
                <a:latin typeface="Times New Roman" pitchFamily="18" charset="0"/>
                <a:cs typeface="Times New Roman" pitchFamily="18" charset="0"/>
              </a:rPr>
              <a:t>Fomula</a:t>
            </a:r>
            <a:r>
              <a:rPr lang="en-US" dirty="0">
                <a:latin typeface="Times New Roman" pitchFamily="18" charset="0"/>
                <a:cs typeface="Times New Roman" pitchFamily="18" charset="0"/>
              </a:rPr>
              <a:t>: Power = Energy / time (  P = W/ t }.</a:t>
            </a:r>
          </a:p>
          <a:p>
            <a:pPr lvl="0">
              <a:buFont typeface="Wingdings" pitchFamily="2" charset="2"/>
              <a:buChar char="ü"/>
            </a:pPr>
            <a:r>
              <a:rPr lang="en-US" dirty="0">
                <a:latin typeface="Times New Roman" pitchFamily="18" charset="0"/>
                <a:cs typeface="Times New Roman" pitchFamily="18" charset="0"/>
              </a:rPr>
              <a:t>Key concept : Power tells you how fast energy is being used or delivered , not just the total amount.</a:t>
            </a:r>
          </a:p>
          <a:p>
            <a:pPr lvl="0">
              <a:buFont typeface="Wingdings" pitchFamily="2" charset="2"/>
              <a:buChar char="ü"/>
            </a:pPr>
            <a:r>
              <a:rPr lang="en-US" dirty="0" err="1">
                <a:latin typeface="Times New Roman" pitchFamily="18" charset="0"/>
                <a:cs typeface="Times New Roman" pitchFamily="18" charset="0"/>
              </a:rPr>
              <a:t>Examole</a:t>
            </a:r>
            <a:r>
              <a:rPr lang="en-US" dirty="0">
                <a:latin typeface="Times New Roman" pitchFamily="18" charset="0"/>
                <a:cs typeface="Times New Roman" pitchFamily="18" charset="0"/>
              </a:rPr>
              <a:t>: </a:t>
            </a:r>
          </a:p>
          <a:p>
            <a:pPr lvl="0">
              <a:buFont typeface="Wingdings" pitchFamily="2" charset="2"/>
              <a:buChar char="ü"/>
            </a:pPr>
            <a:r>
              <a:rPr lang="en-US" dirty="0">
                <a:latin typeface="Times New Roman" pitchFamily="18" charset="0"/>
                <a:cs typeface="Times New Roman" pitchFamily="18" charset="0"/>
              </a:rPr>
              <a:t>Light bulb: A 60 – watt light bulb uses 60 joules of electrical energy every single second.</a:t>
            </a:r>
          </a:p>
          <a:p>
            <a:pPr lvl="0">
              <a:buFont typeface="Wingdings" pitchFamily="2" charset="2"/>
              <a:buChar char="ü"/>
            </a:pPr>
            <a:r>
              <a:rPr lang="en-US" dirty="0">
                <a:latin typeface="Times New Roman" pitchFamily="18" charset="0"/>
                <a:cs typeface="Times New Roman" pitchFamily="18" charset="0"/>
              </a:rPr>
              <a:t>Appliances: A 1.500 – watt microwave cooks food much faster than a lower – powered device because it transfers energy at a higher rate </a:t>
            </a:r>
          </a:p>
          <a:p>
            <a:pPr lvl="0">
              <a:buFont typeface="Wingdings" pitchFamily="2" charset="2"/>
              <a:buChar char="ü"/>
            </a:pPr>
            <a:r>
              <a:rPr lang="en-US" dirty="0">
                <a:latin typeface="Times New Roman" pitchFamily="18" charset="0"/>
                <a:cs typeface="Times New Roman" pitchFamily="18" charset="0"/>
              </a:rPr>
              <a:t>Human/ Mechanic Work:  A weightlifter lifting a heavy barbell quickly exerts more power than some one lifting the same weight very slowly.</a:t>
            </a:r>
          </a:p>
          <a:p>
            <a:pPr>
              <a:buFont typeface="Wingdings" pitchFamily="2" charset="2"/>
              <a:buChar char="ü"/>
            </a:pPr>
            <a:r>
              <a:rPr lang="en-US" dirty="0">
                <a:latin typeface="Times New Roman" pitchFamily="18" charset="0"/>
                <a:cs typeface="Times New Roman" pitchFamily="18" charset="0"/>
              </a:rPr>
              <a:t>Quick </a:t>
            </a:r>
            <a:r>
              <a:rPr lang="en-US" dirty="0" err="1">
                <a:latin typeface="Times New Roman" pitchFamily="18" charset="0"/>
                <a:cs typeface="Times New Roman" pitchFamily="18" charset="0"/>
              </a:rPr>
              <a:t>comparism</a:t>
            </a:r>
            <a:endParaRPr lang="en-US" dirty="0">
              <a:latin typeface="Times New Roman" pitchFamily="18" charset="0"/>
              <a:cs typeface="Times New Roman" pitchFamily="18" charset="0"/>
            </a:endParaRP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944142337"/>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2616852669"/>
              </p:ext>
            </p:extLst>
          </p:nvPr>
        </p:nvGraphicFramePr>
        <p:xfrm>
          <a:off x="693175" y="899652"/>
          <a:ext cx="10530347" cy="5117692"/>
        </p:xfrm>
        <a:graphic>
          <a:graphicData uri="http://schemas.openxmlformats.org/drawingml/2006/table">
            <a:tbl>
              <a:tblPr firstRow="1" firstCol="1" bandRow="1">
                <a:tableStyleId>{5C22544A-7EE6-4342-B048-85BDC9FD1C3A}</a:tableStyleId>
              </a:tblPr>
              <a:tblGrid>
                <a:gridCol w="2438905"/>
                <a:gridCol w="3648235"/>
                <a:gridCol w="4443207"/>
              </a:tblGrid>
              <a:tr h="507058">
                <a:tc>
                  <a:txBody>
                    <a:bodyPr/>
                    <a:lstStyle/>
                    <a:p>
                      <a:pPr marL="0" marR="0" algn="just">
                        <a:lnSpc>
                          <a:spcPct val="107000"/>
                        </a:lnSpc>
                        <a:spcBef>
                          <a:spcPts val="0"/>
                        </a:spcBef>
                        <a:spcAft>
                          <a:spcPts val="0"/>
                        </a:spcAft>
                      </a:pPr>
                      <a:r>
                        <a:rPr lang="en-US" sz="1000" kern="100" dirty="0">
                          <a:effectLst/>
                        </a:rPr>
                        <a:t>Feature                                                                        </a:t>
                      </a:r>
                      <a:endParaRPr lang="en-US" sz="1100" kern="100" dirty="0">
                        <a:effectLst/>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1000" kern="100">
                          <a:effectLst/>
                        </a:rPr>
                        <a:t>Energy    </a:t>
                      </a:r>
                      <a:endParaRPr lang="en-US" sz="1100" kern="100">
                        <a:effectLst/>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1000" kern="100" dirty="0">
                          <a:effectLst/>
                        </a:rPr>
                        <a:t>Power</a:t>
                      </a:r>
                      <a:endParaRPr lang="en-US" sz="1100" kern="100" dirty="0">
                        <a:effectLst/>
                        <a:latin typeface="Calibri"/>
                        <a:ea typeface="Calibri"/>
                        <a:cs typeface="Times New Roman"/>
                      </a:endParaRPr>
                    </a:p>
                  </a:txBody>
                  <a:tcPr marL="68580" marR="68580" marT="0" marB="0"/>
                </a:tc>
              </a:tr>
              <a:tr h="507058">
                <a:tc>
                  <a:txBody>
                    <a:bodyPr/>
                    <a:lstStyle/>
                    <a:p>
                      <a:pPr marL="0" marR="0" algn="just">
                        <a:lnSpc>
                          <a:spcPct val="107000"/>
                        </a:lnSpc>
                        <a:spcBef>
                          <a:spcPts val="0"/>
                        </a:spcBef>
                        <a:spcAft>
                          <a:spcPts val="0"/>
                        </a:spcAft>
                      </a:pPr>
                      <a:r>
                        <a:rPr lang="en-US" sz="1000" kern="100">
                          <a:effectLst/>
                        </a:rPr>
                        <a:t>Work it measures</a:t>
                      </a:r>
                      <a:endParaRPr lang="en-US" sz="1100" kern="100">
                        <a:effectLst/>
                        <a:latin typeface="Calibri"/>
                        <a:ea typeface="Calibri"/>
                        <a:cs typeface="Times New Roman"/>
                      </a:endParaRPr>
                    </a:p>
                  </a:txBody>
                  <a:tcPr marL="68580" marR="68580" marT="0" marB="0"/>
                </a:tc>
                <a:tc>
                  <a:txBody>
                    <a:bodyPr/>
                    <a:lstStyle/>
                    <a:p>
                      <a:pPr marL="43180" marR="0" algn="just">
                        <a:lnSpc>
                          <a:spcPct val="107000"/>
                        </a:lnSpc>
                        <a:spcBef>
                          <a:spcPts val="0"/>
                        </a:spcBef>
                        <a:spcAft>
                          <a:spcPts val="0"/>
                        </a:spcAft>
                      </a:pPr>
                      <a:r>
                        <a:rPr lang="en-US" sz="1000" kern="100">
                          <a:effectLst/>
                        </a:rPr>
                        <a:t>Total capacity to do work</a:t>
                      </a:r>
                      <a:endParaRPr lang="en-US" sz="1100" kern="100">
                        <a:effectLst/>
                        <a:latin typeface="Calibri"/>
                        <a:ea typeface="Calibri"/>
                        <a:cs typeface="Times New Roman"/>
                      </a:endParaRPr>
                    </a:p>
                  </a:txBody>
                  <a:tcPr marL="68580" marR="68580" marT="0" marB="0"/>
                </a:tc>
                <a:tc>
                  <a:txBody>
                    <a:bodyPr/>
                    <a:lstStyle/>
                    <a:p>
                      <a:pPr marL="635" marR="0" algn="just">
                        <a:lnSpc>
                          <a:spcPct val="107000"/>
                        </a:lnSpc>
                        <a:spcBef>
                          <a:spcPts val="0"/>
                        </a:spcBef>
                        <a:spcAft>
                          <a:spcPts val="0"/>
                        </a:spcAft>
                      </a:pPr>
                      <a:r>
                        <a:rPr lang="en-US" sz="1000" kern="100" dirty="0">
                          <a:effectLst/>
                        </a:rPr>
                        <a:t>Rate of energy transfer or use</a:t>
                      </a:r>
                      <a:endParaRPr lang="en-US" sz="1100" kern="100" dirty="0">
                        <a:effectLst/>
                        <a:latin typeface="Calibri"/>
                        <a:ea typeface="Calibri"/>
                        <a:cs typeface="Times New Roman"/>
                      </a:endParaRPr>
                    </a:p>
                  </a:txBody>
                  <a:tcPr marL="68580" marR="68580" marT="0" marB="0"/>
                </a:tc>
              </a:tr>
              <a:tr h="1037672">
                <a:tc>
                  <a:txBody>
                    <a:bodyPr/>
                    <a:lstStyle/>
                    <a:p>
                      <a:pPr marL="0" marR="0" algn="just">
                        <a:lnSpc>
                          <a:spcPct val="107000"/>
                        </a:lnSpc>
                        <a:spcBef>
                          <a:spcPts val="0"/>
                        </a:spcBef>
                        <a:spcAft>
                          <a:spcPts val="0"/>
                        </a:spcAft>
                      </a:pPr>
                      <a:r>
                        <a:rPr lang="en-US" sz="1000" kern="100">
                          <a:effectLst/>
                        </a:rPr>
                        <a:t>Primary unit</a:t>
                      </a:r>
                      <a:endParaRPr lang="en-US" sz="1100" kern="100">
                        <a:effectLst/>
                        <a:latin typeface="Calibri"/>
                        <a:ea typeface="Calibri"/>
                        <a:cs typeface="Times New Roman"/>
                      </a:endParaRPr>
                    </a:p>
                  </a:txBody>
                  <a:tcPr marL="68580" marR="68580" marT="0" marB="0"/>
                </a:tc>
                <a:tc>
                  <a:txBody>
                    <a:bodyPr/>
                    <a:lstStyle/>
                    <a:p>
                      <a:pPr marL="69215" marR="0" algn="just">
                        <a:lnSpc>
                          <a:spcPct val="107000"/>
                        </a:lnSpc>
                        <a:spcBef>
                          <a:spcPts val="0"/>
                        </a:spcBef>
                        <a:spcAft>
                          <a:spcPts val="0"/>
                        </a:spcAft>
                      </a:pPr>
                      <a:r>
                        <a:rPr lang="en-US" sz="1000" kern="100">
                          <a:effectLst/>
                        </a:rPr>
                        <a:t>Joule ( J ) kilowatt – hour ( KWh}      </a:t>
                      </a:r>
                      <a:endParaRPr lang="en-US" sz="1100" kern="100">
                        <a:effectLst/>
                        <a:latin typeface="Calibri"/>
                        <a:ea typeface="Calibri"/>
                        <a:cs typeface="Times New Roman"/>
                      </a:endParaRPr>
                    </a:p>
                  </a:txBody>
                  <a:tcPr marL="68580" marR="68580" marT="0" marB="0"/>
                </a:tc>
                <a:tc>
                  <a:txBody>
                    <a:bodyPr/>
                    <a:lstStyle/>
                    <a:p>
                      <a:pPr marL="69215" marR="0" algn="just">
                        <a:lnSpc>
                          <a:spcPct val="107000"/>
                        </a:lnSpc>
                        <a:spcBef>
                          <a:spcPts val="0"/>
                        </a:spcBef>
                        <a:spcAft>
                          <a:spcPts val="0"/>
                        </a:spcAft>
                      </a:pPr>
                      <a:r>
                        <a:rPr lang="en-US" sz="1000" kern="100">
                          <a:effectLst/>
                        </a:rPr>
                        <a:t>Watt (w ) or kilowatt ( W )</a:t>
                      </a:r>
                      <a:endParaRPr lang="en-US" sz="1100" kern="100">
                        <a:effectLst/>
                        <a:latin typeface="Calibri"/>
                        <a:ea typeface="Calibri"/>
                        <a:cs typeface="Times New Roman"/>
                      </a:endParaRPr>
                    </a:p>
                  </a:txBody>
                  <a:tcPr marL="68580" marR="68580" marT="0" marB="0"/>
                </a:tc>
              </a:tr>
              <a:tr h="1037672">
                <a:tc>
                  <a:txBody>
                    <a:bodyPr/>
                    <a:lstStyle/>
                    <a:p>
                      <a:pPr marL="0" marR="0" algn="just">
                        <a:lnSpc>
                          <a:spcPct val="107000"/>
                        </a:lnSpc>
                        <a:spcBef>
                          <a:spcPts val="0"/>
                        </a:spcBef>
                        <a:spcAft>
                          <a:spcPts val="0"/>
                        </a:spcAft>
                      </a:pPr>
                      <a:r>
                        <a:rPr lang="en-US" sz="1000" kern="100">
                          <a:effectLst/>
                        </a:rPr>
                        <a:t>Analogy</a:t>
                      </a:r>
                      <a:endParaRPr lang="en-US" sz="1100" kern="100">
                        <a:effectLst/>
                        <a:latin typeface="Calibri"/>
                        <a:ea typeface="Calibri"/>
                        <a:cs typeface="Times New Roman"/>
                      </a:endParaRPr>
                    </a:p>
                  </a:txBody>
                  <a:tcPr marL="68580" marR="68580" marT="0" marB="0"/>
                </a:tc>
                <a:tc>
                  <a:txBody>
                    <a:bodyPr/>
                    <a:lstStyle/>
                    <a:p>
                      <a:pPr marL="43180" marR="0" algn="just">
                        <a:lnSpc>
                          <a:spcPct val="107000"/>
                        </a:lnSpc>
                        <a:spcBef>
                          <a:spcPts val="0"/>
                        </a:spcBef>
                        <a:spcAft>
                          <a:spcPts val="0"/>
                        </a:spcAft>
                      </a:pPr>
                      <a:r>
                        <a:rPr lang="en-US" sz="1000" kern="100">
                          <a:effectLst/>
                        </a:rPr>
                        <a:t>The total amount of water stored      </a:t>
                      </a:r>
                      <a:endParaRPr lang="en-US" sz="1100" kern="100">
                        <a:effectLst/>
                        <a:latin typeface="Calibri"/>
                        <a:ea typeface="Calibri"/>
                        <a:cs typeface="Times New Roman"/>
                      </a:endParaRPr>
                    </a:p>
                  </a:txBody>
                  <a:tcPr marL="68580" marR="68580" marT="0" marB="0"/>
                </a:tc>
                <a:tc>
                  <a:txBody>
                    <a:bodyPr/>
                    <a:lstStyle/>
                    <a:p>
                      <a:pPr marL="43180" marR="0" algn="just">
                        <a:lnSpc>
                          <a:spcPct val="107000"/>
                        </a:lnSpc>
                        <a:spcBef>
                          <a:spcPts val="0"/>
                        </a:spcBef>
                        <a:spcAft>
                          <a:spcPts val="0"/>
                        </a:spcAft>
                      </a:pPr>
                      <a:r>
                        <a:rPr lang="en-US" sz="1000" kern="100" dirty="0">
                          <a:effectLst/>
                        </a:rPr>
                        <a:t>The speed or width of the pipe</a:t>
                      </a:r>
                      <a:endParaRPr lang="en-US" sz="1100" kern="100" dirty="0">
                        <a:effectLst/>
                        <a:latin typeface="Calibri"/>
                        <a:ea typeface="Calibri"/>
                        <a:cs typeface="Times New Roman"/>
                      </a:endParaRPr>
                    </a:p>
                  </a:txBody>
                  <a:tcPr marL="68580" marR="68580" marT="0" marB="0"/>
                </a:tc>
              </a:tr>
              <a:tr h="507058">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a:ea typeface="Calibri"/>
                        <a:cs typeface="Times New Roman"/>
                      </a:endParaRPr>
                    </a:p>
                  </a:txBody>
                  <a:tcPr marL="68580" marR="68580" marT="0" marB="0"/>
                </a:tc>
                <a:tc>
                  <a:txBody>
                    <a:bodyPr/>
                    <a:lstStyle/>
                    <a:p>
                      <a:pPr marL="60960" marR="0" algn="just">
                        <a:lnSpc>
                          <a:spcPct val="107000"/>
                        </a:lnSpc>
                        <a:spcBef>
                          <a:spcPts val="0"/>
                        </a:spcBef>
                        <a:spcAft>
                          <a:spcPts val="0"/>
                        </a:spcAft>
                      </a:pPr>
                      <a:r>
                        <a:rPr lang="en-US" sz="1000" kern="100">
                          <a:effectLst/>
                        </a:rPr>
                        <a:t>In a tank</a:t>
                      </a:r>
                      <a:endParaRPr lang="en-US" sz="1100" kern="100">
                        <a:effectLst/>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1000" kern="100">
                          <a:effectLst/>
                        </a:rPr>
                        <a:t>used to let the water flow out</a:t>
                      </a:r>
                      <a:endParaRPr lang="en-US" sz="1100" kern="100">
                        <a:effectLst/>
                        <a:latin typeface="Calibri"/>
                        <a:ea typeface="Calibri"/>
                        <a:cs typeface="Times New Roman"/>
                      </a:endParaRPr>
                    </a:p>
                  </a:txBody>
                  <a:tcPr marL="68580" marR="68580" marT="0" marB="0"/>
                </a:tc>
              </a:tr>
              <a:tr h="507058">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a:ea typeface="Calibri"/>
                        <a:cs typeface="Times New Roman"/>
                      </a:endParaRPr>
                    </a:p>
                  </a:txBody>
                  <a:tcPr marL="68580" marR="68580" marT="0" marB="0"/>
                </a:tc>
              </a:tr>
              <a:tr h="507058">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a:ea typeface="Calibri"/>
                        <a:cs typeface="Times New Roman"/>
                      </a:endParaRPr>
                    </a:p>
                  </a:txBody>
                  <a:tcPr marL="68580" marR="68580" marT="0" marB="0"/>
                </a:tc>
              </a:tr>
              <a:tr h="507058">
                <a:tc>
                  <a:txBody>
                    <a:bodyPr/>
                    <a:lstStyle/>
                    <a:p>
                      <a:pPr marL="0" marR="0" algn="just">
                        <a:lnSpc>
                          <a:spcPct val="107000"/>
                        </a:lnSpc>
                        <a:spcBef>
                          <a:spcPts val="0"/>
                        </a:spcBef>
                        <a:spcAft>
                          <a:spcPts val="0"/>
                        </a:spcAft>
                      </a:pPr>
                      <a:r>
                        <a:rPr lang="en-US" sz="1000" kern="100">
                          <a:effectLst/>
                        </a:rPr>
                        <a:t> </a:t>
                      </a:r>
                      <a:endParaRPr lang="en-US" sz="1100" kern="100">
                        <a:effectLst/>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1000" kern="100" dirty="0">
                          <a:effectLst/>
                        </a:rPr>
                        <a:t> </a:t>
                      </a:r>
                      <a:endParaRPr lang="en-US" sz="1100" kern="100" dirty="0">
                        <a:effectLst/>
                        <a:latin typeface="Calibri"/>
                        <a:ea typeface="Calibri"/>
                        <a:cs typeface="Times New Roman"/>
                      </a:endParaRPr>
                    </a:p>
                  </a:txBody>
                  <a:tcPr marL="68580" marR="68580" marT="0" marB="0"/>
                </a:tc>
                <a:tc>
                  <a:txBody>
                    <a:bodyPr/>
                    <a:lstStyle/>
                    <a:p>
                      <a:pPr marL="0" marR="0" algn="just">
                        <a:lnSpc>
                          <a:spcPct val="107000"/>
                        </a:lnSpc>
                        <a:spcBef>
                          <a:spcPts val="0"/>
                        </a:spcBef>
                        <a:spcAft>
                          <a:spcPts val="0"/>
                        </a:spcAft>
                      </a:pPr>
                      <a:r>
                        <a:rPr lang="en-US" sz="1000" kern="100" dirty="0">
                          <a:effectLst/>
                        </a:rPr>
                        <a:t> </a:t>
                      </a:r>
                      <a:endParaRPr lang="en-US" sz="1100" kern="100" dirty="0">
                        <a:effectLst/>
                        <a:latin typeface="Calibri"/>
                        <a:ea typeface="Calibri"/>
                        <a:cs typeface="Times New Roman"/>
                      </a:endParaRPr>
                    </a:p>
                  </a:txBody>
                  <a:tcPr marL="68580" marR="68580" marT="0" marB="0"/>
                </a:tc>
              </a:tr>
            </a:tbl>
          </a:graphicData>
        </a:graphic>
      </p:graphicFrame>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995268837"/>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lnSpcReduction="10000"/>
          </a:bodyPr>
          <a:lstStyle/>
          <a:p>
            <a:pPr marL="0" indent="0">
              <a:buNone/>
            </a:pPr>
            <a:r>
              <a:rPr lang="en-US" b="1" dirty="0">
                <a:latin typeface="Times New Roman" pitchFamily="18" charset="0"/>
                <a:cs typeface="Times New Roman" pitchFamily="18" charset="0"/>
              </a:rPr>
              <a:t>THE HEATING EFFECTS OF A CURRENT.</a:t>
            </a:r>
          </a:p>
          <a:p>
            <a:pPr>
              <a:buFont typeface="Wingdings" pitchFamily="2" charset="2"/>
              <a:buChar char="ü"/>
            </a:pPr>
            <a:r>
              <a:rPr lang="en-US" dirty="0">
                <a:latin typeface="Times New Roman" pitchFamily="18" charset="0"/>
                <a:cs typeface="Times New Roman" pitchFamily="18" charset="0"/>
              </a:rPr>
              <a:t>The heating effect of an electric current – also known as joule heating or resistive heating – occurs when an electric current flows through a conductor and encounters resistance. As free electrons move and collide with the atoms of the conductor, they transfer kinetic energy into thermal energy , making the conductor warm.</a:t>
            </a:r>
          </a:p>
          <a:p>
            <a:pPr>
              <a:buFont typeface="Wingdings" pitchFamily="2" charset="2"/>
              <a:buChar char="ü"/>
            </a:pPr>
            <a:r>
              <a:rPr lang="en-US" dirty="0">
                <a:latin typeface="Times New Roman" pitchFamily="18" charset="0"/>
                <a:cs typeface="Times New Roman" pitchFamily="18" charset="0"/>
              </a:rPr>
              <a:t>Joule”s Law of Heating: </a:t>
            </a:r>
          </a:p>
          <a:p>
            <a:pPr>
              <a:buFont typeface="Wingdings" pitchFamily="2" charset="2"/>
              <a:buChar char="ü"/>
            </a:pPr>
            <a:r>
              <a:rPr lang="en-US" dirty="0">
                <a:latin typeface="Times New Roman" pitchFamily="18" charset="0"/>
                <a:cs typeface="Times New Roman" pitchFamily="18" charset="0"/>
              </a:rPr>
              <a:t>The amount of heat ( H ) produced in a conductor is calculated using the formula:</a:t>
            </a:r>
          </a:p>
          <a:p>
            <a:pPr>
              <a:buFont typeface="Wingdings" pitchFamily="2" charset="2"/>
              <a:buChar char="ü"/>
            </a:pPr>
            <a:r>
              <a:rPr lang="en-US" dirty="0">
                <a:latin typeface="Times New Roman" pitchFamily="18" charset="0"/>
                <a:cs typeface="Times New Roman" pitchFamily="18" charset="0"/>
              </a:rPr>
              <a:t>H = I2 R t   where:</a:t>
            </a:r>
          </a:p>
          <a:p>
            <a:pPr>
              <a:buFont typeface="Wingdings" pitchFamily="2" charset="2"/>
              <a:buChar char="ü"/>
            </a:pPr>
            <a:r>
              <a:rPr lang="en-US" dirty="0">
                <a:latin typeface="Times New Roman" pitchFamily="18" charset="0"/>
                <a:cs typeface="Times New Roman" pitchFamily="18" charset="0"/>
              </a:rPr>
              <a:t>I = electric current ( in amperes )</a:t>
            </a:r>
          </a:p>
          <a:p>
            <a:pPr>
              <a:buFont typeface="Wingdings" pitchFamily="2" charset="2"/>
              <a:buChar char="ü"/>
            </a:pPr>
            <a:r>
              <a:rPr lang="en-US" dirty="0">
                <a:latin typeface="Times New Roman" pitchFamily="18" charset="0"/>
                <a:cs typeface="Times New Roman" pitchFamily="18" charset="0"/>
              </a:rPr>
              <a:t>R = Resistance of the conductor ( in </a:t>
            </a:r>
            <a:r>
              <a:rPr lang="en-US" dirty="0" err="1">
                <a:latin typeface="Times New Roman" pitchFamily="18" charset="0"/>
                <a:cs typeface="Times New Roman" pitchFamily="18" charset="0"/>
              </a:rPr>
              <a:t>ohm”s</a:t>
            </a:r>
            <a:r>
              <a:rPr lang="en-US" dirty="0">
                <a:latin typeface="Times New Roman" pitchFamily="18" charset="0"/>
                <a:cs typeface="Times New Roman" pitchFamily="18" charset="0"/>
              </a:rPr>
              <a:t> }</a:t>
            </a:r>
          </a:p>
          <a:p>
            <a:pPr>
              <a:buFont typeface="Wingdings" pitchFamily="2" charset="2"/>
              <a:buChar char="ü"/>
            </a:pPr>
            <a:r>
              <a:rPr lang="en-US" dirty="0">
                <a:latin typeface="Times New Roman" pitchFamily="18" charset="0"/>
                <a:cs typeface="Times New Roman" pitchFamily="18" charset="0"/>
              </a:rPr>
              <a:t>T = Time for which the current flows ( in seconds }</a:t>
            </a: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58937260"/>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lnSpcReduction="10000"/>
          </a:bodyPr>
          <a:lstStyle/>
          <a:p>
            <a:pPr marL="0" indent="0">
              <a:buNone/>
            </a:pPr>
            <a:r>
              <a:rPr lang="en-US" b="1" dirty="0"/>
              <a:t>Factors that increases Heat production:</a:t>
            </a:r>
            <a:endParaRPr lang="en-US" dirty="0"/>
          </a:p>
          <a:p>
            <a:pPr lvl="0">
              <a:buFont typeface="Wingdings" pitchFamily="2" charset="2"/>
              <a:buChar char="ü"/>
            </a:pPr>
            <a:r>
              <a:rPr lang="en-US" dirty="0">
                <a:latin typeface="Times New Roman" pitchFamily="18" charset="0"/>
                <a:cs typeface="Times New Roman" pitchFamily="18" charset="0"/>
              </a:rPr>
              <a:t>Higher current ( I ); Heat increases rapidly with the </a:t>
            </a:r>
            <a:r>
              <a:rPr lang="en-US" dirty="0" err="1">
                <a:latin typeface="Times New Roman" pitchFamily="18" charset="0"/>
                <a:cs typeface="Times New Roman" pitchFamily="18" charset="0"/>
              </a:rPr>
              <a:t>squre</a:t>
            </a:r>
            <a:r>
              <a:rPr lang="en-US" dirty="0">
                <a:latin typeface="Times New Roman" pitchFamily="18" charset="0"/>
                <a:cs typeface="Times New Roman" pitchFamily="18" charset="0"/>
              </a:rPr>
              <a:t> of the current.</a:t>
            </a:r>
          </a:p>
          <a:p>
            <a:pPr lvl="0">
              <a:buFont typeface="Wingdings" pitchFamily="2" charset="2"/>
              <a:buChar char="ü"/>
            </a:pPr>
            <a:r>
              <a:rPr lang="en-US" dirty="0">
                <a:latin typeface="Times New Roman" pitchFamily="18" charset="0"/>
                <a:cs typeface="Times New Roman" pitchFamily="18" charset="0"/>
              </a:rPr>
              <a:t>Higher resistance ( R ):  Materials with high resistance ( like </a:t>
            </a:r>
            <a:r>
              <a:rPr lang="en-US" dirty="0" err="1">
                <a:latin typeface="Times New Roman" pitchFamily="18" charset="0"/>
                <a:cs typeface="Times New Roman" pitchFamily="18" charset="0"/>
              </a:rPr>
              <a:t>nichrome</a:t>
            </a:r>
            <a:r>
              <a:rPr lang="en-US" dirty="0">
                <a:latin typeface="Times New Roman" pitchFamily="18" charset="0"/>
                <a:cs typeface="Times New Roman" pitchFamily="18" charset="0"/>
              </a:rPr>
              <a:t> } get much hotter than low – resistance materials ( like copper }.</a:t>
            </a:r>
          </a:p>
          <a:p>
            <a:pPr lvl="0">
              <a:buFont typeface="Wingdings" pitchFamily="2" charset="2"/>
              <a:buChar char="ü"/>
            </a:pPr>
            <a:r>
              <a:rPr lang="en-US" dirty="0">
                <a:latin typeface="Times New Roman" pitchFamily="18" charset="0"/>
                <a:cs typeface="Times New Roman" pitchFamily="18" charset="0"/>
              </a:rPr>
              <a:t>Longer duration ( t ): the longer the current flows , the more total heat accumulates.</a:t>
            </a:r>
          </a:p>
          <a:p>
            <a:pPr lvl="0">
              <a:buFont typeface="Wingdings" pitchFamily="2" charset="2"/>
              <a:buChar char="ü"/>
            </a:pPr>
            <a:r>
              <a:rPr lang="en-US" dirty="0">
                <a:latin typeface="Times New Roman" pitchFamily="18" charset="0"/>
                <a:cs typeface="Times New Roman" pitchFamily="18" charset="0"/>
              </a:rPr>
              <a:t>Conductor shape: Thinner and longer wires offer more resistance , generating more heat.</a:t>
            </a:r>
          </a:p>
          <a:p>
            <a:pPr>
              <a:buFont typeface="Wingdings" pitchFamily="2" charset="2"/>
              <a:buChar char="ü"/>
            </a:pPr>
            <a:r>
              <a:rPr lang="en-US" dirty="0">
                <a:latin typeface="Times New Roman" pitchFamily="18" charset="0"/>
                <a:cs typeface="Times New Roman" pitchFamily="18" charset="0"/>
              </a:rPr>
              <a:t>COMMON APPLICATIONS</a:t>
            </a:r>
          </a:p>
          <a:p>
            <a:pPr lvl="0">
              <a:buFont typeface="Wingdings" pitchFamily="2" charset="2"/>
              <a:buChar char="ü"/>
            </a:pPr>
            <a:r>
              <a:rPr lang="en-US" dirty="0">
                <a:latin typeface="Times New Roman" pitchFamily="18" charset="0"/>
                <a:cs typeface="Times New Roman" pitchFamily="18" charset="0"/>
              </a:rPr>
              <a:t>Heating appliances: Devices like electric irons, room heaters , kettles , and hair dryers use high – resistance </a:t>
            </a:r>
            <a:r>
              <a:rPr lang="en-US" dirty="0" err="1">
                <a:latin typeface="Times New Roman" pitchFamily="18" charset="0"/>
                <a:cs typeface="Times New Roman" pitchFamily="18" charset="0"/>
              </a:rPr>
              <a:t>nichrome</a:t>
            </a:r>
            <a:r>
              <a:rPr lang="en-US" dirty="0">
                <a:latin typeface="Times New Roman" pitchFamily="18" charset="0"/>
                <a:cs typeface="Times New Roman" pitchFamily="18" charset="0"/>
              </a:rPr>
              <a:t> coils to convert electricity into usable heat</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525236849"/>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lvl="0">
              <a:buFont typeface="Wingdings" pitchFamily="2" charset="2"/>
              <a:buChar char="ü"/>
            </a:pPr>
            <a:r>
              <a:rPr lang="en-US" dirty="0">
                <a:latin typeface="Times New Roman" pitchFamily="18" charset="0"/>
                <a:cs typeface="Times New Roman" pitchFamily="18" charset="0"/>
              </a:rPr>
              <a:t>Incandescent light bulbs: A thin tungsten wire filament offers high resistance ; it gets so hot when current passes through it that it glows brightly to emit light.</a:t>
            </a:r>
          </a:p>
          <a:p>
            <a:pPr lvl="0">
              <a:buFont typeface="Wingdings" pitchFamily="2" charset="2"/>
              <a:buChar char="ü"/>
            </a:pPr>
            <a:r>
              <a:rPr lang="en-US" dirty="0" err="1">
                <a:latin typeface="Times New Roman" pitchFamily="18" charset="0"/>
                <a:cs typeface="Times New Roman" pitchFamily="18" charset="0"/>
              </a:rPr>
              <a:t>Electreic</a:t>
            </a:r>
            <a:r>
              <a:rPr lang="en-US" dirty="0">
                <a:latin typeface="Times New Roman" pitchFamily="18" charset="0"/>
                <a:cs typeface="Times New Roman" pitchFamily="18" charset="0"/>
              </a:rPr>
              <a:t> Fuses: A </a:t>
            </a:r>
            <a:r>
              <a:rPr lang="en-US" dirty="0" err="1">
                <a:latin typeface="Times New Roman" pitchFamily="18" charset="0"/>
                <a:cs typeface="Times New Roman" pitchFamily="18" charset="0"/>
              </a:rPr>
              <a:t>safty</a:t>
            </a:r>
            <a:r>
              <a:rPr lang="en-US" dirty="0">
                <a:latin typeface="Times New Roman" pitchFamily="18" charset="0"/>
                <a:cs typeface="Times New Roman" pitchFamily="18" charset="0"/>
              </a:rPr>
              <a:t> wire with a low melting point is placed in a circuit , if excessive current flows , the intense joule heating melts the wire , breaking the circuit to prevent fires or damage</a:t>
            </a:r>
          </a:p>
          <a:p>
            <a:pPr>
              <a:buFont typeface="Wingdings" pitchFamily="2" charset="2"/>
              <a:buChar char="ü"/>
            </a:pPr>
            <a:endParaRPr lang="en-US"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427303805"/>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marL="0" indent="0">
              <a:buNone/>
            </a:pPr>
            <a:r>
              <a:rPr lang="en-US" b="1" dirty="0">
                <a:latin typeface="Times New Roman" pitchFamily="18" charset="0"/>
                <a:cs typeface="Times New Roman" pitchFamily="18" charset="0"/>
              </a:rPr>
              <a:t>SOURCE OF ELECTRICAL ENERGY</a:t>
            </a:r>
          </a:p>
          <a:p>
            <a:pPr>
              <a:buFont typeface="Wingdings" pitchFamily="2" charset="2"/>
              <a:buChar char="ü"/>
            </a:pPr>
            <a:r>
              <a:rPr lang="en-US" dirty="0">
                <a:latin typeface="Times New Roman" pitchFamily="18" charset="0"/>
                <a:cs typeface="Times New Roman" pitchFamily="18" charset="0"/>
              </a:rPr>
              <a:t>Electrical energy is a </a:t>
            </a:r>
            <a:r>
              <a:rPr lang="en-US" dirty="0" err="1">
                <a:latin typeface="Times New Roman" pitchFamily="18" charset="0"/>
                <a:cs typeface="Times New Roman" pitchFamily="18" charset="0"/>
              </a:rPr>
              <a:t>secondry</a:t>
            </a:r>
            <a:r>
              <a:rPr lang="en-US" dirty="0">
                <a:latin typeface="Times New Roman" pitchFamily="18" charset="0"/>
                <a:cs typeface="Times New Roman" pitchFamily="18" charset="0"/>
              </a:rPr>
              <a:t> energy source produced by converting primary energy sources – such as fossil fuels , nuclear reactions , and natural forces – into an electrical current via generators or photovoltaic cells. The primary sources of electrical energy are divided into non – renewable and renewable categories. </a:t>
            </a:r>
            <a:endParaRPr lang="en-US" dirty="0" smtClean="0">
              <a:latin typeface="Times New Roman" pitchFamily="18" charset="0"/>
              <a:cs typeface="Times New Roman" pitchFamily="18" charset="0"/>
            </a:endParaRPr>
          </a:p>
          <a:p>
            <a:pPr>
              <a:buFont typeface="Wingdings" pitchFamily="2" charset="2"/>
              <a:buChar char="ü"/>
            </a:pPr>
            <a:endParaRPr lang="en-US" dirty="0">
              <a:latin typeface="Times New Roman" pitchFamily="18" charset="0"/>
              <a:cs typeface="Times New Roman" pitchFamily="18" charset="0"/>
            </a:endParaRPr>
          </a:p>
          <a:p>
            <a:pPr marL="0" indent="0">
              <a:buNone/>
            </a:pPr>
            <a:r>
              <a:rPr lang="en-US" b="1" dirty="0">
                <a:latin typeface="Times New Roman" pitchFamily="18" charset="0"/>
                <a:cs typeface="Times New Roman" pitchFamily="18" charset="0"/>
              </a:rPr>
              <a:t>NON – RENEWABLE SOURCES</a:t>
            </a:r>
          </a:p>
          <a:p>
            <a:pPr lvl="0">
              <a:buFont typeface="Wingdings" pitchFamily="2" charset="2"/>
              <a:buChar char="ü"/>
            </a:pPr>
            <a:r>
              <a:rPr lang="en-US" dirty="0">
                <a:latin typeface="Times New Roman" pitchFamily="18" charset="0"/>
                <a:cs typeface="Times New Roman" pitchFamily="18" charset="0"/>
              </a:rPr>
              <a:t>Fossil fuels : Coal , natural gas , and petroleum are burned to </a:t>
            </a:r>
            <a:r>
              <a:rPr lang="en-US" dirty="0" err="1">
                <a:latin typeface="Times New Roman" pitchFamily="18" charset="0"/>
                <a:cs typeface="Times New Roman" pitchFamily="18" charset="0"/>
              </a:rPr>
              <a:t>creat</a:t>
            </a:r>
            <a:r>
              <a:rPr lang="en-US" dirty="0">
                <a:latin typeface="Times New Roman" pitchFamily="18" charset="0"/>
                <a:cs typeface="Times New Roman" pitchFamily="18" charset="0"/>
              </a:rPr>
              <a:t> heat, which produces steam to drive turbines and generators.</a:t>
            </a:r>
          </a:p>
          <a:p>
            <a:pPr lvl="0">
              <a:buFont typeface="Wingdings" pitchFamily="2" charset="2"/>
              <a:buChar char="ü"/>
            </a:pPr>
            <a:r>
              <a:rPr lang="en-US" dirty="0">
                <a:latin typeface="Times New Roman" pitchFamily="18" charset="0"/>
                <a:cs typeface="Times New Roman" pitchFamily="18" charset="0"/>
              </a:rPr>
              <a:t>Nuclear Energy : Uses the heat  generated from  splitting atomic nuclei ( Nuclear fission ) in a reactor to produce steam and turn turbines.</a:t>
            </a: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59852436"/>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marL="0" indent="0">
              <a:buNone/>
            </a:pPr>
            <a:r>
              <a:rPr lang="en-US" b="1" dirty="0">
                <a:latin typeface="Times New Roman" pitchFamily="18" charset="0"/>
                <a:cs typeface="Times New Roman" pitchFamily="18" charset="0"/>
              </a:rPr>
              <a:t>RENEWABLE </a:t>
            </a:r>
            <a:r>
              <a:rPr lang="en-US" b="1" dirty="0" smtClean="0">
                <a:latin typeface="Times New Roman" pitchFamily="18" charset="0"/>
                <a:cs typeface="Times New Roman" pitchFamily="18" charset="0"/>
              </a:rPr>
              <a:t>SOURCES: </a:t>
            </a:r>
            <a:endParaRPr lang="en-US" b="1" dirty="0">
              <a:latin typeface="Times New Roman" pitchFamily="18" charset="0"/>
              <a:cs typeface="Times New Roman" pitchFamily="18" charset="0"/>
            </a:endParaRPr>
          </a:p>
          <a:p>
            <a:pPr lvl="0">
              <a:buFont typeface="Wingdings" pitchFamily="2" charset="2"/>
              <a:buChar char="ü"/>
            </a:pPr>
            <a:r>
              <a:rPr lang="en-US" dirty="0">
                <a:latin typeface="Times New Roman" pitchFamily="18" charset="0"/>
                <a:cs typeface="Times New Roman" pitchFamily="18" charset="0"/>
              </a:rPr>
              <a:t>Hydropower. Uses the kinetic energy of falling or flowing water in rivers and dams to spin water turbines.</a:t>
            </a:r>
          </a:p>
          <a:p>
            <a:pPr lvl="0">
              <a:buFont typeface="Wingdings" pitchFamily="2" charset="2"/>
              <a:buChar char="ü"/>
            </a:pPr>
            <a:r>
              <a:rPr lang="en-US" dirty="0">
                <a:latin typeface="Times New Roman" pitchFamily="18" charset="0"/>
                <a:cs typeface="Times New Roman" pitchFamily="18" charset="0"/>
              </a:rPr>
              <a:t>Solar Energy: Converts sunlight directly into electricity using photovoltaic solar panels, or uses solar thermal systems to create steam.</a:t>
            </a:r>
          </a:p>
          <a:p>
            <a:pPr lvl="0">
              <a:buFont typeface="Wingdings" pitchFamily="2" charset="2"/>
              <a:buChar char="ü"/>
            </a:pPr>
            <a:r>
              <a:rPr lang="en-US" dirty="0">
                <a:latin typeface="Times New Roman" pitchFamily="18" charset="0"/>
                <a:cs typeface="Times New Roman" pitchFamily="18" charset="0"/>
              </a:rPr>
              <a:t>Wind Energy: Harnesses the movement of air to turn wind turbine blades connected to generators.</a:t>
            </a:r>
          </a:p>
          <a:p>
            <a:pPr lvl="0">
              <a:buFont typeface="Wingdings" pitchFamily="2" charset="2"/>
              <a:buChar char="ü"/>
            </a:pPr>
            <a:r>
              <a:rPr lang="en-US" dirty="0">
                <a:latin typeface="Times New Roman" pitchFamily="18" charset="0"/>
                <a:cs typeface="Times New Roman" pitchFamily="18" charset="0"/>
              </a:rPr>
              <a:t>Geothermal Energy: </a:t>
            </a:r>
            <a:r>
              <a:rPr lang="en-US" dirty="0" err="1">
                <a:latin typeface="Times New Roman" pitchFamily="18" charset="0"/>
                <a:cs typeface="Times New Roman" pitchFamily="18" charset="0"/>
              </a:rPr>
              <a:t>Utiliizes</a:t>
            </a:r>
            <a:r>
              <a:rPr lang="en-US" dirty="0">
                <a:latin typeface="Times New Roman" pitchFamily="18" charset="0"/>
                <a:cs typeface="Times New Roman" pitchFamily="18" charset="0"/>
              </a:rPr>
              <a:t> heat from deep inside the earth to produce steam that drives </a:t>
            </a:r>
            <a:r>
              <a:rPr lang="en-US" dirty="0" err="1">
                <a:latin typeface="Times New Roman" pitchFamily="18" charset="0"/>
                <a:cs typeface="Times New Roman" pitchFamily="18" charset="0"/>
              </a:rPr>
              <a:t>poer</a:t>
            </a:r>
            <a:r>
              <a:rPr lang="en-US" dirty="0">
                <a:latin typeface="Times New Roman" pitchFamily="18" charset="0"/>
                <a:cs typeface="Times New Roman" pitchFamily="18" charset="0"/>
              </a:rPr>
              <a:t> plant turbines.</a:t>
            </a:r>
          </a:p>
          <a:p>
            <a:pPr lvl="0">
              <a:buFont typeface="Wingdings" pitchFamily="2" charset="2"/>
              <a:buChar char="ü"/>
            </a:pPr>
            <a:r>
              <a:rPr lang="en-US" dirty="0">
                <a:latin typeface="Times New Roman" pitchFamily="18" charset="0"/>
                <a:cs typeface="Times New Roman" pitchFamily="18" charset="0"/>
              </a:rPr>
              <a:t>Biomass : Burns organic materials like wood , agricultural crops , or waste to create heat and steam.</a:t>
            </a: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332586580"/>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lvl="0"/>
            <a:r>
              <a:rPr lang="en-US" dirty="0">
                <a:latin typeface="Times New Roman" pitchFamily="18" charset="0"/>
                <a:cs typeface="Times New Roman" pitchFamily="18" charset="0"/>
              </a:rPr>
              <a:t>Tidal and Wave Energy: Captures the kinetic and potential energy of ocean tidesand waves to power underwater turbines</a:t>
            </a:r>
            <a:r>
              <a:rPr lang="en-US" dirty="0" smtClean="0">
                <a:latin typeface="Times New Roman" pitchFamily="18" charset="0"/>
                <a:cs typeface="Times New Roman" pitchFamily="18" charset="0"/>
              </a:rPr>
              <a:t>.</a:t>
            </a:r>
          </a:p>
          <a:p>
            <a:pPr marL="0" lvl="0" indent="0">
              <a:buNone/>
            </a:pPr>
            <a:endParaRPr lang="en-US" b="1" dirty="0">
              <a:latin typeface="Times New Roman" pitchFamily="18" charset="0"/>
              <a:cs typeface="Times New Roman" pitchFamily="18" charset="0"/>
            </a:endParaRPr>
          </a:p>
          <a:p>
            <a:pPr marL="0" indent="0">
              <a:buNone/>
            </a:pPr>
            <a:r>
              <a:rPr lang="en-US" b="1" dirty="0">
                <a:latin typeface="Times New Roman" pitchFamily="18" charset="0"/>
                <a:cs typeface="Times New Roman" pitchFamily="18" charset="0"/>
              </a:rPr>
              <a:t>OTHER SOURCES AND METHODS</a:t>
            </a:r>
          </a:p>
          <a:p>
            <a:pPr lvl="0">
              <a:buFont typeface="Wingdings" pitchFamily="2" charset="2"/>
              <a:buChar char="ü"/>
            </a:pPr>
            <a:r>
              <a:rPr lang="en-US" dirty="0">
                <a:latin typeface="Times New Roman" pitchFamily="18" charset="0"/>
                <a:cs typeface="Times New Roman" pitchFamily="18" charset="0"/>
              </a:rPr>
              <a:t>Chemical energy ( batteries and fuel cells ): Voltaic cells and electrochemical reactions produce direct current ( DC } electricity.</a:t>
            </a:r>
          </a:p>
          <a:p>
            <a:pPr lvl="0">
              <a:buFont typeface="Wingdings" pitchFamily="2" charset="2"/>
              <a:buChar char="ü"/>
            </a:pPr>
            <a:r>
              <a:rPr lang="en-US" dirty="0">
                <a:latin typeface="Times New Roman" pitchFamily="18" charset="0"/>
                <a:cs typeface="Times New Roman" pitchFamily="18" charset="0"/>
              </a:rPr>
              <a:t>Physical/ Mechanical Generation: Small  - scale or specialized generation can </a:t>
            </a:r>
            <a:r>
              <a:rPr lang="en-US" dirty="0" err="1">
                <a:latin typeface="Times New Roman" pitchFamily="18" charset="0"/>
                <a:cs typeface="Times New Roman" pitchFamily="18" charset="0"/>
              </a:rPr>
              <a:t>occure</a:t>
            </a:r>
            <a:r>
              <a:rPr lang="en-US" dirty="0">
                <a:latin typeface="Times New Roman" pitchFamily="18" charset="0"/>
                <a:cs typeface="Times New Roman" pitchFamily="18" charset="0"/>
              </a:rPr>
              <a:t> via friction/ heat ( thermoelectricity ) , light ( photoelectric ) or pressure ( piezoelectric crystals ).</a:t>
            </a:r>
          </a:p>
          <a:p>
            <a:pPr marL="0" indent="0">
              <a:buNone/>
            </a:pP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 </a:t>
            </a: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40281811"/>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lnSpcReduction="10000"/>
          </a:bodyPr>
          <a:lstStyle/>
          <a:p>
            <a:pPr marL="0" indent="0">
              <a:buNone/>
            </a:pPr>
            <a:r>
              <a:rPr lang="en-US" b="1" dirty="0">
                <a:latin typeface="Times New Roman" pitchFamily="18" charset="0"/>
                <a:cs typeface="Times New Roman" pitchFamily="18" charset="0"/>
              </a:rPr>
              <a:t>E M F AND P D</a:t>
            </a:r>
          </a:p>
          <a:p>
            <a:pPr>
              <a:buFont typeface="Wingdings" pitchFamily="2" charset="2"/>
              <a:buChar char="ü"/>
            </a:pPr>
            <a:r>
              <a:rPr lang="en-US" dirty="0">
                <a:latin typeface="Times New Roman" pitchFamily="18" charset="0"/>
                <a:cs typeface="Times New Roman" pitchFamily="18" charset="0"/>
              </a:rPr>
              <a:t>Electromotive  force ( E M F )  and potential difference ( P D ) are both measured in volts ( V ) , but they describe different stages of energy movement in an electric circuit. </a:t>
            </a:r>
          </a:p>
          <a:p>
            <a:pPr>
              <a:buFont typeface="Wingdings" pitchFamily="2" charset="2"/>
              <a:buChar char="ü"/>
            </a:pPr>
            <a:r>
              <a:rPr lang="en-US" dirty="0">
                <a:latin typeface="Times New Roman" pitchFamily="18" charset="0"/>
                <a:cs typeface="Times New Roman" pitchFamily="18" charset="0"/>
              </a:rPr>
              <a:t>ELECTROMOTIVE FORCE ( E M F ) </a:t>
            </a:r>
          </a:p>
          <a:p>
            <a:pPr lvl="0">
              <a:buFont typeface="Wingdings" pitchFamily="2" charset="2"/>
              <a:buChar char="ü"/>
            </a:pPr>
            <a:r>
              <a:rPr lang="en-US" dirty="0">
                <a:latin typeface="Times New Roman" pitchFamily="18" charset="0"/>
                <a:cs typeface="Times New Roman" pitchFamily="18" charset="0"/>
              </a:rPr>
              <a:t>Definition: The total energy supplied by a power source ( like a battery or generator ) per unit charge to move electricity around a complete circuit . Think of it as the total  “push ) or open – circuit voltage available.</a:t>
            </a:r>
          </a:p>
          <a:p>
            <a:pPr lvl="0">
              <a:buFont typeface="Wingdings" pitchFamily="2" charset="2"/>
              <a:buChar char="ü"/>
            </a:pPr>
            <a:r>
              <a:rPr lang="en-US" dirty="0">
                <a:latin typeface="Times New Roman" pitchFamily="18" charset="0"/>
                <a:cs typeface="Times New Roman" pitchFamily="18" charset="0"/>
              </a:rPr>
              <a:t>Key trait: It exists even when no current is flowing ( open circuit ) . It is the cause that drives charges.</a:t>
            </a:r>
          </a:p>
          <a:p>
            <a:pPr lvl="0">
              <a:buFont typeface="Wingdings" pitchFamily="2" charset="2"/>
              <a:buChar char="ü"/>
            </a:pPr>
            <a:r>
              <a:rPr lang="en-US" dirty="0">
                <a:latin typeface="Times New Roman" pitchFamily="18" charset="0"/>
                <a:cs typeface="Times New Roman" pitchFamily="18" charset="0"/>
              </a:rPr>
              <a:t>Example:</a:t>
            </a:r>
          </a:p>
          <a:p>
            <a:pPr lvl="0">
              <a:buFont typeface="Wingdings" pitchFamily="2" charset="2"/>
              <a:buChar char="ü"/>
            </a:pPr>
            <a:r>
              <a:rPr lang="en-US" dirty="0">
                <a:latin typeface="Times New Roman" pitchFamily="18" charset="0"/>
                <a:cs typeface="Times New Roman" pitchFamily="18" charset="0"/>
              </a:rPr>
              <a:t>A brand – new 1.5 – volt AA alkaline battery sitting on a table has an EMF of 1.5v.</a:t>
            </a:r>
          </a:p>
          <a:p>
            <a:pPr marL="0" indent="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864159835"/>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lvl="0" algn="just">
              <a:buFont typeface="Wingdings" pitchFamily="2" charset="2"/>
              <a:buChar char="ü"/>
            </a:pPr>
            <a:r>
              <a:rPr lang="en-US" dirty="0">
                <a:latin typeface="Times New Roman" pitchFamily="18" charset="0"/>
                <a:cs typeface="Times New Roman" pitchFamily="18" charset="0"/>
              </a:rPr>
              <a:t>A 12 – volt car battery measured across its terminals before anything is turned on has an EMF of 12v.</a:t>
            </a:r>
          </a:p>
          <a:p>
            <a:pPr lvl="0" algn="just">
              <a:buFont typeface="Wingdings" pitchFamily="2" charset="2"/>
              <a:buChar char="ü"/>
            </a:pPr>
            <a:r>
              <a:rPr lang="en-US" dirty="0">
                <a:latin typeface="Times New Roman" pitchFamily="18" charset="0"/>
                <a:cs typeface="Times New Roman" pitchFamily="18" charset="0"/>
              </a:rPr>
              <a:t>The voltage rating printed on the side of a 9 – volt battery ( 9 v </a:t>
            </a:r>
            <a:r>
              <a:rPr lang="en-US" dirty="0" smtClean="0">
                <a:latin typeface="Times New Roman" pitchFamily="18" charset="0"/>
                <a:cs typeface="Times New Roman" pitchFamily="18" charset="0"/>
              </a:rPr>
              <a:t>).</a:t>
            </a:r>
          </a:p>
          <a:p>
            <a:pPr marL="0" lvl="0" indent="0" algn="just">
              <a:buNone/>
            </a:pPr>
            <a:endParaRPr lang="en-US" dirty="0">
              <a:latin typeface="Times New Roman" pitchFamily="18" charset="0"/>
              <a:cs typeface="Times New Roman" pitchFamily="18" charset="0"/>
            </a:endParaRPr>
          </a:p>
          <a:p>
            <a:pPr marL="0" indent="0" algn="just">
              <a:buNone/>
            </a:pPr>
            <a:r>
              <a:rPr lang="en-US" b="1" dirty="0">
                <a:latin typeface="Times New Roman" pitchFamily="18" charset="0"/>
                <a:cs typeface="Times New Roman" pitchFamily="18" charset="0"/>
              </a:rPr>
              <a:t>POTENTIAL DIFFERENCE (PD )</a:t>
            </a:r>
          </a:p>
          <a:p>
            <a:pPr lvl="0" algn="just"/>
            <a:r>
              <a:rPr lang="en-US" dirty="0">
                <a:latin typeface="Times New Roman" pitchFamily="18" charset="0"/>
                <a:cs typeface="Times New Roman" pitchFamily="18" charset="0"/>
              </a:rPr>
              <a:t>Definition: The amount of electrical energy converted into other forms of energy ( like light , heat , or motion ) as charge passes through a specific component . It  is the effect of current encountering resistance.</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319012881"/>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marL="0" indent="0">
              <a:buNone/>
            </a:pPr>
            <a:r>
              <a:rPr lang="en-US" b="1" dirty="0">
                <a:latin typeface="Times New Roman" pitchFamily="18" charset="0"/>
                <a:cs typeface="Times New Roman" pitchFamily="18" charset="0"/>
              </a:rPr>
              <a:t>Examples: </a:t>
            </a:r>
          </a:p>
          <a:p>
            <a:pPr lvl="0">
              <a:buFont typeface="Wingdings" pitchFamily="2" charset="2"/>
              <a:buChar char="ü"/>
            </a:pPr>
            <a:r>
              <a:rPr lang="en-US" dirty="0">
                <a:latin typeface="Times New Roman" pitchFamily="18" charset="0"/>
                <a:cs typeface="Times New Roman" pitchFamily="18" charset="0"/>
              </a:rPr>
              <a:t>The voltage measured across an active light bulb </a:t>
            </a:r>
            <a:r>
              <a:rPr lang="en-US" dirty="0" err="1">
                <a:latin typeface="Times New Roman" pitchFamily="18" charset="0"/>
                <a:cs typeface="Times New Roman" pitchFamily="18" charset="0"/>
              </a:rPr>
              <a:t>shinig</a:t>
            </a:r>
            <a:r>
              <a:rPr lang="en-US" dirty="0">
                <a:latin typeface="Times New Roman" pitchFamily="18" charset="0"/>
                <a:cs typeface="Times New Roman" pitchFamily="18" charset="0"/>
              </a:rPr>
              <a:t> in a circuit ( eg. 1.2 v dropped across the filament ).</a:t>
            </a:r>
          </a:p>
          <a:p>
            <a:pPr lvl="0">
              <a:buFont typeface="Wingdings" pitchFamily="2" charset="2"/>
              <a:buChar char="ü"/>
            </a:pPr>
            <a:r>
              <a:rPr lang="en-US" dirty="0">
                <a:latin typeface="Times New Roman" pitchFamily="18" charset="0"/>
                <a:cs typeface="Times New Roman" pitchFamily="18" charset="0"/>
              </a:rPr>
              <a:t>The voltage drop across a resistor in a phone charger circuit.</a:t>
            </a:r>
          </a:p>
          <a:p>
            <a:pPr lvl="0">
              <a:buFont typeface="Wingdings" pitchFamily="2" charset="2"/>
              <a:buChar char="ü"/>
            </a:pPr>
            <a:r>
              <a:rPr lang="en-US" dirty="0">
                <a:latin typeface="Times New Roman" pitchFamily="18" charset="0"/>
                <a:cs typeface="Times New Roman" pitchFamily="18" charset="0"/>
              </a:rPr>
              <a:t>The terminal voltage of a 12 v car battery while the headlights and engine are turned on , which drops slightly below 12 v ( eg 11.5 v ) because of internal resistance.</a:t>
            </a:r>
          </a:p>
          <a:p>
            <a:pPr algn="just">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561187729"/>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r>
              <a:rPr lang="en-US" dirty="0"/>
              <a:t>QUICK COMPARISM</a:t>
            </a:r>
          </a:p>
          <a:p>
            <a:r>
              <a:rPr lang="en-US" dirty="0"/>
              <a:t>FEATURE                                          E M F                                         P D</a:t>
            </a:r>
          </a:p>
          <a:p>
            <a:r>
              <a:rPr lang="en-US" dirty="0"/>
              <a:t>What it represents          Energy provided to charges        Energy used by a component</a:t>
            </a:r>
          </a:p>
          <a:p>
            <a:r>
              <a:rPr lang="en-US" dirty="0"/>
              <a:t>                                           By a source                                     or load</a:t>
            </a:r>
          </a:p>
          <a:p>
            <a:r>
              <a:rPr lang="en-US" dirty="0"/>
              <a:t>Scope                                The entire circuit/ source             Between any two points in a circuit</a:t>
            </a:r>
          </a:p>
          <a:p>
            <a:r>
              <a:rPr lang="en-US" dirty="0"/>
              <a:t>When current is zero      Present ( equal to open                zero</a:t>
            </a:r>
          </a:p>
          <a:p>
            <a:r>
              <a:rPr lang="en-US" dirty="0"/>
              <a:t>                                            Circuit voltage )</a:t>
            </a:r>
          </a:p>
          <a:p>
            <a:r>
              <a:rPr lang="en-US" dirty="0"/>
              <a:t>Unit                                     Volts ( V )                                         Volts ( V ).</a:t>
            </a:r>
          </a:p>
          <a:p>
            <a:r>
              <a:rPr lang="en-US" dirty="0"/>
              <a:t>     </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018793586"/>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lnSpcReduction="10000"/>
          </a:bodyPr>
          <a:lstStyle/>
          <a:p>
            <a:pPr marL="0" indent="0">
              <a:buNone/>
            </a:pPr>
            <a:r>
              <a:rPr lang="en-US" b="1" dirty="0">
                <a:latin typeface="Times New Roman" pitchFamily="18" charset="0"/>
                <a:cs typeface="Times New Roman" pitchFamily="18" charset="0"/>
              </a:rPr>
              <a:t>THE PROPERTIES OF X – RAYS</a:t>
            </a:r>
          </a:p>
          <a:p>
            <a:r>
              <a:rPr lang="en-US" dirty="0">
                <a:latin typeface="Times New Roman" pitchFamily="18" charset="0"/>
                <a:cs typeface="Times New Roman" pitchFamily="18" charset="0"/>
              </a:rPr>
              <a:t>X-RAYS are high – energy forms of electromagnetic radiation.</a:t>
            </a:r>
          </a:p>
          <a:p>
            <a:r>
              <a:rPr lang="en-US" dirty="0">
                <a:latin typeface="Times New Roman" pitchFamily="18" charset="0"/>
                <a:cs typeface="Times New Roman" pitchFamily="18" charset="0"/>
              </a:rPr>
              <a:t>CORE PHYSICAL PROPERTIES</a:t>
            </a:r>
          </a:p>
          <a:p>
            <a:pPr lvl="0"/>
            <a:r>
              <a:rPr lang="en-US" dirty="0">
                <a:latin typeface="Times New Roman" pitchFamily="18" charset="0"/>
                <a:cs typeface="Times New Roman" pitchFamily="18" charset="0"/>
              </a:rPr>
              <a:t>Electromagnetic nature: They belong to the electromagnetic spectrum with short wavelength ( typically 0.01 to 10 nanometers ) and high frequencies.</a:t>
            </a:r>
          </a:p>
          <a:p>
            <a:pPr lvl="0"/>
            <a:r>
              <a:rPr lang="en-US" dirty="0">
                <a:latin typeface="Times New Roman" pitchFamily="18" charset="0"/>
                <a:cs typeface="Times New Roman" pitchFamily="18" charset="0"/>
              </a:rPr>
              <a:t>Speed: They travel in a straight line at the speed of light ( 3* 10 8 m/s)in a vacuum.</a:t>
            </a:r>
          </a:p>
          <a:p>
            <a:pPr lvl="0"/>
            <a:r>
              <a:rPr lang="en-US" dirty="0">
                <a:latin typeface="Times New Roman" pitchFamily="18" charset="0"/>
                <a:cs typeface="Times New Roman" pitchFamily="18" charset="0"/>
              </a:rPr>
              <a:t>No mass or charge : X-ray photons are pure energy; they carry no electrical charge or mass.</a:t>
            </a:r>
          </a:p>
          <a:p>
            <a:pPr lvl="0"/>
            <a:r>
              <a:rPr lang="en-US" dirty="0">
                <a:latin typeface="Times New Roman" pitchFamily="18" charset="0"/>
                <a:cs typeface="Times New Roman" pitchFamily="18" charset="0"/>
              </a:rPr>
              <a:t>No Direction: Because they are electrically neutral, electric and magnetic fields cannot deflect or steer them.</a:t>
            </a:r>
          </a:p>
          <a:p>
            <a:pPr lvl="0"/>
            <a:r>
              <a:rPr lang="en-US" dirty="0">
                <a:latin typeface="Times New Roman" pitchFamily="18" charset="0"/>
                <a:cs typeface="Times New Roman" pitchFamily="18" charset="0"/>
              </a:rPr>
              <a:t>Penetrating power: They can pass through materials that block visible light , such as wood , paper, flesh , and soft tissues’.</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30794088"/>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lvl="0">
              <a:buFont typeface="Wingdings" pitchFamily="2" charset="2"/>
              <a:buChar char="ü"/>
            </a:pPr>
            <a:r>
              <a:rPr lang="en-US" dirty="0">
                <a:latin typeface="Times New Roman" pitchFamily="18" charset="0"/>
                <a:cs typeface="Times New Roman" pitchFamily="18" charset="0"/>
              </a:rPr>
              <a:t>Differential Absorption: Denser  materials like bone and metal absorb or block x-rays, while soft tissues let them pass through, which creates contrast in medical images’.</a:t>
            </a:r>
          </a:p>
          <a:p>
            <a:pPr lvl="0">
              <a:buFont typeface="Wingdings" pitchFamily="2" charset="2"/>
              <a:buChar char="ü"/>
            </a:pPr>
            <a:r>
              <a:rPr lang="en-US" dirty="0">
                <a:latin typeface="Times New Roman" pitchFamily="18" charset="0"/>
                <a:cs typeface="Times New Roman" pitchFamily="18" charset="0"/>
              </a:rPr>
              <a:t>Ionization ability: They  carry enough energy to strip electrons from atoms and create ions, which can trigger chemical changes or damage living cells.</a:t>
            </a:r>
          </a:p>
          <a:p>
            <a:pPr lvl="0">
              <a:buFont typeface="Wingdings" pitchFamily="2" charset="2"/>
              <a:buChar char="ü"/>
            </a:pPr>
            <a:r>
              <a:rPr lang="en-US" dirty="0">
                <a:latin typeface="Times New Roman" pitchFamily="18" charset="0"/>
                <a:cs typeface="Times New Roman" pitchFamily="18" charset="0"/>
              </a:rPr>
              <a:t>Photographic and fluorescent effects: They expose photographic and x-ray film ( turning it dark/ black where exposed) and cause certain crystals to fluoresce ( emit visible light ).</a:t>
            </a:r>
          </a:p>
          <a:p>
            <a:pPr lvl="0">
              <a:buFont typeface="Wingdings" pitchFamily="2" charset="2"/>
              <a:buChar char="ü"/>
            </a:pPr>
            <a:r>
              <a:rPr lang="en-US" dirty="0">
                <a:latin typeface="Times New Roman" pitchFamily="18" charset="0"/>
                <a:cs typeface="Times New Roman" pitchFamily="18" charset="0"/>
              </a:rPr>
              <a:t>Refraction and reflection: They have extremely small wavelengths, making them difficult to reflect or refract the way visible light does ( though they can undergo diffraction and scattering ).</a:t>
            </a:r>
          </a:p>
          <a:p>
            <a:pPr algn="just">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817257051"/>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marL="0" indent="0">
              <a:buNone/>
            </a:pPr>
            <a:r>
              <a:rPr lang="en-US" b="1" dirty="0">
                <a:latin typeface="Times New Roman" pitchFamily="18" charset="0"/>
                <a:cs typeface="Times New Roman" pitchFamily="18" charset="0"/>
              </a:rPr>
              <a:t>THE PRODUCTION OF </a:t>
            </a:r>
            <a:r>
              <a:rPr lang="en-US" b="1" dirty="0" smtClean="0">
                <a:latin typeface="Times New Roman" pitchFamily="18" charset="0"/>
                <a:cs typeface="Times New Roman" pitchFamily="18" charset="0"/>
              </a:rPr>
              <a:t>X-RAYS</a:t>
            </a:r>
          </a:p>
          <a:p>
            <a:pPr marL="0" indent="0">
              <a:buNone/>
            </a:pPr>
            <a:endParaRPr lang="en-US" b="1" dirty="0">
              <a:latin typeface="Times New Roman" pitchFamily="18" charset="0"/>
              <a:cs typeface="Times New Roman" pitchFamily="18" charset="0"/>
            </a:endParaRPr>
          </a:p>
          <a:p>
            <a:pPr>
              <a:buFont typeface="Wingdings" pitchFamily="2" charset="2"/>
              <a:buChar char="ü"/>
            </a:pPr>
            <a:r>
              <a:rPr lang="en-US" dirty="0">
                <a:latin typeface="Times New Roman" pitchFamily="18" charset="0"/>
                <a:cs typeface="Times New Roman" pitchFamily="18" charset="0"/>
              </a:rPr>
              <a:t>X-rays are produced inside an evacuated glass x-ray tube through a process where fast moving electrons are rapidly decelerated or cause atomic transitions when they strike a metal target.</a:t>
            </a:r>
          </a:p>
          <a:p>
            <a:pPr>
              <a:buFont typeface="Wingdings" pitchFamily="2" charset="2"/>
              <a:buChar char="ü"/>
            </a:pPr>
            <a:r>
              <a:rPr lang="en-US" dirty="0">
                <a:latin typeface="Times New Roman" pitchFamily="18" charset="0"/>
                <a:cs typeface="Times New Roman" pitchFamily="18" charset="0"/>
              </a:rPr>
              <a:t>THE PRODUCTION PROCESS IN AN X-RAY TUBE</a:t>
            </a:r>
          </a:p>
          <a:p>
            <a:pPr>
              <a:buFont typeface="Wingdings" pitchFamily="2" charset="2"/>
              <a:buChar char="ü"/>
            </a:pPr>
            <a:r>
              <a:rPr lang="en-US" dirty="0">
                <a:latin typeface="Times New Roman" pitchFamily="18" charset="0"/>
                <a:cs typeface="Times New Roman" pitchFamily="18" charset="0"/>
              </a:rPr>
              <a:t>The generation of  x-rays requires three main steps happening inside the tube</a:t>
            </a:r>
          </a:p>
          <a:p>
            <a:pPr lvl="0">
              <a:buFont typeface="Wingdings" pitchFamily="2" charset="2"/>
              <a:buChar char="ü"/>
            </a:pPr>
            <a:r>
              <a:rPr lang="en-US" dirty="0">
                <a:latin typeface="Times New Roman" pitchFamily="18" charset="0"/>
                <a:cs typeface="Times New Roman" pitchFamily="18" charset="0"/>
              </a:rPr>
              <a:t>Electron emission ( thermionic emission ) :  An electrical current heats a tungsten filament at the negative cathode , causing it to”” boil off”” electrons and form a cloud of free electrons.</a:t>
            </a:r>
          </a:p>
          <a:p>
            <a:pPr algn="just">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64969417"/>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lvl="0">
              <a:buFont typeface="Wingdings" pitchFamily="2" charset="2"/>
              <a:buChar char="ü"/>
            </a:pPr>
            <a:r>
              <a:rPr lang="en-US" dirty="0">
                <a:latin typeface="Times New Roman" pitchFamily="18" charset="0"/>
                <a:cs typeface="Times New Roman" pitchFamily="18" charset="0"/>
              </a:rPr>
              <a:t>Electron Acceleration: A high electrical voltage  ( measured in kilovolts or </a:t>
            </a:r>
            <a:r>
              <a:rPr lang="en-US" dirty="0" err="1">
                <a:latin typeface="Times New Roman" pitchFamily="18" charset="0"/>
                <a:cs typeface="Times New Roman" pitchFamily="18" charset="0"/>
              </a:rPr>
              <a:t>kvp</a:t>
            </a:r>
            <a:r>
              <a:rPr lang="en-US" dirty="0">
                <a:latin typeface="Times New Roman" pitchFamily="18" charset="0"/>
                <a:cs typeface="Times New Roman" pitchFamily="18" charset="0"/>
              </a:rPr>
              <a:t>) is applied between the cathode and the positive anode. This voltage pulls and accelerates the electrons across the vacuum toward the anode at up to half the speed of light.</a:t>
            </a:r>
          </a:p>
          <a:p>
            <a:pPr lvl="0">
              <a:buFont typeface="Wingdings" pitchFamily="2" charset="2"/>
              <a:buChar char="ü"/>
            </a:pPr>
            <a:r>
              <a:rPr lang="en-US" dirty="0">
                <a:latin typeface="Times New Roman" pitchFamily="18" charset="0"/>
                <a:cs typeface="Times New Roman" pitchFamily="18" charset="0"/>
              </a:rPr>
              <a:t>Sudden deceleration ( Target impact ) : When the high – speed electrons crash into a heavy metal target ( usually tungsten ) on the anode, roughly 99% of their energy converts into heat while about 1% converts into x-ray photons</a:t>
            </a:r>
            <a:r>
              <a:rPr lang="en-US" dirty="0" smtClean="0">
                <a:latin typeface="Times New Roman" pitchFamily="18" charset="0"/>
                <a:cs typeface="Times New Roman" pitchFamily="18" charset="0"/>
              </a:rPr>
              <a:t>.</a:t>
            </a:r>
          </a:p>
          <a:p>
            <a:pPr lvl="0"/>
            <a:endParaRPr lang="en-US" dirty="0">
              <a:latin typeface="Times New Roman" pitchFamily="18" charset="0"/>
              <a:cs typeface="Times New Roman" pitchFamily="18" charset="0"/>
            </a:endParaRPr>
          </a:p>
          <a:p>
            <a:pPr marL="0" indent="0">
              <a:buNone/>
            </a:pPr>
            <a:r>
              <a:rPr lang="en-US" b="1" dirty="0">
                <a:latin typeface="Times New Roman" pitchFamily="18" charset="0"/>
                <a:cs typeface="Times New Roman" pitchFamily="18" charset="0"/>
              </a:rPr>
              <a:t>TWO MECHANISMS OF X-RAY GENERATION</a:t>
            </a:r>
          </a:p>
          <a:p>
            <a:r>
              <a:rPr lang="en-US" dirty="0">
                <a:latin typeface="Times New Roman" pitchFamily="18" charset="0"/>
                <a:cs typeface="Times New Roman" pitchFamily="18" charset="0"/>
              </a:rPr>
              <a:t>When electrons hit the target , x-rays are emitted through two distinct physical interactions.</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703011764"/>
      </p:ext>
    </p:extLst>
  </p:cSld>
  <p:clrMapOvr>
    <a:masterClrMapping/>
  </p:clrMapOvr>
  <p:transition spd="slow">
    <p:push dir="u"/>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marL="0" lvl="0" indent="0" algn="just">
              <a:buNone/>
            </a:pPr>
            <a:r>
              <a:rPr lang="en-US" b="1" dirty="0">
                <a:latin typeface="Times New Roman" pitchFamily="18" charset="0"/>
                <a:cs typeface="Times New Roman" pitchFamily="18" charset="0"/>
              </a:rPr>
              <a:t>BREMSSTRAHLUNG ( BRAKING RADIATION ): </a:t>
            </a:r>
          </a:p>
          <a:p>
            <a:pPr lvl="0">
              <a:buFont typeface="Wingdings" pitchFamily="2" charset="2"/>
              <a:buChar char="ü"/>
            </a:pPr>
            <a:r>
              <a:rPr lang="en-US" dirty="0">
                <a:latin typeface="Times New Roman" pitchFamily="18" charset="0"/>
                <a:cs typeface="Times New Roman" pitchFamily="18" charset="0"/>
              </a:rPr>
              <a:t>An incoming high-speed electron passes close to the nucleus of a tungsten atom.</a:t>
            </a:r>
          </a:p>
          <a:p>
            <a:pPr lvl="0">
              <a:buFont typeface="Wingdings" pitchFamily="2" charset="2"/>
              <a:buChar char="ü"/>
            </a:pPr>
            <a:r>
              <a:rPr lang="en-US" dirty="0">
                <a:latin typeface="Times New Roman" pitchFamily="18" charset="0"/>
                <a:cs typeface="Times New Roman" pitchFamily="18" charset="0"/>
              </a:rPr>
              <a:t>The strong positive pull of the nucleus sharply bends and slows down ( brakes ) the electron.</a:t>
            </a:r>
          </a:p>
          <a:p>
            <a:pPr lvl="0">
              <a:buFont typeface="Wingdings" pitchFamily="2" charset="2"/>
              <a:buChar char="ü"/>
            </a:pPr>
            <a:r>
              <a:rPr lang="en-US" dirty="0">
                <a:latin typeface="Times New Roman" pitchFamily="18" charset="0"/>
                <a:cs typeface="Times New Roman" pitchFamily="18" charset="0"/>
              </a:rPr>
              <a:t>The lost kinetic energy is released as an x-ray photon. This produces a continuous range of x-ray energies and accounts for the majority of x-rays generated’</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130911458"/>
      </p:ext>
    </p:extLst>
  </p:cSld>
  <p:clrMapOvr>
    <a:masterClrMapping/>
  </p:clrMapOvr>
  <p:transition spd="slow">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89C66A-3FA8-3420-EC4B-16A4D3EFA9F9}"/>
            </a:ext>
          </a:extLst>
        </p:cNvPr>
        <p:cNvGrpSpPr/>
        <p:nvPr/>
      </p:nvGrpSpPr>
      <p:grpSpPr>
        <a:xfrm>
          <a:off x="0" y="0"/>
          <a:ext cx="0" cy="0"/>
          <a:chOff x="0" y="0"/>
          <a:chExt cx="0" cy="0"/>
        </a:xfrm>
      </p:grpSpPr>
      <p:sp>
        <p:nvSpPr>
          <p:cNvPr id="4" name="Rectangle 1"/>
          <p:cNvSpPr>
            <a:spLocks noChangeArrowheads="1"/>
          </p:cNvSpPr>
          <p:nvPr/>
        </p:nvSpPr>
        <p:spPr bwMode="auto">
          <a:xfrm>
            <a:off x="3662363" y="2778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 name="Content Placeholder 2"/>
          <p:cNvSpPr>
            <a:spLocks noGrp="1"/>
          </p:cNvSpPr>
          <p:nvPr>
            <p:ph idx="1"/>
          </p:nvPr>
        </p:nvSpPr>
        <p:spPr>
          <a:xfrm>
            <a:off x="838200" y="471948"/>
            <a:ext cx="10515600" cy="5766619"/>
          </a:xfrm>
        </p:spPr>
        <p:txBody>
          <a:bodyPr>
            <a:normAutofit/>
          </a:bodyPr>
          <a:lstStyle/>
          <a:p>
            <a:pPr marL="0" lvl="0" indent="0" algn="just">
              <a:buNone/>
            </a:pPr>
            <a:r>
              <a:rPr lang="en-US" b="1" dirty="0">
                <a:latin typeface="Times New Roman" pitchFamily="18" charset="0"/>
                <a:cs typeface="Times New Roman" pitchFamily="18" charset="0"/>
              </a:rPr>
              <a:t>CHARACTERISTIC </a:t>
            </a:r>
            <a:r>
              <a:rPr lang="en-US" b="1" dirty="0" smtClean="0">
                <a:latin typeface="Times New Roman" pitchFamily="18" charset="0"/>
                <a:cs typeface="Times New Roman" pitchFamily="18" charset="0"/>
              </a:rPr>
              <a:t>RADIATION</a:t>
            </a:r>
          </a:p>
          <a:p>
            <a:pPr marL="0" lvl="0" indent="0" algn="just">
              <a:buNone/>
            </a:pPr>
            <a:endParaRPr lang="en-US" b="1" dirty="0">
              <a:latin typeface="Times New Roman" pitchFamily="18" charset="0"/>
              <a:cs typeface="Times New Roman" pitchFamily="18" charset="0"/>
            </a:endParaRPr>
          </a:p>
          <a:p>
            <a:pPr lvl="0" algn="just">
              <a:buFont typeface="Wingdings" pitchFamily="2" charset="2"/>
              <a:buChar char="ü"/>
            </a:pPr>
            <a:r>
              <a:rPr lang="en-US" dirty="0">
                <a:latin typeface="Times New Roman" pitchFamily="18" charset="0"/>
                <a:cs typeface="Times New Roman" pitchFamily="18" charset="0"/>
              </a:rPr>
              <a:t>An incoming electron collides directly with an inner-shell ( eg k-shell ) electron of a target atom and knocks it out of orbit.</a:t>
            </a:r>
          </a:p>
          <a:p>
            <a:pPr lvl="0" algn="just">
              <a:buFont typeface="Wingdings" pitchFamily="2" charset="2"/>
              <a:buChar char="ü"/>
            </a:pPr>
            <a:r>
              <a:rPr lang="en-US" dirty="0">
                <a:latin typeface="Times New Roman" pitchFamily="18" charset="0"/>
                <a:cs typeface="Times New Roman" pitchFamily="18" charset="0"/>
              </a:rPr>
              <a:t>An electron from outer , higher –energy shell drops down to fill the empty space .</a:t>
            </a:r>
          </a:p>
          <a:p>
            <a:pPr lvl="0" algn="just">
              <a:buFont typeface="Wingdings" pitchFamily="2" charset="2"/>
              <a:buChar char="ü"/>
            </a:pPr>
            <a:r>
              <a:rPr lang="en-US" dirty="0">
                <a:latin typeface="Times New Roman" pitchFamily="18" charset="0"/>
                <a:cs typeface="Times New Roman" pitchFamily="18" charset="0"/>
              </a:rPr>
              <a:t>This drop releases a burst of energy in the form of  an x-ray photon with a specific , sharp energy level unique to the target material  .</a:t>
            </a:r>
          </a:p>
          <a:p>
            <a:pPr algn="just">
              <a:buFont typeface="Wingdings" pitchFamily="2" charset="2"/>
              <a:buChar char="ü"/>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893133214"/>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424</TotalTime>
  <Words>4798</Words>
  <Application>Microsoft Office PowerPoint</Application>
  <PresentationFormat>Custom</PresentationFormat>
  <Paragraphs>404</Paragraphs>
  <Slides>53</Slides>
  <Notes>29</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MXT112: ATOMIC AND RADIATION PHYSICS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MXT112: ATOMIC AND RADIATION PHYSICS </dc:title>
  <dc:creator>PUMS-USERS</dc:creator>
  <cp:lastModifiedBy>USER</cp:lastModifiedBy>
  <cp:revision>68</cp:revision>
  <dcterms:created xsi:type="dcterms:W3CDTF">2026-10-19T09:31:12Z</dcterms:created>
  <dcterms:modified xsi:type="dcterms:W3CDTF">2026-10-20T12:45:19Z</dcterms:modified>
</cp:coreProperties>
</file>