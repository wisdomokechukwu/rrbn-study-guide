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609600"/>
            <a:ext cx="7924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MXT 209: RADIOGRAPHIC TECHNIQUE 1:UPPER LIMBS</a:t>
            </a:r>
          </a:p>
          <a:p>
            <a:pPr algn="ctr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algn="ctr">
              <a:lnSpc>
                <a:spcPct val="20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DR. M.P.OGOLODOM</a:t>
            </a:r>
          </a:p>
          <a:p>
            <a:pPr algn="ctr">
              <a:lnSpc>
                <a:spcPct val="20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THE RRBN RETRAINING COURSE FOR </a:t>
            </a:r>
          </a:p>
          <a:p>
            <a:pPr algn="ctr">
              <a:lnSpc>
                <a:spcPct val="20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X-RAY TECHNICIANS</a:t>
            </a:r>
          </a:p>
          <a:p>
            <a:pPr algn="ctr">
              <a:lnSpc>
                <a:spcPct val="20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 PORT HARCOURT</a:t>
            </a:r>
          </a:p>
          <a:p>
            <a:pPr algn="ctr">
              <a:lnSpc>
                <a:spcPct val="20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800" b="1" baseline="30000" dirty="0" smtClean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OCTOBER, 2026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609600"/>
            <a:ext cx="79248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FINGERS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Indications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Fractures, dislocations, pain , swollen, pathologies, foreign bodies, RTA, trauma, assault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Patients’ Preparations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Proper identification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Explain the procedures to the patient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Reassure the patient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Remove materials around the fingers and hand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Projections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Dorsipalmar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posteroanterior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Lateral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Patient’s Positioning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Dorsipalmar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(PA)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Patient seat alongside the X-ray couch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palmar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aspect of the fingers under examination on film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Separate fingers slightly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Immobilize hand and wrist joint with sandbag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 anatomical marker (R or L)</a:t>
            </a:r>
          </a:p>
          <a:p>
            <a:pPr>
              <a:buFont typeface="Wingdings" pitchFamily="2" charset="2"/>
              <a:buChar char="Ø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09600"/>
            <a:ext cx="79248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Collimate beam properly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Apply protection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Cassette Size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13x18cm or 24x18cm split using lead rubber divider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Direction of Central Ray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Centring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Point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DCR: Vertical 90 degree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CP: At the level of the proximal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interphalangeal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joint of the fingers or finger under examination.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Exposure Factors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1.5-2.5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KvP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50-55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Film Focal Distance(FFD): 100cm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Lateral Projection for Ring and Little fingers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From the PA position, the medial border of the hand is place on the film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Extend and separate ring and little fingers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 ring finger with foam pad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Flex other fingers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09600"/>
            <a:ext cx="79248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Immobilize the hand and wrist with sandbag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Place anatomical marker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Collimate beam properly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Apply protection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Cassette Size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13x18cm or 24x18cm split using lead rubber divider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Direction of Central Ray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Centring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Point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DCR: Vertical 90 degree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CP: Proximal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interphalangeal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joint of the fingers or finger under examination.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Exposure Factors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1.5-2.5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KvP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50-55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Film Focal Distance(FFD):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120cm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NOTE: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image should include the tip of the finger and distal 3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the metacarpal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85800"/>
            <a:ext cx="7086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/>
              <a:t>THUMB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Projections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PA or AP and Lateral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Patient’s Positioning for PA Thumb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Seat patient alongside the X-ray couch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Extend arm, wrist and forearm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Place medial border of the hand on the film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Rotate hand medially until </a:t>
            </a:r>
            <a:r>
              <a:rPr lang="en-US" dirty="0" err="1" smtClean="0"/>
              <a:t>palmar</a:t>
            </a:r>
            <a:r>
              <a:rPr lang="en-US" dirty="0" smtClean="0"/>
              <a:t> aspect is 15 degree to film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Extend thumb and rest on a small </a:t>
            </a:r>
            <a:r>
              <a:rPr lang="en-US" dirty="0" err="1" smtClean="0"/>
              <a:t>radiolucnt</a:t>
            </a:r>
            <a:r>
              <a:rPr lang="en-US" dirty="0" smtClean="0"/>
              <a:t> pad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Avoid exerting pressure on </a:t>
            </a:r>
            <a:r>
              <a:rPr lang="en-US" dirty="0" err="1" smtClean="0"/>
              <a:t>thenar</a:t>
            </a:r>
            <a:r>
              <a:rPr lang="en-US" dirty="0" smtClean="0"/>
              <a:t> eminence</a:t>
            </a:r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Immobilze</a:t>
            </a:r>
            <a:r>
              <a:rPr lang="en-US" dirty="0" smtClean="0"/>
              <a:t> hand with sandbag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Place anatomical marker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Collimate beam properly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Direction of Central Ray and </a:t>
            </a:r>
            <a:r>
              <a:rPr lang="en-US" b="1" dirty="0" err="1" smtClean="0"/>
              <a:t>Centring</a:t>
            </a:r>
            <a:r>
              <a:rPr lang="en-US" b="1" dirty="0" smtClean="0"/>
              <a:t> Point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DCR: </a:t>
            </a:r>
            <a:r>
              <a:rPr lang="en-US" dirty="0" smtClean="0"/>
              <a:t>Vertical 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CP</a:t>
            </a:r>
            <a:r>
              <a:rPr lang="en-US" dirty="0" smtClean="0"/>
              <a:t>: </a:t>
            </a:r>
            <a:r>
              <a:rPr lang="en-US" dirty="0" err="1" smtClean="0"/>
              <a:t>Metacarpophalangeal</a:t>
            </a:r>
            <a:r>
              <a:rPr lang="en-US" dirty="0" smtClean="0"/>
              <a:t> joint of the thumb</a:t>
            </a:r>
          </a:p>
          <a:p>
            <a:r>
              <a:rPr lang="en-US" b="1" dirty="0" smtClean="0"/>
              <a:t>NOTE: </a:t>
            </a:r>
            <a:r>
              <a:rPr lang="en-US" dirty="0" smtClean="0"/>
              <a:t>Increase the FFD to compensate for the large OFD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457200"/>
            <a:ext cx="8001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err="1" smtClean="0"/>
              <a:t>Mediolateral</a:t>
            </a:r>
            <a:r>
              <a:rPr lang="en-US" b="1" dirty="0" smtClean="0"/>
              <a:t> Projection of Thumb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From the PA position, the palm of the hand is raised slightly with the fingers partially flexed and supported on foam pad.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The lateral aspect of the thumb is in contact with the cassette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Direction of Central Ray and </a:t>
            </a:r>
            <a:r>
              <a:rPr lang="en-US" b="1" dirty="0" err="1" smtClean="0"/>
              <a:t>Centring</a:t>
            </a:r>
            <a:r>
              <a:rPr lang="en-US" b="1" dirty="0" smtClean="0"/>
              <a:t> Point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DCR:</a:t>
            </a:r>
            <a:r>
              <a:rPr lang="en-US" dirty="0" smtClean="0"/>
              <a:t> Vertical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CP: Head of </a:t>
            </a:r>
            <a:r>
              <a:rPr lang="en-US" b="1" dirty="0" smtClean="0"/>
              <a:t>FIRST</a:t>
            </a:r>
            <a:r>
              <a:rPr lang="en-US" dirty="0" smtClean="0"/>
              <a:t> </a:t>
            </a:r>
            <a:r>
              <a:rPr lang="en-US" dirty="0" err="1" smtClean="0"/>
              <a:t>metacarpophalangeal</a:t>
            </a:r>
            <a:r>
              <a:rPr lang="en-US" dirty="0" smtClean="0"/>
              <a:t> joint</a:t>
            </a:r>
          </a:p>
          <a:p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b="1" dirty="0" smtClean="0"/>
              <a:t>HAND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Projections</a:t>
            </a:r>
          </a:p>
          <a:p>
            <a:pPr>
              <a:buFont typeface="Wingdings" pitchFamily="2" charset="2"/>
              <a:buChar char="§"/>
            </a:pPr>
            <a:r>
              <a:rPr lang="en-US" dirty="0" err="1" smtClean="0"/>
              <a:t>Dorsipalmar</a:t>
            </a:r>
            <a:r>
              <a:rPr lang="en-US" dirty="0" smtClean="0"/>
              <a:t>(PA)</a:t>
            </a:r>
          </a:p>
          <a:p>
            <a:pPr>
              <a:buFont typeface="Wingdings" pitchFamily="2" charset="2"/>
              <a:buChar char="§"/>
            </a:pPr>
            <a:r>
              <a:rPr lang="en-US" dirty="0" err="1" smtClean="0"/>
              <a:t>Dorsipalmar</a:t>
            </a:r>
            <a:r>
              <a:rPr lang="en-US" dirty="0" smtClean="0"/>
              <a:t>(PA) Oblique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Lateral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Patients’ Positioning for PA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Patient is seated alongside the X-ray couch with arm nearest to the table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The forearm is </a:t>
            </a:r>
            <a:r>
              <a:rPr lang="en-US" dirty="0" err="1" smtClean="0"/>
              <a:t>pronated</a:t>
            </a:r>
            <a:r>
              <a:rPr lang="en-US" dirty="0" smtClean="0"/>
              <a:t> and placed on the table with palmer surface of the hand in contact with the cassette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The fingers are </a:t>
            </a:r>
            <a:r>
              <a:rPr lang="en-US" dirty="0" smtClean="0"/>
              <a:t>separated </a:t>
            </a:r>
            <a:r>
              <a:rPr lang="en-US" dirty="0" smtClean="0"/>
              <a:t>and extended but relaxed to ensure that they remain in contact with the cassette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The wrist is adjusted so that the </a:t>
            </a:r>
            <a:r>
              <a:rPr lang="en-US" dirty="0" err="1" smtClean="0"/>
              <a:t>ulnar</a:t>
            </a:r>
            <a:r>
              <a:rPr lang="en-US" dirty="0" smtClean="0"/>
              <a:t> and radius </a:t>
            </a:r>
            <a:r>
              <a:rPr lang="en-US" dirty="0" err="1" smtClean="0"/>
              <a:t>styloid</a:t>
            </a:r>
            <a:r>
              <a:rPr lang="en-US" dirty="0" smtClean="0"/>
              <a:t> processes are equidistant from the cassette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Immobilize hand with sandbag over the lower forearm</a:t>
            </a:r>
          </a:p>
          <a:p>
            <a:pPr>
              <a:buFont typeface="Wingdings" pitchFamily="2" charset="2"/>
              <a:buChar char="§"/>
            </a:pP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228600"/>
            <a:ext cx="7924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Place anatomical marker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Collimate Beam and apply protection</a:t>
            </a: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Cassette Size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24x30cm(12x10inch) or 24x18cm (10x8 inch)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DCR</a:t>
            </a:r>
            <a:r>
              <a:rPr lang="en-US" dirty="0" smtClean="0"/>
              <a:t>: Vertical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CP</a:t>
            </a:r>
            <a:r>
              <a:rPr lang="en-US" dirty="0" smtClean="0"/>
              <a:t>: Over the head of the </a:t>
            </a:r>
            <a:r>
              <a:rPr lang="en-US" b="1" dirty="0" smtClean="0"/>
              <a:t>THIRD</a:t>
            </a:r>
            <a:r>
              <a:rPr lang="en-US" dirty="0" smtClean="0"/>
              <a:t> metacarpal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Exposure factors</a:t>
            </a:r>
          </a:p>
          <a:p>
            <a:pPr>
              <a:buFont typeface="Arial" pitchFamily="34" charset="0"/>
              <a:buChar char="•"/>
            </a:pPr>
            <a:r>
              <a:rPr lang="en-US" b="1" dirty="0" err="1" smtClean="0"/>
              <a:t>mAS</a:t>
            </a:r>
            <a:r>
              <a:rPr lang="en-US" b="1" dirty="0" smtClean="0"/>
              <a:t>: </a:t>
            </a:r>
            <a:r>
              <a:rPr lang="en-US" dirty="0" smtClean="0"/>
              <a:t>2-4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KvP:</a:t>
            </a:r>
            <a:r>
              <a:rPr lang="en-US" dirty="0" smtClean="0"/>
              <a:t>50-55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FFD</a:t>
            </a:r>
            <a:r>
              <a:rPr lang="en-US" dirty="0" smtClean="0"/>
              <a:t>:100cm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Patients’ Positioning for PA Oblique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From the PA position, the hand is externally rotated 45 degrees with fingers extended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The fingers should be separated slightly and hand supported on 45 degree foam pad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Immobilize hand with a sandbag placed over the lower end of the forearm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Place anatomical marker (R or L) and collimate beam to area of interest.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DCR: Vertical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CP: Head of the FIFTH metacarpal</a:t>
            </a:r>
          </a:p>
          <a:p>
            <a:pPr algn="just"/>
            <a:r>
              <a:rPr lang="en-US" b="1" dirty="0" smtClean="0"/>
              <a:t>NOTE: </a:t>
            </a:r>
            <a:r>
              <a:rPr lang="en-US" dirty="0" smtClean="0"/>
              <a:t>This projection help to demonstrates joint spaces clearly.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457200"/>
            <a:ext cx="81534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 </a:t>
            </a:r>
            <a:r>
              <a:rPr lang="en-US" b="1" dirty="0" smtClean="0"/>
              <a:t>Patients’ Positioning for Lateral Hand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From the PA position, the hand is externally rotated 90 degrees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The palm of the hand is perpendicular to the cassette with the fingers extended and thumb abducted and supported parallel to the film on radio-</a:t>
            </a:r>
            <a:r>
              <a:rPr lang="en-US" dirty="0" err="1" smtClean="0"/>
              <a:t>opaqe</a:t>
            </a:r>
            <a:r>
              <a:rPr lang="en-US" dirty="0" smtClean="0"/>
              <a:t> pad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The radial and </a:t>
            </a:r>
            <a:r>
              <a:rPr lang="en-US" dirty="0" err="1" smtClean="0"/>
              <a:t>ulnar</a:t>
            </a:r>
            <a:r>
              <a:rPr lang="en-US" dirty="0" smtClean="0"/>
              <a:t> </a:t>
            </a:r>
            <a:r>
              <a:rPr lang="en-US" dirty="0" err="1" smtClean="0"/>
              <a:t>styloid</a:t>
            </a:r>
            <a:r>
              <a:rPr lang="en-US" dirty="0" smtClean="0"/>
              <a:t> </a:t>
            </a:r>
            <a:r>
              <a:rPr lang="en-US" dirty="0" smtClean="0"/>
              <a:t>processes </a:t>
            </a:r>
            <a:r>
              <a:rPr lang="en-US" dirty="0" smtClean="0"/>
              <a:t>are superimposed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DCR</a:t>
            </a:r>
            <a:r>
              <a:rPr lang="en-US" dirty="0" smtClean="0"/>
              <a:t>: Vertical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CP</a:t>
            </a:r>
            <a:r>
              <a:rPr lang="en-US" dirty="0" smtClean="0"/>
              <a:t>: Over the head of the SECOND metacarpal 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Note: </a:t>
            </a:r>
            <a:r>
              <a:rPr lang="en-US" dirty="0" smtClean="0"/>
              <a:t>This projection is commonly done to identify the foreign bodies.</a:t>
            </a:r>
          </a:p>
          <a:p>
            <a:pPr algn="just"/>
            <a:endParaRPr lang="en-US" dirty="0" smtClean="0"/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Patients’ Positioning for  </a:t>
            </a:r>
            <a:r>
              <a:rPr lang="en-US" b="1" dirty="0" err="1" smtClean="0"/>
              <a:t>Anteroposterior</a:t>
            </a:r>
            <a:r>
              <a:rPr lang="en-US" b="1" dirty="0" smtClean="0"/>
              <a:t> (AP) both Hands(Ball Catcher)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The patient may seat facing the table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Both forearms are </a:t>
            </a:r>
            <a:r>
              <a:rPr lang="en-US" dirty="0" err="1" smtClean="0"/>
              <a:t>supinated</a:t>
            </a:r>
            <a:r>
              <a:rPr lang="en-US" dirty="0" smtClean="0"/>
              <a:t> and placed on the table with the dorsal surface of the hands in contact with the cassette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From this position, both hands are rotated medially 45 degree into a Ball-catching position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The fingers and thumb are </a:t>
            </a:r>
            <a:r>
              <a:rPr lang="en-US" dirty="0" smtClean="0"/>
              <a:t>separated</a:t>
            </a:r>
            <a:endParaRPr lang="en-US" dirty="0" smtClean="0"/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Immobilized the lower forearms with sandbag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Place anatomical marker and collimate beam,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DCR: Vertical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CP: </a:t>
            </a:r>
            <a:r>
              <a:rPr lang="en-US" dirty="0" smtClean="0"/>
              <a:t>A point midway between the hands at the level of the FIFTH </a:t>
            </a:r>
            <a:r>
              <a:rPr lang="en-US" dirty="0" err="1" smtClean="0"/>
              <a:t>metacarpophalangeal</a:t>
            </a:r>
            <a:r>
              <a:rPr lang="en-US" dirty="0" smtClean="0"/>
              <a:t> joint.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838200"/>
            <a:ext cx="8001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/>
              <a:t>WRIST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Projections</a:t>
            </a:r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Posteroanterior</a:t>
            </a:r>
            <a:r>
              <a:rPr lang="en-US" dirty="0" smtClean="0"/>
              <a:t> (PA)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Lateral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PA </a:t>
            </a:r>
            <a:r>
              <a:rPr lang="en-US" dirty="0" err="1" smtClean="0"/>
              <a:t>Ulnar</a:t>
            </a:r>
            <a:r>
              <a:rPr lang="en-US" dirty="0" smtClean="0"/>
              <a:t> deviation for </a:t>
            </a:r>
            <a:r>
              <a:rPr lang="en-US" dirty="0" err="1" smtClean="0"/>
              <a:t>Scaphod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Superoinferior</a:t>
            </a:r>
            <a:r>
              <a:rPr lang="en-US" dirty="0" smtClean="0"/>
              <a:t>(axial) projection for carpal tunnel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Patient’s Positioning for PA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Seat patient alongside the X-ray couch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Rest palm, wrist and lower forearm in a straight line on film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Place small pad under </a:t>
            </a:r>
            <a:r>
              <a:rPr lang="en-US" dirty="0" err="1" smtClean="0"/>
              <a:t>metacarpophalangeal</a:t>
            </a:r>
            <a:r>
              <a:rPr lang="en-US" dirty="0" smtClean="0"/>
              <a:t> joints of hand to maintain wrist in close contact with film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Immobilize the wrist and forearm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Place anatomical marker(R or L)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Collimate beam and apply protection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DCR</a:t>
            </a:r>
            <a:r>
              <a:rPr lang="en-US" dirty="0" smtClean="0"/>
              <a:t>: Vertical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CP</a:t>
            </a:r>
            <a:r>
              <a:rPr lang="en-US" dirty="0" smtClean="0"/>
              <a:t>: Midway between the </a:t>
            </a:r>
            <a:r>
              <a:rPr lang="en-US" dirty="0" err="1" smtClean="0"/>
              <a:t>ulnar</a:t>
            </a:r>
            <a:r>
              <a:rPr lang="en-US" dirty="0" smtClean="0"/>
              <a:t> and radial </a:t>
            </a:r>
            <a:r>
              <a:rPr lang="en-US" dirty="0" err="1" smtClean="0"/>
              <a:t>styloid</a:t>
            </a:r>
            <a:r>
              <a:rPr lang="en-US" dirty="0" smtClean="0"/>
              <a:t> processes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Cassette Size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24x30cm or 24x18cm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Exposure factors</a:t>
            </a:r>
          </a:p>
          <a:p>
            <a:pPr>
              <a:buFont typeface="Arial" pitchFamily="34" charset="0"/>
              <a:buChar char="•"/>
            </a:pPr>
            <a:r>
              <a:rPr lang="en-US" b="1" dirty="0" err="1" smtClean="0"/>
              <a:t>Kvp</a:t>
            </a:r>
            <a:r>
              <a:rPr lang="en-US" b="1" dirty="0" smtClean="0"/>
              <a:t>: 50-60, mAs:3-5 and FFD: 100cm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381000"/>
            <a:ext cx="8915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b="1" dirty="0" smtClean="0"/>
              <a:t>Patient’s Positioning for Lateral Wrist Joint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Seat patient alongside the X-ray couch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Extend hand, wrist and  forearm in a straight line on film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Rotate the forearm into the lateral position and rest the 5</a:t>
            </a:r>
            <a:r>
              <a:rPr lang="en-US" baseline="30000" dirty="0" smtClean="0"/>
              <a:t>th</a:t>
            </a:r>
            <a:r>
              <a:rPr lang="en-US" dirty="0" smtClean="0"/>
              <a:t> finger and medial aspect of the hand and lower forearm in a straight line on film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Ensure </a:t>
            </a:r>
            <a:r>
              <a:rPr lang="en-US" dirty="0" err="1" smtClean="0"/>
              <a:t>ulnar</a:t>
            </a:r>
            <a:r>
              <a:rPr lang="en-US" dirty="0" smtClean="0"/>
              <a:t> and radial </a:t>
            </a:r>
            <a:r>
              <a:rPr lang="en-US" dirty="0" err="1" smtClean="0"/>
              <a:t>styloid</a:t>
            </a:r>
            <a:r>
              <a:rPr lang="en-US" dirty="0" smtClean="0"/>
              <a:t> processes are superimposed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Immobilize the forearm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Place anatomical marker(R or L)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Collimate beam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DCR</a:t>
            </a:r>
            <a:r>
              <a:rPr lang="en-US" dirty="0" smtClean="0"/>
              <a:t>: Vertical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CP</a:t>
            </a:r>
            <a:r>
              <a:rPr lang="en-US" dirty="0" smtClean="0"/>
              <a:t>:  </a:t>
            </a:r>
            <a:r>
              <a:rPr lang="en-US" dirty="0"/>
              <a:t>R</a:t>
            </a:r>
            <a:r>
              <a:rPr lang="en-US" dirty="0" smtClean="0"/>
              <a:t>adial </a:t>
            </a:r>
            <a:r>
              <a:rPr lang="en-US" dirty="0" err="1" smtClean="0"/>
              <a:t>styloid</a:t>
            </a:r>
            <a:r>
              <a:rPr lang="en-US" dirty="0" smtClean="0"/>
              <a:t> processes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Cassette Size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24x30cm or 24x18cm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Exposure factors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 err="1" smtClean="0"/>
              <a:t>Kvp</a:t>
            </a:r>
            <a:r>
              <a:rPr lang="en-US" b="1" dirty="0" smtClean="0"/>
              <a:t>: 55-65, mAs:3-5 and FFD: 100cm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381000"/>
            <a:ext cx="8915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b="1" dirty="0" smtClean="0"/>
              <a:t>Patient’s Positioning for PA </a:t>
            </a:r>
            <a:r>
              <a:rPr lang="en-US" b="1" dirty="0" err="1" smtClean="0"/>
              <a:t>Ulnar</a:t>
            </a:r>
            <a:r>
              <a:rPr lang="en-US" b="1" dirty="0" smtClean="0"/>
              <a:t> deviation for </a:t>
            </a:r>
            <a:r>
              <a:rPr lang="en-US" b="1" dirty="0" err="1" smtClean="0"/>
              <a:t>Scaphoid</a:t>
            </a:r>
            <a:endParaRPr lang="en-US" b="1" dirty="0" smtClean="0"/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Seat patient alongside the X-ray couch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Rest palm, wrist and lower forearm on the film with </a:t>
            </a:r>
            <a:r>
              <a:rPr lang="en-US" dirty="0" err="1" smtClean="0"/>
              <a:t>ulnar</a:t>
            </a:r>
            <a:r>
              <a:rPr lang="en-US" dirty="0" smtClean="0"/>
              <a:t> deviation of hand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Ensure </a:t>
            </a:r>
            <a:r>
              <a:rPr lang="en-US" dirty="0" err="1" smtClean="0"/>
              <a:t>ulnar</a:t>
            </a:r>
            <a:r>
              <a:rPr lang="en-US" dirty="0" smtClean="0"/>
              <a:t> and radial </a:t>
            </a:r>
            <a:r>
              <a:rPr lang="en-US" dirty="0" err="1" smtClean="0"/>
              <a:t>styloid</a:t>
            </a:r>
            <a:r>
              <a:rPr lang="en-US" dirty="0" smtClean="0"/>
              <a:t> processes are equidistant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Immobilize the forearm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Place anatomical marker(R or L)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Collimate beam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DCR</a:t>
            </a:r>
            <a:r>
              <a:rPr lang="en-US" dirty="0" smtClean="0"/>
              <a:t>: Vertical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CP</a:t>
            </a:r>
            <a:r>
              <a:rPr lang="en-US" dirty="0" smtClean="0"/>
              <a:t>: Midway between the </a:t>
            </a:r>
            <a:r>
              <a:rPr lang="en-US" dirty="0" err="1" smtClean="0"/>
              <a:t>ulnar</a:t>
            </a:r>
            <a:r>
              <a:rPr lang="en-US" dirty="0" smtClean="0"/>
              <a:t> and radial </a:t>
            </a:r>
            <a:r>
              <a:rPr lang="en-US" dirty="0" err="1" smtClean="0"/>
              <a:t>styloid</a:t>
            </a:r>
            <a:r>
              <a:rPr lang="en-US" dirty="0" smtClean="0"/>
              <a:t> processes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Cassette Size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24x30cm or 24x18cm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Exposure factors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 err="1" smtClean="0"/>
              <a:t>Kvp</a:t>
            </a:r>
            <a:r>
              <a:rPr lang="en-US" b="1" dirty="0" smtClean="0"/>
              <a:t>: 50-60, mAs:3-5 and FFD: 100cm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 smtClean="0"/>
              <a:t>NOTE</a:t>
            </a:r>
            <a:r>
              <a:rPr lang="en-US" dirty="0" smtClean="0"/>
              <a:t>: It is important to examine the patient again at least 14 days after the initial examination to properly demonstrates fracture </a:t>
            </a:r>
            <a:r>
              <a:rPr lang="en-US" dirty="0" err="1" smtClean="0"/>
              <a:t>scaphoid</a:t>
            </a:r>
            <a:r>
              <a:rPr lang="en-US" dirty="0" smtClean="0"/>
              <a:t> </a:t>
            </a:r>
            <a:r>
              <a:rPr lang="en-US" dirty="0" err="1" smtClean="0"/>
              <a:t>radiographically</a:t>
            </a:r>
            <a:r>
              <a:rPr lang="en-US" dirty="0" smtClean="0"/>
              <a:t>.</a:t>
            </a:r>
          </a:p>
          <a:p>
            <a:pPr algn="just">
              <a:buFont typeface="Wingdings" pitchFamily="2" charset="2"/>
              <a:buChar char="§"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228600"/>
            <a:ext cx="84582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Patient’s Positioning for </a:t>
            </a:r>
            <a:r>
              <a:rPr lang="en-US" b="1" dirty="0" err="1" smtClean="0"/>
              <a:t>Superoinferior</a:t>
            </a:r>
            <a:r>
              <a:rPr lang="en-US" b="1" dirty="0" smtClean="0"/>
              <a:t> (Axial) projection for carpal tunnel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Stand the patient with the back to the X-ray table and extend arm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Flex elbow and wrist, and with the fingers and thumb well separated press the hand palm down on to a film near the edge of the couch.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Ensure that the carpal region is in profile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Immobilize the hand with a foam pad if necessary 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 anatomical marker(R or L)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DCR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Vertical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Midcarpal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region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Cassette size: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24x18cm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FOREARM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Projections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Anteroposterior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(AP)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Lateral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000" b="1" dirty="0" smtClean="0"/>
              <a:t>Patient’s Positioning for AP Forearm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Seat the patient alongside the X-ray couch with shoulder at the couch level.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Place forearm fully </a:t>
            </a:r>
            <a:r>
              <a:rPr lang="en-US" sz="2000" dirty="0" err="1" smtClean="0"/>
              <a:t>supinated</a:t>
            </a:r>
            <a:r>
              <a:rPr lang="en-US" sz="2000" dirty="0" smtClean="0"/>
              <a:t> with elbow extended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Include wrist and elbow if possible using long cassette size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 anatomical marker(R or L)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 algn="just">
              <a:buFont typeface="Arial" pitchFamily="34" charset="0"/>
              <a:buChar char="•"/>
            </a:pPr>
            <a:endParaRPr lang="en-US" sz="2000" dirty="0" smtClean="0"/>
          </a:p>
          <a:p>
            <a:pPr algn="just">
              <a:buFont typeface="Arial" pitchFamily="34" charset="0"/>
              <a:buChar char="•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304800"/>
            <a:ext cx="79248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DCR</a:t>
            </a:r>
            <a:r>
              <a:rPr lang="en-US" dirty="0" smtClean="0"/>
              <a:t>: Vertical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CP</a:t>
            </a:r>
            <a:r>
              <a:rPr lang="en-US" dirty="0" smtClean="0"/>
              <a:t>: Anterior aspect of the middle of the forearm, midway between the wrist and elbow joints.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Cassette Size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43x35cm(17x14inch) or 35x35cm(14x14inch)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Exposure factors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 smtClean="0"/>
              <a:t>Kvp: 50-60, mAs:3-5 and FFD: 100cm</a:t>
            </a:r>
          </a:p>
          <a:p>
            <a:pPr algn="just">
              <a:buFont typeface="Arial" pitchFamily="34" charset="0"/>
              <a:buChar char="•"/>
            </a:pPr>
            <a:endParaRPr lang="en-US" b="1" dirty="0"/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Patient’s Positioning for Lateral Forearm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Seat the patient alongside the X-ray couch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Lower shoulder of affected side to same level as forearm.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Flex elbow at 90 degrees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Place medial border of forearm on film.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Include wrist and elbow if possible using long cassette size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marker(R or L)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hand with sandbag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Vertical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Lateral aspect of the forearm, midway between wrist and elbow joints 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Cassette Size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43x35cm(17x14inch) or 35x35cm(14x14inch)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Exposure factors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 err="1" smtClean="0"/>
              <a:t>Kvp</a:t>
            </a:r>
            <a:r>
              <a:rPr lang="en-US" b="1" dirty="0" smtClean="0"/>
              <a:t>: 55-65, mAs:3-5 and FFD: 100cm</a:t>
            </a:r>
          </a:p>
          <a:p>
            <a:pPr algn="just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b="1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762000"/>
            <a:ext cx="7467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ELBOW JOINT</a:t>
            </a:r>
          </a:p>
          <a:p>
            <a:pPr algn="just"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Projections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Anteroposterior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(AP)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Lateral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Axial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Patient’s Positioning for AP Elbow Joint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Seat the patient alongside the X-ray couch with shoulder at the couch level.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Place forearm fully </a:t>
            </a:r>
            <a:r>
              <a:rPr lang="en-US" dirty="0" err="1" smtClean="0"/>
              <a:t>supinated</a:t>
            </a:r>
            <a:r>
              <a:rPr lang="en-US" dirty="0" smtClean="0"/>
              <a:t> with elbow extended on a film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Ensure that the patients’ thumb is touching the couch top if possible.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marker(R or L)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the hand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Vertical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CP: In the midline 2.5cm distal to a line joining the lateral and medial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epicondyles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humerus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Cassette Size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24x18cm(10x8inch) or 30x24cm(12x10inch)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Exposure factors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 err="1" smtClean="0"/>
              <a:t>Kvp</a:t>
            </a:r>
            <a:r>
              <a:rPr lang="en-US" b="1" dirty="0" smtClean="0"/>
              <a:t>: </a:t>
            </a:r>
            <a:r>
              <a:rPr lang="en-US" dirty="0" smtClean="0"/>
              <a:t>55-65, mAs:3-5 and FFD: 100cm</a:t>
            </a:r>
          </a:p>
          <a:p>
            <a:pPr algn="just"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0" y="838200"/>
            <a:ext cx="7848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Patient’s Positioning for Lateral Elbow Joint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Seat the patient alongside the X-ray couch with shoulder, elbow and hand at the same level.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Flex elbow 90 degrees and rotate forearm into true lateral position with thumb uppermost.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Rest medial border of elbow on film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marker(R or L)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the hand and wrist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Vertical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Lateral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epicondyle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humerus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Cassette Size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24x18cm(10x8inch) or 30x24cm(12x10inch)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Exposure factors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 err="1" smtClean="0"/>
              <a:t>Kvp</a:t>
            </a:r>
            <a:r>
              <a:rPr lang="en-US" b="1" dirty="0" smtClean="0"/>
              <a:t>: </a:t>
            </a:r>
            <a:r>
              <a:rPr lang="en-US" dirty="0" smtClean="0"/>
              <a:t>55-65, mAs:3-5 and FFD: 100cm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8458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Patient’s Positioning for Axial Elbow Joint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Seat the patient alongside the X-ray couch with shoulder at the same level.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Flex elbow so that the hand is in contact with the shoulder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Rest  elbow on film with upper arm at couch level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marker(R or L)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the hand and wrist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Vertical or 30 degree towards the shoulder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the midline 5cm distal to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oleranon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process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Cassette Size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24x18cm(10x8inch) or 30x24cm(12x10inch)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Exposure factors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 err="1" smtClean="0"/>
              <a:t>Kvp</a:t>
            </a:r>
            <a:r>
              <a:rPr lang="en-US" b="1" dirty="0" smtClean="0"/>
              <a:t>: </a:t>
            </a:r>
            <a:r>
              <a:rPr lang="en-US" dirty="0" smtClean="0"/>
              <a:t>55-65, mAs:3-5 and FFD: 100cm</a:t>
            </a:r>
          </a:p>
          <a:p>
            <a:pPr algn="just">
              <a:buFont typeface="Arial" pitchFamily="34" charset="0"/>
              <a:buChar char="•"/>
            </a:pPr>
            <a:endParaRPr lang="en-US" dirty="0"/>
          </a:p>
          <a:p>
            <a:pPr algn="just">
              <a:buFont typeface="Arial" pitchFamily="34" charset="0"/>
              <a:buChar char="•"/>
            </a:pPr>
            <a:r>
              <a:rPr lang="en-US" b="1" dirty="0" smtClean="0"/>
              <a:t>NOTE: </a:t>
            </a:r>
            <a:r>
              <a:rPr lang="en-US" dirty="0" smtClean="0"/>
              <a:t>The choice of exposure factors depends on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Anatomical structure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Type of film material use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Energy of the beam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457200"/>
            <a:ext cx="7848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ARM (HUMERUS)</a:t>
            </a:r>
          </a:p>
          <a:p>
            <a:pPr algn="just"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Projections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Anteroposterior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(AP)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Lateral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Inferiosuperior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surgical neck 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Patient’s Positioning for AP Elbow Joint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Stand or sit the patient facing towards the X-ray tube.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Rotate the body slightly towards affected side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Place the arm in the anatomical position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Rest the </a:t>
            </a:r>
            <a:r>
              <a:rPr lang="en-US" dirty="0" err="1" smtClean="0"/>
              <a:t>hmerus</a:t>
            </a:r>
            <a:r>
              <a:rPr lang="en-US" dirty="0" smtClean="0"/>
              <a:t> against the film to include shoulder and elbow.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marker(R or L)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Horizontal or Vertical(If patient lying down supine)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Anterior aspect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humerus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midway between the shoulder and elbow joints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Cassette Size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24x18cm(10x8inch) or 30x24cm(12x10inch), 43x35cm(17x14inch)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Exposure factors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 err="1" smtClean="0"/>
              <a:t>Kvp</a:t>
            </a:r>
            <a:r>
              <a:rPr lang="en-US" b="1" dirty="0" smtClean="0"/>
              <a:t>: </a:t>
            </a:r>
            <a:r>
              <a:rPr lang="en-US" dirty="0" smtClean="0"/>
              <a:t>55-70, mAs:10-12 and FFD: 100cm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228600"/>
            <a:ext cx="89154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Patient’s Positioning for Lateral Arm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Stand or sit the patient facing towards the chest stand or upright cassette holder.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Slightly  abduct and extend the arm and flex elbow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Rotate trunk away from the affected side until lateral aspect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humerus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rest on the film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Include shoulder and elbow.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marker(R or L)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Horizontal or Vertical(If patient lying down supine)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Medial aspect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humerus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midway between the shoulder and elbow joints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Cassette Size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24x18cm(10x8inch) or 30x24cm(12x10inch), 43x35cm(17x14inch)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Exposure factors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Kvp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55-70, mAs:10-12 and FFD: 100cm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Patient’s Positioning for 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Inferosuperior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Projection of Arm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Patient lie supine on the couch and turn head away from the affected side.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Fully abduct arm if possible and support in a comfortable position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Vertically support cassette above the shoulder include upper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humerus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the arm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marker(R or L)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Horizontal or Vertical(If patient lying down supine)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Head of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humerus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through the axial</a:t>
            </a:r>
          </a:p>
          <a:p>
            <a:pPr algn="just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2020</Words>
  <Application>Microsoft Office PowerPoint</Application>
  <PresentationFormat>On-screen Show (4:3)</PresentationFormat>
  <Paragraphs>306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63</cp:revision>
  <dcterms:created xsi:type="dcterms:W3CDTF">2026-10-23T00:47:42Z</dcterms:created>
  <dcterms:modified xsi:type="dcterms:W3CDTF">2026-10-23T09:35:37Z</dcterms:modified>
</cp:coreProperties>
</file>