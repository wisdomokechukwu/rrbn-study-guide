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3" r:id="rId2"/>
    <p:sldId id="256" r:id="rId3"/>
    <p:sldId id="257" r:id="rId4"/>
    <p:sldId id="258" r:id="rId5"/>
    <p:sldId id="284" r:id="rId6"/>
    <p:sldId id="259" r:id="rId7"/>
    <p:sldId id="260" r:id="rId8"/>
    <p:sldId id="261" r:id="rId9"/>
    <p:sldId id="262" r:id="rId10"/>
    <p:sldId id="263" r:id="rId11"/>
    <p:sldId id="264" r:id="rId12"/>
    <p:sldId id="265" r:id="rId13"/>
    <p:sldId id="266" r:id="rId14"/>
    <p:sldId id="267" r:id="rId15"/>
    <p:sldId id="270" r:id="rId16"/>
    <p:sldId id="272" r:id="rId17"/>
    <p:sldId id="271" r:id="rId18"/>
    <p:sldId id="273" r:id="rId19"/>
    <p:sldId id="274" r:id="rId20"/>
    <p:sldId id="275" r:id="rId21"/>
    <p:sldId id="276" r:id="rId22"/>
    <p:sldId id="277" r:id="rId23"/>
    <p:sldId id="278" r:id="rId24"/>
    <p:sldId id="279" r:id="rId25"/>
    <p:sldId id="285" r:id="rId26"/>
    <p:sldId id="280" r:id="rId27"/>
    <p:sldId id="281" r:id="rId28"/>
    <p:sldId id="286" r:id="rId29"/>
    <p:sldId id="28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autoAdjust="0"/>
    <p:restoredTop sz="94660"/>
  </p:normalViewPr>
  <p:slideViewPr>
    <p:cSldViewPr>
      <p:cViewPr>
        <p:scale>
          <a:sx n="70" d="100"/>
          <a:sy n="70" d="100"/>
        </p:scale>
        <p:origin x="-1614" y="-1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65D0E97-9AAA-48EC-9423-10316851B6A4}" type="datetimeFigureOut">
              <a:rPr lang="en-US" smtClean="0"/>
              <a:t>10/21/2026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5EABC03-F960-48FC-9623-9F166D79B3D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5EABC03-F960-48FC-9623-9F166D79B3D6}"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65D0E97-9AAA-48EC-9423-10316851B6A4}" type="datetimeFigureOut">
              <a:rPr lang="en-US" smtClean="0"/>
              <a:t>10/21/2026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5EABC03-F960-48FC-9623-9F166D79B3D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ELLO\Desktop\IMG-20261018-WA0005.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192836"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75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764705"/>
            <a:ext cx="8064896" cy="1440160"/>
          </a:xfrm>
        </p:spPr>
        <p:txBody>
          <a:bodyPr>
            <a:normAutofit/>
          </a:bodyPr>
          <a:lstStyle/>
          <a:p>
            <a:pPr algn="ctr"/>
            <a:r>
              <a:rPr lang="en-US" sz="4000" dirty="0" smtClean="0">
                <a:latin typeface="Book Antiqua" panose="02040602050305030304" pitchFamily="18" charset="0"/>
              </a:rPr>
              <a:t>INTRODUCTION TO BASIC RADIOGRAPHIC EQUIPMENT</a:t>
            </a:r>
            <a:endParaRPr lang="en-US" sz="4000" dirty="0">
              <a:latin typeface="Book Antiqua" panose="02040602050305030304" pitchFamily="18" charset="0"/>
            </a:endParaRPr>
          </a:p>
        </p:txBody>
      </p:sp>
      <p:sp>
        <p:nvSpPr>
          <p:cNvPr id="3" name="Subtitle 2"/>
          <p:cNvSpPr>
            <a:spLocks noGrp="1"/>
          </p:cNvSpPr>
          <p:nvPr>
            <p:ph type="subTitle" idx="1"/>
          </p:nvPr>
        </p:nvSpPr>
        <p:spPr>
          <a:xfrm>
            <a:off x="971600" y="2420888"/>
            <a:ext cx="6912768" cy="2808312"/>
          </a:xfrm>
        </p:spPr>
        <p:txBody>
          <a:bodyPr>
            <a:normAutofit fontScale="92500" lnSpcReduction="10000"/>
          </a:bodyPr>
          <a:lstStyle/>
          <a:p>
            <a:pPr algn="ctr"/>
            <a:endParaRPr lang="en-US" sz="4000" b="1" dirty="0" smtClean="0">
              <a:latin typeface="Book Antiqua" panose="02040602050305030304" pitchFamily="18" charset="0"/>
            </a:endParaRPr>
          </a:p>
          <a:p>
            <a:pPr algn="ctr"/>
            <a:r>
              <a:rPr lang="en-US" sz="4000" b="1" dirty="0" smtClean="0">
                <a:latin typeface="Book Antiqua" panose="02040602050305030304" pitchFamily="18" charset="0"/>
              </a:rPr>
              <a:t>MXT 302</a:t>
            </a:r>
          </a:p>
          <a:p>
            <a:pPr algn="ctr"/>
            <a:endParaRPr lang="en-US" b="1" dirty="0" smtClean="0">
              <a:latin typeface="Book Antiqua" panose="02040602050305030304" pitchFamily="18" charset="0"/>
            </a:endParaRPr>
          </a:p>
          <a:p>
            <a:pPr algn="ctr"/>
            <a:r>
              <a:rPr lang="en-US" b="1" dirty="0" smtClean="0">
                <a:latin typeface="Book Antiqua" panose="02040602050305030304" pitchFamily="18" charset="0"/>
              </a:rPr>
              <a:t>BY </a:t>
            </a:r>
          </a:p>
          <a:p>
            <a:pPr algn="ctr"/>
            <a:endParaRPr lang="en-US" b="1" dirty="0">
              <a:latin typeface="Book Antiqua" panose="02040602050305030304" pitchFamily="18" charset="0"/>
            </a:endParaRPr>
          </a:p>
          <a:p>
            <a:pPr algn="ctr"/>
            <a:r>
              <a:rPr lang="en-US" b="1" dirty="0" smtClean="0">
                <a:latin typeface="Book Antiqua" panose="02040602050305030304" pitchFamily="18" charset="0"/>
              </a:rPr>
              <a:t>DIR. GBARABE, KENT </a:t>
            </a:r>
            <a:endParaRPr lang="en-US" b="1" dirty="0">
              <a:latin typeface="Book Antiqua" panose="02040602050305030304" pitchFamily="18" charset="0"/>
            </a:endParaRPr>
          </a:p>
        </p:txBody>
      </p:sp>
    </p:spTree>
    <p:extLst>
      <p:ext uri="{BB962C8B-B14F-4D97-AF65-F5344CB8AC3E}">
        <p14:creationId xmlns:p14="http://schemas.microsoft.com/office/powerpoint/2010/main" val="4207861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latin typeface="Book Antiqua" panose="02040602050305030304" pitchFamily="18" charset="0"/>
              </a:rPr>
              <a:t>INTRODUCTION </a:t>
            </a:r>
            <a:endParaRPr lang="en-US" dirty="0">
              <a:latin typeface="Book Antiqua" panose="02040602050305030304" pitchFamily="18" charset="0"/>
            </a:endParaRPr>
          </a:p>
          <a:p>
            <a:r>
              <a:rPr lang="en-US" dirty="0">
                <a:latin typeface="Book Antiqua" panose="02040602050305030304" pitchFamily="18" charset="0"/>
              </a:rPr>
              <a:t>X RAY GENERATORS AND </a:t>
            </a:r>
            <a:r>
              <a:rPr lang="en-US" dirty="0" smtClean="0">
                <a:latin typeface="Book Antiqua" panose="02040602050305030304" pitchFamily="18" charset="0"/>
              </a:rPr>
              <a:t>TRANSFORMERS</a:t>
            </a:r>
          </a:p>
          <a:p>
            <a:r>
              <a:rPr lang="en-US" dirty="0" smtClean="0">
                <a:latin typeface="Book Antiqua" panose="02040602050305030304" pitchFamily="18" charset="0"/>
              </a:rPr>
              <a:t>HOW X RAY GENERATOR WORKS</a:t>
            </a:r>
          </a:p>
          <a:p>
            <a:r>
              <a:rPr lang="en-US" dirty="0" smtClean="0">
                <a:latin typeface="Book Antiqua" panose="02040602050305030304" pitchFamily="18" charset="0"/>
              </a:rPr>
              <a:t>TYPES OF X RAY GENERATOR</a:t>
            </a:r>
          </a:p>
          <a:p>
            <a:r>
              <a:rPr lang="en-US" dirty="0" smtClean="0">
                <a:latin typeface="Book Antiqua" panose="02040602050305030304" pitchFamily="18" charset="0"/>
              </a:rPr>
              <a:t>FUNCTIONS OF X RAY GENERATOR</a:t>
            </a:r>
            <a:endParaRPr lang="en-US" dirty="0">
              <a:latin typeface="Book Antiqua" panose="02040602050305030304" pitchFamily="18" charset="0"/>
            </a:endParaRPr>
          </a:p>
          <a:p>
            <a:r>
              <a:rPr lang="en-US" dirty="0">
                <a:latin typeface="Book Antiqua" panose="02040602050305030304" pitchFamily="18" charset="0"/>
              </a:rPr>
              <a:t>BEAM LIMITING AND CENTERING DEVICES</a:t>
            </a:r>
          </a:p>
          <a:p>
            <a:r>
              <a:rPr lang="en-US" dirty="0" smtClean="0">
                <a:latin typeface="Book Antiqua" panose="02040602050305030304" pitchFamily="18" charset="0"/>
              </a:rPr>
              <a:t>OTHER </a:t>
            </a:r>
            <a:r>
              <a:rPr lang="en-US" dirty="0">
                <a:latin typeface="Book Antiqua" panose="02040602050305030304" pitchFamily="18" charset="0"/>
              </a:rPr>
              <a:t>EQUIPMENT ACCESSORIES</a:t>
            </a:r>
          </a:p>
          <a:p>
            <a:r>
              <a:rPr lang="en-US" dirty="0">
                <a:latin typeface="Book Antiqua" panose="02040602050305030304" pitchFamily="18" charset="0"/>
              </a:rPr>
              <a:t>CONCEPT OF X RAY </a:t>
            </a:r>
            <a:r>
              <a:rPr lang="en-US" dirty="0" smtClean="0">
                <a:latin typeface="Book Antiqua" panose="02040602050305030304" pitchFamily="18" charset="0"/>
              </a:rPr>
              <a:t>PRODUCTION</a:t>
            </a:r>
          </a:p>
          <a:p>
            <a:r>
              <a:rPr lang="en-US" dirty="0" smtClean="0">
                <a:latin typeface="Book Antiqua" panose="02040602050305030304" pitchFamily="18" charset="0"/>
              </a:rPr>
              <a:t>TYPES OF X RAY PRODUCTION</a:t>
            </a:r>
            <a:endParaRPr lang="en-US" dirty="0">
              <a:latin typeface="Book Antiqua" panose="02040602050305030304" pitchFamily="18" charset="0"/>
            </a:endParaRPr>
          </a:p>
          <a:p>
            <a:r>
              <a:rPr lang="en-US" dirty="0">
                <a:latin typeface="Book Antiqua" panose="02040602050305030304" pitchFamily="18" charset="0"/>
              </a:rPr>
              <a:t>SECONDARY AND SCATTERED RADIATIONS</a:t>
            </a:r>
          </a:p>
          <a:p>
            <a:r>
              <a:rPr lang="en-US" dirty="0">
                <a:latin typeface="Book Antiqua" panose="02040602050305030304" pitchFamily="18" charset="0"/>
              </a:rPr>
              <a:t>ANTI SCATTER </a:t>
            </a:r>
            <a:r>
              <a:rPr lang="en-US" dirty="0" smtClean="0">
                <a:latin typeface="Book Antiqua" panose="02040602050305030304" pitchFamily="18" charset="0"/>
              </a:rPr>
              <a:t>GRID</a:t>
            </a:r>
          </a:p>
          <a:p>
            <a:r>
              <a:rPr lang="en-US" dirty="0" smtClean="0">
                <a:latin typeface="Book Antiqua" panose="02040602050305030304" pitchFamily="18" charset="0"/>
              </a:rPr>
              <a:t>BUCKY ASSEMBLY</a:t>
            </a:r>
            <a:endParaRPr lang="en-US" dirty="0">
              <a:latin typeface="Book Antiqua" panose="02040602050305030304" pitchFamily="18" charset="0"/>
            </a:endParaRPr>
          </a:p>
          <a:p>
            <a:r>
              <a:rPr lang="en-US" dirty="0">
                <a:latin typeface="Book Antiqua" panose="02040602050305030304" pitchFamily="18" charset="0"/>
              </a:rPr>
              <a:t>TYPES OF X RAY MACHINES/EQUIPMENTS</a:t>
            </a:r>
          </a:p>
          <a:p>
            <a:endParaRPr lang="en-US" dirty="0"/>
          </a:p>
        </p:txBody>
      </p:sp>
      <p:sp>
        <p:nvSpPr>
          <p:cNvPr id="2" name="Title 1"/>
          <p:cNvSpPr>
            <a:spLocks noGrp="1"/>
          </p:cNvSpPr>
          <p:nvPr>
            <p:ph type="title"/>
          </p:nvPr>
        </p:nvSpPr>
        <p:spPr/>
        <p:txBody>
          <a:bodyPr>
            <a:normAutofit fontScale="90000"/>
          </a:bodyPr>
          <a:lstStyle/>
          <a:p>
            <a:pPr algn="ctr"/>
            <a:r>
              <a:rPr lang="en-US" dirty="0" smtClean="0"/>
              <a:t>COURSE OUTLINE</a:t>
            </a:r>
            <a:br>
              <a:rPr lang="en-US" dirty="0" smtClean="0"/>
            </a:br>
            <a:endParaRPr lang="en-US" dirty="0"/>
          </a:p>
        </p:txBody>
      </p:sp>
    </p:spTree>
    <p:extLst>
      <p:ext uri="{BB962C8B-B14F-4D97-AF65-F5344CB8AC3E}">
        <p14:creationId xmlns:p14="http://schemas.microsoft.com/office/powerpoint/2010/main" val="300527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8" y="764704"/>
            <a:ext cx="9036496" cy="5976664"/>
          </a:xfrm>
        </p:spPr>
        <p:txBody>
          <a:bodyPr>
            <a:noAutofit/>
          </a:bodyPr>
          <a:lstStyle/>
          <a:p>
            <a:pPr algn="just">
              <a:lnSpc>
                <a:spcPct val="170000"/>
              </a:lnSpc>
            </a:pPr>
            <a:r>
              <a:rPr lang="en-US" sz="2000" dirty="0" smtClean="0">
                <a:latin typeface="Book Antiqua" panose="02040602050305030304" pitchFamily="18" charset="0"/>
              </a:rPr>
              <a:t>The </a:t>
            </a:r>
            <a:r>
              <a:rPr lang="en-US" sz="2000" dirty="0">
                <a:latin typeface="Book Antiqua" panose="02040602050305030304" pitchFamily="18" charset="0"/>
              </a:rPr>
              <a:t>basic of radiographic equipment consist of the component hardware and technical system used to generate and capture x ray images  for diagnostic and therapeutic purposes.  They consist of machines, devices and accessories used to produced x </a:t>
            </a:r>
            <a:r>
              <a:rPr lang="en-US" sz="2000" dirty="0" smtClean="0">
                <a:latin typeface="Book Antiqua" panose="02040602050305030304" pitchFamily="18" charset="0"/>
              </a:rPr>
              <a:t>ray  </a:t>
            </a:r>
            <a:r>
              <a:rPr lang="en-US" sz="2000" dirty="0">
                <a:latin typeface="Book Antiqua" panose="02040602050305030304" pitchFamily="18" charset="0"/>
              </a:rPr>
              <a:t>images .</a:t>
            </a:r>
          </a:p>
          <a:p>
            <a:pPr algn="just">
              <a:lnSpc>
                <a:spcPct val="170000"/>
              </a:lnSpc>
            </a:pPr>
            <a:r>
              <a:rPr lang="en-US" sz="2000" b="1" dirty="0">
                <a:latin typeface="Book Antiqua" panose="02040602050305030304" pitchFamily="18" charset="0"/>
              </a:rPr>
              <a:t>X RAY MACHINES</a:t>
            </a:r>
            <a:r>
              <a:rPr lang="en-US" sz="2000" dirty="0">
                <a:latin typeface="Book Antiqua" panose="02040602050305030304" pitchFamily="18" charset="0"/>
              </a:rPr>
              <a:t>: This is a machine that contains an x ray tube used to produce the images of the internal body tissues and organs.</a:t>
            </a:r>
          </a:p>
          <a:p>
            <a:pPr algn="just">
              <a:lnSpc>
                <a:spcPct val="170000"/>
              </a:lnSpc>
            </a:pPr>
            <a:r>
              <a:rPr lang="en-US" sz="2000" b="1" dirty="0">
                <a:latin typeface="Book Antiqua" panose="02040602050305030304" pitchFamily="18" charset="0"/>
              </a:rPr>
              <a:t>X RAY TUBE </a:t>
            </a:r>
            <a:r>
              <a:rPr lang="en-US" sz="2000" dirty="0">
                <a:latin typeface="Book Antiqua" panose="02040602050305030304" pitchFamily="18" charset="0"/>
              </a:rPr>
              <a:t>: This is a vacuum sealed tube that has a cathode and an anode which converts electrical energy into a focused beam of x radiations. It has (1) an anode assembly (2) Cathode assembly  (3)  Glass housing (4) Exit window (5) Voltage supply </a:t>
            </a:r>
            <a:r>
              <a:rPr lang="en-US" sz="2000" dirty="0" smtClean="0">
                <a:latin typeface="Book Antiqua" panose="02040602050305030304" pitchFamily="18" charset="0"/>
              </a:rPr>
              <a:t>(6) Collimators (7) Filters</a:t>
            </a:r>
            <a:endParaRPr lang="en-US" sz="2000" dirty="0">
              <a:latin typeface="Book Antiqua" panose="02040602050305030304" pitchFamily="18" charset="0"/>
            </a:endParaRPr>
          </a:p>
          <a:p>
            <a:pPr>
              <a:lnSpc>
                <a:spcPct val="170000"/>
              </a:lnSpc>
            </a:pPr>
            <a:endParaRPr lang="en-US" sz="1600" dirty="0"/>
          </a:p>
        </p:txBody>
      </p:sp>
      <p:sp>
        <p:nvSpPr>
          <p:cNvPr id="2" name="Title 1"/>
          <p:cNvSpPr>
            <a:spLocks noGrp="1"/>
          </p:cNvSpPr>
          <p:nvPr>
            <p:ph type="title"/>
          </p:nvPr>
        </p:nvSpPr>
        <p:spPr>
          <a:xfrm>
            <a:off x="2463080" y="548680"/>
            <a:ext cx="8229600" cy="432048"/>
          </a:xfrm>
        </p:spPr>
        <p:txBody>
          <a:bodyPr>
            <a:normAutofit fontScale="90000"/>
          </a:bodyPr>
          <a:lstStyle/>
          <a:p>
            <a:r>
              <a:rPr lang="en-US" dirty="0" smtClean="0"/>
              <a:t>INTRODUCTION</a:t>
            </a:r>
            <a:br>
              <a:rPr lang="en-US" dirty="0" smtClean="0"/>
            </a:br>
            <a:endParaRPr lang="en-US" dirty="0"/>
          </a:p>
        </p:txBody>
      </p:sp>
    </p:spTree>
    <p:extLst>
      <p:ext uri="{BB962C8B-B14F-4D97-AF65-F5344CB8AC3E}">
        <p14:creationId xmlns:p14="http://schemas.microsoft.com/office/powerpoint/2010/main" val="2183850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520" y="692696"/>
            <a:ext cx="9036496" cy="6696744"/>
          </a:xfrm>
        </p:spPr>
        <p:txBody>
          <a:bodyPr>
            <a:noAutofit/>
          </a:bodyPr>
          <a:lstStyle/>
          <a:p>
            <a:pPr marL="109728" indent="0" algn="ctr">
              <a:lnSpc>
                <a:spcPct val="150000"/>
              </a:lnSpc>
              <a:buNone/>
            </a:pPr>
            <a:endParaRPr lang="en-US" sz="1800" b="1" dirty="0" smtClean="0">
              <a:latin typeface="Book Antiqua" panose="02040602050305030304" pitchFamily="18" charset="0"/>
            </a:endParaRPr>
          </a:p>
          <a:p>
            <a:pPr>
              <a:lnSpc>
                <a:spcPct val="150000"/>
              </a:lnSpc>
            </a:pPr>
            <a:r>
              <a:rPr lang="en-US" sz="1800" b="1" dirty="0" smtClean="0">
                <a:latin typeface="Book Antiqua" panose="02040602050305030304" pitchFamily="18" charset="0"/>
              </a:rPr>
              <a:t>ANODE </a:t>
            </a:r>
            <a:r>
              <a:rPr lang="en-US" sz="1800" b="1" dirty="0">
                <a:latin typeface="Book Antiqua" panose="02040602050305030304" pitchFamily="18" charset="0"/>
              </a:rPr>
              <a:t>ASSEMBLY</a:t>
            </a:r>
            <a:r>
              <a:rPr lang="en-US" sz="1800" dirty="0">
                <a:latin typeface="Book Antiqua" panose="02040602050305030304" pitchFamily="18" charset="0"/>
              </a:rPr>
              <a:t>:  This is the positive electrode and is made of Tungsten metal plate </a:t>
            </a:r>
            <a:r>
              <a:rPr lang="en-US" sz="1800" dirty="0" smtClean="0">
                <a:latin typeface="Book Antiqua" panose="02040602050305030304" pitchFamily="18" charset="0"/>
              </a:rPr>
              <a:t>(except for mammography tubes that are made of Molybdenum) that </a:t>
            </a:r>
            <a:r>
              <a:rPr lang="en-US" sz="1800" dirty="0">
                <a:latin typeface="Book Antiqua" panose="02040602050305030304" pitchFamily="18" charset="0"/>
              </a:rPr>
              <a:t>received the bombarded electrons at its target. The anode are of different types, Fixed, </a:t>
            </a:r>
            <a:r>
              <a:rPr lang="en-US" sz="1800" dirty="0" smtClean="0">
                <a:latin typeface="Book Antiqua" panose="02040602050305030304" pitchFamily="18" charset="0"/>
              </a:rPr>
              <a:t>and rotatory  anode. </a:t>
            </a:r>
            <a:r>
              <a:rPr lang="en-US" sz="1800" dirty="0">
                <a:latin typeface="Book Antiqua" panose="02040602050305030304" pitchFamily="18" charset="0"/>
              </a:rPr>
              <a:t>There are Rotor and stator circuit that enable the rotation of the </a:t>
            </a:r>
            <a:r>
              <a:rPr lang="en-US" sz="1800" dirty="0" smtClean="0">
                <a:latin typeface="Book Antiqua" panose="02040602050305030304" pitchFamily="18" charset="0"/>
              </a:rPr>
              <a:t>anode and also help in heat dissipation. </a:t>
            </a:r>
            <a:r>
              <a:rPr lang="en-US" sz="1800" dirty="0">
                <a:latin typeface="Book Antiqua" panose="02040602050305030304" pitchFamily="18" charset="0"/>
              </a:rPr>
              <a:t>It also has a relay that protect the anode circuit against adverse current </a:t>
            </a:r>
            <a:r>
              <a:rPr lang="en-US" sz="1800" dirty="0" smtClean="0">
                <a:latin typeface="Book Antiqua" panose="02040602050305030304" pitchFamily="18" charset="0"/>
              </a:rPr>
              <a:t>situations and power overload. There </a:t>
            </a:r>
            <a:r>
              <a:rPr lang="en-US" sz="1800" dirty="0">
                <a:latin typeface="Book Antiqua" panose="02040602050305030304" pitchFamily="18" charset="0"/>
              </a:rPr>
              <a:t>is an interlock system that enable each circuit to function simultaneously during each exposure</a:t>
            </a:r>
            <a:r>
              <a:rPr lang="en-US" sz="1800" dirty="0" smtClean="0">
                <a:latin typeface="Book Antiqua" panose="02040602050305030304" pitchFamily="18" charset="0"/>
              </a:rPr>
              <a:t>.</a:t>
            </a:r>
          </a:p>
          <a:p>
            <a:pPr>
              <a:lnSpc>
                <a:spcPct val="150000"/>
              </a:lnSpc>
            </a:pPr>
            <a:r>
              <a:rPr lang="en-US" sz="1800" b="1" dirty="0">
                <a:latin typeface="Book Antiqua" panose="02040602050305030304" pitchFamily="18" charset="0"/>
              </a:rPr>
              <a:t>CATHODE ASSEMBLY</a:t>
            </a:r>
            <a:r>
              <a:rPr lang="en-US" sz="1800" dirty="0">
                <a:latin typeface="Book Antiqua" panose="02040602050305030304" pitchFamily="18" charset="0"/>
              </a:rPr>
              <a:t>: This is the negative electrode that is designed for the emission of electrons and are projected and focused to the target. They are made of Tungsten materials. It can be dual focus or single focus</a:t>
            </a:r>
            <a:r>
              <a:rPr lang="en-US" sz="1800" dirty="0" smtClean="0">
                <a:latin typeface="Book Antiqua" panose="02040602050305030304" pitchFamily="18" charset="0"/>
              </a:rPr>
              <a:t>.</a:t>
            </a:r>
            <a:endParaRPr lang="en-US" sz="1800" dirty="0">
              <a:latin typeface="Book Antiqua" panose="02040602050305030304" pitchFamily="18" charset="0"/>
            </a:endParaRPr>
          </a:p>
          <a:p>
            <a:pPr>
              <a:lnSpc>
                <a:spcPct val="150000"/>
              </a:lnSpc>
            </a:pPr>
            <a:r>
              <a:rPr lang="en-US" sz="1800" b="1" dirty="0">
                <a:latin typeface="Book Antiqua" panose="02040602050305030304" pitchFamily="18" charset="0"/>
              </a:rPr>
              <a:t>GLASS HOUSING</a:t>
            </a:r>
            <a:r>
              <a:rPr lang="en-US" sz="1800" dirty="0">
                <a:latin typeface="Book Antiqua" panose="02040602050305030304" pitchFamily="18" charset="0"/>
              </a:rPr>
              <a:t>: This is a vacuum glass void of air and is made of Pyrex glass </a:t>
            </a:r>
            <a:r>
              <a:rPr lang="en-US" sz="1800" dirty="0" smtClean="0">
                <a:latin typeface="Book Antiqua" panose="02040602050305030304" pitchFamily="18" charset="0"/>
              </a:rPr>
              <a:t>.</a:t>
            </a:r>
          </a:p>
          <a:p>
            <a:pPr>
              <a:lnSpc>
                <a:spcPct val="150000"/>
              </a:lnSpc>
            </a:pPr>
            <a:r>
              <a:rPr lang="en-US" sz="1800" b="1" dirty="0" smtClean="0">
                <a:latin typeface="Book Antiqua" panose="02040602050305030304" pitchFamily="18" charset="0"/>
              </a:rPr>
              <a:t>FILTERS: </a:t>
            </a:r>
            <a:r>
              <a:rPr lang="en-US" sz="1800" dirty="0"/>
              <a:t>X-ray filters are materials placed in the path of the X-ray beam to absorb low-energy X-ray photons that would increase the patient's radiation dose without contributing much to image formation.</a:t>
            </a:r>
            <a:endParaRPr lang="en-US" sz="1800" b="1" dirty="0">
              <a:latin typeface="Book Antiqua" panose="02040602050305030304" pitchFamily="18" charset="0"/>
            </a:endParaRPr>
          </a:p>
          <a:p>
            <a:pPr>
              <a:lnSpc>
                <a:spcPct val="150000"/>
              </a:lnSpc>
            </a:pPr>
            <a:endParaRPr lang="en-US" sz="2000" dirty="0">
              <a:latin typeface="Book Antiqua" panose="02040602050305030304" pitchFamily="18" charset="0"/>
            </a:endParaRPr>
          </a:p>
          <a:p>
            <a:pPr>
              <a:lnSpc>
                <a:spcPct val="150000"/>
              </a:lnSpc>
            </a:pPr>
            <a:endParaRPr lang="en-US" sz="2000" dirty="0">
              <a:latin typeface="Book Antiqua" panose="02040602050305030304" pitchFamily="18" charset="0"/>
            </a:endParaRPr>
          </a:p>
        </p:txBody>
      </p:sp>
      <p:sp>
        <p:nvSpPr>
          <p:cNvPr id="2" name="Title 1"/>
          <p:cNvSpPr>
            <a:spLocks noGrp="1"/>
          </p:cNvSpPr>
          <p:nvPr>
            <p:ph type="title"/>
          </p:nvPr>
        </p:nvSpPr>
        <p:spPr>
          <a:xfrm>
            <a:off x="1691680" y="692696"/>
            <a:ext cx="8229600" cy="432048"/>
          </a:xfrm>
        </p:spPr>
        <p:txBody>
          <a:bodyPr>
            <a:normAutofit fontScale="90000"/>
          </a:bodyPr>
          <a:lstStyle/>
          <a:p>
            <a:r>
              <a:rPr lang="en-US" dirty="0" smtClean="0"/>
              <a:t>INTRODUCTION CONTD.</a:t>
            </a:r>
            <a:br>
              <a:rPr lang="en-US" dirty="0" smtClean="0"/>
            </a:br>
            <a:endParaRPr lang="en-US" dirty="0"/>
          </a:p>
        </p:txBody>
      </p:sp>
    </p:spTree>
    <p:extLst>
      <p:ext uri="{BB962C8B-B14F-4D97-AF65-F5344CB8AC3E}">
        <p14:creationId xmlns:p14="http://schemas.microsoft.com/office/powerpoint/2010/main" val="1374726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29600" cy="5472608"/>
          </a:xfrm>
        </p:spPr>
        <p:txBody>
          <a:bodyPr>
            <a:noAutofit/>
          </a:bodyPr>
          <a:lstStyle/>
          <a:p>
            <a:pPr algn="just">
              <a:lnSpc>
                <a:spcPct val="200000"/>
              </a:lnSpc>
            </a:pPr>
            <a:r>
              <a:rPr lang="en-US" sz="1700" b="1" dirty="0" smtClean="0">
                <a:latin typeface="Book Antiqua" panose="02040602050305030304" pitchFamily="18" charset="0"/>
              </a:rPr>
              <a:t>VOLTAGE SUPPLY</a:t>
            </a:r>
            <a:r>
              <a:rPr lang="en-US" sz="1700" dirty="0" smtClean="0">
                <a:latin typeface="Book Antiqua" panose="02040602050305030304" pitchFamily="18" charset="0"/>
              </a:rPr>
              <a:t>: There are two sources of voltage supply to the x ray tube. The high voltage supply drive the electrons across the x ray tube to be bombarded at the target while the low voltage supply gives the require low tube current to heat up the filament to produce the emitted electrons.</a:t>
            </a:r>
          </a:p>
          <a:p>
            <a:pPr algn="just">
              <a:lnSpc>
                <a:spcPct val="200000"/>
              </a:lnSpc>
            </a:pPr>
            <a:r>
              <a:rPr lang="en-US" sz="1700" b="1" dirty="0" smtClean="0">
                <a:latin typeface="Book Antiqua" panose="02040602050305030304" pitchFamily="18" charset="0"/>
              </a:rPr>
              <a:t>COLLIMATOR HOUSING</a:t>
            </a:r>
            <a:r>
              <a:rPr lang="en-US" sz="1700" dirty="0" smtClean="0">
                <a:latin typeface="Book Antiqua" panose="02040602050305030304" pitchFamily="18" charset="0"/>
              </a:rPr>
              <a:t>: This is a device that restrict and confined the emitted x ray beam that exit from the target surface to the area of interest on the patient. It has two pairs of lead shutters that can be adjusted adjacent to each other. Its main function is to confine the emitted x ray beam towards the area of interest as well to absorbed scattered radiation from the target not to reach the patient.</a:t>
            </a:r>
            <a:endParaRPr lang="en-US" sz="1700" dirty="0">
              <a:latin typeface="Book Antiqua" panose="02040602050305030304" pitchFamily="18" charset="0"/>
            </a:endParaRPr>
          </a:p>
        </p:txBody>
      </p:sp>
      <p:sp>
        <p:nvSpPr>
          <p:cNvPr id="2" name="Title 1"/>
          <p:cNvSpPr>
            <a:spLocks noGrp="1"/>
          </p:cNvSpPr>
          <p:nvPr>
            <p:ph type="title"/>
          </p:nvPr>
        </p:nvSpPr>
        <p:spPr>
          <a:xfrm>
            <a:off x="457200" y="274638"/>
            <a:ext cx="8229600" cy="922114"/>
          </a:xfrm>
        </p:spPr>
        <p:txBody>
          <a:bodyPr/>
          <a:lstStyle/>
          <a:p>
            <a:r>
              <a:rPr lang="en-US" dirty="0" smtClean="0">
                <a:latin typeface="Book Antiqua" panose="02040602050305030304" pitchFamily="18" charset="0"/>
              </a:rPr>
              <a:t>INTRODUCTION CONTD.</a:t>
            </a:r>
            <a:endParaRPr lang="en-US" dirty="0">
              <a:latin typeface="Book Antiqua" panose="02040602050305030304" pitchFamily="18" charset="0"/>
            </a:endParaRPr>
          </a:p>
        </p:txBody>
      </p:sp>
    </p:spTree>
    <p:extLst>
      <p:ext uri="{BB962C8B-B14F-4D97-AF65-F5344CB8AC3E}">
        <p14:creationId xmlns:p14="http://schemas.microsoft.com/office/powerpoint/2010/main" val="2353476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548680"/>
            <a:ext cx="9073008" cy="6309320"/>
          </a:xfrm>
        </p:spPr>
        <p:txBody>
          <a:bodyPr>
            <a:noAutofit/>
          </a:bodyPr>
          <a:lstStyle/>
          <a:p>
            <a:pPr>
              <a:lnSpc>
                <a:spcPct val="150000"/>
              </a:lnSpc>
            </a:pPr>
            <a:r>
              <a:rPr lang="en-US" sz="1800" b="1" dirty="0" smtClean="0">
                <a:latin typeface="Book Antiqua" panose="02040602050305030304" pitchFamily="18" charset="0"/>
              </a:rPr>
              <a:t>X RAY TABLE  AND WALL STAND </a:t>
            </a:r>
            <a:r>
              <a:rPr lang="en-US" sz="1800" dirty="0" smtClean="0">
                <a:latin typeface="Book Antiqua" panose="02040602050305030304" pitchFamily="18" charset="0"/>
              </a:rPr>
              <a:t>: This aids positioning of patients and imaging detector placement.</a:t>
            </a:r>
          </a:p>
          <a:p>
            <a:pPr>
              <a:lnSpc>
                <a:spcPct val="150000"/>
              </a:lnSpc>
            </a:pPr>
            <a:r>
              <a:rPr lang="en-US" sz="1800" b="1" dirty="0" smtClean="0">
                <a:latin typeface="Book Antiqua" panose="02040602050305030304" pitchFamily="18" charset="0"/>
              </a:rPr>
              <a:t>CONTROL CONSOLE </a:t>
            </a:r>
            <a:r>
              <a:rPr lang="en-US" sz="1800" dirty="0" smtClean="0">
                <a:latin typeface="Book Antiqua" panose="02040602050305030304" pitchFamily="18" charset="0"/>
              </a:rPr>
              <a:t>: This comprises of the knobs and keys that allows one to select the exposure factors and other parameters that will necessitate good image quality. It has the exposure button, voltage compensator, AEC, anatomical body selection, filters etc.</a:t>
            </a:r>
          </a:p>
          <a:p>
            <a:pPr>
              <a:lnSpc>
                <a:spcPct val="150000"/>
              </a:lnSpc>
            </a:pPr>
            <a:r>
              <a:rPr lang="en-US" sz="1800" b="1" dirty="0" smtClean="0">
                <a:latin typeface="Book Antiqua" panose="02040602050305030304" pitchFamily="18" charset="0"/>
              </a:rPr>
              <a:t>X RAY GENERATORS </a:t>
            </a:r>
            <a:r>
              <a:rPr lang="en-US" sz="1800" dirty="0" smtClean="0">
                <a:latin typeface="Book Antiqua" panose="02040602050305030304" pitchFamily="18" charset="0"/>
              </a:rPr>
              <a:t>: This is a system design to provide the needed high voltage that drives the electron across the x ray tube from the filament to the target. It also houses the Rectifiers, contactors, capacitors, autotimers and the filament  low voltage transformers. The generator convert the sinusoidal  alternating electrical voltage into a constant potential that enable steady supply of potential difference across the tube. This process is call rectification of alternating current.  There is also a  stepdown transformer that supply the cathode filament with a low voltage and high current (5-15V and 3-7 A) needed to cause thermionic emission (boiling off of electrons )</a:t>
            </a:r>
          </a:p>
          <a:p>
            <a:pPr>
              <a:lnSpc>
                <a:spcPct val="150000"/>
              </a:lnSpc>
            </a:pPr>
            <a:endParaRPr lang="en-US" sz="1800" dirty="0">
              <a:latin typeface="Book Antiqua" panose="02040602050305030304" pitchFamily="18" charset="0"/>
            </a:endParaRPr>
          </a:p>
        </p:txBody>
      </p:sp>
      <p:sp>
        <p:nvSpPr>
          <p:cNvPr id="2" name="Title 1"/>
          <p:cNvSpPr>
            <a:spLocks noGrp="1"/>
          </p:cNvSpPr>
          <p:nvPr>
            <p:ph type="title"/>
          </p:nvPr>
        </p:nvSpPr>
        <p:spPr>
          <a:xfrm>
            <a:off x="1393304" y="-90264"/>
            <a:ext cx="7139136" cy="782960"/>
          </a:xfrm>
        </p:spPr>
        <p:txBody>
          <a:bodyPr>
            <a:normAutofit/>
          </a:bodyPr>
          <a:lstStyle/>
          <a:p>
            <a:r>
              <a:rPr lang="en-US" sz="2800" dirty="0" smtClean="0"/>
              <a:t>INTRODUCTION CONTD</a:t>
            </a:r>
            <a:r>
              <a:rPr lang="en-US" sz="3600" dirty="0" smtClean="0"/>
              <a:t>.</a:t>
            </a:r>
            <a:endParaRPr lang="en-US" sz="3600" dirty="0"/>
          </a:p>
        </p:txBody>
      </p:sp>
    </p:spTree>
    <p:extLst>
      <p:ext uri="{BB962C8B-B14F-4D97-AF65-F5344CB8AC3E}">
        <p14:creationId xmlns:p14="http://schemas.microsoft.com/office/powerpoint/2010/main" val="13651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1481328"/>
            <a:ext cx="8856984" cy="4611968"/>
          </a:xfrm>
        </p:spPr>
        <p:txBody>
          <a:bodyPr>
            <a:normAutofit lnSpcReduction="10000"/>
          </a:bodyPr>
          <a:lstStyle/>
          <a:p>
            <a:pPr algn="just"/>
            <a:r>
              <a:rPr lang="en-US" dirty="0" smtClean="0">
                <a:latin typeface="Book Antiqua" panose="02040602050305030304" pitchFamily="18" charset="0"/>
              </a:rPr>
              <a:t>An </a:t>
            </a:r>
            <a:r>
              <a:rPr lang="en-US" dirty="0">
                <a:latin typeface="Book Antiqua" panose="02040602050305030304" pitchFamily="18" charset="0"/>
              </a:rPr>
              <a:t>X-ray generator is the part of an X-ray machine that supplies and controls the electrical power required to produce X-rays in the X-ray tube</a:t>
            </a:r>
            <a:r>
              <a:rPr lang="en-US" dirty="0" smtClean="0">
                <a:latin typeface="Book Antiqua" panose="02040602050305030304" pitchFamily="18" charset="0"/>
              </a:rPr>
              <a:t>.</a:t>
            </a:r>
          </a:p>
          <a:p>
            <a:pPr marL="109728" indent="0" algn="just">
              <a:buNone/>
            </a:pPr>
            <a:endParaRPr lang="en-US" dirty="0">
              <a:latin typeface="Book Antiqua" panose="02040602050305030304" pitchFamily="18" charset="0"/>
            </a:endParaRPr>
          </a:p>
          <a:p>
            <a:pPr algn="just"/>
            <a:r>
              <a:rPr lang="en-US" dirty="0">
                <a:latin typeface="Book Antiqua" panose="02040602050305030304" pitchFamily="18" charset="0"/>
              </a:rPr>
              <a:t>It converts the incoming electrical supply into the appropriate voltage and current needed for X-ray production. It also controls the exposure factors, including </a:t>
            </a:r>
            <a:r>
              <a:rPr lang="en-US" dirty="0" err="1">
                <a:latin typeface="Book Antiqua" panose="02040602050305030304" pitchFamily="18" charset="0"/>
              </a:rPr>
              <a:t>kVp</a:t>
            </a:r>
            <a:r>
              <a:rPr lang="en-US" dirty="0">
                <a:latin typeface="Book Antiqua" panose="02040602050305030304" pitchFamily="18" charset="0"/>
              </a:rPr>
              <a:t>, mA, and exposure time.</a:t>
            </a:r>
          </a:p>
          <a:p>
            <a:pPr algn="just"/>
            <a:r>
              <a:rPr lang="en-US" dirty="0">
                <a:latin typeface="Book Antiqua" panose="02040602050305030304" pitchFamily="18" charset="0"/>
              </a:rPr>
              <a:t>In simple terms, the X-ray generator provides the electrical energy that makes X-ray production possible.</a:t>
            </a:r>
          </a:p>
          <a:p>
            <a:pPr algn="just"/>
            <a:endParaRPr lang="en-US" dirty="0">
              <a:latin typeface="Book Antiqua" panose="02040602050305030304" pitchFamily="18" charset="0"/>
            </a:endParaRPr>
          </a:p>
        </p:txBody>
      </p:sp>
      <p:sp>
        <p:nvSpPr>
          <p:cNvPr id="2" name="Title 1"/>
          <p:cNvSpPr>
            <a:spLocks noGrp="1"/>
          </p:cNvSpPr>
          <p:nvPr>
            <p:ph type="title"/>
          </p:nvPr>
        </p:nvSpPr>
        <p:spPr/>
        <p:txBody>
          <a:bodyPr>
            <a:noAutofit/>
          </a:bodyPr>
          <a:lstStyle/>
          <a:p>
            <a:pPr algn="ctr"/>
            <a:r>
              <a:rPr lang="en-US" sz="4400" b="1" dirty="0" smtClean="0">
                <a:latin typeface="Book Antiqua" panose="02040602050305030304" pitchFamily="18" charset="0"/>
              </a:rPr>
              <a:t>X- RAY GENERATOR</a:t>
            </a:r>
            <a:endParaRPr lang="en-US" sz="4400" dirty="0">
              <a:latin typeface="Book Antiqua" panose="02040602050305030304" pitchFamily="18" charset="0"/>
            </a:endParaRPr>
          </a:p>
        </p:txBody>
      </p:sp>
    </p:spTree>
    <p:extLst>
      <p:ext uri="{BB962C8B-B14F-4D97-AF65-F5344CB8AC3E}">
        <p14:creationId xmlns:p14="http://schemas.microsoft.com/office/powerpoint/2010/main" val="324812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X ray generators | PPTX"/>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395536" y="1268760"/>
            <a:ext cx="8748464" cy="5589240"/>
          </a:xfrm>
          <a:prstGeom prst="rect">
            <a:avLst/>
          </a:prstGeom>
          <a:noFill/>
          <a:ln>
            <a:noFill/>
          </a:ln>
        </p:spPr>
      </p:pic>
      <p:sp>
        <p:nvSpPr>
          <p:cNvPr id="2" name="Title 1"/>
          <p:cNvSpPr>
            <a:spLocks noGrp="1"/>
          </p:cNvSpPr>
          <p:nvPr>
            <p:ph type="title"/>
          </p:nvPr>
        </p:nvSpPr>
        <p:spPr/>
        <p:txBody>
          <a:bodyPr>
            <a:normAutofit fontScale="90000"/>
          </a:bodyPr>
          <a:lstStyle/>
          <a:p>
            <a:pPr algn="ctr"/>
            <a:r>
              <a:rPr lang="en-US" b="1" dirty="0" smtClean="0"/>
              <a:t> </a:t>
            </a:r>
            <a:br>
              <a:rPr lang="en-US" b="1" dirty="0" smtClean="0"/>
            </a:br>
            <a:r>
              <a:rPr lang="en-US" sz="3600" b="1" dirty="0" smtClean="0">
                <a:latin typeface="Book Antiqua" panose="02040602050305030304" pitchFamily="18" charset="0"/>
              </a:rPr>
              <a:t>MAIN COMPONENTS OF AN X-RAY GENERATOR</a:t>
            </a:r>
            <a:r>
              <a:rPr lang="en-US" dirty="0" smtClean="0"/>
              <a:t/>
            </a:r>
            <a:br>
              <a:rPr lang="en-US" dirty="0" smtClean="0"/>
            </a:br>
            <a:endParaRPr lang="en-US" dirty="0"/>
          </a:p>
        </p:txBody>
      </p:sp>
    </p:spTree>
    <p:extLst>
      <p:ext uri="{BB962C8B-B14F-4D97-AF65-F5344CB8AC3E}">
        <p14:creationId xmlns:p14="http://schemas.microsoft.com/office/powerpoint/2010/main" val="7059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2.2 – DE 115: Dental Radiography"/>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611560" y="980728"/>
            <a:ext cx="8352928" cy="5472607"/>
          </a:xfrm>
          <a:prstGeom prst="rect">
            <a:avLst/>
          </a:prstGeom>
          <a:noFill/>
          <a:ln>
            <a:noFill/>
          </a:ln>
        </p:spPr>
      </p:pic>
      <p:sp>
        <p:nvSpPr>
          <p:cNvPr id="3" name="Title 2"/>
          <p:cNvSpPr>
            <a:spLocks noGrp="1"/>
          </p:cNvSpPr>
          <p:nvPr>
            <p:ph type="title"/>
          </p:nvPr>
        </p:nvSpPr>
        <p:spPr/>
        <p:txBody>
          <a:bodyPr>
            <a:normAutofit fontScale="90000"/>
          </a:bodyPr>
          <a:lstStyle/>
          <a:p>
            <a:pPr algn="ctr"/>
            <a:r>
              <a:rPr lang="en-US" dirty="0" smtClean="0"/>
              <a:t/>
            </a:r>
            <a:br>
              <a:rPr lang="en-US" dirty="0" smtClean="0"/>
            </a:br>
            <a:r>
              <a:rPr lang="en-US" dirty="0" smtClean="0"/>
              <a:t> </a:t>
            </a:r>
            <a:r>
              <a:rPr lang="en-US" sz="3100" dirty="0" smtClean="0"/>
              <a:t>HIGH-VOLTAGE TRANSFORMER</a:t>
            </a:r>
            <a:r>
              <a:rPr lang="en-US" dirty="0"/>
              <a:t/>
            </a:r>
            <a:br>
              <a:rPr lang="en-US" dirty="0"/>
            </a:br>
            <a:r>
              <a:rPr lang="en-US" dirty="0"/>
              <a:t> </a:t>
            </a:r>
            <a:br>
              <a:rPr lang="en-US" dirty="0"/>
            </a:br>
            <a:endParaRPr lang="en-US" dirty="0"/>
          </a:p>
        </p:txBody>
      </p:sp>
    </p:spTree>
    <p:extLst>
      <p:ext uri="{BB962C8B-B14F-4D97-AF65-F5344CB8AC3E}">
        <p14:creationId xmlns:p14="http://schemas.microsoft.com/office/powerpoint/2010/main" val="3588469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264696"/>
          </a:xfrm>
        </p:spPr>
        <p:txBody>
          <a:bodyPr>
            <a:noAutofit/>
          </a:bodyPr>
          <a:lstStyle/>
          <a:p>
            <a:r>
              <a:rPr lang="en-US" sz="2000" b="1" dirty="0" smtClean="0">
                <a:latin typeface="Book Antiqua" panose="02040602050305030304" pitchFamily="18" charset="0"/>
              </a:rPr>
              <a:t>High tension transformer </a:t>
            </a:r>
            <a:r>
              <a:rPr lang="en-US" sz="2000" dirty="0" smtClean="0">
                <a:latin typeface="Book Antiqua" panose="02040602050305030304" pitchFamily="18" charset="0"/>
              </a:rPr>
              <a:t>: </a:t>
            </a:r>
            <a:r>
              <a:rPr lang="en-US" sz="2000" dirty="0"/>
              <a:t>I</a:t>
            </a:r>
            <a:r>
              <a:rPr lang="en-US" sz="2000" dirty="0" smtClean="0"/>
              <a:t>ncreases </a:t>
            </a:r>
            <a:r>
              <a:rPr lang="en-US" sz="2000" dirty="0"/>
              <a:t>the incoming electrical voltage to the high voltage required across the X-ray tube to accelerate electrons from the cathode to the anode</a:t>
            </a:r>
            <a:r>
              <a:rPr lang="en-US" sz="2000" dirty="0" smtClean="0"/>
              <a:t>.</a:t>
            </a:r>
            <a:endParaRPr lang="en-US" sz="2000" dirty="0" smtClean="0">
              <a:latin typeface="Book Antiqua" panose="02040602050305030304" pitchFamily="18" charset="0"/>
            </a:endParaRPr>
          </a:p>
          <a:p>
            <a:r>
              <a:rPr lang="en-US" sz="2000" dirty="0" smtClean="0">
                <a:latin typeface="Book Antiqua" panose="02040602050305030304" pitchFamily="18" charset="0"/>
              </a:rPr>
              <a:t> </a:t>
            </a:r>
            <a:r>
              <a:rPr lang="en-US" sz="2000" b="1" dirty="0">
                <a:latin typeface="Book Antiqua" panose="02040602050305030304" pitchFamily="18" charset="0"/>
              </a:rPr>
              <a:t>Filament transformer</a:t>
            </a:r>
          </a:p>
          <a:p>
            <a:pPr marL="109728" indent="0">
              <a:buNone/>
            </a:pPr>
            <a:r>
              <a:rPr lang="en-US" sz="2000" dirty="0">
                <a:latin typeface="Book Antiqua" panose="02040602050305030304" pitchFamily="18" charset="0"/>
              </a:rPr>
              <a:t>Supplies low voltage but high current to heat the cathode filament, causing thermionic emission of electrons.</a:t>
            </a:r>
          </a:p>
          <a:p>
            <a:r>
              <a:rPr lang="en-US" sz="2000" dirty="0" smtClean="0">
                <a:latin typeface="Book Antiqua" panose="02040602050305030304" pitchFamily="18" charset="0"/>
              </a:rPr>
              <a:t> </a:t>
            </a:r>
            <a:r>
              <a:rPr lang="en-US" sz="2000" b="1" dirty="0">
                <a:latin typeface="Book Antiqua" panose="02040602050305030304" pitchFamily="18" charset="0"/>
              </a:rPr>
              <a:t>Rectifier</a:t>
            </a:r>
          </a:p>
          <a:p>
            <a:pPr marL="109728" indent="0">
              <a:buNone/>
            </a:pPr>
            <a:r>
              <a:rPr lang="en-US" sz="2000" dirty="0">
                <a:latin typeface="Book Antiqua" panose="02040602050305030304" pitchFamily="18" charset="0"/>
              </a:rPr>
              <a:t>Converts alternating current (AC) into unidirectional current for the X-ray tube</a:t>
            </a:r>
            <a:r>
              <a:rPr lang="en-US" sz="2000" dirty="0" smtClean="0">
                <a:latin typeface="Book Antiqua" panose="02040602050305030304" pitchFamily="18" charset="0"/>
              </a:rPr>
              <a:t>.</a:t>
            </a:r>
          </a:p>
          <a:p>
            <a:pPr>
              <a:buFont typeface="Wingdings" panose="05000000000000000000" pitchFamily="2" charset="2"/>
              <a:buChar char="Ø"/>
            </a:pPr>
            <a:r>
              <a:rPr lang="en-US" sz="2000" b="1" dirty="0" smtClean="0">
                <a:latin typeface="Book Antiqua" panose="02040602050305030304" pitchFamily="18" charset="0"/>
              </a:rPr>
              <a:t>Capacitors : </a:t>
            </a:r>
            <a:r>
              <a:rPr lang="en-US" sz="2000" dirty="0"/>
              <a:t>Store electrical energy and help smooth voltage fluctuations in certain generator designs.</a:t>
            </a:r>
            <a:endParaRPr lang="en-US" sz="2000" b="1" dirty="0">
              <a:latin typeface="Book Antiqua" panose="02040602050305030304" pitchFamily="18" charset="0"/>
            </a:endParaRPr>
          </a:p>
          <a:p>
            <a:r>
              <a:rPr lang="en-US" sz="2000" dirty="0" smtClean="0">
                <a:latin typeface="Book Antiqua" panose="02040602050305030304" pitchFamily="18" charset="0"/>
              </a:rPr>
              <a:t> </a:t>
            </a:r>
            <a:r>
              <a:rPr lang="en-US" sz="2000" b="1" dirty="0">
                <a:latin typeface="Book Antiqua" panose="02040602050305030304" pitchFamily="18" charset="0"/>
              </a:rPr>
              <a:t>Control console</a:t>
            </a:r>
          </a:p>
          <a:p>
            <a:pPr marL="109728" indent="0">
              <a:buNone/>
            </a:pPr>
            <a:r>
              <a:rPr lang="en-US" sz="2000" dirty="0">
                <a:latin typeface="Book Antiqua" panose="02040602050305030304" pitchFamily="18" charset="0"/>
              </a:rPr>
              <a:t>Allows the radiographer to select exposure factors such as </a:t>
            </a:r>
            <a:r>
              <a:rPr lang="en-US" sz="2000" dirty="0" err="1">
                <a:latin typeface="Book Antiqua" panose="02040602050305030304" pitchFamily="18" charset="0"/>
              </a:rPr>
              <a:t>kVp</a:t>
            </a:r>
            <a:r>
              <a:rPr lang="en-US" sz="2000" dirty="0">
                <a:latin typeface="Book Antiqua" panose="02040602050305030304" pitchFamily="18" charset="0"/>
              </a:rPr>
              <a:t>, mA, and exposure time.</a:t>
            </a:r>
          </a:p>
          <a:p>
            <a:r>
              <a:rPr lang="en-US" sz="2000" b="1" dirty="0" smtClean="0">
                <a:latin typeface="Book Antiqua" panose="02040602050305030304" pitchFamily="18" charset="0"/>
              </a:rPr>
              <a:t> </a:t>
            </a:r>
            <a:r>
              <a:rPr lang="en-US" sz="2000" b="1" dirty="0">
                <a:latin typeface="Book Antiqua" panose="02040602050305030304" pitchFamily="18" charset="0"/>
              </a:rPr>
              <a:t>Exposure timer</a:t>
            </a:r>
          </a:p>
          <a:p>
            <a:pPr marL="109728" indent="0">
              <a:buNone/>
            </a:pPr>
            <a:r>
              <a:rPr lang="en-US" sz="2000" dirty="0">
                <a:latin typeface="Book Antiqua" panose="02040602050305030304" pitchFamily="18" charset="0"/>
              </a:rPr>
              <a:t>Controls how long the X-ray tube produces radiation during an exposure</a:t>
            </a:r>
            <a:r>
              <a:rPr lang="en-US" sz="2000" dirty="0" smtClean="0">
                <a:latin typeface="Book Antiqua" panose="02040602050305030304" pitchFamily="18" charset="0"/>
              </a:rPr>
              <a:t>.</a:t>
            </a:r>
            <a:endParaRPr lang="en-US" sz="2000" dirty="0">
              <a:latin typeface="Book Antiqua" panose="02040602050305030304" pitchFamily="18" charset="0"/>
            </a:endParaRPr>
          </a:p>
          <a:p>
            <a:pPr marL="109728" indent="0">
              <a:buNone/>
            </a:pPr>
            <a:r>
              <a:rPr lang="en-US" sz="2000" dirty="0" smtClean="0">
                <a:latin typeface="Book Antiqua" panose="02040602050305030304" pitchFamily="18" charset="0"/>
              </a:rPr>
              <a:t>Other </a:t>
            </a:r>
            <a:r>
              <a:rPr lang="en-US" sz="2000" dirty="0">
                <a:latin typeface="Book Antiqua" panose="02040602050305030304" pitchFamily="18" charset="0"/>
              </a:rPr>
              <a:t>important parts include the autotransformer, voltage and current control circuits, and the rotor or stator control circuit for rotating-anode tubes.</a:t>
            </a:r>
          </a:p>
          <a:p>
            <a:endParaRPr lang="en-US" sz="2000" dirty="0"/>
          </a:p>
        </p:txBody>
      </p:sp>
    </p:spTree>
    <p:extLst>
      <p:ext uri="{BB962C8B-B14F-4D97-AF65-F5344CB8AC3E}">
        <p14:creationId xmlns:p14="http://schemas.microsoft.com/office/powerpoint/2010/main" val="1836271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91269"/>
            <a:ext cx="8229600" cy="4525963"/>
          </a:xfrm>
        </p:spPr>
        <p:txBody>
          <a:bodyPr>
            <a:normAutofit fontScale="25000" lnSpcReduction="20000"/>
          </a:bodyPr>
          <a:lstStyle/>
          <a:p>
            <a:pPr marL="109728" indent="0">
              <a:buNone/>
            </a:pPr>
            <a:r>
              <a:rPr lang="en-US" sz="6300" dirty="0" smtClean="0">
                <a:latin typeface="Book Antiqua" panose="02040602050305030304" pitchFamily="18" charset="0"/>
              </a:rPr>
              <a:t>  </a:t>
            </a:r>
            <a:r>
              <a:rPr lang="en-US" sz="9600" b="1" dirty="0" smtClean="0">
                <a:latin typeface="Book Antiqua" panose="02040602050305030304" pitchFamily="18" charset="0"/>
              </a:rPr>
              <a:t>Electrical </a:t>
            </a:r>
            <a:r>
              <a:rPr lang="en-US" sz="9600" b="1" dirty="0">
                <a:latin typeface="Book Antiqua" panose="02040602050305030304" pitchFamily="18" charset="0"/>
              </a:rPr>
              <a:t>power supply</a:t>
            </a:r>
          </a:p>
          <a:p>
            <a:r>
              <a:rPr lang="en-US" sz="9600" dirty="0">
                <a:latin typeface="Book Antiqua" panose="02040602050305030304" pitchFamily="18" charset="0"/>
              </a:rPr>
              <a:t>Provides the incoming AC electricity</a:t>
            </a:r>
            <a:r>
              <a:rPr lang="en-US" sz="9600" dirty="0" smtClean="0">
                <a:latin typeface="Book Antiqua" panose="02040602050305030304" pitchFamily="18" charset="0"/>
              </a:rPr>
              <a:t>.</a:t>
            </a:r>
          </a:p>
          <a:p>
            <a:endParaRPr lang="en-US" sz="9600" dirty="0">
              <a:latin typeface="Book Antiqua" panose="02040602050305030304" pitchFamily="18" charset="0"/>
            </a:endParaRPr>
          </a:p>
          <a:p>
            <a:pPr marL="109728" indent="0">
              <a:buNone/>
            </a:pPr>
            <a:r>
              <a:rPr lang="en-US" sz="9600" b="1" dirty="0" smtClean="0">
                <a:latin typeface="Book Antiqua" panose="02040602050305030304" pitchFamily="18" charset="0"/>
              </a:rPr>
              <a:t>Control </a:t>
            </a:r>
            <a:r>
              <a:rPr lang="en-US" sz="9600" b="1" dirty="0">
                <a:latin typeface="Book Antiqua" panose="02040602050305030304" pitchFamily="18" charset="0"/>
              </a:rPr>
              <a:t>circuits</a:t>
            </a:r>
          </a:p>
          <a:p>
            <a:r>
              <a:rPr lang="en-US" sz="9600" dirty="0">
                <a:latin typeface="Book Antiqua" panose="02040602050305030304" pitchFamily="18" charset="0"/>
              </a:rPr>
              <a:t>Regulate the selected </a:t>
            </a:r>
            <a:r>
              <a:rPr lang="en-US" sz="9600" dirty="0" err="1">
                <a:latin typeface="Book Antiqua" panose="02040602050305030304" pitchFamily="18" charset="0"/>
              </a:rPr>
              <a:t>kVp</a:t>
            </a:r>
            <a:r>
              <a:rPr lang="en-US" sz="9600" dirty="0">
                <a:latin typeface="Book Antiqua" panose="02040602050305030304" pitchFamily="18" charset="0"/>
              </a:rPr>
              <a:t>, mA and exposure time</a:t>
            </a:r>
            <a:r>
              <a:rPr lang="en-US" sz="9600" dirty="0" smtClean="0">
                <a:latin typeface="Book Antiqua" panose="02040602050305030304" pitchFamily="18" charset="0"/>
              </a:rPr>
              <a:t>.</a:t>
            </a:r>
          </a:p>
          <a:p>
            <a:endParaRPr lang="en-US" sz="9600" dirty="0">
              <a:latin typeface="Book Antiqua" panose="02040602050305030304" pitchFamily="18" charset="0"/>
            </a:endParaRPr>
          </a:p>
          <a:p>
            <a:pPr marL="109728" indent="0">
              <a:buNone/>
            </a:pPr>
            <a:r>
              <a:rPr lang="en-US" sz="9600" b="1" dirty="0" smtClean="0">
                <a:latin typeface="Book Antiqua" panose="02040602050305030304" pitchFamily="18" charset="0"/>
              </a:rPr>
              <a:t>Transformers </a:t>
            </a:r>
            <a:r>
              <a:rPr lang="en-US" sz="9600" b="1" dirty="0">
                <a:latin typeface="Book Antiqua" panose="02040602050305030304" pitchFamily="18" charset="0"/>
              </a:rPr>
              <a:t>and rectifiers</a:t>
            </a:r>
          </a:p>
          <a:p>
            <a:r>
              <a:rPr lang="en-US" sz="9600" dirty="0">
                <a:latin typeface="Book Antiqua" panose="02040602050305030304" pitchFamily="18" charset="0"/>
              </a:rPr>
              <a:t>Adjust voltage and current and provide the required tube supply</a:t>
            </a:r>
            <a:r>
              <a:rPr lang="en-US" sz="9600" dirty="0" smtClean="0">
                <a:latin typeface="Book Antiqua" panose="02040602050305030304" pitchFamily="18" charset="0"/>
              </a:rPr>
              <a:t>.</a:t>
            </a:r>
          </a:p>
          <a:p>
            <a:endParaRPr lang="en-US" sz="9600" dirty="0">
              <a:latin typeface="Book Antiqua" panose="02040602050305030304" pitchFamily="18" charset="0"/>
            </a:endParaRPr>
          </a:p>
          <a:p>
            <a:pPr marL="109728" indent="0">
              <a:buNone/>
            </a:pPr>
            <a:r>
              <a:rPr lang="en-US" sz="9600" b="1" dirty="0" smtClean="0">
                <a:latin typeface="Book Antiqua" panose="02040602050305030304" pitchFamily="18" charset="0"/>
              </a:rPr>
              <a:t>X-ray </a:t>
            </a:r>
            <a:r>
              <a:rPr lang="en-US" sz="9600" b="1" dirty="0">
                <a:latin typeface="Book Antiqua" panose="02040602050305030304" pitchFamily="18" charset="0"/>
              </a:rPr>
              <a:t>tube</a:t>
            </a:r>
          </a:p>
          <a:p>
            <a:r>
              <a:rPr lang="en-US" sz="9600" dirty="0">
                <a:latin typeface="Book Antiqua" panose="02040602050305030304" pitchFamily="18" charset="0"/>
              </a:rPr>
              <a:t>Electrons travel from the cathode to the anode</a:t>
            </a:r>
            <a:r>
              <a:rPr lang="en-US" sz="9600" dirty="0" smtClean="0">
                <a:latin typeface="Book Antiqua" panose="02040602050305030304" pitchFamily="18" charset="0"/>
              </a:rPr>
              <a:t>.</a:t>
            </a:r>
          </a:p>
          <a:p>
            <a:pPr marL="109728" indent="0">
              <a:buNone/>
            </a:pPr>
            <a:endParaRPr lang="en-US" sz="9600" dirty="0">
              <a:latin typeface="Book Antiqua" panose="02040602050305030304" pitchFamily="18" charset="0"/>
            </a:endParaRPr>
          </a:p>
          <a:p>
            <a:pPr marL="109728" indent="0">
              <a:buNone/>
            </a:pPr>
            <a:r>
              <a:rPr lang="en-US" sz="9600" b="1" dirty="0" smtClean="0">
                <a:latin typeface="Book Antiqua" panose="02040602050305030304" pitchFamily="18" charset="0"/>
              </a:rPr>
              <a:t>X-ray </a:t>
            </a:r>
            <a:r>
              <a:rPr lang="en-US" sz="9600" b="1" dirty="0">
                <a:latin typeface="Book Antiqua" panose="02040602050305030304" pitchFamily="18" charset="0"/>
              </a:rPr>
              <a:t>production</a:t>
            </a:r>
          </a:p>
          <a:p>
            <a:r>
              <a:rPr lang="en-US" sz="9600" dirty="0">
                <a:latin typeface="Book Antiqua" panose="02040602050305030304" pitchFamily="18" charset="0"/>
              </a:rPr>
              <a:t>Electrons strike the target, producing X-rays and heat.</a:t>
            </a:r>
          </a:p>
          <a:p>
            <a:endParaRPr lang="en-US" dirty="0"/>
          </a:p>
        </p:txBody>
      </p:sp>
      <p:sp>
        <p:nvSpPr>
          <p:cNvPr id="2" name="Title 1"/>
          <p:cNvSpPr>
            <a:spLocks noGrp="1"/>
          </p:cNvSpPr>
          <p:nvPr>
            <p:ph type="title"/>
          </p:nvPr>
        </p:nvSpPr>
        <p:spPr/>
        <p:txBody>
          <a:bodyPr>
            <a:normAutofit fontScale="90000"/>
          </a:bodyPr>
          <a:lstStyle/>
          <a:p>
            <a:pPr algn="ctr"/>
            <a:r>
              <a:rPr lang="en-US" sz="3100" dirty="0" smtClean="0">
                <a:latin typeface="Book Antiqua" panose="02040602050305030304" pitchFamily="18" charset="0"/>
              </a:rPr>
              <a:t>HOW AN X-RAY GENERATOR WORKS</a:t>
            </a:r>
            <a:r>
              <a:rPr lang="en-US" dirty="0"/>
              <a:t/>
            </a:r>
            <a:br>
              <a:rPr lang="en-US" dirty="0"/>
            </a:br>
            <a:endParaRPr lang="en-US" dirty="0"/>
          </a:p>
        </p:txBody>
      </p:sp>
    </p:spTree>
    <p:extLst>
      <p:ext uri="{BB962C8B-B14F-4D97-AF65-F5344CB8AC3E}">
        <p14:creationId xmlns:p14="http://schemas.microsoft.com/office/powerpoint/2010/main" val="506447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692696"/>
            <a:ext cx="9108504" cy="6165303"/>
          </a:xfrm>
        </p:spPr>
        <p:txBody>
          <a:bodyPr>
            <a:noAutofit/>
          </a:bodyPr>
          <a:lstStyle/>
          <a:p>
            <a:pPr lvl="0">
              <a:lnSpc>
                <a:spcPct val="160000"/>
              </a:lnSpc>
            </a:pPr>
            <a:r>
              <a:rPr lang="en-US" sz="2000" dirty="0" smtClean="0">
                <a:latin typeface="Book Antiqua" panose="02040602050305030304" pitchFamily="18" charset="0"/>
              </a:rPr>
              <a:t>Power </a:t>
            </a:r>
            <a:r>
              <a:rPr lang="en-US" sz="2000" dirty="0">
                <a:latin typeface="Book Antiqua" panose="02040602050305030304" pitchFamily="18" charset="0"/>
              </a:rPr>
              <a:t>enters the generator: The mains electricity supplies the X-ray system.</a:t>
            </a:r>
          </a:p>
          <a:p>
            <a:pPr lvl="0">
              <a:lnSpc>
                <a:spcPct val="160000"/>
              </a:lnSpc>
            </a:pPr>
            <a:r>
              <a:rPr lang="en-US" sz="2000" dirty="0">
                <a:latin typeface="Book Antiqua" panose="02040602050305030304" pitchFamily="18" charset="0"/>
              </a:rPr>
              <a:t>Exposure factors are selected: The radiographer chooses the appropriate </a:t>
            </a:r>
            <a:r>
              <a:rPr lang="en-US" sz="2000" dirty="0" err="1">
                <a:latin typeface="Book Antiqua" panose="02040602050305030304" pitchFamily="18" charset="0"/>
              </a:rPr>
              <a:t>kVp</a:t>
            </a:r>
            <a:r>
              <a:rPr lang="en-US" sz="2000" dirty="0">
                <a:latin typeface="Book Antiqua" panose="02040602050305030304" pitchFamily="18" charset="0"/>
              </a:rPr>
              <a:t>, mA and exposure time.</a:t>
            </a:r>
          </a:p>
          <a:p>
            <a:pPr lvl="0">
              <a:lnSpc>
                <a:spcPct val="160000"/>
              </a:lnSpc>
            </a:pPr>
            <a:r>
              <a:rPr lang="en-US" sz="2000" dirty="0">
                <a:latin typeface="Book Antiqua" panose="02040602050305030304" pitchFamily="18" charset="0"/>
              </a:rPr>
              <a:t>The filament is heated: The filament transformer supplies current to heat the cathode filament, releasing electrons.</a:t>
            </a:r>
          </a:p>
          <a:p>
            <a:pPr lvl="0">
              <a:lnSpc>
                <a:spcPct val="160000"/>
              </a:lnSpc>
            </a:pPr>
            <a:r>
              <a:rPr lang="en-US" sz="2000" dirty="0">
                <a:latin typeface="Book Antiqua" panose="02040602050305030304" pitchFamily="18" charset="0"/>
              </a:rPr>
              <a:t>High voltage is applied: The high-voltage circuit accelerates electrons across the vacuum inside the X-ray tube.</a:t>
            </a:r>
          </a:p>
          <a:p>
            <a:pPr lvl="0">
              <a:lnSpc>
                <a:spcPct val="160000"/>
              </a:lnSpc>
            </a:pPr>
            <a:r>
              <a:rPr lang="en-US" sz="2000" dirty="0">
                <a:latin typeface="Book Antiqua" panose="02040602050305030304" pitchFamily="18" charset="0"/>
              </a:rPr>
              <a:t>Electrons strike the anode: Their kinetic energy is converted mainly into heat, with a small fraction converted into X-rays.</a:t>
            </a:r>
          </a:p>
          <a:p>
            <a:pPr lvl="0">
              <a:lnSpc>
                <a:spcPct val="160000"/>
              </a:lnSpc>
            </a:pPr>
            <a:r>
              <a:rPr lang="en-US" sz="2000" dirty="0">
                <a:latin typeface="Book Antiqua" panose="02040602050305030304" pitchFamily="18" charset="0"/>
              </a:rPr>
              <a:t>The exposure stops: The timer or exposure-control circuit terminates the exposure at the required time.</a:t>
            </a:r>
          </a:p>
          <a:p>
            <a:endParaRPr lang="en-US" sz="2000" dirty="0"/>
          </a:p>
        </p:txBody>
      </p:sp>
      <p:sp>
        <p:nvSpPr>
          <p:cNvPr id="2" name="Title 1"/>
          <p:cNvSpPr>
            <a:spLocks noGrp="1"/>
          </p:cNvSpPr>
          <p:nvPr>
            <p:ph type="title"/>
          </p:nvPr>
        </p:nvSpPr>
        <p:spPr>
          <a:xfrm>
            <a:off x="457200" y="274638"/>
            <a:ext cx="8229600" cy="778098"/>
          </a:xfrm>
        </p:spPr>
        <p:txBody>
          <a:bodyPr>
            <a:normAutofit fontScale="90000"/>
          </a:bodyPr>
          <a:lstStyle/>
          <a:p>
            <a:r>
              <a:rPr lang="en-US" sz="3600" dirty="0" smtClean="0"/>
              <a:t>STEP-BY-STEP EXPLANATION</a:t>
            </a:r>
            <a:r>
              <a:rPr lang="en-US" dirty="0" smtClean="0"/>
              <a:t/>
            </a:r>
            <a:br>
              <a:rPr lang="en-US" dirty="0" smtClean="0"/>
            </a:br>
            <a:endParaRPr lang="en-US" dirty="0"/>
          </a:p>
        </p:txBody>
      </p:sp>
    </p:spTree>
    <p:extLst>
      <p:ext uri="{BB962C8B-B14F-4D97-AF65-F5344CB8AC3E}">
        <p14:creationId xmlns:p14="http://schemas.microsoft.com/office/powerpoint/2010/main" val="3674523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4286284074"/>
              </p:ext>
            </p:extLst>
          </p:nvPr>
        </p:nvGraphicFramePr>
        <p:xfrm>
          <a:off x="395537" y="1268760"/>
          <a:ext cx="8352927" cy="5112568"/>
        </p:xfrm>
        <a:graphic>
          <a:graphicData uri="http://schemas.openxmlformats.org/drawingml/2006/table">
            <a:tbl>
              <a:tblPr firstRow="1" firstCol="1" bandRow="1">
                <a:tableStyleId>{5C22544A-7EE6-4342-B048-85BDC9FD1C3A}</a:tableStyleId>
              </a:tblPr>
              <a:tblGrid>
                <a:gridCol w="2784309"/>
                <a:gridCol w="2784309"/>
                <a:gridCol w="2784309"/>
              </a:tblGrid>
              <a:tr h="613267">
                <a:tc>
                  <a:txBody>
                    <a:bodyPr/>
                    <a:lstStyle/>
                    <a:p>
                      <a:pPr algn="ctr">
                        <a:lnSpc>
                          <a:spcPct val="115000"/>
                        </a:lnSpc>
                        <a:spcAft>
                          <a:spcPts val="1000"/>
                        </a:spcAft>
                      </a:pPr>
                      <a:r>
                        <a:rPr lang="en-US" sz="1600" dirty="0">
                          <a:effectLst/>
                        </a:rPr>
                        <a:t>Factor</a:t>
                      </a:r>
                      <a:endParaRPr lang="en-US" sz="14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Meaning</a:t>
                      </a:r>
                      <a:endParaRPr lang="en-US" sz="14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Main effect</a:t>
                      </a:r>
                      <a:endParaRPr lang="en-US" sz="1400" dirty="0">
                        <a:effectLst/>
                        <a:latin typeface="Calibri"/>
                        <a:ea typeface="Calibri"/>
                        <a:cs typeface="Times New Roman"/>
                      </a:endParaRPr>
                    </a:p>
                  </a:txBody>
                  <a:tcPr marL="9525" marR="9525" marT="9525" marB="9525" anchor="ctr"/>
                </a:tc>
              </a:tr>
              <a:tr h="1207515">
                <a:tc>
                  <a:txBody>
                    <a:bodyPr/>
                    <a:lstStyle/>
                    <a:p>
                      <a:pPr algn="ctr">
                        <a:lnSpc>
                          <a:spcPct val="115000"/>
                        </a:lnSpc>
                        <a:spcAft>
                          <a:spcPts val="1000"/>
                        </a:spcAft>
                      </a:pPr>
                      <a:r>
                        <a:rPr lang="en-US" sz="1600">
                          <a:effectLst/>
                        </a:rPr>
                        <a:t>kVp</a:t>
                      </a:r>
                      <a:endParaRPr lang="en-US" sz="14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Kilovoltage peak</a:t>
                      </a:r>
                      <a:endParaRPr lang="en-US" sz="14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Controls electron energy and strongly affects X-ray beam penetration.</a:t>
                      </a:r>
                      <a:endParaRPr lang="en-US" sz="1400" dirty="0">
                        <a:effectLst/>
                        <a:latin typeface="Calibri"/>
                        <a:ea typeface="Calibri"/>
                        <a:cs typeface="Times New Roman"/>
                      </a:endParaRPr>
                    </a:p>
                  </a:txBody>
                  <a:tcPr marL="9525" marR="9525" marT="9525" marB="9525" anchor="ctr"/>
                </a:tc>
              </a:tr>
              <a:tr h="1207515">
                <a:tc>
                  <a:txBody>
                    <a:bodyPr/>
                    <a:lstStyle/>
                    <a:p>
                      <a:pPr algn="ctr">
                        <a:lnSpc>
                          <a:spcPct val="115000"/>
                        </a:lnSpc>
                        <a:spcAft>
                          <a:spcPts val="1000"/>
                        </a:spcAft>
                      </a:pPr>
                      <a:r>
                        <a:rPr lang="en-US" sz="1600" dirty="0">
                          <a:effectLst/>
                        </a:rPr>
                        <a:t>mA</a:t>
                      </a:r>
                      <a:endParaRPr lang="en-US" sz="14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a:effectLst/>
                        </a:rPr>
                        <a:t>Milliamperage</a:t>
                      </a:r>
                      <a:endParaRPr lang="en-US" sz="14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Controls the rate of electron flow and affects X-ray quantity.</a:t>
                      </a:r>
                      <a:endParaRPr lang="en-US" sz="1400" dirty="0">
                        <a:effectLst/>
                        <a:latin typeface="Calibri"/>
                        <a:ea typeface="Calibri"/>
                        <a:cs typeface="Times New Roman"/>
                      </a:endParaRPr>
                    </a:p>
                  </a:txBody>
                  <a:tcPr marL="9525" marR="9525" marT="9525" marB="9525" anchor="ctr"/>
                </a:tc>
              </a:tr>
              <a:tr h="698800">
                <a:tc>
                  <a:txBody>
                    <a:bodyPr/>
                    <a:lstStyle/>
                    <a:p>
                      <a:pPr algn="ctr">
                        <a:lnSpc>
                          <a:spcPct val="115000"/>
                        </a:lnSpc>
                        <a:spcAft>
                          <a:spcPts val="1000"/>
                        </a:spcAft>
                      </a:pPr>
                      <a:r>
                        <a:rPr lang="en-US" sz="1600">
                          <a:effectLst/>
                        </a:rPr>
                        <a:t>Exposure time</a:t>
                      </a:r>
                      <a:endParaRPr lang="en-US" sz="14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a:effectLst/>
                        </a:rPr>
                        <a:t>Duration of exposure</a:t>
                      </a:r>
                      <a:endParaRPr lang="en-US" sz="14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Determines how long X-rays are produced.</a:t>
                      </a:r>
                      <a:endParaRPr lang="en-US" sz="1400" dirty="0">
                        <a:effectLst/>
                        <a:latin typeface="Calibri"/>
                        <a:ea typeface="Calibri"/>
                        <a:cs typeface="Times New Roman"/>
                      </a:endParaRPr>
                    </a:p>
                  </a:txBody>
                  <a:tcPr marL="9525" marR="9525" marT="9525" marB="9525" anchor="ctr"/>
                </a:tc>
              </a:tr>
              <a:tr h="1385471">
                <a:tc>
                  <a:txBody>
                    <a:bodyPr/>
                    <a:lstStyle/>
                    <a:p>
                      <a:pPr algn="ctr">
                        <a:lnSpc>
                          <a:spcPct val="115000"/>
                        </a:lnSpc>
                        <a:spcAft>
                          <a:spcPts val="1000"/>
                        </a:spcAft>
                      </a:pPr>
                      <a:r>
                        <a:rPr lang="en-US" sz="1600" dirty="0" err="1">
                          <a:effectLst/>
                        </a:rPr>
                        <a:t>mAs</a:t>
                      </a:r>
                      <a:endParaRPr lang="en-US" sz="14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a:effectLst/>
                        </a:rPr>
                        <a:t>mA × exposure time</a:t>
                      </a:r>
                      <a:endParaRPr lang="en-US" sz="14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n-US" sz="1600" dirty="0">
                          <a:effectLst/>
                        </a:rPr>
                        <a:t>Determines the total tube current-time product and strongly affects X-ray </a:t>
                      </a:r>
                      <a:r>
                        <a:rPr lang="en-US" sz="1600" dirty="0" smtClean="0">
                          <a:effectLst/>
                        </a:rPr>
                        <a:t>quantity.</a:t>
                      </a:r>
                      <a:endParaRPr lang="en-US" sz="1400" dirty="0">
                        <a:effectLst/>
                        <a:latin typeface="Calibri"/>
                        <a:ea typeface="Calibri"/>
                        <a:cs typeface="Times New Roman"/>
                      </a:endParaRPr>
                    </a:p>
                  </a:txBody>
                  <a:tcPr marL="9525" marR="9525" marT="9525" marB="9525" anchor="ctr"/>
                </a:tc>
              </a:tr>
            </a:tbl>
          </a:graphicData>
        </a:graphic>
      </p:graphicFrame>
      <p:sp>
        <p:nvSpPr>
          <p:cNvPr id="2" name="Title 1"/>
          <p:cNvSpPr>
            <a:spLocks noGrp="1"/>
          </p:cNvSpPr>
          <p:nvPr>
            <p:ph type="title"/>
          </p:nvPr>
        </p:nvSpPr>
        <p:spPr/>
        <p:txBody>
          <a:bodyPr>
            <a:normAutofit fontScale="90000"/>
          </a:bodyPr>
          <a:lstStyle/>
          <a:p>
            <a:pPr algn="ctr"/>
            <a:r>
              <a:rPr lang="en-US" sz="3600" dirty="0" smtClean="0"/>
              <a:t>IMPORTANT EXPOSURE FACTORS CONTROLLED BY THE GENERATOR</a:t>
            </a:r>
            <a:r>
              <a:rPr lang="en-US" dirty="0"/>
              <a:t/>
            </a:r>
            <a:br>
              <a:rPr lang="en-US" dirty="0"/>
            </a:br>
            <a:endParaRPr lang="en-US" dirty="0"/>
          </a:p>
        </p:txBody>
      </p:sp>
    </p:spTree>
    <p:extLst>
      <p:ext uri="{BB962C8B-B14F-4D97-AF65-F5344CB8AC3E}">
        <p14:creationId xmlns:p14="http://schemas.microsoft.com/office/powerpoint/2010/main" val="2544317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12" y="908720"/>
            <a:ext cx="8928992" cy="5688632"/>
          </a:xfrm>
        </p:spPr>
        <p:txBody>
          <a:bodyPr>
            <a:normAutofit fontScale="92500" lnSpcReduction="10000"/>
          </a:bodyPr>
          <a:lstStyle/>
          <a:p>
            <a:pPr marL="109728" indent="0">
              <a:buNone/>
            </a:pPr>
            <a:r>
              <a:rPr lang="en-US" sz="2400" b="1" dirty="0">
                <a:latin typeface="Book Antiqua" panose="02040602050305030304" pitchFamily="18" charset="0"/>
              </a:rPr>
              <a:t>Single-phase generator</a:t>
            </a:r>
          </a:p>
          <a:p>
            <a:r>
              <a:rPr lang="en-US" sz="2400" dirty="0">
                <a:latin typeface="Book Antiqua" panose="02040602050305030304" pitchFamily="18" charset="0"/>
              </a:rPr>
              <a:t>Uses single-phase AC and produces greater voltage ripple than modern high-frequency systems</a:t>
            </a:r>
            <a:r>
              <a:rPr lang="en-US" sz="2400" dirty="0" smtClean="0">
                <a:latin typeface="Book Antiqua" panose="02040602050305030304" pitchFamily="18" charset="0"/>
              </a:rPr>
              <a:t>.</a:t>
            </a:r>
            <a:endParaRPr lang="en-US" sz="2400" dirty="0">
              <a:latin typeface="Book Antiqua" panose="02040602050305030304" pitchFamily="18" charset="0"/>
            </a:endParaRPr>
          </a:p>
          <a:p>
            <a:pPr marL="109728" indent="0">
              <a:buNone/>
            </a:pPr>
            <a:r>
              <a:rPr lang="en-US" sz="2400" b="1" dirty="0">
                <a:latin typeface="Book Antiqua" panose="02040602050305030304" pitchFamily="18" charset="0"/>
              </a:rPr>
              <a:t>Three-phase </a:t>
            </a:r>
            <a:r>
              <a:rPr lang="en-US" sz="2400" b="1" dirty="0" smtClean="0">
                <a:latin typeface="Book Antiqua" panose="02040602050305030304" pitchFamily="18" charset="0"/>
              </a:rPr>
              <a:t>generator - 6 valves </a:t>
            </a:r>
            <a:endParaRPr lang="en-US" sz="2400" b="1" dirty="0">
              <a:latin typeface="Book Antiqua" panose="02040602050305030304" pitchFamily="18" charset="0"/>
            </a:endParaRPr>
          </a:p>
          <a:p>
            <a:r>
              <a:rPr lang="en-US" sz="2400" dirty="0">
                <a:latin typeface="Book Antiqua" panose="02040602050305030304" pitchFamily="18" charset="0"/>
              </a:rPr>
              <a:t>Provides a more constant tube voltage and generally more efficient X-ray production than a single-phase generator</a:t>
            </a:r>
            <a:r>
              <a:rPr lang="en-US" sz="2400" dirty="0" smtClean="0">
                <a:latin typeface="Book Antiqua" panose="02040602050305030304" pitchFamily="18" charset="0"/>
              </a:rPr>
              <a:t>.</a:t>
            </a:r>
          </a:p>
          <a:p>
            <a:r>
              <a:rPr lang="en-US" sz="2400" b="1" dirty="0" smtClean="0">
                <a:latin typeface="Book Antiqua" panose="02040602050305030304" pitchFamily="18" charset="0"/>
              </a:rPr>
              <a:t>Three-phase generator -12 valves </a:t>
            </a:r>
          </a:p>
          <a:p>
            <a:pPr marL="109728" indent="0">
              <a:buNone/>
            </a:pPr>
            <a:r>
              <a:rPr lang="en-US" sz="2200" dirty="0"/>
              <a:t>S</a:t>
            </a:r>
            <a:r>
              <a:rPr lang="en-US" sz="2200" dirty="0" smtClean="0"/>
              <a:t>upply </a:t>
            </a:r>
            <a:r>
              <a:rPr lang="en-US" sz="2200" dirty="0"/>
              <a:t>high voltage to the X-ray tube with reduced voltage ripple, producing a more consistent X-ray beam and greater X-ray output efficiency than a single-phase generator under comparable conditions</a:t>
            </a:r>
            <a:r>
              <a:rPr lang="en-US" sz="2200" dirty="0" smtClean="0"/>
              <a:t>.</a:t>
            </a:r>
            <a:endParaRPr lang="en-US" sz="2200" b="1" dirty="0">
              <a:latin typeface="Book Antiqua" panose="02040602050305030304" pitchFamily="18" charset="0"/>
            </a:endParaRPr>
          </a:p>
          <a:p>
            <a:pPr marL="109728" indent="0">
              <a:buNone/>
            </a:pPr>
            <a:r>
              <a:rPr lang="en-US" sz="2400" b="1" dirty="0">
                <a:latin typeface="Book Antiqua" panose="02040602050305030304" pitchFamily="18" charset="0"/>
              </a:rPr>
              <a:t>High-frequency generator</a:t>
            </a:r>
          </a:p>
          <a:p>
            <a:r>
              <a:rPr lang="en-US" sz="2400" dirty="0">
                <a:latin typeface="Book Antiqua" panose="02040602050305030304" pitchFamily="18" charset="0"/>
              </a:rPr>
              <a:t>Uses electronic switching to produce a nearly constant tube voltage, allowing efficient operation and consistent exposures</a:t>
            </a:r>
            <a:r>
              <a:rPr lang="en-US" sz="2400" dirty="0" smtClean="0">
                <a:latin typeface="Book Antiqua" panose="02040602050305030304" pitchFamily="18" charset="0"/>
              </a:rPr>
              <a:t>.</a:t>
            </a:r>
          </a:p>
          <a:p>
            <a:r>
              <a:rPr lang="en-US" sz="2400" b="1" dirty="0" smtClean="0">
                <a:latin typeface="Book Antiqua" panose="02040602050305030304" pitchFamily="18" charset="0"/>
              </a:rPr>
              <a:t>Constant potential generator: </a:t>
            </a:r>
            <a:r>
              <a:rPr lang="en-US" sz="2000" dirty="0"/>
              <a:t>Keeps the selected </a:t>
            </a:r>
            <a:r>
              <a:rPr lang="en-US" sz="2000" dirty="0" smtClean="0"/>
              <a:t>(</a:t>
            </a:r>
            <a:r>
              <a:rPr lang="en-US" sz="2000" dirty="0" err="1"/>
              <a:t>kVp</a:t>
            </a:r>
            <a:r>
              <a:rPr lang="en-US" sz="2000" dirty="0"/>
              <a:t>) nearly constant throughout the </a:t>
            </a:r>
            <a:r>
              <a:rPr lang="en-US" sz="2000" dirty="0" smtClean="0"/>
              <a:t>exposure thereby </a:t>
            </a:r>
            <a:r>
              <a:rPr lang="en-US" sz="2000" dirty="0"/>
              <a:t>Minimizes fluctuations in the voltage supplied to the X-ray tube.</a:t>
            </a:r>
          </a:p>
          <a:p>
            <a:endParaRPr lang="en-US" sz="2000" b="1" dirty="0">
              <a:latin typeface="Book Antiqua" panose="02040602050305030304" pitchFamily="18" charset="0"/>
            </a:endParaRPr>
          </a:p>
          <a:p>
            <a:endParaRPr lang="en-US" sz="2400" dirty="0"/>
          </a:p>
        </p:txBody>
      </p:sp>
      <p:sp>
        <p:nvSpPr>
          <p:cNvPr id="2" name="Title 1"/>
          <p:cNvSpPr>
            <a:spLocks noGrp="1"/>
          </p:cNvSpPr>
          <p:nvPr>
            <p:ph type="title"/>
          </p:nvPr>
        </p:nvSpPr>
        <p:spPr>
          <a:xfrm>
            <a:off x="539552" y="53752"/>
            <a:ext cx="8229600" cy="1143000"/>
          </a:xfrm>
        </p:spPr>
        <p:txBody>
          <a:bodyPr>
            <a:normAutofit/>
          </a:bodyPr>
          <a:lstStyle/>
          <a:p>
            <a:pPr algn="ctr"/>
            <a:r>
              <a:rPr lang="en-US" sz="3600" dirty="0" smtClean="0">
                <a:latin typeface="Book Antiqua" panose="02040602050305030304" pitchFamily="18" charset="0"/>
              </a:rPr>
              <a:t>TYPES OF X-RAY GENERATORS</a:t>
            </a:r>
            <a:endParaRPr lang="en-US" sz="3600" dirty="0">
              <a:latin typeface="Book Antiqua" panose="02040602050305030304" pitchFamily="18" charset="0"/>
            </a:endParaRPr>
          </a:p>
        </p:txBody>
      </p:sp>
    </p:spTree>
    <p:extLst>
      <p:ext uri="{BB962C8B-B14F-4D97-AF65-F5344CB8AC3E}">
        <p14:creationId xmlns:p14="http://schemas.microsoft.com/office/powerpoint/2010/main" val="334984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268760"/>
            <a:ext cx="8712968" cy="5040560"/>
          </a:xfrm>
        </p:spPr>
        <p:txBody>
          <a:bodyPr>
            <a:normAutofit fontScale="25000" lnSpcReduction="20000"/>
          </a:bodyPr>
          <a:lstStyle/>
          <a:p>
            <a:pPr>
              <a:lnSpc>
                <a:spcPct val="170000"/>
              </a:lnSpc>
            </a:pPr>
            <a:r>
              <a:rPr lang="en-US" sz="7200" b="1" dirty="0">
                <a:latin typeface="Book Antiqua" panose="02040602050305030304" pitchFamily="18" charset="0"/>
              </a:rPr>
              <a:t>HIGH TENSION GENERATORS:- </a:t>
            </a:r>
            <a:r>
              <a:rPr lang="en-US" sz="7200" dirty="0">
                <a:latin typeface="Book Antiqua" panose="02040602050305030304" pitchFamily="18" charset="0"/>
              </a:rPr>
              <a:t>This  consist of a HTT which is in  thousands of turns in the secondary circuit (1:50) step up transformers. It converts the line voltage supply to the generator (415V)  to kilo voltage of ranges 30-150kvp these drives the emitted electrons across the polarity of the x ray tube from the cathode filament to the anode target</a:t>
            </a:r>
            <a:r>
              <a:rPr lang="en-US" sz="7200" dirty="0" smtClean="0">
                <a:latin typeface="Book Antiqua" panose="02040602050305030304" pitchFamily="18" charset="0"/>
              </a:rPr>
              <a:t>.</a:t>
            </a:r>
          </a:p>
          <a:p>
            <a:pPr marL="109728" indent="0">
              <a:lnSpc>
                <a:spcPct val="170000"/>
              </a:lnSpc>
              <a:buNone/>
            </a:pPr>
            <a:endParaRPr lang="en-US" sz="7200" dirty="0">
              <a:latin typeface="Book Antiqua" panose="02040602050305030304" pitchFamily="18" charset="0"/>
            </a:endParaRPr>
          </a:p>
          <a:p>
            <a:pPr>
              <a:lnSpc>
                <a:spcPct val="170000"/>
              </a:lnSpc>
            </a:pPr>
            <a:r>
              <a:rPr lang="en-US" sz="7200" b="1" dirty="0">
                <a:latin typeface="Book Antiqua" panose="02040602050305030304" pitchFamily="18" charset="0"/>
              </a:rPr>
              <a:t>EXPOSURE TIMER:- </a:t>
            </a:r>
            <a:r>
              <a:rPr lang="en-US" sz="7200" dirty="0">
                <a:latin typeface="Book Antiqua" panose="02040602050305030304" pitchFamily="18" charset="0"/>
              </a:rPr>
              <a:t>This are electrical or electronic device in the generator circuitry that regulates  or controls the duration of time the x ray tube produces x radiation during an exposure. Its main function is to terminate the production of x rays as soon as the selected time for exposure elapses.</a:t>
            </a:r>
          </a:p>
          <a:p>
            <a:endParaRPr lang="en-US" dirty="0"/>
          </a:p>
        </p:txBody>
      </p:sp>
      <p:sp>
        <p:nvSpPr>
          <p:cNvPr id="2" name="Title 1"/>
          <p:cNvSpPr>
            <a:spLocks noGrp="1"/>
          </p:cNvSpPr>
          <p:nvPr>
            <p:ph type="title"/>
          </p:nvPr>
        </p:nvSpPr>
        <p:spPr/>
        <p:txBody>
          <a:bodyPr>
            <a:normAutofit fontScale="90000"/>
          </a:bodyPr>
          <a:lstStyle/>
          <a:p>
            <a:r>
              <a:rPr lang="en-US" dirty="0" smtClean="0">
                <a:latin typeface="Book Antiqua" panose="02040602050305030304" pitchFamily="18" charset="0"/>
              </a:rPr>
              <a:t>TYPES OF GENERATOR CONTD. </a:t>
            </a:r>
            <a:endParaRPr lang="en-US" dirty="0">
              <a:latin typeface="Book Antiqua" panose="02040602050305030304" pitchFamily="18" charset="0"/>
            </a:endParaRPr>
          </a:p>
        </p:txBody>
      </p:sp>
    </p:spTree>
    <p:extLst>
      <p:ext uri="{BB962C8B-B14F-4D97-AF65-F5344CB8AC3E}">
        <p14:creationId xmlns:p14="http://schemas.microsoft.com/office/powerpoint/2010/main" val="906604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210749"/>
            <a:ext cx="8435280" cy="5098571"/>
          </a:xfrm>
        </p:spPr>
        <p:txBody>
          <a:bodyPr>
            <a:normAutofit fontScale="92500" lnSpcReduction="20000"/>
          </a:bodyPr>
          <a:lstStyle/>
          <a:p>
            <a:pPr>
              <a:lnSpc>
                <a:spcPct val="150000"/>
              </a:lnSpc>
            </a:pPr>
            <a:r>
              <a:rPr lang="en-US" dirty="0" smtClean="0">
                <a:latin typeface="Book Antiqua" panose="02040602050305030304" pitchFamily="18" charset="0"/>
              </a:rPr>
              <a:t>Supplies </a:t>
            </a:r>
            <a:r>
              <a:rPr lang="en-US" dirty="0">
                <a:latin typeface="Book Antiqua" panose="02040602050305030304" pitchFamily="18" charset="0"/>
              </a:rPr>
              <a:t>the high voltage needed for electron acceleration</a:t>
            </a:r>
            <a:r>
              <a:rPr lang="en-US" dirty="0" smtClean="0">
                <a:latin typeface="Book Antiqua" panose="02040602050305030304" pitchFamily="18" charset="0"/>
              </a:rPr>
              <a:t>.</a:t>
            </a:r>
            <a:endParaRPr lang="en-US" dirty="0">
              <a:latin typeface="Book Antiqua" panose="02040602050305030304" pitchFamily="18" charset="0"/>
            </a:endParaRPr>
          </a:p>
          <a:p>
            <a:pPr lvl="0">
              <a:lnSpc>
                <a:spcPct val="150000"/>
              </a:lnSpc>
            </a:pPr>
            <a:r>
              <a:rPr lang="en-US" dirty="0">
                <a:latin typeface="Book Antiqua" panose="02040602050305030304" pitchFamily="18" charset="0"/>
              </a:rPr>
              <a:t>Supplies filament current for thermionic emission.</a:t>
            </a:r>
          </a:p>
          <a:p>
            <a:pPr lvl="0">
              <a:lnSpc>
                <a:spcPct val="150000"/>
              </a:lnSpc>
            </a:pPr>
            <a:r>
              <a:rPr lang="en-US" dirty="0">
                <a:latin typeface="Book Antiqua" panose="02040602050305030304" pitchFamily="18" charset="0"/>
              </a:rPr>
              <a:t>Controls the tube current and tube voltage.</a:t>
            </a:r>
          </a:p>
          <a:p>
            <a:pPr lvl="0">
              <a:lnSpc>
                <a:spcPct val="150000"/>
              </a:lnSpc>
            </a:pPr>
            <a:r>
              <a:rPr lang="en-US" dirty="0">
                <a:latin typeface="Book Antiqua" panose="02040602050305030304" pitchFamily="18" charset="0"/>
              </a:rPr>
              <a:t>Controls the duration of exposure.</a:t>
            </a:r>
          </a:p>
          <a:p>
            <a:pPr lvl="0">
              <a:lnSpc>
                <a:spcPct val="150000"/>
              </a:lnSpc>
            </a:pPr>
            <a:r>
              <a:rPr lang="en-US" dirty="0">
                <a:latin typeface="Book Antiqua" panose="02040602050305030304" pitchFamily="18" charset="0"/>
              </a:rPr>
              <a:t>Helps maintain the accuracy and reproducibility of exposures.</a:t>
            </a:r>
          </a:p>
          <a:p>
            <a:pPr lvl="0">
              <a:lnSpc>
                <a:spcPct val="150000"/>
              </a:lnSpc>
            </a:pPr>
            <a:r>
              <a:rPr lang="en-US" dirty="0">
                <a:latin typeface="Book Antiqua" panose="02040602050305030304" pitchFamily="18" charset="0"/>
              </a:rPr>
              <a:t>Works with safety interlocks and exposure-control systems to support safe operation.</a:t>
            </a:r>
          </a:p>
          <a:p>
            <a:endParaRPr lang="en-US" dirty="0"/>
          </a:p>
        </p:txBody>
      </p:sp>
      <p:sp>
        <p:nvSpPr>
          <p:cNvPr id="2" name="Title 1"/>
          <p:cNvSpPr>
            <a:spLocks noGrp="1"/>
          </p:cNvSpPr>
          <p:nvPr>
            <p:ph type="title"/>
          </p:nvPr>
        </p:nvSpPr>
        <p:spPr/>
        <p:txBody>
          <a:bodyPr>
            <a:noAutofit/>
          </a:bodyPr>
          <a:lstStyle/>
          <a:p>
            <a:pPr algn="ctr"/>
            <a:r>
              <a:rPr lang="en-US" sz="2800" b="1" dirty="0" smtClean="0">
                <a:latin typeface="Book Antiqua" panose="02040602050305030304" pitchFamily="18" charset="0"/>
              </a:rPr>
              <a:t>FUNCTIONS OF AN X-RAY GENERATOR</a:t>
            </a:r>
            <a:r>
              <a:rPr lang="en-US" sz="2800" dirty="0" smtClean="0">
                <a:latin typeface="Book Antiqua" panose="02040602050305030304" pitchFamily="18" charset="0"/>
              </a:rPr>
              <a:t/>
            </a:r>
            <a:br>
              <a:rPr lang="en-US" sz="2800" dirty="0" smtClean="0">
                <a:latin typeface="Book Antiqua" panose="02040602050305030304" pitchFamily="18" charset="0"/>
              </a:rPr>
            </a:br>
            <a:endParaRPr lang="en-US" sz="2800" dirty="0">
              <a:latin typeface="Book Antiqua" panose="02040602050305030304" pitchFamily="18" charset="0"/>
            </a:endParaRPr>
          </a:p>
        </p:txBody>
      </p:sp>
    </p:spTree>
    <p:extLst>
      <p:ext uri="{BB962C8B-B14F-4D97-AF65-F5344CB8AC3E}">
        <p14:creationId xmlns:p14="http://schemas.microsoft.com/office/powerpoint/2010/main" val="3401913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412776"/>
            <a:ext cx="8784976" cy="5256584"/>
          </a:xfrm>
        </p:spPr>
        <p:txBody>
          <a:bodyPr>
            <a:normAutofit lnSpcReduction="10000"/>
          </a:bodyPr>
          <a:lstStyle/>
          <a:p>
            <a:pPr marL="109728" indent="0">
              <a:buNone/>
            </a:pPr>
            <a:r>
              <a:rPr lang="en-US" b="1" dirty="0" smtClean="0">
                <a:latin typeface="Book Antiqua" panose="02040602050305030304" pitchFamily="18" charset="0"/>
              </a:rPr>
              <a:t>The </a:t>
            </a:r>
            <a:r>
              <a:rPr lang="en-US" b="1" dirty="0">
                <a:latin typeface="Book Antiqua" panose="02040602050305030304" pitchFamily="18" charset="0"/>
              </a:rPr>
              <a:t>beam limiting  </a:t>
            </a:r>
            <a:r>
              <a:rPr lang="en-US" dirty="0">
                <a:latin typeface="Book Antiqua" panose="02040602050305030304" pitchFamily="18" charset="0"/>
              </a:rPr>
              <a:t>are devices used to either limit or restrict the amount of radiation exposed to a unit arear of the medium. They are equally used to control scattered radiation. They are classified into three groups:- Aperture diaphragms, cones and cylinders, collimators. Their main function is to restrict the </a:t>
            </a:r>
            <a:r>
              <a:rPr lang="en-US" dirty="0" smtClean="0">
                <a:latin typeface="Book Antiqua" panose="02040602050305030304" pitchFamily="18" charset="0"/>
              </a:rPr>
              <a:t>x ray beam to </a:t>
            </a:r>
            <a:r>
              <a:rPr lang="en-US" dirty="0">
                <a:latin typeface="Book Antiqua" panose="02040602050305030304" pitchFamily="18" charset="0"/>
              </a:rPr>
              <a:t>the arear of interest and to protect the patient for </a:t>
            </a:r>
            <a:r>
              <a:rPr lang="en-US" dirty="0" smtClean="0">
                <a:latin typeface="Book Antiqua" panose="02040602050305030304" pitchFamily="18" charset="0"/>
              </a:rPr>
              <a:t>excessive x - </a:t>
            </a:r>
            <a:r>
              <a:rPr lang="en-US" dirty="0">
                <a:latin typeface="Book Antiqua" panose="02040602050305030304" pitchFamily="18" charset="0"/>
              </a:rPr>
              <a:t>irradiation.  </a:t>
            </a:r>
            <a:endParaRPr lang="en-US" dirty="0" smtClean="0">
              <a:latin typeface="Book Antiqua" panose="02040602050305030304" pitchFamily="18" charset="0"/>
            </a:endParaRPr>
          </a:p>
          <a:p>
            <a:pPr marL="109728" indent="0">
              <a:buNone/>
            </a:pPr>
            <a:r>
              <a:rPr lang="en-US" b="1" dirty="0" smtClean="0">
                <a:latin typeface="Book Antiqua" panose="02040602050305030304" pitchFamily="18" charset="0"/>
              </a:rPr>
              <a:t>The </a:t>
            </a:r>
            <a:r>
              <a:rPr lang="en-US" b="1" dirty="0">
                <a:latin typeface="Book Antiqua" panose="02040602050305030304" pitchFamily="18" charset="0"/>
              </a:rPr>
              <a:t>beam centering </a:t>
            </a:r>
            <a:r>
              <a:rPr lang="en-US" dirty="0">
                <a:latin typeface="Book Antiqua" panose="02040602050305030304" pitchFamily="18" charset="0"/>
              </a:rPr>
              <a:t>devices are devices that direct or indicate the direction of the central or primary beam to the arear of interest. Examples are Light beam localizer, centering marks, </a:t>
            </a:r>
            <a:r>
              <a:rPr lang="en-US" dirty="0" err="1">
                <a:latin typeface="Book Antiqua" panose="02040602050305030304" pitchFamily="18" charset="0"/>
              </a:rPr>
              <a:t>Varray</a:t>
            </a:r>
            <a:r>
              <a:rPr lang="en-US" dirty="0">
                <a:latin typeface="Book Antiqua" panose="02040602050305030304" pitchFamily="18" charset="0"/>
              </a:rPr>
              <a:t> lamps and beam alignment indicator.</a:t>
            </a:r>
          </a:p>
          <a:p>
            <a:endParaRPr lang="en-US" dirty="0"/>
          </a:p>
        </p:txBody>
      </p:sp>
      <p:sp>
        <p:nvSpPr>
          <p:cNvPr id="2" name="Title 1"/>
          <p:cNvSpPr>
            <a:spLocks noGrp="1"/>
          </p:cNvSpPr>
          <p:nvPr>
            <p:ph type="title"/>
          </p:nvPr>
        </p:nvSpPr>
        <p:spPr/>
        <p:txBody>
          <a:bodyPr>
            <a:noAutofit/>
          </a:bodyPr>
          <a:lstStyle/>
          <a:p>
            <a:pPr algn="ctr"/>
            <a:r>
              <a:rPr lang="en-US" sz="4000" dirty="0" smtClean="0">
                <a:latin typeface="Book Antiqua" panose="02040602050305030304" pitchFamily="18" charset="0"/>
              </a:rPr>
              <a:t>BEAM LIMITING /CENTERING DEVICES</a:t>
            </a:r>
            <a:endParaRPr lang="en-US" sz="4000" dirty="0">
              <a:latin typeface="Book Antiqua" panose="02040602050305030304" pitchFamily="18" charset="0"/>
            </a:endParaRPr>
          </a:p>
        </p:txBody>
      </p:sp>
    </p:spTree>
    <p:extLst>
      <p:ext uri="{BB962C8B-B14F-4D97-AF65-F5344CB8AC3E}">
        <p14:creationId xmlns:p14="http://schemas.microsoft.com/office/powerpoint/2010/main" val="3450444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520" y="1481328"/>
            <a:ext cx="9073008" cy="5188032"/>
          </a:xfrm>
        </p:spPr>
        <p:txBody>
          <a:bodyPr>
            <a:normAutofit fontScale="92500"/>
          </a:bodyPr>
          <a:lstStyle/>
          <a:p>
            <a:pPr algn="just"/>
            <a:r>
              <a:rPr lang="en-US" b="1" dirty="0" smtClean="0">
                <a:latin typeface="Book Antiqua" panose="02040602050305030304" pitchFamily="18" charset="0"/>
              </a:rPr>
              <a:t>FUSE</a:t>
            </a:r>
            <a:r>
              <a:rPr lang="en-US" b="1" dirty="0">
                <a:latin typeface="Book Antiqua" panose="02040602050305030304" pitchFamily="18" charset="0"/>
              </a:rPr>
              <a:t>:- </a:t>
            </a:r>
            <a:r>
              <a:rPr lang="en-US" dirty="0">
                <a:latin typeface="Book Antiqua" panose="02040602050305030304" pitchFamily="18" charset="0"/>
              </a:rPr>
              <a:t>This is a device that safeguard electrical equipment from excessive high current by breaking the circuit in the cause of a high voltage supply.</a:t>
            </a:r>
          </a:p>
          <a:p>
            <a:pPr algn="just"/>
            <a:r>
              <a:rPr lang="en-US" b="1" dirty="0" smtClean="0">
                <a:latin typeface="Book Antiqua" panose="02040602050305030304" pitchFamily="18" charset="0"/>
              </a:rPr>
              <a:t>SWITCHES:- </a:t>
            </a:r>
            <a:r>
              <a:rPr lang="en-US" dirty="0">
                <a:latin typeface="Book Antiqua" panose="02040602050305030304" pitchFamily="18" charset="0"/>
              </a:rPr>
              <a:t>This device allows the flow of current to the circuit when operated and disallow the flow of current when stopped. Its used to ON and Off the </a:t>
            </a:r>
            <a:r>
              <a:rPr lang="en-US" dirty="0" err="1">
                <a:latin typeface="Book Antiqua" panose="02040602050305030304" pitchFamily="18" charset="0"/>
              </a:rPr>
              <a:t>equipments</a:t>
            </a:r>
            <a:r>
              <a:rPr lang="en-US" dirty="0">
                <a:latin typeface="Book Antiqua" panose="02040602050305030304" pitchFamily="18" charset="0"/>
              </a:rPr>
              <a:t>.</a:t>
            </a:r>
          </a:p>
          <a:p>
            <a:pPr algn="just"/>
            <a:r>
              <a:rPr lang="en-US" b="1" dirty="0" smtClean="0">
                <a:latin typeface="Book Antiqua" panose="02040602050305030304" pitchFamily="18" charset="0"/>
              </a:rPr>
              <a:t>INTERLOCKS:- </a:t>
            </a:r>
            <a:r>
              <a:rPr lang="en-US" dirty="0">
                <a:latin typeface="Book Antiqua" panose="02040602050305030304" pitchFamily="18" charset="0"/>
              </a:rPr>
              <a:t>This  delay the exposure in situation the anode rotation is not adequate thereby protect the tube from damage. Also in circumstances of power </a:t>
            </a:r>
            <a:r>
              <a:rPr lang="en-US" dirty="0" smtClean="0">
                <a:latin typeface="Book Antiqua" panose="02040602050305030304" pitchFamily="18" charset="0"/>
              </a:rPr>
              <a:t>fluctuations, </a:t>
            </a:r>
            <a:r>
              <a:rPr lang="en-US" dirty="0">
                <a:latin typeface="Book Antiqua" panose="02040602050305030304" pitchFamily="18" charset="0"/>
              </a:rPr>
              <a:t>the interlocks disallow the exposure. Its fixed in the anode stator circuitry. It protect the tube against power overload , insufficient rotation of the anode </a:t>
            </a:r>
          </a:p>
          <a:p>
            <a:endParaRPr lang="en-US" dirty="0"/>
          </a:p>
        </p:txBody>
      </p:sp>
      <p:sp>
        <p:nvSpPr>
          <p:cNvPr id="2" name="Title 1"/>
          <p:cNvSpPr>
            <a:spLocks noGrp="1"/>
          </p:cNvSpPr>
          <p:nvPr>
            <p:ph type="title"/>
          </p:nvPr>
        </p:nvSpPr>
        <p:spPr>
          <a:xfrm>
            <a:off x="457200" y="557808"/>
            <a:ext cx="8229600" cy="1143000"/>
          </a:xfrm>
        </p:spPr>
        <p:txBody>
          <a:bodyPr>
            <a:normAutofit fontScale="90000"/>
          </a:bodyPr>
          <a:lstStyle/>
          <a:p>
            <a:pPr algn="ctr"/>
            <a:r>
              <a:rPr lang="en-US" sz="3600" dirty="0" smtClean="0">
                <a:latin typeface="Book Antiqua" panose="02040602050305030304" pitchFamily="18" charset="0"/>
              </a:rPr>
              <a:t>OTHER EQUIPMENT ACCESSORIES IN THE X RAY CIRCUITRY</a:t>
            </a:r>
            <a:r>
              <a:rPr lang="en-US" dirty="0" smtClean="0"/>
              <a:t/>
            </a:r>
            <a:br>
              <a:rPr lang="en-US" dirty="0" smtClean="0"/>
            </a:br>
            <a:endParaRPr lang="en-US" dirty="0"/>
          </a:p>
        </p:txBody>
      </p:sp>
    </p:spTree>
    <p:extLst>
      <p:ext uri="{BB962C8B-B14F-4D97-AF65-F5344CB8AC3E}">
        <p14:creationId xmlns:p14="http://schemas.microsoft.com/office/powerpoint/2010/main" val="420303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55365"/>
            <a:ext cx="8229600" cy="4525963"/>
          </a:xfrm>
        </p:spPr>
        <p:txBody>
          <a:bodyPr/>
          <a:lstStyle/>
          <a:p>
            <a:r>
              <a:rPr lang="en-US" b="1" dirty="0">
                <a:latin typeface="Book Antiqua" panose="02040602050305030304" pitchFamily="18" charset="0"/>
              </a:rPr>
              <a:t>RELAY</a:t>
            </a:r>
            <a:r>
              <a:rPr lang="en-US" dirty="0">
                <a:latin typeface="Book Antiqua" panose="02040602050305030304" pitchFamily="18" charset="0"/>
              </a:rPr>
              <a:t>:-This device protect the equipment against high current using the thermal effect of electric current</a:t>
            </a:r>
            <a:r>
              <a:rPr lang="en-US" dirty="0" smtClean="0">
                <a:latin typeface="Book Antiqua" panose="02040602050305030304" pitchFamily="18" charset="0"/>
              </a:rPr>
              <a:t>.</a:t>
            </a:r>
          </a:p>
          <a:p>
            <a:endParaRPr lang="en-US" dirty="0">
              <a:latin typeface="Book Antiqua" panose="02040602050305030304" pitchFamily="18" charset="0"/>
            </a:endParaRPr>
          </a:p>
          <a:p>
            <a:r>
              <a:rPr lang="en-US" b="1" dirty="0">
                <a:latin typeface="Book Antiqua" panose="02040602050305030304" pitchFamily="18" charset="0"/>
              </a:rPr>
              <a:t>CIRCUIT BREAKER</a:t>
            </a:r>
            <a:r>
              <a:rPr lang="en-US" dirty="0">
                <a:latin typeface="Book Antiqua" panose="02040602050305030304" pitchFamily="18" charset="0"/>
              </a:rPr>
              <a:t>:- This protect the equipment from abnormal power supply by discontinue the circuit.</a:t>
            </a:r>
          </a:p>
          <a:p>
            <a:endParaRPr lang="en-US" dirty="0"/>
          </a:p>
        </p:txBody>
      </p:sp>
      <p:sp>
        <p:nvSpPr>
          <p:cNvPr id="2" name="Title 1"/>
          <p:cNvSpPr>
            <a:spLocks noGrp="1"/>
          </p:cNvSpPr>
          <p:nvPr>
            <p:ph type="title"/>
          </p:nvPr>
        </p:nvSpPr>
        <p:spPr/>
        <p:txBody>
          <a:bodyPr>
            <a:noAutofit/>
          </a:bodyPr>
          <a:lstStyle/>
          <a:p>
            <a:pPr algn="ctr"/>
            <a:r>
              <a:rPr lang="en-US" sz="3200" dirty="0">
                <a:latin typeface="Book Antiqua" panose="02040602050305030304" pitchFamily="18" charset="0"/>
              </a:rPr>
              <a:t>OTHER EQUIPMENT ACCESSORIES IN THE X RAY </a:t>
            </a:r>
            <a:r>
              <a:rPr lang="en-US" sz="3200" dirty="0" smtClean="0">
                <a:latin typeface="Book Antiqua" panose="02040602050305030304" pitchFamily="18" charset="0"/>
              </a:rPr>
              <a:t>CIRCUITRY</a:t>
            </a:r>
            <a:endParaRPr lang="en-US" sz="3200" dirty="0"/>
          </a:p>
        </p:txBody>
      </p:sp>
    </p:spTree>
    <p:extLst>
      <p:ext uri="{BB962C8B-B14F-4D97-AF65-F5344CB8AC3E}">
        <p14:creationId xmlns:p14="http://schemas.microsoft.com/office/powerpoint/2010/main" val="266562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1268760"/>
            <a:ext cx="8748464" cy="5256584"/>
          </a:xfrm>
        </p:spPr>
        <p:txBody>
          <a:bodyPr>
            <a:normAutofit/>
          </a:bodyPr>
          <a:lstStyle/>
          <a:p>
            <a:r>
              <a:rPr lang="en-US" dirty="0" smtClean="0">
                <a:latin typeface="Book Antiqua" panose="02040602050305030304" pitchFamily="18" charset="0"/>
              </a:rPr>
              <a:t>X </a:t>
            </a:r>
            <a:r>
              <a:rPr lang="en-US" dirty="0">
                <a:latin typeface="Book Antiqua" panose="02040602050305030304" pitchFamily="18" charset="0"/>
              </a:rPr>
              <a:t>rays are produced when  high speed electrons emitted from the cathode filament are converted to x ray photons as they strike and interact with the target material</a:t>
            </a:r>
            <a:r>
              <a:rPr lang="en-US" dirty="0" smtClean="0">
                <a:latin typeface="Book Antiqua" panose="02040602050305030304" pitchFamily="18" charset="0"/>
              </a:rPr>
              <a:t>. This </a:t>
            </a:r>
            <a:r>
              <a:rPr lang="en-US" dirty="0">
                <a:latin typeface="Book Antiqua" panose="02040602050305030304" pitchFamily="18" charset="0"/>
              </a:rPr>
              <a:t>process involved the following steps:-  </a:t>
            </a:r>
            <a:endParaRPr lang="en-US" dirty="0" smtClean="0">
              <a:latin typeface="Book Antiqua" panose="02040602050305030304" pitchFamily="18" charset="0"/>
            </a:endParaRPr>
          </a:p>
          <a:p>
            <a:r>
              <a:rPr lang="en-US" dirty="0">
                <a:latin typeface="Book Antiqua" panose="02040602050305030304" pitchFamily="18" charset="0"/>
              </a:rPr>
              <a:t>H</a:t>
            </a:r>
            <a:r>
              <a:rPr lang="en-US" dirty="0" smtClean="0">
                <a:latin typeface="Book Antiqua" panose="02040602050305030304" pitchFamily="18" charset="0"/>
              </a:rPr>
              <a:t>eated </a:t>
            </a:r>
            <a:r>
              <a:rPr lang="en-US" dirty="0">
                <a:latin typeface="Book Antiqua" panose="02040602050305030304" pitchFamily="18" charset="0"/>
              </a:rPr>
              <a:t>filament at the </a:t>
            </a:r>
            <a:r>
              <a:rPr lang="en-US" dirty="0" smtClean="0">
                <a:latin typeface="Book Antiqua" panose="02040602050305030304" pitchFamily="18" charset="0"/>
              </a:rPr>
              <a:t>cathode         emission </a:t>
            </a:r>
            <a:r>
              <a:rPr lang="en-US" dirty="0">
                <a:latin typeface="Book Antiqua" panose="02040602050305030304" pitchFamily="18" charset="0"/>
              </a:rPr>
              <a:t>of electrons  to saturation </a:t>
            </a:r>
            <a:r>
              <a:rPr lang="en-US" dirty="0" smtClean="0">
                <a:latin typeface="Book Antiqua" panose="02040602050305030304" pitchFamily="18" charset="0"/>
              </a:rPr>
              <a:t>points</a:t>
            </a:r>
          </a:p>
          <a:p>
            <a:r>
              <a:rPr lang="en-US" dirty="0" smtClean="0">
                <a:latin typeface="Book Antiqua" panose="02040602050305030304" pitchFamily="18" charset="0"/>
              </a:rPr>
              <a:t>Fast </a:t>
            </a:r>
            <a:r>
              <a:rPr lang="en-US" dirty="0">
                <a:latin typeface="Book Antiqua" panose="02040602050305030304" pitchFamily="18" charset="0"/>
              </a:rPr>
              <a:t>movement of electron  due to high potential difference across </a:t>
            </a:r>
            <a:r>
              <a:rPr lang="en-US" dirty="0" smtClean="0">
                <a:latin typeface="Book Antiqua" panose="02040602050305030304" pitchFamily="18" charset="0"/>
              </a:rPr>
              <a:t>vacuum x ray tube.</a:t>
            </a:r>
          </a:p>
          <a:p>
            <a:r>
              <a:rPr lang="en-US" dirty="0">
                <a:latin typeface="Book Antiqua" panose="02040602050305030304" pitchFamily="18" charset="0"/>
              </a:rPr>
              <a:t>B</a:t>
            </a:r>
            <a:r>
              <a:rPr lang="en-US" dirty="0" smtClean="0">
                <a:latin typeface="Book Antiqua" panose="02040602050305030304" pitchFamily="18" charset="0"/>
              </a:rPr>
              <a:t>ombardment </a:t>
            </a:r>
            <a:r>
              <a:rPr lang="en-US" dirty="0">
                <a:latin typeface="Book Antiqua" panose="02040602050305030304" pitchFamily="18" charset="0"/>
              </a:rPr>
              <a:t>of target surface  at </a:t>
            </a:r>
            <a:r>
              <a:rPr lang="en-US" dirty="0" smtClean="0">
                <a:latin typeface="Book Antiqua" panose="02040602050305030304" pitchFamily="18" charset="0"/>
              </a:rPr>
              <a:t>anode interaction </a:t>
            </a:r>
            <a:r>
              <a:rPr lang="en-US" dirty="0">
                <a:latin typeface="Book Antiqua" panose="02040602050305030304" pitchFamily="18" charset="0"/>
              </a:rPr>
              <a:t>of anode target  material by fast moving </a:t>
            </a:r>
            <a:r>
              <a:rPr lang="en-US" dirty="0" smtClean="0">
                <a:latin typeface="Book Antiqua" panose="02040602050305030304" pitchFamily="18" charset="0"/>
              </a:rPr>
              <a:t>electrons.</a:t>
            </a:r>
          </a:p>
          <a:p>
            <a:r>
              <a:rPr lang="en-US" dirty="0">
                <a:latin typeface="Book Antiqua" panose="02040602050305030304" pitchFamily="18" charset="0"/>
              </a:rPr>
              <a:t>D</a:t>
            </a:r>
            <a:r>
              <a:rPr lang="en-US" dirty="0" smtClean="0">
                <a:latin typeface="Book Antiqua" panose="02040602050305030304" pitchFamily="18" charset="0"/>
              </a:rPr>
              <a:t>eceleration </a:t>
            </a:r>
            <a:r>
              <a:rPr lang="en-US" dirty="0">
                <a:latin typeface="Book Antiqua" panose="02040602050305030304" pitchFamily="18" charset="0"/>
              </a:rPr>
              <a:t>of electrons and subsequent loss of energy of electron to release x </a:t>
            </a:r>
            <a:r>
              <a:rPr lang="en-US" dirty="0" smtClean="0">
                <a:latin typeface="Book Antiqua" panose="02040602050305030304" pitchFamily="18" charset="0"/>
              </a:rPr>
              <a:t>ray photons. </a:t>
            </a:r>
            <a:endParaRPr lang="en-US" dirty="0">
              <a:latin typeface="Book Antiqua" panose="02040602050305030304" pitchFamily="18" charset="0"/>
            </a:endParaRPr>
          </a:p>
          <a:p>
            <a:endParaRPr lang="en-US" dirty="0"/>
          </a:p>
        </p:txBody>
      </p:sp>
      <p:sp>
        <p:nvSpPr>
          <p:cNvPr id="2" name="Title 1"/>
          <p:cNvSpPr>
            <a:spLocks noGrp="1"/>
          </p:cNvSpPr>
          <p:nvPr>
            <p:ph type="title"/>
          </p:nvPr>
        </p:nvSpPr>
        <p:spPr/>
        <p:txBody>
          <a:bodyPr>
            <a:normAutofit/>
          </a:bodyPr>
          <a:lstStyle/>
          <a:p>
            <a:pPr algn="ctr"/>
            <a:r>
              <a:rPr lang="en-US" sz="3200" dirty="0">
                <a:latin typeface="Book Antiqua" panose="02040602050305030304" pitchFamily="18" charset="0"/>
              </a:rPr>
              <a:t>CONCEPT OF X RAY PRODUCTION</a:t>
            </a:r>
          </a:p>
        </p:txBody>
      </p:sp>
      <p:sp>
        <p:nvSpPr>
          <p:cNvPr id="6" name="Right Arrow 5"/>
          <p:cNvSpPr/>
          <p:nvPr/>
        </p:nvSpPr>
        <p:spPr>
          <a:xfrm>
            <a:off x="5220072" y="3167257"/>
            <a:ext cx="489204" cy="1897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7" name="Right Arrow 6"/>
          <p:cNvSpPr/>
          <p:nvPr/>
        </p:nvSpPr>
        <p:spPr>
          <a:xfrm>
            <a:off x="6221681" y="4437112"/>
            <a:ext cx="648072" cy="1897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502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96" y="908720"/>
            <a:ext cx="8640960" cy="5544616"/>
          </a:xfrm>
        </p:spPr>
        <p:txBody>
          <a:bodyPr>
            <a:normAutofit fontScale="92500" lnSpcReduction="10000"/>
          </a:bodyPr>
          <a:lstStyle/>
          <a:p>
            <a:pPr marL="109728" indent="0" algn="just">
              <a:buNone/>
            </a:pPr>
            <a:r>
              <a:rPr lang="en-US" sz="2600" dirty="0" smtClean="0">
                <a:latin typeface="Book Antiqua" panose="02040602050305030304" pitchFamily="18" charset="0"/>
              </a:rPr>
              <a:t>There are two methods of X ray production </a:t>
            </a:r>
          </a:p>
          <a:p>
            <a:pPr algn="just"/>
            <a:r>
              <a:rPr lang="en-US" sz="2600" b="1" dirty="0" smtClean="0">
                <a:latin typeface="Book Antiqua" panose="02040602050305030304" pitchFamily="18" charset="0"/>
              </a:rPr>
              <a:t>Continuous Spectrum (Bremsstrahlung or breaking radiation):-</a:t>
            </a:r>
            <a:r>
              <a:rPr lang="en-US" sz="2600" dirty="0" smtClean="0">
                <a:latin typeface="Book Antiqua" panose="02040602050305030304" pitchFamily="18" charset="0"/>
              </a:rPr>
              <a:t> In this process the fast moving electron interact with the target atom and are deflected from their original direction or path thereby loss energy and are decelerated. The kinetic energy loss by the electron is emitted in form of a photon energy called x ray photons. This account for most x rays used in diagnosis</a:t>
            </a:r>
          </a:p>
          <a:p>
            <a:pPr marL="109728" indent="0" algn="just">
              <a:buNone/>
            </a:pPr>
            <a:endParaRPr lang="en-US" sz="1000" dirty="0" smtClean="0">
              <a:latin typeface="Book Antiqua" panose="02040602050305030304" pitchFamily="18" charset="0"/>
            </a:endParaRPr>
          </a:p>
          <a:p>
            <a:pPr algn="just"/>
            <a:r>
              <a:rPr lang="en-US" sz="2600" b="1" dirty="0" smtClean="0">
                <a:latin typeface="Book Antiqua" panose="02040602050305030304" pitchFamily="18" charset="0"/>
              </a:rPr>
              <a:t>Characteristic radiation:- </a:t>
            </a:r>
            <a:r>
              <a:rPr lang="en-US" sz="2600" dirty="0">
                <a:latin typeface="Book Antiqua" panose="02040602050305030304" pitchFamily="18" charset="0"/>
              </a:rPr>
              <a:t>I</a:t>
            </a:r>
            <a:r>
              <a:rPr lang="en-US" sz="2600" dirty="0" smtClean="0">
                <a:latin typeface="Book Antiqua" panose="02040602050305030304" pitchFamily="18" charset="0"/>
              </a:rPr>
              <a:t>s produced when the fast moving electron from the cathode filament interact and eject an inner electron from the orbit of the atom of the target material (Tungsten) thereby causing a vacant orbital shell within the atom of the target material and this vacant orbital shell will  cause electron transition from the outer shell to filled  the gap.</a:t>
            </a:r>
          </a:p>
          <a:p>
            <a:endParaRPr lang="en-US" dirty="0"/>
          </a:p>
        </p:txBody>
      </p:sp>
      <p:sp>
        <p:nvSpPr>
          <p:cNvPr id="2" name="Title 1"/>
          <p:cNvSpPr>
            <a:spLocks noGrp="1"/>
          </p:cNvSpPr>
          <p:nvPr>
            <p:ph type="title"/>
          </p:nvPr>
        </p:nvSpPr>
        <p:spPr>
          <a:xfrm>
            <a:off x="1238944" y="44624"/>
            <a:ext cx="8229600" cy="1143000"/>
          </a:xfrm>
        </p:spPr>
        <p:txBody>
          <a:bodyPr>
            <a:normAutofit/>
          </a:bodyPr>
          <a:lstStyle/>
          <a:p>
            <a:r>
              <a:rPr lang="en-US" sz="3200" dirty="0" smtClean="0"/>
              <a:t>TYPES OF X-RAY PRODUCTION</a:t>
            </a:r>
            <a:endParaRPr lang="en-US" sz="3200" dirty="0"/>
          </a:p>
        </p:txBody>
      </p:sp>
    </p:spTree>
    <p:extLst>
      <p:ext uri="{BB962C8B-B14F-4D97-AF65-F5344CB8AC3E}">
        <p14:creationId xmlns:p14="http://schemas.microsoft.com/office/powerpoint/2010/main" val="1084646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908720"/>
            <a:ext cx="8507288" cy="5760640"/>
          </a:xfrm>
        </p:spPr>
        <p:txBody>
          <a:bodyPr>
            <a:normAutofit/>
          </a:bodyPr>
          <a:lstStyle/>
          <a:p>
            <a:pPr marL="109728" indent="0">
              <a:buNone/>
            </a:pPr>
            <a:r>
              <a:rPr lang="en-US" dirty="0" smtClean="0">
                <a:latin typeface="Book Antiqua" panose="02040602050305030304" pitchFamily="18" charset="0"/>
              </a:rPr>
              <a:t>This </a:t>
            </a:r>
            <a:r>
              <a:rPr lang="en-US" dirty="0">
                <a:latin typeface="Book Antiqua" panose="02040602050305030304" pitchFamily="18" charset="0"/>
              </a:rPr>
              <a:t>is the radiation resulting from the interaction of x rays with matter such as patients, couch, or any other material within the direction of the x </a:t>
            </a:r>
            <a:r>
              <a:rPr lang="en-US" dirty="0" smtClean="0">
                <a:latin typeface="Book Antiqua" panose="02040602050305030304" pitchFamily="18" charset="0"/>
              </a:rPr>
              <a:t>ray beam. </a:t>
            </a:r>
          </a:p>
          <a:p>
            <a:pPr marL="109728" indent="0">
              <a:buNone/>
            </a:pPr>
            <a:r>
              <a:rPr lang="en-US" dirty="0" smtClean="0">
                <a:latin typeface="Book Antiqua" panose="02040602050305030304" pitchFamily="18" charset="0"/>
              </a:rPr>
              <a:t>Their </a:t>
            </a:r>
            <a:r>
              <a:rPr lang="en-US" dirty="0">
                <a:latin typeface="Book Antiqua" panose="02040602050305030304" pitchFamily="18" charset="0"/>
              </a:rPr>
              <a:t>effects are deleterious which causes </a:t>
            </a:r>
            <a:r>
              <a:rPr lang="en-US" dirty="0" smtClean="0">
                <a:latin typeface="Book Antiqua" panose="02040602050305030304" pitchFamily="18" charset="0"/>
              </a:rPr>
              <a:t> </a:t>
            </a:r>
          </a:p>
          <a:p>
            <a:pPr>
              <a:buFont typeface="Wingdings" panose="05000000000000000000" pitchFamily="2" charset="2"/>
              <a:buChar char="ü"/>
            </a:pPr>
            <a:r>
              <a:rPr lang="en-US" dirty="0">
                <a:latin typeface="Book Antiqua" panose="02040602050305030304" pitchFamily="18" charset="0"/>
              </a:rPr>
              <a:t>M</a:t>
            </a:r>
            <a:r>
              <a:rPr lang="en-US" dirty="0" smtClean="0">
                <a:latin typeface="Book Antiqua" panose="02040602050305030304" pitchFamily="18" charset="0"/>
              </a:rPr>
              <a:t>ore </a:t>
            </a:r>
            <a:r>
              <a:rPr lang="en-US" dirty="0">
                <a:latin typeface="Book Antiqua" panose="02040602050305030304" pitchFamily="18" charset="0"/>
              </a:rPr>
              <a:t>patients exposure </a:t>
            </a:r>
            <a:r>
              <a:rPr lang="en-US" dirty="0" smtClean="0">
                <a:latin typeface="Book Antiqua" panose="02040602050305030304" pitchFamily="18" charset="0"/>
              </a:rPr>
              <a:t>dose.</a:t>
            </a:r>
          </a:p>
          <a:p>
            <a:pPr>
              <a:buFont typeface="Wingdings" panose="05000000000000000000" pitchFamily="2" charset="2"/>
              <a:buChar char="ü"/>
            </a:pPr>
            <a:r>
              <a:rPr lang="en-US" dirty="0">
                <a:latin typeface="Book Antiqua" panose="02040602050305030304" pitchFamily="18" charset="0"/>
              </a:rPr>
              <a:t>A</a:t>
            </a:r>
            <a:r>
              <a:rPr lang="en-US" dirty="0" smtClean="0">
                <a:latin typeface="Book Antiqua" panose="02040602050305030304" pitchFamily="18" charset="0"/>
              </a:rPr>
              <a:t>ffect </a:t>
            </a:r>
            <a:r>
              <a:rPr lang="en-US" dirty="0">
                <a:latin typeface="Book Antiqua" panose="02040602050305030304" pitchFamily="18" charset="0"/>
              </a:rPr>
              <a:t>image quality by reducing contrast </a:t>
            </a:r>
            <a:endParaRPr lang="en-US" dirty="0" smtClean="0">
              <a:latin typeface="Book Antiqua" panose="02040602050305030304" pitchFamily="18" charset="0"/>
            </a:endParaRPr>
          </a:p>
          <a:p>
            <a:pPr>
              <a:buFont typeface="Wingdings" panose="05000000000000000000" pitchFamily="2" charset="2"/>
              <a:buChar char="ü"/>
            </a:pPr>
            <a:r>
              <a:rPr lang="en-US" dirty="0" smtClean="0">
                <a:latin typeface="Book Antiqua" panose="02040602050305030304" pitchFamily="18" charset="0"/>
              </a:rPr>
              <a:t> </a:t>
            </a:r>
            <a:r>
              <a:rPr lang="en-US" dirty="0">
                <a:latin typeface="Book Antiqua" panose="02040602050305030304" pitchFamily="18" charset="0"/>
              </a:rPr>
              <a:t>contributes to detector signals and increase noise . Their effects on the Image can be reduced by using </a:t>
            </a:r>
            <a:endParaRPr lang="en-US" dirty="0" smtClean="0">
              <a:latin typeface="Book Antiqua" panose="02040602050305030304" pitchFamily="18" charset="0"/>
            </a:endParaRPr>
          </a:p>
          <a:p>
            <a:pPr>
              <a:buFont typeface="Wingdings" panose="05000000000000000000" pitchFamily="2" charset="2"/>
              <a:buChar char="q"/>
            </a:pPr>
            <a:r>
              <a:rPr lang="en-US" dirty="0" smtClean="0">
                <a:latin typeface="Book Antiqua" panose="02040602050305030304" pitchFamily="18" charset="0"/>
              </a:rPr>
              <a:t> </a:t>
            </a:r>
            <a:r>
              <a:rPr lang="en-US" dirty="0">
                <a:latin typeface="Book Antiqua" panose="02040602050305030304" pitchFamily="18" charset="0"/>
              </a:rPr>
              <a:t>Grid </a:t>
            </a:r>
            <a:endParaRPr lang="en-US" dirty="0" smtClean="0">
              <a:latin typeface="Book Antiqua" panose="02040602050305030304" pitchFamily="18" charset="0"/>
            </a:endParaRPr>
          </a:p>
          <a:p>
            <a:pPr>
              <a:buFont typeface="Wingdings" panose="05000000000000000000" pitchFamily="2" charset="2"/>
              <a:buChar char="q"/>
            </a:pPr>
            <a:r>
              <a:rPr lang="en-US" dirty="0" smtClean="0">
                <a:latin typeface="Book Antiqua" panose="02040602050305030304" pitchFamily="18" charset="0"/>
              </a:rPr>
              <a:t> </a:t>
            </a:r>
            <a:r>
              <a:rPr lang="en-US" dirty="0">
                <a:latin typeface="Book Antiqua" panose="02040602050305030304" pitchFamily="18" charset="0"/>
              </a:rPr>
              <a:t>C</a:t>
            </a:r>
            <a:r>
              <a:rPr lang="en-US" dirty="0" smtClean="0">
                <a:latin typeface="Book Antiqua" panose="02040602050305030304" pitchFamily="18" charset="0"/>
              </a:rPr>
              <a:t>ollimators </a:t>
            </a:r>
          </a:p>
          <a:p>
            <a:pPr>
              <a:buFont typeface="Wingdings" panose="05000000000000000000" pitchFamily="2" charset="2"/>
              <a:buChar char="q"/>
            </a:pPr>
            <a:r>
              <a:rPr lang="en-US" dirty="0" smtClean="0">
                <a:latin typeface="Book Antiqua" panose="02040602050305030304" pitchFamily="18" charset="0"/>
              </a:rPr>
              <a:t> </a:t>
            </a:r>
            <a:r>
              <a:rPr lang="en-US" dirty="0">
                <a:latin typeface="Book Antiqua" panose="02040602050305030304" pitchFamily="18" charset="0"/>
              </a:rPr>
              <a:t>A</a:t>
            </a:r>
            <a:r>
              <a:rPr lang="en-US" dirty="0" smtClean="0">
                <a:latin typeface="Book Antiqua" panose="02040602050305030304" pitchFamily="18" charset="0"/>
              </a:rPr>
              <a:t>ir </a:t>
            </a:r>
            <a:r>
              <a:rPr lang="en-US" dirty="0">
                <a:latin typeface="Book Antiqua" panose="02040602050305030304" pitchFamily="18" charset="0"/>
              </a:rPr>
              <a:t>gap technique and shielding</a:t>
            </a:r>
          </a:p>
          <a:p>
            <a:endParaRPr lang="en-US" dirty="0"/>
          </a:p>
        </p:txBody>
      </p:sp>
      <p:sp>
        <p:nvSpPr>
          <p:cNvPr id="2" name="Title 1"/>
          <p:cNvSpPr>
            <a:spLocks noGrp="1"/>
          </p:cNvSpPr>
          <p:nvPr>
            <p:ph type="title"/>
          </p:nvPr>
        </p:nvSpPr>
        <p:spPr>
          <a:xfrm>
            <a:off x="107504" y="-99392"/>
            <a:ext cx="8229600" cy="1359024"/>
          </a:xfrm>
        </p:spPr>
        <p:txBody>
          <a:bodyPr>
            <a:noAutofit/>
          </a:bodyPr>
          <a:lstStyle/>
          <a:p>
            <a:pPr algn="ctr"/>
            <a:r>
              <a:rPr lang="en-US" sz="3200" dirty="0">
                <a:latin typeface="Book Antiqua" panose="02040602050305030304" pitchFamily="18" charset="0"/>
              </a:rPr>
              <a:t>SECONDARY /SCATTERED RADIATION</a:t>
            </a:r>
            <a:br>
              <a:rPr lang="en-US" sz="3200" dirty="0">
                <a:latin typeface="Book Antiqua" panose="02040602050305030304" pitchFamily="18" charset="0"/>
              </a:rPr>
            </a:br>
            <a:endParaRPr lang="en-US" sz="3200" dirty="0"/>
          </a:p>
        </p:txBody>
      </p:sp>
    </p:spTree>
    <p:extLst>
      <p:ext uri="{BB962C8B-B14F-4D97-AF65-F5344CB8AC3E}">
        <p14:creationId xmlns:p14="http://schemas.microsoft.com/office/powerpoint/2010/main" val="1268876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496944" cy="5760640"/>
          </a:xfrm>
        </p:spPr>
        <p:txBody>
          <a:bodyPr>
            <a:normAutofit fontScale="25000" lnSpcReduction="20000"/>
          </a:bodyPr>
          <a:lstStyle/>
          <a:p>
            <a:pPr marL="109728" indent="0" algn="ctr">
              <a:buNone/>
            </a:pPr>
            <a:r>
              <a:rPr lang="en-US" sz="11200" b="1" dirty="0">
                <a:latin typeface="Book Antiqua" panose="02040602050305030304" pitchFamily="18" charset="0"/>
              </a:rPr>
              <a:t>ANTI SCATTERED </a:t>
            </a:r>
            <a:r>
              <a:rPr lang="en-US" sz="11200" b="1" dirty="0" smtClean="0">
                <a:latin typeface="Book Antiqua" panose="02040602050305030304" pitchFamily="18" charset="0"/>
              </a:rPr>
              <a:t>GRID</a:t>
            </a:r>
          </a:p>
          <a:p>
            <a:pPr marL="109728" indent="0">
              <a:buNone/>
            </a:pPr>
            <a:endParaRPr lang="en-US" sz="4400" b="1" dirty="0">
              <a:latin typeface="Book Antiqua" panose="02040602050305030304" pitchFamily="18" charset="0"/>
            </a:endParaRPr>
          </a:p>
          <a:p>
            <a:pPr algn="just"/>
            <a:r>
              <a:rPr lang="en-US" sz="9600" dirty="0">
                <a:latin typeface="Book Antiqua" panose="02040602050305030304" pitchFamily="18" charset="0"/>
              </a:rPr>
              <a:t>This is a device place between the patient and the image receptor to absorbed scattered radiation from getting to the receptor while allowing the primary x ray beam  that traverse the patient to reach the detector. It </a:t>
            </a:r>
            <a:r>
              <a:rPr lang="en-US" sz="9600" dirty="0" smtClean="0">
                <a:latin typeface="Book Antiqua" panose="02040602050305030304" pitchFamily="18" charset="0"/>
              </a:rPr>
              <a:t>comprise </a:t>
            </a:r>
            <a:r>
              <a:rPr lang="en-US" sz="9600" dirty="0">
                <a:latin typeface="Book Antiqua" panose="02040602050305030304" pitchFamily="18" charset="0"/>
              </a:rPr>
              <a:t>of a thin strip of lead separated by some interspace radio parent   materials mostly made of organic compound or aluminum. It operates on the principle that scattered radiation are </a:t>
            </a:r>
            <a:r>
              <a:rPr lang="en-US" sz="9600" dirty="0" smtClean="0">
                <a:latin typeface="Book Antiqua" panose="02040602050305030304" pitchFamily="18" charset="0"/>
              </a:rPr>
              <a:t>moving </a:t>
            </a:r>
            <a:r>
              <a:rPr lang="en-US" sz="9600" dirty="0">
                <a:latin typeface="Book Antiqua" panose="02040602050305030304" pitchFamily="18" charset="0"/>
              </a:rPr>
              <a:t>perpendicular to the direction of  primary beam and  are absorbed  by the lead </a:t>
            </a:r>
            <a:r>
              <a:rPr lang="en-US" sz="9600" dirty="0" smtClean="0">
                <a:latin typeface="Book Antiqua" panose="02040602050305030304" pitchFamily="18" charset="0"/>
              </a:rPr>
              <a:t>strip</a:t>
            </a:r>
          </a:p>
          <a:p>
            <a:pPr marL="109728" indent="0" algn="just">
              <a:buNone/>
            </a:pPr>
            <a:endParaRPr lang="en-US" sz="9600" dirty="0">
              <a:latin typeface="Book Antiqua" panose="02040602050305030304" pitchFamily="18" charset="0"/>
            </a:endParaRPr>
          </a:p>
          <a:p>
            <a:pPr algn="just"/>
            <a:r>
              <a:rPr lang="en-US" sz="9600" dirty="0">
                <a:latin typeface="Book Antiqua" panose="02040602050305030304" pitchFamily="18" charset="0"/>
              </a:rPr>
              <a:t>Grid ratio is a statement of the height of the lead strip to the distance of the interspace materials. This tells more of the efficacy of the grid. There are different types of </a:t>
            </a:r>
            <a:r>
              <a:rPr lang="en-US" sz="9600" dirty="0" smtClean="0">
                <a:latin typeface="Book Antiqua" panose="02040602050305030304" pitchFamily="18" charset="0"/>
              </a:rPr>
              <a:t>grid</a:t>
            </a:r>
          </a:p>
          <a:p>
            <a:pPr marL="109728" indent="0" algn="just">
              <a:buNone/>
            </a:pPr>
            <a:endParaRPr lang="en-US" sz="9600" dirty="0">
              <a:latin typeface="Book Antiqua" panose="02040602050305030304" pitchFamily="18" charset="0"/>
            </a:endParaRPr>
          </a:p>
          <a:p>
            <a:pPr algn="just"/>
            <a:r>
              <a:rPr lang="en-US" sz="9600" dirty="0">
                <a:latin typeface="Book Antiqua" panose="02040602050305030304" pitchFamily="18" charset="0"/>
              </a:rPr>
              <a:t>Linear grid: The lead strip are parallel to each other in their longitudinal axis.</a:t>
            </a:r>
          </a:p>
          <a:p>
            <a:endParaRPr lang="en-US" dirty="0">
              <a:latin typeface="Book Antiqua" panose="02040602050305030304" pitchFamily="18" charset="0"/>
            </a:endParaRPr>
          </a:p>
        </p:txBody>
      </p:sp>
    </p:spTree>
    <p:extLst>
      <p:ext uri="{BB962C8B-B14F-4D97-AF65-F5344CB8AC3E}">
        <p14:creationId xmlns:p14="http://schemas.microsoft.com/office/powerpoint/2010/main" val="256829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548680"/>
            <a:ext cx="8229600" cy="5832648"/>
          </a:xfrm>
        </p:spPr>
        <p:txBody>
          <a:bodyPr>
            <a:normAutofit fontScale="25000" lnSpcReduction="20000"/>
          </a:bodyPr>
          <a:lstStyle/>
          <a:p>
            <a:pPr marL="109728" indent="0">
              <a:buNone/>
            </a:pPr>
            <a:r>
              <a:rPr lang="en-US" sz="9800" b="1" dirty="0">
                <a:latin typeface="Book Antiqua" panose="02040602050305030304" pitchFamily="18" charset="0"/>
              </a:rPr>
              <a:t>ANTI SCATTERED </a:t>
            </a:r>
            <a:r>
              <a:rPr lang="en-US" sz="9800" b="1" dirty="0" smtClean="0">
                <a:latin typeface="Book Antiqua" panose="02040602050305030304" pitchFamily="18" charset="0"/>
              </a:rPr>
              <a:t>GRID CONTD.</a:t>
            </a:r>
          </a:p>
          <a:p>
            <a:pPr marL="109728" indent="0">
              <a:buNone/>
            </a:pPr>
            <a:endParaRPr lang="en-US" sz="9800" b="1" dirty="0" smtClean="0">
              <a:latin typeface="Book Antiqua" panose="02040602050305030304" pitchFamily="18" charset="0"/>
            </a:endParaRPr>
          </a:p>
          <a:p>
            <a:pPr algn="just"/>
            <a:r>
              <a:rPr lang="en-US" sz="11200" dirty="0" smtClean="0">
                <a:latin typeface="Book Antiqua" panose="02040602050305030304" pitchFamily="18" charset="0"/>
              </a:rPr>
              <a:t>Cross </a:t>
            </a:r>
            <a:r>
              <a:rPr lang="en-US" sz="11200" dirty="0">
                <a:latin typeface="Book Antiqua" panose="02040602050305030304" pitchFamily="18" charset="0"/>
              </a:rPr>
              <a:t>grid: This is made of two linear </a:t>
            </a:r>
            <a:r>
              <a:rPr lang="en-US" sz="11200" dirty="0" smtClean="0">
                <a:latin typeface="Book Antiqua" panose="02040602050305030304" pitchFamily="18" charset="0"/>
              </a:rPr>
              <a:t>grids </a:t>
            </a:r>
            <a:r>
              <a:rPr lang="en-US" sz="11200" dirty="0">
                <a:latin typeface="Book Antiqua" panose="02040602050305030304" pitchFamily="18" charset="0"/>
              </a:rPr>
              <a:t>superimpose on each other</a:t>
            </a:r>
            <a:r>
              <a:rPr lang="en-US" sz="11200" dirty="0" smtClean="0">
                <a:latin typeface="Book Antiqua" panose="02040602050305030304" pitchFamily="18" charset="0"/>
              </a:rPr>
              <a:t>.</a:t>
            </a:r>
          </a:p>
          <a:p>
            <a:pPr marL="109728" indent="0" algn="just">
              <a:buNone/>
            </a:pPr>
            <a:endParaRPr lang="en-US" sz="11200" dirty="0">
              <a:latin typeface="Book Antiqua" panose="02040602050305030304" pitchFamily="18" charset="0"/>
            </a:endParaRPr>
          </a:p>
          <a:p>
            <a:pPr algn="just"/>
            <a:r>
              <a:rPr lang="en-US" sz="11200" dirty="0">
                <a:latin typeface="Book Antiqua" panose="02040602050305030304" pitchFamily="18" charset="0"/>
              </a:rPr>
              <a:t>Focus grid: This is ma.de up of lead strip slightly angle in space to form a convergent lines</a:t>
            </a:r>
            <a:r>
              <a:rPr lang="en-US" sz="11200" dirty="0" smtClean="0">
                <a:latin typeface="Book Antiqua" panose="02040602050305030304" pitchFamily="18" charset="0"/>
              </a:rPr>
              <a:t>.</a:t>
            </a:r>
          </a:p>
          <a:p>
            <a:pPr marL="109728" indent="0" algn="just">
              <a:buNone/>
            </a:pPr>
            <a:endParaRPr lang="en-US" sz="11200" dirty="0">
              <a:latin typeface="Book Antiqua" panose="02040602050305030304" pitchFamily="18" charset="0"/>
            </a:endParaRPr>
          </a:p>
          <a:p>
            <a:pPr algn="just"/>
            <a:r>
              <a:rPr lang="en-US" sz="11200" dirty="0">
                <a:latin typeface="Book Antiqua" panose="02040602050305030304" pitchFamily="18" charset="0"/>
              </a:rPr>
              <a:t>Parallel grid : The lead strip are parallel when view in cross section. Mostly used in </a:t>
            </a:r>
            <a:r>
              <a:rPr lang="en-US" sz="11200" dirty="0" smtClean="0">
                <a:latin typeface="Book Antiqua" panose="02040602050305030304" pitchFamily="18" charset="0"/>
              </a:rPr>
              <a:t>fluoroscopy</a:t>
            </a:r>
          </a:p>
          <a:p>
            <a:pPr marL="109728" indent="0" algn="just">
              <a:buNone/>
            </a:pPr>
            <a:endParaRPr lang="en-US" sz="11200" dirty="0">
              <a:latin typeface="Book Antiqua" panose="02040602050305030304" pitchFamily="18" charset="0"/>
            </a:endParaRPr>
          </a:p>
          <a:p>
            <a:pPr algn="just"/>
            <a:r>
              <a:rPr lang="en-US" sz="11200" dirty="0">
                <a:latin typeface="Book Antiqua" panose="02040602050305030304" pitchFamily="18" charset="0"/>
              </a:rPr>
              <a:t>One of the disadvantage of grid is the appearance of grid lines on the image and this can be corrected by the use of moving grid called B</a:t>
            </a:r>
            <a:r>
              <a:rPr lang="en-US" sz="11200" dirty="0" smtClean="0">
                <a:latin typeface="Book Antiqua" panose="02040602050305030304" pitchFamily="18" charset="0"/>
              </a:rPr>
              <a:t>ucky</a:t>
            </a:r>
            <a:r>
              <a:rPr lang="en-US" sz="11200" dirty="0">
                <a:latin typeface="Book Antiqua" panose="02040602050305030304" pitchFamily="18" charset="0"/>
              </a:rPr>
              <a:t>.</a:t>
            </a:r>
          </a:p>
          <a:p>
            <a:endParaRPr lang="en-US" dirty="0">
              <a:latin typeface="Book Antiqua" panose="02040602050305030304" pitchFamily="18" charset="0"/>
            </a:endParaRPr>
          </a:p>
        </p:txBody>
      </p:sp>
    </p:spTree>
    <p:extLst>
      <p:ext uri="{BB962C8B-B14F-4D97-AF65-F5344CB8AC3E}">
        <p14:creationId xmlns:p14="http://schemas.microsoft.com/office/powerpoint/2010/main" val="12330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400600"/>
          </a:xfrm>
        </p:spPr>
        <p:txBody>
          <a:bodyPr>
            <a:normAutofit fontScale="25000" lnSpcReduction="20000"/>
          </a:bodyPr>
          <a:lstStyle/>
          <a:p>
            <a:pPr marL="109728" indent="0" algn="ctr">
              <a:buNone/>
            </a:pPr>
            <a:r>
              <a:rPr lang="en-US" sz="8000" b="1" dirty="0">
                <a:latin typeface="Book Antiqua" panose="02040602050305030304" pitchFamily="18" charset="0"/>
              </a:rPr>
              <a:t>BUCKY  ASSEMBLY</a:t>
            </a:r>
          </a:p>
          <a:p>
            <a:r>
              <a:rPr lang="en-US" sz="8000" dirty="0">
                <a:latin typeface="Book Antiqua" panose="02040602050305030304" pitchFamily="18" charset="0"/>
              </a:rPr>
              <a:t> The movement of grid during exposure is aim at removing the grid lines from the image.</a:t>
            </a:r>
          </a:p>
          <a:p>
            <a:r>
              <a:rPr lang="en-US" sz="8000" dirty="0">
                <a:latin typeface="Book Antiqua" panose="02040602050305030304" pitchFamily="18" charset="0"/>
              </a:rPr>
              <a:t>The main components are </a:t>
            </a:r>
            <a:r>
              <a:rPr lang="en-US" sz="8000" dirty="0" smtClean="0">
                <a:latin typeface="Book Antiqua" panose="02040602050305030304" pitchFamily="18" charset="0"/>
              </a:rPr>
              <a:t>:- </a:t>
            </a:r>
            <a:r>
              <a:rPr lang="en-US" sz="8000" dirty="0">
                <a:latin typeface="Book Antiqua" panose="02040602050305030304" pitchFamily="18" charset="0"/>
              </a:rPr>
              <a:t>Grid moving mechanism, grid drive mechanism, detector holding tray, </a:t>
            </a:r>
            <a:r>
              <a:rPr lang="en-US" sz="8000" dirty="0" smtClean="0">
                <a:latin typeface="Book Antiqua" panose="02040602050305030304" pitchFamily="18" charset="0"/>
              </a:rPr>
              <a:t>Bucky </a:t>
            </a:r>
            <a:r>
              <a:rPr lang="en-US" sz="8000" dirty="0">
                <a:latin typeface="Book Antiqua" panose="02040602050305030304" pitchFamily="18" charset="0"/>
              </a:rPr>
              <a:t>housing and grid</a:t>
            </a:r>
          </a:p>
          <a:p>
            <a:r>
              <a:rPr lang="en-US" sz="8000" dirty="0">
                <a:latin typeface="Book Antiqua" panose="02040602050305030304" pitchFamily="18" charset="0"/>
              </a:rPr>
              <a:t>The </a:t>
            </a:r>
            <a:r>
              <a:rPr lang="en-US" sz="8000" dirty="0" smtClean="0">
                <a:latin typeface="Book Antiqua" panose="02040602050305030304" pitchFamily="18" charset="0"/>
              </a:rPr>
              <a:t>Bucky </a:t>
            </a:r>
            <a:r>
              <a:rPr lang="en-US" sz="8000" dirty="0">
                <a:latin typeface="Book Antiqua" panose="02040602050305030304" pitchFamily="18" charset="0"/>
              </a:rPr>
              <a:t>assembly has its circuit that its energized during prep for exposure and this enable the grid to move until exposure is terminated.</a:t>
            </a:r>
          </a:p>
          <a:p>
            <a:r>
              <a:rPr lang="en-US" sz="8000" dirty="0">
                <a:latin typeface="Book Antiqua" panose="02040602050305030304" pitchFamily="18" charset="0"/>
              </a:rPr>
              <a:t>There </a:t>
            </a:r>
            <a:r>
              <a:rPr lang="en-US" sz="8000" dirty="0" smtClean="0">
                <a:latin typeface="Book Antiqua" panose="02040602050305030304" pitchFamily="18" charset="0"/>
              </a:rPr>
              <a:t> are two </a:t>
            </a:r>
            <a:r>
              <a:rPr lang="en-US" sz="8000" dirty="0">
                <a:latin typeface="Book Antiqua" panose="02040602050305030304" pitchFamily="18" charset="0"/>
              </a:rPr>
              <a:t>types: Vertical and </a:t>
            </a:r>
            <a:r>
              <a:rPr lang="en-US" sz="8000" dirty="0" smtClean="0">
                <a:latin typeface="Book Antiqua" panose="02040602050305030304" pitchFamily="18" charset="0"/>
              </a:rPr>
              <a:t>horizontal or table Bucky.</a:t>
            </a:r>
          </a:p>
          <a:p>
            <a:endParaRPr lang="en-US" sz="8000" dirty="0">
              <a:latin typeface="Book Antiqua" panose="02040602050305030304" pitchFamily="18" charset="0"/>
            </a:endParaRPr>
          </a:p>
          <a:p>
            <a:pPr marL="109728" indent="0" algn="ctr">
              <a:buNone/>
            </a:pPr>
            <a:r>
              <a:rPr lang="en-US" sz="8000" b="1" dirty="0">
                <a:latin typeface="Book Antiqua" panose="02040602050305030304" pitchFamily="18" charset="0"/>
              </a:rPr>
              <a:t>FUNCTIONS OF GRID</a:t>
            </a:r>
          </a:p>
          <a:p>
            <a:r>
              <a:rPr lang="en-US" sz="8000" dirty="0" smtClean="0">
                <a:latin typeface="Book Antiqua" panose="02040602050305030304" pitchFamily="18" charset="0"/>
              </a:rPr>
              <a:t> </a:t>
            </a:r>
            <a:r>
              <a:rPr lang="en-US" sz="8000" dirty="0">
                <a:latin typeface="Book Antiqua" panose="02040602050305030304" pitchFamily="18" charset="0"/>
              </a:rPr>
              <a:t>R</a:t>
            </a:r>
            <a:r>
              <a:rPr lang="en-US" sz="8000" dirty="0" smtClean="0">
                <a:latin typeface="Book Antiqua" panose="02040602050305030304" pitchFamily="18" charset="0"/>
              </a:rPr>
              <a:t>educes </a:t>
            </a:r>
            <a:r>
              <a:rPr lang="en-US" sz="8000" dirty="0">
                <a:latin typeface="Book Antiqua" panose="02040602050305030304" pitchFamily="18" charset="0"/>
              </a:rPr>
              <a:t>scattered radiation from the patients reaching the image receptor</a:t>
            </a:r>
          </a:p>
          <a:p>
            <a:r>
              <a:rPr lang="en-US" sz="8000" dirty="0" smtClean="0">
                <a:latin typeface="Book Antiqua" panose="02040602050305030304" pitchFamily="18" charset="0"/>
              </a:rPr>
              <a:t> </a:t>
            </a:r>
            <a:r>
              <a:rPr lang="en-US" sz="8000" dirty="0">
                <a:latin typeface="Book Antiqua" panose="02040602050305030304" pitchFamily="18" charset="0"/>
              </a:rPr>
              <a:t>Improves image contrast</a:t>
            </a:r>
          </a:p>
          <a:p>
            <a:r>
              <a:rPr lang="en-US" sz="8000" dirty="0" smtClean="0">
                <a:latin typeface="Book Antiqua" panose="02040602050305030304" pitchFamily="18" charset="0"/>
              </a:rPr>
              <a:t> </a:t>
            </a:r>
            <a:r>
              <a:rPr lang="en-US" sz="8000" dirty="0">
                <a:latin typeface="Book Antiqua" panose="02040602050305030304" pitchFamily="18" charset="0"/>
              </a:rPr>
              <a:t>I</a:t>
            </a:r>
            <a:r>
              <a:rPr lang="en-US" sz="8000" dirty="0" smtClean="0">
                <a:latin typeface="Book Antiqua" panose="02040602050305030304" pitchFamily="18" charset="0"/>
              </a:rPr>
              <a:t>mproves </a:t>
            </a:r>
            <a:r>
              <a:rPr lang="en-US" sz="8000" dirty="0">
                <a:latin typeface="Book Antiqua" panose="02040602050305030304" pitchFamily="18" charset="0"/>
              </a:rPr>
              <a:t>image quality</a:t>
            </a:r>
          </a:p>
          <a:p>
            <a:r>
              <a:rPr lang="en-US" sz="8000" dirty="0" smtClean="0">
                <a:latin typeface="Book Antiqua" panose="02040602050305030304" pitchFamily="18" charset="0"/>
              </a:rPr>
              <a:t> </a:t>
            </a:r>
            <a:r>
              <a:rPr lang="en-US" sz="8000" dirty="0">
                <a:latin typeface="Book Antiqua" panose="02040602050305030304" pitchFamily="18" charset="0"/>
              </a:rPr>
              <a:t>Reduces background </a:t>
            </a:r>
            <a:r>
              <a:rPr lang="en-US" sz="8000" dirty="0" smtClean="0">
                <a:latin typeface="Book Antiqua" panose="02040602050305030304" pitchFamily="18" charset="0"/>
              </a:rPr>
              <a:t>fog</a:t>
            </a:r>
            <a:endParaRPr lang="en-US" sz="8000" dirty="0">
              <a:latin typeface="Book Antiqua" panose="02040602050305030304" pitchFamily="18" charset="0"/>
            </a:endParaRPr>
          </a:p>
          <a:p>
            <a:r>
              <a:rPr lang="en-US" sz="8000" dirty="0" smtClean="0">
                <a:latin typeface="Book Antiqua" panose="02040602050305030304" pitchFamily="18" charset="0"/>
              </a:rPr>
              <a:t> </a:t>
            </a:r>
            <a:r>
              <a:rPr lang="en-US" sz="8000" dirty="0">
                <a:latin typeface="Book Antiqua" panose="02040602050305030304" pitchFamily="18" charset="0"/>
              </a:rPr>
              <a:t>I</a:t>
            </a:r>
            <a:r>
              <a:rPr lang="en-US" sz="8000" dirty="0" smtClean="0">
                <a:latin typeface="Book Antiqua" panose="02040602050305030304" pitchFamily="18" charset="0"/>
              </a:rPr>
              <a:t>mproves </a:t>
            </a:r>
            <a:r>
              <a:rPr lang="en-US" sz="8000" dirty="0">
                <a:latin typeface="Book Antiqua" panose="02040602050305030304" pitchFamily="18" charset="0"/>
              </a:rPr>
              <a:t>diagnostic accuracy and visibility of thick body parts</a:t>
            </a:r>
          </a:p>
          <a:p>
            <a:r>
              <a:rPr lang="en-US" sz="8000" dirty="0">
                <a:latin typeface="Book Antiqua" panose="02040602050305030304" pitchFamily="18" charset="0"/>
              </a:rPr>
              <a:t>Its also important to note that grid increases patient radiation dose due to increase in exposure factors.</a:t>
            </a:r>
          </a:p>
          <a:p>
            <a:endParaRPr lang="en-US" dirty="0">
              <a:latin typeface="Book Antiqua" panose="02040602050305030304" pitchFamily="18" charset="0"/>
            </a:endParaRPr>
          </a:p>
        </p:txBody>
      </p:sp>
    </p:spTree>
    <p:extLst>
      <p:ext uri="{BB962C8B-B14F-4D97-AF65-F5344CB8AC3E}">
        <p14:creationId xmlns:p14="http://schemas.microsoft.com/office/powerpoint/2010/main" val="3718262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08720"/>
            <a:ext cx="8640960" cy="5688632"/>
          </a:xfrm>
        </p:spPr>
        <p:txBody>
          <a:bodyPr>
            <a:normAutofit fontScale="70000" lnSpcReduction="20000"/>
          </a:bodyPr>
          <a:lstStyle/>
          <a:p>
            <a:pPr lvl="0">
              <a:lnSpc>
                <a:spcPct val="170000"/>
              </a:lnSpc>
            </a:pPr>
            <a:r>
              <a:rPr lang="en-US" b="1" dirty="0" smtClean="0">
                <a:latin typeface="Book Antiqua" panose="02040602050305030304" pitchFamily="18" charset="0"/>
              </a:rPr>
              <a:t>PORTABLE</a:t>
            </a:r>
            <a:r>
              <a:rPr lang="en-US" dirty="0" smtClean="0">
                <a:latin typeface="Book Antiqua" panose="02040602050305030304" pitchFamily="18" charset="0"/>
              </a:rPr>
              <a:t> :- This has a stationary anode x ray tube, its power ranges from 40 -80kvp and 50- 100mA can only be used for extremities . More so it can be dismantled and easily carried to places </a:t>
            </a:r>
          </a:p>
          <a:p>
            <a:pPr lvl="0">
              <a:lnSpc>
                <a:spcPct val="170000"/>
              </a:lnSpc>
            </a:pPr>
            <a:r>
              <a:rPr lang="en-US" b="1" dirty="0" smtClean="0">
                <a:latin typeface="Book Antiqua" panose="02040602050305030304" pitchFamily="18" charset="0"/>
              </a:rPr>
              <a:t>MOBILE</a:t>
            </a:r>
            <a:r>
              <a:rPr lang="en-US" dirty="0" smtClean="0">
                <a:latin typeface="Book Antiqua" panose="02040602050305030304" pitchFamily="18" charset="0"/>
              </a:rPr>
              <a:t> :- This can be moved from one place to another within the department or hospital , it has low power rating 50-100kvp and 50-200mA, It has a HT generator within its assembly , it can be battery powered or plug into direct Ac supply of 240V. It has a rotational anode.</a:t>
            </a:r>
          </a:p>
          <a:p>
            <a:pPr lvl="0">
              <a:lnSpc>
                <a:spcPct val="170000"/>
              </a:lnSpc>
            </a:pPr>
            <a:r>
              <a:rPr lang="en-US" b="1" dirty="0" smtClean="0">
                <a:latin typeface="Book Antiqua" panose="02040602050305030304" pitchFamily="18" charset="0"/>
              </a:rPr>
              <a:t>STATIC</a:t>
            </a:r>
            <a:r>
              <a:rPr lang="en-US" dirty="0" smtClean="0">
                <a:latin typeface="Book Antiqua" panose="02040602050305030304" pitchFamily="18" charset="0"/>
              </a:rPr>
              <a:t> </a:t>
            </a:r>
            <a:r>
              <a:rPr lang="en-US" dirty="0">
                <a:latin typeface="Book Antiqua" panose="02040602050305030304" pitchFamily="18" charset="0"/>
              </a:rPr>
              <a:t>:- This has a higher power rating (40-120kvp and 50-500mA) with a dual focus and a rotating anode assembly. It can be ceiling or floor mounted. Its suitable for a variety of examinations. Its limitation are required a large space , requires additional source of power 415V , expensive to </a:t>
            </a:r>
            <a:r>
              <a:rPr lang="en-US" dirty="0" smtClean="0">
                <a:latin typeface="Book Antiqua" panose="02040602050305030304" pitchFamily="18" charset="0"/>
              </a:rPr>
              <a:t>purchase and installed </a:t>
            </a:r>
            <a:endParaRPr lang="en-US" dirty="0">
              <a:latin typeface="Book Antiqua" panose="02040602050305030304" pitchFamily="18" charset="0"/>
            </a:endParaRPr>
          </a:p>
          <a:p>
            <a:endParaRPr lang="en-US" dirty="0"/>
          </a:p>
        </p:txBody>
      </p:sp>
      <p:sp>
        <p:nvSpPr>
          <p:cNvPr id="2" name="Title 1"/>
          <p:cNvSpPr>
            <a:spLocks noGrp="1"/>
          </p:cNvSpPr>
          <p:nvPr>
            <p:ph type="title"/>
          </p:nvPr>
        </p:nvSpPr>
        <p:spPr/>
        <p:txBody>
          <a:bodyPr>
            <a:normAutofit fontScale="90000"/>
          </a:bodyPr>
          <a:lstStyle/>
          <a:p>
            <a:r>
              <a:rPr lang="en-US" dirty="0" smtClean="0"/>
              <a:t>TYPES OF X RAY MACHINES</a:t>
            </a:r>
            <a:br>
              <a:rPr lang="en-US" dirty="0" smtClean="0"/>
            </a:br>
            <a:endParaRPr lang="en-US" dirty="0"/>
          </a:p>
        </p:txBody>
      </p:sp>
    </p:spTree>
    <p:extLst>
      <p:ext uri="{BB962C8B-B14F-4D97-AF65-F5344CB8AC3E}">
        <p14:creationId xmlns:p14="http://schemas.microsoft.com/office/powerpoint/2010/main" val="1079864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5116024"/>
          </a:xfrm>
        </p:spPr>
        <p:txBody>
          <a:bodyPr>
            <a:normAutofit lnSpcReduction="10000"/>
          </a:bodyPr>
          <a:lstStyle/>
          <a:p>
            <a:r>
              <a:rPr lang="en-US" sz="2400" b="1" dirty="0" smtClean="0"/>
              <a:t>MAMMOGRAPHY</a:t>
            </a:r>
            <a:r>
              <a:rPr lang="en-US" sz="2400" dirty="0" smtClean="0"/>
              <a:t>:-</a:t>
            </a:r>
            <a:r>
              <a:rPr lang="en-US" sz="2400" dirty="0"/>
              <a:t>mammography machine is a specialized X-ray imaging equipment used to examine the breasts for the early detection and diagnosis of breast diseases, especially breast cancer</a:t>
            </a:r>
            <a:r>
              <a:rPr lang="en-US" sz="2400" dirty="0" smtClean="0"/>
              <a:t>.</a:t>
            </a:r>
          </a:p>
          <a:p>
            <a:r>
              <a:rPr lang="en-US" sz="2400" b="1" dirty="0" smtClean="0"/>
              <a:t>C ARM</a:t>
            </a:r>
            <a:r>
              <a:rPr lang="en-US" sz="2400" dirty="0" smtClean="0"/>
              <a:t>:-</a:t>
            </a:r>
            <a:r>
              <a:rPr lang="en-US" sz="2400" dirty="0"/>
              <a:t>A C-arm machine is a mobile medical X-ray imaging machine used to produce real-time images of internal body structures during surgical operations, diagnostic procedures and interventional treatments</a:t>
            </a:r>
            <a:r>
              <a:rPr lang="en-US" sz="2400" dirty="0" smtClean="0"/>
              <a:t>. Is mostly used </a:t>
            </a:r>
            <a:r>
              <a:rPr lang="en-US" sz="2400" smtClean="0"/>
              <a:t>in theaters.</a:t>
            </a:r>
            <a:endParaRPr lang="en-US" sz="2400" dirty="0"/>
          </a:p>
          <a:p>
            <a:r>
              <a:rPr lang="en-US" sz="2400" b="1" dirty="0" smtClean="0"/>
              <a:t>FLUOROSCOPY</a:t>
            </a:r>
            <a:r>
              <a:rPr lang="en-US" sz="2400" dirty="0" smtClean="0"/>
              <a:t>:-</a:t>
            </a:r>
            <a:r>
              <a:rPr lang="en-US" sz="2400" dirty="0"/>
              <a:t>is a medical imaging device that uses X-rays to produce real-time moving images of the inside of the body.</a:t>
            </a:r>
          </a:p>
        </p:txBody>
      </p:sp>
      <p:sp>
        <p:nvSpPr>
          <p:cNvPr id="3" name="Title 2"/>
          <p:cNvSpPr>
            <a:spLocks noGrp="1"/>
          </p:cNvSpPr>
          <p:nvPr>
            <p:ph type="title"/>
          </p:nvPr>
        </p:nvSpPr>
        <p:spPr/>
        <p:txBody>
          <a:bodyPr>
            <a:normAutofit fontScale="90000"/>
          </a:bodyPr>
          <a:lstStyle/>
          <a:p>
            <a:r>
              <a:rPr lang="en-US" dirty="0" smtClean="0"/>
              <a:t>TYPES OF X RAY MACHINE CONTD</a:t>
            </a:r>
            <a:endParaRPr lang="en-US" dirty="0"/>
          </a:p>
        </p:txBody>
      </p:sp>
    </p:spTree>
    <p:extLst>
      <p:ext uri="{BB962C8B-B14F-4D97-AF65-F5344CB8AC3E}">
        <p14:creationId xmlns:p14="http://schemas.microsoft.com/office/powerpoint/2010/main" val="2709904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ANY QUESTION FROM THE LECTURE ?</a:t>
            </a:r>
            <a:endParaRPr lang="en-US"/>
          </a:p>
        </p:txBody>
      </p:sp>
      <p:sp>
        <p:nvSpPr>
          <p:cNvPr id="3" name="Title 2"/>
          <p:cNvSpPr>
            <a:spLocks noGrp="1"/>
          </p:cNvSpPr>
          <p:nvPr>
            <p:ph type="title"/>
          </p:nvPr>
        </p:nvSpPr>
        <p:spPr/>
        <p:txBody>
          <a:bodyPr>
            <a:normAutofit fontScale="90000"/>
          </a:bodyPr>
          <a:lstStyle/>
          <a:p>
            <a:r>
              <a:rPr lang="en-US" dirty="0" smtClean="0"/>
              <a:t>YOU ARE FREE TO ASK QUESTIONS</a:t>
            </a:r>
            <a:endParaRPr lang="en-US" dirty="0"/>
          </a:p>
        </p:txBody>
      </p:sp>
    </p:spTree>
    <p:extLst>
      <p:ext uri="{BB962C8B-B14F-4D97-AF65-F5344CB8AC3E}">
        <p14:creationId xmlns:p14="http://schemas.microsoft.com/office/powerpoint/2010/main" val="7661653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269</TotalTime>
  <Words>2710</Words>
  <Application>Microsoft Office PowerPoint</Application>
  <PresentationFormat>On-screen Show (4:3)</PresentationFormat>
  <Paragraphs>186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Concourse</vt:lpstr>
      <vt:lpstr>PowerPoint Presentation</vt:lpstr>
      <vt:lpstr>INTRODUCTION TO BASIC RADIOGRAPHIC EQUIPMENT</vt:lpstr>
      <vt:lpstr>COURSE OUTLINE </vt:lpstr>
      <vt:lpstr>INTRODUCTION </vt:lpstr>
      <vt:lpstr>INTRODUCTION CONTD. </vt:lpstr>
      <vt:lpstr>INTRODUCTION CONTD.</vt:lpstr>
      <vt:lpstr>INTRODUCTION CONTD.</vt:lpstr>
      <vt:lpstr>X- RAY GENERATOR</vt:lpstr>
      <vt:lpstr>  MAIN COMPONENTS OF AN X-RAY GENERATOR </vt:lpstr>
      <vt:lpstr>  HIGH-VOLTAGE TRANSFORMER   </vt:lpstr>
      <vt:lpstr>PowerPoint Presentation</vt:lpstr>
      <vt:lpstr>HOW AN X-RAY GENERATOR WORKS </vt:lpstr>
      <vt:lpstr>STEP-BY-STEP EXPLANATION </vt:lpstr>
      <vt:lpstr>IMPORTANT EXPOSURE FACTORS CONTROLLED BY THE GENERATOR </vt:lpstr>
      <vt:lpstr>TYPES OF X-RAY GENERATORS</vt:lpstr>
      <vt:lpstr>TYPES OF GENERATOR CONTD. </vt:lpstr>
      <vt:lpstr>FUNCTIONS OF AN X-RAY GENERATOR </vt:lpstr>
      <vt:lpstr>BEAM LIMITING /CENTERING DEVICES</vt:lpstr>
      <vt:lpstr>OTHER EQUIPMENT ACCESSORIES IN THE X RAY CIRCUITRY </vt:lpstr>
      <vt:lpstr>OTHER EQUIPMENT ACCESSORIES IN THE X RAY CIRCUITRY</vt:lpstr>
      <vt:lpstr>CONCEPT OF X RAY PRODUCTION</vt:lpstr>
      <vt:lpstr>TYPES OF X-RAY PRODUCTION</vt:lpstr>
      <vt:lpstr>SECONDARY /SCATTERED RADIATION </vt:lpstr>
      <vt:lpstr>PowerPoint Presentation</vt:lpstr>
      <vt:lpstr>PowerPoint Presentation</vt:lpstr>
      <vt:lpstr>PowerPoint Presentation</vt:lpstr>
      <vt:lpstr>TYPES OF X RAY MACHINES </vt:lpstr>
      <vt:lpstr>TYPES OF X RAY MACHINE CONTD</vt:lpstr>
      <vt:lpstr>YOU ARE FREE TO ASK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HELLO</dc:creator>
  <cp:lastModifiedBy>HELLO</cp:lastModifiedBy>
  <cp:revision>92</cp:revision>
  <dcterms:created xsi:type="dcterms:W3CDTF">2026-10-19T07:40:13Z</dcterms:created>
  <dcterms:modified xsi:type="dcterms:W3CDTF">2026-10-21T17:02:48Z</dcterms:modified>
</cp:coreProperties>
</file>