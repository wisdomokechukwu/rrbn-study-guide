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5" r:id="rId9"/>
    <p:sldId id="268" r:id="rId10"/>
    <p:sldId id="270" r:id="rId11"/>
    <p:sldId id="271" r:id="rId12"/>
    <p:sldId id="272" r:id="rId13"/>
    <p:sldId id="322" r:id="rId14"/>
    <p:sldId id="273" r:id="rId15"/>
    <p:sldId id="274" r:id="rId16"/>
    <p:sldId id="275" r:id="rId17"/>
    <p:sldId id="276" r:id="rId18"/>
    <p:sldId id="277" r:id="rId19"/>
    <p:sldId id="278" r:id="rId20"/>
    <p:sldId id="323" r:id="rId21"/>
    <p:sldId id="279" r:id="rId22"/>
    <p:sldId id="280" r:id="rId23"/>
    <p:sldId id="281" r:id="rId24"/>
    <p:sldId id="282" r:id="rId25"/>
    <p:sldId id="283" r:id="rId26"/>
    <p:sldId id="284" r:id="rId27"/>
    <p:sldId id="285" r:id="rId28"/>
    <p:sldId id="286" r:id="rId29"/>
    <p:sldId id="324" r:id="rId30"/>
    <p:sldId id="325" r:id="rId31"/>
    <p:sldId id="287" r:id="rId32"/>
    <p:sldId id="288"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7" r:id="rId57"/>
    <p:sldId id="318" r:id="rId58"/>
    <p:sldId id="319" r:id="rId59"/>
    <p:sldId id="320" r:id="rId60"/>
    <p:sldId id="321"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8D5F3-FE8D-E9AB-03F2-C068AD73C4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91A85B7-EF5D-3A9B-7038-0FDDAC50E3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08BC7F-B2AD-2EFB-A6D5-1165D91EFC67}"/>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5" name="Footer Placeholder 4">
            <a:extLst>
              <a:ext uri="{FF2B5EF4-FFF2-40B4-BE49-F238E27FC236}">
                <a16:creationId xmlns:a16="http://schemas.microsoft.com/office/drawing/2014/main" id="{136BF3CB-101B-CC10-60B6-B6A33A241F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BED245-0ECF-E3EA-2D8A-B9A1623C7D01}"/>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2236875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8350A-776A-816E-68B9-B17EB43F98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636734-AA9C-BC5F-E2FA-C009DB34EF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D72E7C-F8B6-3084-437A-B0E380B01F10}"/>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5" name="Footer Placeholder 4">
            <a:extLst>
              <a:ext uri="{FF2B5EF4-FFF2-40B4-BE49-F238E27FC236}">
                <a16:creationId xmlns:a16="http://schemas.microsoft.com/office/drawing/2014/main" id="{27C5B30C-06CE-1009-D819-2012BB9DF6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1C7FF0-0382-B071-F8FA-122396F1765C}"/>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2971586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17E37-1C56-36F2-CB8D-958D37EAFA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F98B64B-B8D8-B757-F595-FF5CB99B33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78EE13-B7ED-31FF-9C62-A5761A3E75B4}"/>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5" name="Footer Placeholder 4">
            <a:extLst>
              <a:ext uri="{FF2B5EF4-FFF2-40B4-BE49-F238E27FC236}">
                <a16:creationId xmlns:a16="http://schemas.microsoft.com/office/drawing/2014/main" id="{72183D60-E8EA-B772-485B-67C510E0EB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561565-BB25-4B58-EC63-80FE38DF43AB}"/>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2602205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C053B-94C7-8C23-C38A-4433055B4D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BC089E-1640-07A0-E2C4-7BB264327E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A1EC234-6D86-861C-E591-5543C8D426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A578C2-1395-2757-ADEB-16BFAF60EA52}"/>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6" name="Footer Placeholder 5">
            <a:extLst>
              <a:ext uri="{FF2B5EF4-FFF2-40B4-BE49-F238E27FC236}">
                <a16:creationId xmlns:a16="http://schemas.microsoft.com/office/drawing/2014/main" id="{EF3186FD-AC64-6AFA-A427-008EAF91D4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3AE915-2451-5A91-6AF4-DC67FAF30436}"/>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1865397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AF7FF-FCFD-7369-C2D6-9EE7B2CA212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27D9A8-7440-1388-2CBE-9E948FAB5D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765D48-5A8A-D4A3-2AF7-C1A3424A04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85E61-8EA7-D9B4-C4FB-D5C13E3B07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70EEDD-E8C7-0A1D-3385-97CE2818BD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D4D128-F998-C7E9-8149-135C4F2211AB}"/>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8" name="Footer Placeholder 7">
            <a:extLst>
              <a:ext uri="{FF2B5EF4-FFF2-40B4-BE49-F238E27FC236}">
                <a16:creationId xmlns:a16="http://schemas.microsoft.com/office/drawing/2014/main" id="{9DECAB18-8EA7-4C79-66D2-2F556A51C2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283FB4-CD05-DAE1-7347-F72CBCB40764}"/>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2371734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4A3A1-B2CE-7249-7DEE-BD8461B2B75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317A57-D818-222E-E01A-3973D409B13A}"/>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4" name="Footer Placeholder 3">
            <a:extLst>
              <a:ext uri="{FF2B5EF4-FFF2-40B4-BE49-F238E27FC236}">
                <a16:creationId xmlns:a16="http://schemas.microsoft.com/office/drawing/2014/main" id="{87E9F9AA-E38C-2468-8CD3-E44A3BDEF7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7B1B68-EF97-6330-1FB1-935685A8CDC3}"/>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3183446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456D48-4ADD-1634-DAAF-A015776CAEA7}"/>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3" name="Footer Placeholder 2">
            <a:extLst>
              <a:ext uri="{FF2B5EF4-FFF2-40B4-BE49-F238E27FC236}">
                <a16:creationId xmlns:a16="http://schemas.microsoft.com/office/drawing/2014/main" id="{196E0D70-35F9-BB02-7466-75F6EAF205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2FB68C-F46B-5769-5D7F-E207678F57C6}"/>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1561390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4E62D-5BFB-268A-8821-97D9D6B445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9A8BA2-FF5A-168B-DD53-4247E03BC9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F18EAC-F73D-533B-A97A-150FA2BC97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F7BF3B-5F7F-3DF6-B758-1715D138E48D}"/>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6" name="Footer Placeholder 5">
            <a:extLst>
              <a:ext uri="{FF2B5EF4-FFF2-40B4-BE49-F238E27FC236}">
                <a16:creationId xmlns:a16="http://schemas.microsoft.com/office/drawing/2014/main" id="{3D61223F-53D9-03BA-EC93-22BD8E8EA2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14DB62-CCB3-CE08-F90F-AC6169ED0EB6}"/>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482851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CC8A0-3E33-83C3-DDB9-79A6844052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22136F-F813-F224-15EB-91B3B1D7BF8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1124CA-D959-5BDF-D81F-F6CAF89080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C3679D-2500-0810-949F-73FB1482C36F}"/>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6" name="Footer Placeholder 5">
            <a:extLst>
              <a:ext uri="{FF2B5EF4-FFF2-40B4-BE49-F238E27FC236}">
                <a16:creationId xmlns:a16="http://schemas.microsoft.com/office/drawing/2014/main" id="{A2A81AE9-92B8-4D97-D945-2E07C71CBB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C31880-CFD8-6BE9-8731-BD530622B453}"/>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3560654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8C185-D04E-14EE-115F-3568A51F143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714DBD-E1FC-33FE-E9B3-E53BB8D5CC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881965-9DAB-1DBE-DF93-C03D06C3CA83}"/>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5" name="Footer Placeholder 4">
            <a:extLst>
              <a:ext uri="{FF2B5EF4-FFF2-40B4-BE49-F238E27FC236}">
                <a16:creationId xmlns:a16="http://schemas.microsoft.com/office/drawing/2014/main" id="{4C870163-55E5-095D-A82B-62F8E0F232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6EF684-083E-CF43-CBD7-C8E5D0EC8D1D}"/>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2449465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CB704F-FFA5-0CC5-2385-5293EEAA3B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BB3A72-AED9-6ABC-A651-DDC47CF71D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1A1A27-F0C0-A10F-527E-E536ECAC6A2F}"/>
              </a:ext>
            </a:extLst>
          </p:cNvPr>
          <p:cNvSpPr>
            <a:spLocks noGrp="1"/>
          </p:cNvSpPr>
          <p:nvPr>
            <p:ph type="dt" sz="half" idx="10"/>
          </p:nvPr>
        </p:nvSpPr>
        <p:spPr/>
        <p:txBody>
          <a:bodyPr/>
          <a:lstStyle/>
          <a:p>
            <a:fld id="{8E735FAA-43B3-4FF1-8733-E13CAF2EAF78}" type="datetimeFigureOut">
              <a:rPr lang="en-US" smtClean="0"/>
              <a:t>10/21/2026</a:t>
            </a:fld>
            <a:endParaRPr lang="en-US"/>
          </a:p>
        </p:txBody>
      </p:sp>
      <p:sp>
        <p:nvSpPr>
          <p:cNvPr id="5" name="Footer Placeholder 4">
            <a:extLst>
              <a:ext uri="{FF2B5EF4-FFF2-40B4-BE49-F238E27FC236}">
                <a16:creationId xmlns:a16="http://schemas.microsoft.com/office/drawing/2014/main" id="{68EFE441-CD0E-F42D-996E-FCE9FBF3B7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8A5B42-DF06-9A18-685E-37F78FD14B95}"/>
              </a:ext>
            </a:extLst>
          </p:cNvPr>
          <p:cNvSpPr>
            <a:spLocks noGrp="1"/>
          </p:cNvSpPr>
          <p:nvPr>
            <p:ph type="sldNum" sz="quarter" idx="12"/>
          </p:nvPr>
        </p:nvSpPr>
        <p:spPr/>
        <p:txBody>
          <a:bodyPr/>
          <a:lstStyle/>
          <a:p>
            <a:fld id="{C387AFCF-1F5D-4497-AB6B-30B9F28BD3FA}" type="slidenum">
              <a:rPr lang="en-US" smtClean="0"/>
              <a:t>‹#›</a:t>
            </a:fld>
            <a:endParaRPr lang="en-US"/>
          </a:p>
        </p:txBody>
      </p:sp>
    </p:spTree>
    <p:extLst>
      <p:ext uri="{BB962C8B-B14F-4D97-AF65-F5344CB8AC3E}">
        <p14:creationId xmlns:p14="http://schemas.microsoft.com/office/powerpoint/2010/main" val="1097267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73858A-1470-D1F9-20DC-FA51201011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12193A-06D4-7C5F-2078-95C66377EF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05124B-AE0A-4013-6E92-2AA7C5BFDD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735FAA-43B3-4FF1-8733-E13CAF2EAF78}" type="datetimeFigureOut">
              <a:rPr lang="en-US" smtClean="0"/>
              <a:t>10/21/2026</a:t>
            </a:fld>
            <a:endParaRPr lang="en-US"/>
          </a:p>
        </p:txBody>
      </p:sp>
      <p:sp>
        <p:nvSpPr>
          <p:cNvPr id="5" name="Footer Placeholder 4">
            <a:extLst>
              <a:ext uri="{FF2B5EF4-FFF2-40B4-BE49-F238E27FC236}">
                <a16:creationId xmlns:a16="http://schemas.microsoft.com/office/drawing/2014/main" id="{6F7B1F8C-5084-8A2C-593B-6E4DE37C52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55D39FA-35FD-B600-DBDB-F686198344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87AFCF-1F5D-4497-AB6B-30B9F28BD3FA}" type="slidenum">
              <a:rPr lang="en-US" smtClean="0"/>
              <a:t>‹#›</a:t>
            </a:fld>
            <a:endParaRPr lang="en-US"/>
          </a:p>
        </p:txBody>
      </p:sp>
    </p:spTree>
    <p:extLst>
      <p:ext uri="{BB962C8B-B14F-4D97-AF65-F5344CB8AC3E}">
        <p14:creationId xmlns:p14="http://schemas.microsoft.com/office/powerpoint/2010/main" val="720508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86C408-5892-6097-8EA7-2A1617952806}"/>
              </a:ext>
            </a:extLst>
          </p:cNvPr>
          <p:cNvSpPr txBox="1"/>
          <p:nvPr/>
        </p:nvSpPr>
        <p:spPr>
          <a:xfrm>
            <a:off x="562708" y="-67781"/>
            <a:ext cx="11629291" cy="7109639"/>
          </a:xfrm>
          <a:prstGeom prst="rect">
            <a:avLst/>
          </a:prstGeom>
          <a:noFill/>
        </p:spPr>
        <p:txBody>
          <a:bodyPr wrap="square">
            <a:spAutoFit/>
          </a:bodyPr>
          <a:lstStyle/>
          <a:p>
            <a:pPr marL="0" indent="0" algn="ctr">
              <a:buNone/>
            </a:pPr>
            <a:r>
              <a:rPr lang="en-US" sz="3800" b="1" dirty="0">
                <a:solidFill>
                  <a:srgbClr val="EE0000"/>
                </a:solidFill>
              </a:rPr>
              <a:t>MXT202 </a:t>
            </a:r>
          </a:p>
          <a:p>
            <a:pPr marL="0" indent="0" algn="ctr">
              <a:buNone/>
            </a:pPr>
            <a:r>
              <a:rPr lang="en-US" sz="3800" b="1" dirty="0">
                <a:solidFill>
                  <a:srgbClr val="EE0000"/>
                </a:solidFill>
              </a:rPr>
              <a:t>MANUAL FILM PROCESSING, EQUIPMENT AND TECHNIQUES</a:t>
            </a:r>
          </a:p>
          <a:p>
            <a:pPr marL="0" indent="0" algn="ctr">
              <a:buNone/>
            </a:pPr>
            <a:r>
              <a:rPr lang="en-US" sz="3800" b="1" dirty="0"/>
              <a:t>RRBN PREGISTRATION RETRAINING COURSE FOR XRAY TECHNICIAN </a:t>
            </a:r>
          </a:p>
          <a:p>
            <a:pPr marL="0" indent="0" algn="ctr">
              <a:buNone/>
            </a:pPr>
            <a:r>
              <a:rPr lang="en-US" sz="3800" b="1" dirty="0">
                <a:solidFill>
                  <a:srgbClr val="EE0000"/>
                </a:solidFill>
              </a:rPr>
              <a:t>BY</a:t>
            </a:r>
          </a:p>
          <a:p>
            <a:pPr marL="0" indent="0" algn="ctr">
              <a:buNone/>
            </a:pPr>
            <a:r>
              <a:rPr lang="en-US" sz="3800" b="1" dirty="0"/>
              <a:t>EGOP BROWNSON EGOP</a:t>
            </a:r>
          </a:p>
          <a:p>
            <a:pPr marL="0" indent="0" algn="ctr">
              <a:buNone/>
            </a:pPr>
            <a:r>
              <a:rPr lang="en-US" sz="3800" b="1" dirty="0"/>
              <a:t>21</a:t>
            </a:r>
            <a:r>
              <a:rPr lang="en-US" sz="3800" b="1" baseline="30000" dirty="0"/>
              <a:t>ST</a:t>
            </a:r>
            <a:r>
              <a:rPr lang="en-US" sz="3800" b="1" dirty="0"/>
              <a:t>  0CTOBER,2026</a:t>
            </a:r>
          </a:p>
          <a:p>
            <a:pPr marL="0" indent="0" algn="ctr">
              <a:buNone/>
            </a:pPr>
            <a:r>
              <a:rPr lang="en-US" sz="3800" b="1" dirty="0">
                <a:solidFill>
                  <a:srgbClr val="EE0000"/>
                </a:solidFill>
              </a:rPr>
              <a:t>@</a:t>
            </a:r>
          </a:p>
          <a:p>
            <a:pPr marL="0" indent="0" algn="ctr">
              <a:buNone/>
            </a:pPr>
            <a:r>
              <a:rPr lang="en-US" sz="3800" b="1" dirty="0">
                <a:solidFill>
                  <a:srgbClr val="EE0000"/>
                </a:solidFill>
              </a:rPr>
              <a:t>FACULTY OF BASIC MEDICAL SCIENCES</a:t>
            </a:r>
          </a:p>
          <a:p>
            <a:pPr marL="0" indent="0" algn="ctr">
              <a:buNone/>
            </a:pPr>
            <a:r>
              <a:rPr lang="en-US" sz="3800" b="1" dirty="0">
                <a:solidFill>
                  <a:srgbClr val="EE0000"/>
                </a:solidFill>
              </a:rPr>
              <a:t>COLLEGE OF MEDICAL SCIENCES</a:t>
            </a:r>
          </a:p>
          <a:p>
            <a:pPr marL="0" indent="0" algn="ctr">
              <a:buNone/>
            </a:pPr>
            <a:r>
              <a:rPr lang="en-US" sz="3800" b="1" dirty="0">
                <a:solidFill>
                  <a:srgbClr val="EE0000"/>
                </a:solidFill>
              </a:rPr>
              <a:t>RIVERS STATE UNIVERSITY, PORT-HARCOURT</a:t>
            </a:r>
          </a:p>
        </p:txBody>
      </p:sp>
    </p:spTree>
    <p:extLst>
      <p:ext uri="{BB962C8B-B14F-4D97-AF65-F5344CB8AC3E}">
        <p14:creationId xmlns:p14="http://schemas.microsoft.com/office/powerpoint/2010/main" val="3939572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46D68-4DCB-789B-734E-431AA19BCEC5}"/>
              </a:ext>
            </a:extLst>
          </p:cNvPr>
          <p:cNvSpPr>
            <a:spLocks noGrp="1"/>
          </p:cNvSpPr>
          <p:nvPr>
            <p:ph type="title"/>
          </p:nvPr>
        </p:nvSpPr>
        <p:spPr>
          <a:xfrm>
            <a:off x="838200" y="112543"/>
            <a:ext cx="10515600" cy="900331"/>
          </a:xfrm>
        </p:spPr>
        <p:txBody>
          <a:bodyPr/>
          <a:lstStyle/>
          <a:p>
            <a:pPr algn="ctr"/>
            <a:r>
              <a:rPr lang="en-US" b="1" dirty="0">
                <a:solidFill>
                  <a:srgbClr val="EE0000"/>
                </a:solidFill>
              </a:rPr>
              <a:t>Course outline</a:t>
            </a:r>
            <a:endParaRPr lang="en-US" dirty="0">
              <a:solidFill>
                <a:srgbClr val="EE0000"/>
              </a:solidFill>
            </a:endParaRPr>
          </a:p>
        </p:txBody>
      </p:sp>
      <p:sp>
        <p:nvSpPr>
          <p:cNvPr id="3" name="Content Placeholder 2">
            <a:extLst>
              <a:ext uri="{FF2B5EF4-FFF2-40B4-BE49-F238E27FC236}">
                <a16:creationId xmlns:a16="http://schemas.microsoft.com/office/drawing/2014/main" id="{A1BDB68D-D2D4-20E3-2EC2-3F8CFD03DAED}"/>
              </a:ext>
            </a:extLst>
          </p:cNvPr>
          <p:cNvSpPr>
            <a:spLocks noGrp="1"/>
          </p:cNvSpPr>
          <p:nvPr>
            <p:ph idx="1"/>
          </p:nvPr>
        </p:nvSpPr>
        <p:spPr>
          <a:xfrm>
            <a:off x="0" y="1012874"/>
            <a:ext cx="12192000" cy="5732583"/>
          </a:xfrm>
        </p:spPr>
        <p:txBody>
          <a:bodyPr>
            <a:normAutofit lnSpcReduction="10000"/>
          </a:bodyPr>
          <a:lstStyle/>
          <a:p>
            <a:pPr marL="0" indent="0">
              <a:spcAft>
                <a:spcPts val="600"/>
              </a:spcAft>
              <a:buNone/>
            </a:pPr>
            <a:r>
              <a:rPr lang="en-US" dirty="0">
                <a:solidFill>
                  <a:srgbClr val="000000"/>
                </a:solidFill>
              </a:rPr>
              <a:t>1. Single-Bath Processing</a:t>
            </a:r>
            <a:endParaRPr lang="en-US" dirty="0"/>
          </a:p>
          <a:p>
            <a:pPr marL="0" indent="0">
              <a:spcAft>
                <a:spcPts val="600"/>
              </a:spcAft>
              <a:buNone/>
            </a:pPr>
            <a:r>
              <a:rPr lang="en-US" dirty="0">
                <a:solidFill>
                  <a:srgbClr val="000000"/>
                </a:solidFill>
              </a:rPr>
              <a:t>2. Conventional Processing</a:t>
            </a:r>
            <a:endParaRPr lang="en-US" dirty="0"/>
          </a:p>
          <a:p>
            <a:pPr marL="0" indent="0">
              <a:spcAft>
                <a:spcPts val="600"/>
              </a:spcAft>
              <a:buNone/>
            </a:pPr>
            <a:r>
              <a:rPr lang="en-US" dirty="0">
                <a:solidFill>
                  <a:srgbClr val="000000"/>
                </a:solidFill>
              </a:rPr>
              <a:t>3. The Integrated System</a:t>
            </a:r>
            <a:endParaRPr lang="en-US" dirty="0"/>
          </a:p>
          <a:p>
            <a:pPr marL="0" indent="0">
              <a:spcAft>
                <a:spcPts val="600"/>
              </a:spcAft>
              <a:buNone/>
            </a:pPr>
            <a:r>
              <a:rPr lang="en-US" dirty="0">
                <a:solidFill>
                  <a:srgbClr val="000000"/>
                </a:solidFill>
              </a:rPr>
              <a:t>4. Construction, Layout and Materials</a:t>
            </a:r>
            <a:endParaRPr lang="en-US" dirty="0"/>
          </a:p>
          <a:p>
            <a:pPr marL="0" indent="0">
              <a:spcAft>
                <a:spcPts val="600"/>
              </a:spcAft>
              <a:buNone/>
            </a:pPr>
            <a:r>
              <a:rPr lang="en-US" dirty="0">
                <a:solidFill>
                  <a:srgbClr val="000000"/>
                </a:solidFill>
              </a:rPr>
              <a:t>5. Water Supply Requirements</a:t>
            </a:r>
            <a:endParaRPr lang="en-US" dirty="0"/>
          </a:p>
          <a:p>
            <a:pPr marL="0" indent="0">
              <a:spcAft>
                <a:spcPts val="600"/>
              </a:spcAft>
              <a:buNone/>
            </a:pPr>
            <a:r>
              <a:rPr lang="en-US" dirty="0">
                <a:solidFill>
                  <a:srgbClr val="000000"/>
                </a:solidFill>
              </a:rPr>
              <a:t>6. Care and Maintenance of Equipment</a:t>
            </a:r>
            <a:endParaRPr lang="en-US" dirty="0"/>
          </a:p>
          <a:p>
            <a:pPr marL="0" indent="0">
              <a:spcAft>
                <a:spcPts val="600"/>
              </a:spcAft>
              <a:buNone/>
            </a:pPr>
            <a:r>
              <a:rPr lang="en-US" dirty="0">
                <a:solidFill>
                  <a:srgbClr val="000000"/>
                </a:solidFill>
              </a:rPr>
              <a:t>7. COR: Control and Replenishment</a:t>
            </a:r>
            <a:endParaRPr lang="en-US" dirty="0"/>
          </a:p>
          <a:p>
            <a:pPr marL="0" indent="0">
              <a:spcAft>
                <a:spcPts val="600"/>
              </a:spcAft>
              <a:buNone/>
            </a:pPr>
            <a:r>
              <a:rPr lang="en-US" dirty="0">
                <a:solidFill>
                  <a:srgbClr val="000000"/>
                </a:solidFill>
              </a:rPr>
              <a:t>8. Processing Artifacts</a:t>
            </a:r>
            <a:endParaRPr lang="en-US" dirty="0"/>
          </a:p>
          <a:p>
            <a:pPr marL="0" indent="0">
              <a:spcAft>
                <a:spcPts val="600"/>
              </a:spcAft>
              <a:buNone/>
            </a:pPr>
            <a:r>
              <a:rPr lang="en-US" dirty="0">
                <a:solidFill>
                  <a:srgbClr val="000000"/>
                </a:solidFill>
              </a:rPr>
              <a:t>9. Sequence of Processing</a:t>
            </a:r>
            <a:endParaRPr lang="en-US" dirty="0"/>
          </a:p>
          <a:p>
            <a:pPr marL="0" indent="0">
              <a:spcAft>
                <a:spcPts val="600"/>
              </a:spcAft>
              <a:buNone/>
            </a:pPr>
            <a:r>
              <a:rPr lang="en-US" dirty="0">
                <a:solidFill>
                  <a:srgbClr val="000000"/>
                </a:solidFill>
              </a:rPr>
              <a:t>10. Silver Recovery and Conservation</a:t>
            </a:r>
            <a:endParaRPr lang="en-US" dirty="0"/>
          </a:p>
          <a:p>
            <a:endParaRPr lang="en-US" dirty="0"/>
          </a:p>
        </p:txBody>
      </p:sp>
    </p:spTree>
    <p:extLst>
      <p:ext uri="{BB962C8B-B14F-4D97-AF65-F5344CB8AC3E}">
        <p14:creationId xmlns:p14="http://schemas.microsoft.com/office/powerpoint/2010/main" val="1118982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10B35-4280-7336-2FE2-FF49711BFC85}"/>
              </a:ext>
            </a:extLst>
          </p:cNvPr>
          <p:cNvSpPr>
            <a:spLocks noGrp="1"/>
          </p:cNvSpPr>
          <p:nvPr>
            <p:ph type="title"/>
          </p:nvPr>
        </p:nvSpPr>
        <p:spPr/>
        <p:txBody>
          <a:bodyPr/>
          <a:lstStyle/>
          <a:p>
            <a:pPr algn="ctr"/>
            <a:r>
              <a:rPr lang="en-US" b="1" dirty="0">
                <a:solidFill>
                  <a:srgbClr val="EE0000"/>
                </a:solidFill>
              </a:rPr>
              <a:t>Learning objectives</a:t>
            </a:r>
            <a:endParaRPr lang="en-US" dirty="0">
              <a:solidFill>
                <a:srgbClr val="EE0000"/>
              </a:solidFill>
            </a:endParaRPr>
          </a:p>
        </p:txBody>
      </p:sp>
      <p:sp>
        <p:nvSpPr>
          <p:cNvPr id="3" name="Content Placeholder 2">
            <a:extLst>
              <a:ext uri="{FF2B5EF4-FFF2-40B4-BE49-F238E27FC236}">
                <a16:creationId xmlns:a16="http://schemas.microsoft.com/office/drawing/2014/main" id="{AAD9EDC3-64BE-5CB4-2C4A-52ED038337EF}"/>
              </a:ext>
            </a:extLst>
          </p:cNvPr>
          <p:cNvSpPr>
            <a:spLocks noGrp="1"/>
          </p:cNvSpPr>
          <p:nvPr>
            <p:ph idx="1"/>
          </p:nvPr>
        </p:nvSpPr>
        <p:spPr/>
        <p:txBody>
          <a:bodyPr/>
          <a:lstStyle/>
          <a:p>
            <a:pPr>
              <a:spcAft>
                <a:spcPts val="800"/>
              </a:spcAft>
              <a:buSzPct val="100000"/>
            </a:pPr>
            <a:r>
              <a:rPr lang="en-US" dirty="0">
                <a:solidFill>
                  <a:srgbClr val="000000"/>
                </a:solidFill>
              </a:rPr>
              <a:t>Explain single-bath, conventional and integrated processing</a:t>
            </a:r>
            <a:endParaRPr lang="en-US" dirty="0"/>
          </a:p>
          <a:p>
            <a:pPr>
              <a:spcAft>
                <a:spcPts val="800"/>
              </a:spcAft>
              <a:buSzPct val="100000"/>
            </a:pPr>
            <a:r>
              <a:rPr lang="en-US" dirty="0">
                <a:solidFill>
                  <a:srgbClr val="000000"/>
                </a:solidFill>
              </a:rPr>
              <a:t>Describe darkroom construction, layout, materials and water supply</a:t>
            </a:r>
            <a:endParaRPr lang="en-US" dirty="0"/>
          </a:p>
          <a:p>
            <a:pPr>
              <a:spcAft>
                <a:spcPts val="800"/>
              </a:spcAft>
              <a:buSzPct val="100000"/>
            </a:pPr>
            <a:r>
              <a:rPr lang="en-US" dirty="0">
                <a:solidFill>
                  <a:srgbClr val="000000"/>
                </a:solidFill>
              </a:rPr>
              <a:t>Care for equipment and control processing chemistry</a:t>
            </a:r>
            <a:endParaRPr lang="en-US" dirty="0"/>
          </a:p>
          <a:p>
            <a:pPr>
              <a:spcAft>
                <a:spcPts val="800"/>
              </a:spcAft>
              <a:buSzPct val="100000"/>
            </a:pPr>
            <a:r>
              <a:rPr lang="en-US" dirty="0" err="1">
                <a:solidFill>
                  <a:srgbClr val="000000"/>
                </a:solidFill>
              </a:rPr>
              <a:t>Recognise</a:t>
            </a:r>
            <a:r>
              <a:rPr lang="en-US" dirty="0">
                <a:solidFill>
                  <a:srgbClr val="000000"/>
                </a:solidFill>
              </a:rPr>
              <a:t> processing artifacts and follow the sequence of processing</a:t>
            </a:r>
            <a:endParaRPr lang="en-US" dirty="0"/>
          </a:p>
          <a:p>
            <a:pPr>
              <a:spcAft>
                <a:spcPts val="800"/>
              </a:spcAft>
              <a:buSzPct val="100000"/>
            </a:pPr>
            <a:r>
              <a:rPr lang="en-US" dirty="0">
                <a:solidFill>
                  <a:srgbClr val="000000"/>
                </a:solidFill>
              </a:rPr>
              <a:t>Apply silver recovery and conservation</a:t>
            </a:r>
            <a:endParaRPr lang="en-US" dirty="0"/>
          </a:p>
          <a:p>
            <a:endParaRPr lang="en-US" dirty="0"/>
          </a:p>
        </p:txBody>
      </p:sp>
    </p:spTree>
    <p:extLst>
      <p:ext uri="{BB962C8B-B14F-4D97-AF65-F5344CB8AC3E}">
        <p14:creationId xmlns:p14="http://schemas.microsoft.com/office/powerpoint/2010/main" val="1629868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846EB-097B-42C5-F3F2-47E724D48C96}"/>
              </a:ext>
            </a:extLst>
          </p:cNvPr>
          <p:cNvSpPr>
            <a:spLocks noGrp="1"/>
          </p:cNvSpPr>
          <p:nvPr>
            <p:ph type="title"/>
          </p:nvPr>
        </p:nvSpPr>
        <p:spPr/>
        <p:txBody>
          <a:bodyPr/>
          <a:lstStyle/>
          <a:p>
            <a:pPr algn="ctr"/>
            <a:r>
              <a:rPr lang="en-US" b="1" dirty="0">
                <a:solidFill>
                  <a:srgbClr val="EE0000"/>
                </a:solidFill>
              </a:rPr>
              <a:t>Why processing matters</a:t>
            </a:r>
            <a:endParaRPr lang="en-US" dirty="0">
              <a:solidFill>
                <a:srgbClr val="EE0000"/>
              </a:solidFill>
            </a:endParaRPr>
          </a:p>
        </p:txBody>
      </p:sp>
      <p:sp>
        <p:nvSpPr>
          <p:cNvPr id="3" name="Content Placeholder 2">
            <a:extLst>
              <a:ext uri="{FF2B5EF4-FFF2-40B4-BE49-F238E27FC236}">
                <a16:creationId xmlns:a16="http://schemas.microsoft.com/office/drawing/2014/main" id="{205D6494-81F4-531C-8B41-C11C34C52770}"/>
              </a:ext>
            </a:extLst>
          </p:cNvPr>
          <p:cNvSpPr>
            <a:spLocks noGrp="1"/>
          </p:cNvSpPr>
          <p:nvPr>
            <p:ph idx="1"/>
          </p:nvPr>
        </p:nvSpPr>
        <p:spPr/>
        <p:txBody>
          <a:bodyPr/>
          <a:lstStyle/>
          <a:p>
            <a:pPr marL="0" indent="0">
              <a:spcAft>
                <a:spcPts val="800"/>
              </a:spcAft>
              <a:buNone/>
            </a:pPr>
            <a:r>
              <a:rPr lang="en-US" b="1" dirty="0">
                <a:solidFill>
                  <a:srgbClr val="000000"/>
                </a:solidFill>
              </a:rPr>
              <a:t>1. X-ray exposure: </a:t>
            </a:r>
            <a:r>
              <a:rPr lang="en-US" dirty="0">
                <a:solidFill>
                  <a:srgbClr val="000000"/>
                </a:solidFill>
              </a:rPr>
              <a:t>Photons strike the film emulsion</a:t>
            </a:r>
            <a:endParaRPr lang="en-US" dirty="0"/>
          </a:p>
          <a:p>
            <a:pPr marL="0" indent="0">
              <a:spcAft>
                <a:spcPts val="800"/>
              </a:spcAft>
              <a:buNone/>
            </a:pPr>
            <a:r>
              <a:rPr lang="en-US" b="1" dirty="0">
                <a:solidFill>
                  <a:srgbClr val="000000"/>
                </a:solidFill>
              </a:rPr>
              <a:t>2. Latent image: </a:t>
            </a:r>
            <a:r>
              <a:rPr lang="en-US" dirty="0">
                <a:solidFill>
                  <a:srgbClr val="000000"/>
                </a:solidFill>
              </a:rPr>
              <a:t>Invisible change in silver halide</a:t>
            </a:r>
            <a:endParaRPr lang="en-US" dirty="0"/>
          </a:p>
          <a:p>
            <a:pPr marL="0" indent="0">
              <a:spcAft>
                <a:spcPts val="800"/>
              </a:spcAft>
              <a:buNone/>
            </a:pPr>
            <a:r>
              <a:rPr lang="en-US" b="1" dirty="0">
                <a:solidFill>
                  <a:srgbClr val="000000"/>
                </a:solidFill>
              </a:rPr>
              <a:t>3. Processing: </a:t>
            </a:r>
            <a:r>
              <a:rPr lang="en-US" dirty="0">
                <a:solidFill>
                  <a:srgbClr val="000000"/>
                </a:solidFill>
              </a:rPr>
              <a:t>Chemistry reveals the image  and fixes it</a:t>
            </a:r>
            <a:endParaRPr lang="en-US" dirty="0"/>
          </a:p>
          <a:p>
            <a:pPr marL="0" indent="0">
              <a:spcAft>
                <a:spcPts val="800"/>
              </a:spcAft>
              <a:buNone/>
            </a:pPr>
            <a:r>
              <a:rPr lang="en-US" b="1" dirty="0">
                <a:solidFill>
                  <a:srgbClr val="000000"/>
                </a:solidFill>
              </a:rPr>
              <a:t>4. Visible image: </a:t>
            </a:r>
            <a:r>
              <a:rPr lang="en-US" dirty="0">
                <a:solidFill>
                  <a:srgbClr val="000000"/>
                </a:solidFill>
              </a:rPr>
              <a:t>Metallic silver forms the radiograph</a:t>
            </a:r>
            <a:endParaRPr lang="en-US" dirty="0"/>
          </a:p>
          <a:p>
            <a:pPr marL="0" indent="0">
              <a:spcAft>
                <a:spcPts val="800"/>
              </a:spcAft>
              <a:buNone/>
            </a:pPr>
            <a:r>
              <a:rPr lang="en-US" b="1" dirty="0">
                <a:solidFill>
                  <a:srgbClr val="000000"/>
                </a:solidFill>
              </a:rPr>
              <a:t>5. Diagnosis: </a:t>
            </a:r>
            <a:r>
              <a:rPr lang="en-US" dirty="0">
                <a:solidFill>
                  <a:srgbClr val="000000"/>
                </a:solidFill>
              </a:rPr>
              <a:t>Quality decides diagnostic value</a:t>
            </a:r>
            <a:endParaRPr lang="en-US" dirty="0"/>
          </a:p>
          <a:p>
            <a:pPr marL="0" indent="0">
              <a:spcBef>
                <a:spcPts val="600"/>
              </a:spcBef>
              <a:buNone/>
            </a:pPr>
            <a:r>
              <a:rPr lang="en-US" i="1" dirty="0">
                <a:solidFill>
                  <a:srgbClr val="000000"/>
                </a:solidFill>
              </a:rPr>
              <a:t>Faulty processing can ruin a perfect exposure, causing repeats and extra dose.</a:t>
            </a:r>
            <a:endParaRPr lang="en-US" dirty="0"/>
          </a:p>
          <a:p>
            <a:endParaRPr lang="en-US" dirty="0"/>
          </a:p>
        </p:txBody>
      </p:sp>
    </p:spTree>
    <p:extLst>
      <p:ext uri="{BB962C8B-B14F-4D97-AF65-F5344CB8AC3E}">
        <p14:creationId xmlns:p14="http://schemas.microsoft.com/office/powerpoint/2010/main" val="1397149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931A5-22CE-6A96-D95C-5056C2B817EE}"/>
              </a:ext>
            </a:extLst>
          </p:cNvPr>
          <p:cNvSpPr>
            <a:spLocks noGrp="1"/>
          </p:cNvSpPr>
          <p:nvPr>
            <p:ph type="title"/>
          </p:nvPr>
        </p:nvSpPr>
        <p:spPr/>
        <p:txBody>
          <a:bodyPr/>
          <a:lstStyle/>
          <a:p>
            <a:pPr algn="ctr"/>
            <a:r>
              <a:rPr lang="en-US" b="1" dirty="0">
                <a:solidFill>
                  <a:srgbClr val="EE0000"/>
                </a:solidFill>
              </a:rPr>
              <a:t>What is a single-bath system?</a:t>
            </a:r>
            <a:endParaRPr lang="en-US" dirty="0">
              <a:solidFill>
                <a:srgbClr val="EE0000"/>
              </a:solidFill>
            </a:endParaRPr>
          </a:p>
        </p:txBody>
      </p:sp>
      <p:sp>
        <p:nvSpPr>
          <p:cNvPr id="3" name="Content Placeholder 2">
            <a:extLst>
              <a:ext uri="{FF2B5EF4-FFF2-40B4-BE49-F238E27FC236}">
                <a16:creationId xmlns:a16="http://schemas.microsoft.com/office/drawing/2014/main" id="{C77A8CCE-F180-55CB-EA1E-51B2D7F054EA}"/>
              </a:ext>
            </a:extLst>
          </p:cNvPr>
          <p:cNvSpPr>
            <a:spLocks noGrp="1"/>
          </p:cNvSpPr>
          <p:nvPr>
            <p:ph idx="1"/>
          </p:nvPr>
        </p:nvSpPr>
        <p:spPr/>
        <p:txBody>
          <a:bodyPr/>
          <a:lstStyle/>
          <a:p>
            <a:pPr>
              <a:spcAft>
                <a:spcPts val="800"/>
              </a:spcAft>
              <a:buSzPct val="100000"/>
            </a:pPr>
            <a:r>
              <a:rPr lang="en-US" dirty="0">
                <a:solidFill>
                  <a:srgbClr val="000000"/>
                </a:solidFill>
              </a:rPr>
              <a:t>One solution performs developing and fixing in a single step (a </a:t>
            </a:r>
            <a:r>
              <a:rPr lang="en-US" dirty="0" err="1">
                <a:solidFill>
                  <a:srgbClr val="000000"/>
                </a:solidFill>
              </a:rPr>
              <a:t>monobath</a:t>
            </a:r>
            <a:r>
              <a:rPr lang="en-US" dirty="0">
                <a:solidFill>
                  <a:srgbClr val="000000"/>
                </a:solidFill>
              </a:rPr>
              <a:t>)</a:t>
            </a:r>
            <a:endParaRPr lang="en-US" dirty="0"/>
          </a:p>
          <a:p>
            <a:pPr>
              <a:spcAft>
                <a:spcPts val="800"/>
              </a:spcAft>
              <a:buSzPct val="100000"/>
            </a:pPr>
            <a:r>
              <a:rPr lang="en-US" dirty="0">
                <a:solidFill>
                  <a:srgbClr val="000000"/>
                </a:solidFill>
              </a:rPr>
              <a:t>Developer and fixer chemicals are balanced to coexist in one tank</a:t>
            </a:r>
            <a:endParaRPr lang="en-US" dirty="0"/>
          </a:p>
          <a:p>
            <a:pPr>
              <a:spcAft>
                <a:spcPts val="800"/>
              </a:spcAft>
              <a:buSzPct val="100000"/>
            </a:pPr>
            <a:r>
              <a:rPr lang="en-US" dirty="0">
                <a:solidFill>
                  <a:srgbClr val="000000"/>
                </a:solidFill>
              </a:rPr>
              <a:t>Development starts first; fixing then clears unexposed silver halide</a:t>
            </a:r>
            <a:endParaRPr lang="en-US" dirty="0"/>
          </a:p>
          <a:p>
            <a:pPr marL="0" indent="0">
              <a:spcBef>
                <a:spcPts val="600"/>
              </a:spcBef>
              <a:buNone/>
            </a:pPr>
            <a:r>
              <a:rPr lang="en-US" i="1" dirty="0">
                <a:solidFill>
                  <a:srgbClr val="000000"/>
                </a:solidFill>
              </a:rPr>
              <a:t>Key point: One tank, one solution, one timed immersion.</a:t>
            </a:r>
            <a:endParaRPr lang="en-US" dirty="0"/>
          </a:p>
          <a:p>
            <a:endParaRPr lang="en-US" dirty="0"/>
          </a:p>
        </p:txBody>
      </p:sp>
    </p:spTree>
    <p:extLst>
      <p:ext uri="{BB962C8B-B14F-4D97-AF65-F5344CB8AC3E}">
        <p14:creationId xmlns:p14="http://schemas.microsoft.com/office/powerpoint/2010/main" val="370417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371FE-25CF-90BC-C002-91548291AABE}"/>
              </a:ext>
            </a:extLst>
          </p:cNvPr>
          <p:cNvSpPr>
            <a:spLocks noGrp="1"/>
          </p:cNvSpPr>
          <p:nvPr>
            <p:ph type="title"/>
          </p:nvPr>
        </p:nvSpPr>
        <p:spPr/>
        <p:txBody>
          <a:bodyPr/>
          <a:lstStyle/>
          <a:p>
            <a:pPr algn="ctr"/>
            <a:r>
              <a:rPr lang="en-US" b="1" dirty="0">
                <a:solidFill>
                  <a:srgbClr val="EE0000"/>
                </a:solidFill>
              </a:rPr>
              <a:t>Chemistry inside a </a:t>
            </a:r>
            <a:r>
              <a:rPr lang="en-US" b="1" dirty="0" err="1">
                <a:solidFill>
                  <a:srgbClr val="EE0000"/>
                </a:solidFill>
              </a:rPr>
              <a:t>monobath</a:t>
            </a:r>
            <a:endParaRPr lang="en-US" dirty="0">
              <a:solidFill>
                <a:srgbClr val="EE0000"/>
              </a:solidFill>
            </a:endParaRPr>
          </a:p>
        </p:txBody>
      </p:sp>
      <p:sp>
        <p:nvSpPr>
          <p:cNvPr id="3" name="Content Placeholder 2">
            <a:extLst>
              <a:ext uri="{FF2B5EF4-FFF2-40B4-BE49-F238E27FC236}">
                <a16:creationId xmlns:a16="http://schemas.microsoft.com/office/drawing/2014/main" id="{29D5C5A8-4496-4CA8-758F-B8064EC94778}"/>
              </a:ext>
            </a:extLst>
          </p:cNvPr>
          <p:cNvSpPr>
            <a:spLocks noGrp="1"/>
          </p:cNvSpPr>
          <p:nvPr>
            <p:ph idx="1"/>
          </p:nvPr>
        </p:nvSpPr>
        <p:spPr>
          <a:xfrm>
            <a:off x="838200" y="1477108"/>
            <a:ext cx="10515600" cy="5134707"/>
          </a:xfrm>
        </p:spPr>
        <p:txBody>
          <a:bodyPr>
            <a:normAutofit/>
          </a:bodyPr>
          <a:lstStyle/>
          <a:p>
            <a:pPr>
              <a:spcAft>
                <a:spcPts val="800"/>
              </a:spcAft>
              <a:buSzPct val="100000"/>
            </a:pPr>
            <a:r>
              <a:rPr lang="en-US" dirty="0">
                <a:solidFill>
                  <a:srgbClr val="000000"/>
                </a:solidFill>
              </a:rPr>
              <a:t>A developing agent and an alkali give the solution its developing power</a:t>
            </a:r>
            <a:endParaRPr lang="en-US" dirty="0"/>
          </a:p>
          <a:p>
            <a:pPr>
              <a:spcAft>
                <a:spcPts val="800"/>
              </a:spcAft>
              <a:buSzPct val="100000"/>
            </a:pPr>
            <a:r>
              <a:rPr lang="en-US" dirty="0">
                <a:solidFill>
                  <a:srgbClr val="000000"/>
                </a:solidFill>
              </a:rPr>
              <a:t>A silver halide solvent (such as thiosulfate) gives it fixing power</a:t>
            </a:r>
            <a:endParaRPr lang="en-US" dirty="0"/>
          </a:p>
          <a:p>
            <a:pPr>
              <a:spcAft>
                <a:spcPts val="800"/>
              </a:spcAft>
              <a:buSzPct val="100000"/>
            </a:pPr>
            <a:r>
              <a:rPr lang="en-US" dirty="0">
                <a:solidFill>
                  <a:srgbClr val="000000"/>
                </a:solidFill>
              </a:rPr>
              <a:t>The two actions are balanced, so no one is stronger than the other</a:t>
            </a:r>
          </a:p>
          <a:p>
            <a:pPr>
              <a:spcAft>
                <a:spcPts val="800"/>
              </a:spcAft>
              <a:buSzPct val="100000"/>
            </a:pPr>
            <a:r>
              <a:rPr lang="en-US" dirty="0">
                <a:solidFill>
                  <a:srgbClr val="000000"/>
                </a:solidFill>
              </a:rPr>
              <a:t>Timing and temperature must follow the maker's instructions closely</a:t>
            </a:r>
            <a:endParaRPr lang="en-US" dirty="0"/>
          </a:p>
          <a:p>
            <a:pPr marL="0" indent="0">
              <a:spcBef>
                <a:spcPts val="600"/>
              </a:spcBef>
              <a:buNone/>
            </a:pPr>
            <a:r>
              <a:rPr lang="en-US" i="1" dirty="0">
                <a:solidFill>
                  <a:srgbClr val="000000"/>
                </a:solidFill>
              </a:rPr>
              <a:t>Key point: A </a:t>
            </a:r>
            <a:r>
              <a:rPr lang="en-US" i="1" dirty="0" err="1">
                <a:solidFill>
                  <a:srgbClr val="000000"/>
                </a:solidFill>
              </a:rPr>
              <a:t>monobath</a:t>
            </a:r>
            <a:r>
              <a:rPr lang="en-US" i="1" dirty="0">
                <a:solidFill>
                  <a:srgbClr val="000000"/>
                </a:solidFill>
              </a:rPr>
              <a:t> is a chemical compromise: two jobs, one solution.</a:t>
            </a:r>
            <a:endParaRPr lang="en-US" dirty="0"/>
          </a:p>
          <a:p>
            <a:endParaRPr lang="en-US" dirty="0"/>
          </a:p>
        </p:txBody>
      </p:sp>
    </p:spTree>
    <p:extLst>
      <p:ext uri="{BB962C8B-B14F-4D97-AF65-F5344CB8AC3E}">
        <p14:creationId xmlns:p14="http://schemas.microsoft.com/office/powerpoint/2010/main" val="1794009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7141D-3511-439D-8600-BD508F6C2186}"/>
              </a:ext>
            </a:extLst>
          </p:cNvPr>
          <p:cNvSpPr>
            <a:spLocks noGrp="1"/>
          </p:cNvSpPr>
          <p:nvPr>
            <p:ph type="title"/>
          </p:nvPr>
        </p:nvSpPr>
        <p:spPr/>
        <p:txBody>
          <a:bodyPr/>
          <a:lstStyle/>
          <a:p>
            <a:pPr algn="ctr"/>
            <a:r>
              <a:rPr lang="en-US" b="1" dirty="0">
                <a:solidFill>
                  <a:srgbClr val="EE0000"/>
                </a:solidFill>
              </a:rPr>
              <a:t>How a </a:t>
            </a:r>
            <a:r>
              <a:rPr lang="en-US" b="1" dirty="0" err="1">
                <a:solidFill>
                  <a:srgbClr val="EE0000"/>
                </a:solidFill>
              </a:rPr>
              <a:t>monobath</a:t>
            </a:r>
            <a:r>
              <a:rPr lang="en-US" b="1" dirty="0">
                <a:solidFill>
                  <a:srgbClr val="EE0000"/>
                </a:solidFill>
              </a:rPr>
              <a:t> works</a:t>
            </a:r>
            <a:endParaRPr lang="en-US" dirty="0">
              <a:solidFill>
                <a:srgbClr val="EE0000"/>
              </a:solidFill>
            </a:endParaRPr>
          </a:p>
        </p:txBody>
      </p:sp>
      <p:sp>
        <p:nvSpPr>
          <p:cNvPr id="3" name="Content Placeholder 2">
            <a:extLst>
              <a:ext uri="{FF2B5EF4-FFF2-40B4-BE49-F238E27FC236}">
                <a16:creationId xmlns:a16="http://schemas.microsoft.com/office/drawing/2014/main" id="{F4C191BF-434E-6FF7-45B9-60FF541AD10D}"/>
              </a:ext>
            </a:extLst>
          </p:cNvPr>
          <p:cNvSpPr>
            <a:spLocks noGrp="1"/>
          </p:cNvSpPr>
          <p:nvPr>
            <p:ph idx="1"/>
          </p:nvPr>
        </p:nvSpPr>
        <p:spPr/>
        <p:txBody>
          <a:bodyPr>
            <a:normAutofit/>
          </a:bodyPr>
          <a:lstStyle/>
          <a:p>
            <a:pPr marL="0" indent="0">
              <a:spcAft>
                <a:spcPts val="800"/>
              </a:spcAft>
              <a:buNone/>
            </a:pPr>
            <a:r>
              <a:rPr lang="en-US" sz="3600" b="1" dirty="0">
                <a:solidFill>
                  <a:srgbClr val="000000"/>
                </a:solidFill>
              </a:rPr>
              <a:t>1. Immerse: </a:t>
            </a:r>
            <a:r>
              <a:rPr lang="en-US" sz="3600" dirty="0">
                <a:solidFill>
                  <a:srgbClr val="000000"/>
                </a:solidFill>
              </a:rPr>
              <a:t>Film enters the single solution</a:t>
            </a:r>
            <a:endParaRPr lang="en-US" sz="3600" dirty="0"/>
          </a:p>
          <a:p>
            <a:pPr marL="0" indent="0">
              <a:spcAft>
                <a:spcPts val="800"/>
              </a:spcAft>
              <a:buNone/>
            </a:pPr>
            <a:r>
              <a:rPr lang="en-US" sz="3600" b="1" dirty="0">
                <a:solidFill>
                  <a:srgbClr val="000000"/>
                </a:solidFill>
              </a:rPr>
              <a:t>2. Develop: </a:t>
            </a:r>
            <a:r>
              <a:rPr lang="en-US" sz="3600" dirty="0">
                <a:solidFill>
                  <a:srgbClr val="000000"/>
                </a:solidFill>
              </a:rPr>
              <a:t>Exposed crystals reduce to silver</a:t>
            </a:r>
            <a:endParaRPr lang="en-US" sz="3600" dirty="0"/>
          </a:p>
          <a:p>
            <a:pPr marL="0" indent="0">
              <a:spcAft>
                <a:spcPts val="800"/>
              </a:spcAft>
              <a:buNone/>
            </a:pPr>
            <a:r>
              <a:rPr lang="en-US" sz="3600" b="1" dirty="0">
                <a:solidFill>
                  <a:srgbClr val="000000"/>
                </a:solidFill>
              </a:rPr>
              <a:t>3. Fix: </a:t>
            </a:r>
            <a:r>
              <a:rPr lang="en-US" sz="3600" dirty="0">
                <a:solidFill>
                  <a:srgbClr val="000000"/>
                </a:solidFill>
              </a:rPr>
              <a:t>Unexposed halide dissolves</a:t>
            </a:r>
            <a:endParaRPr lang="en-US" sz="3600" dirty="0"/>
          </a:p>
          <a:p>
            <a:pPr marL="0" indent="0">
              <a:spcAft>
                <a:spcPts val="800"/>
              </a:spcAft>
              <a:buNone/>
            </a:pPr>
            <a:r>
              <a:rPr lang="en-US" sz="3600" b="1" dirty="0">
                <a:solidFill>
                  <a:srgbClr val="000000"/>
                </a:solidFill>
              </a:rPr>
              <a:t>4. Wash: </a:t>
            </a:r>
            <a:r>
              <a:rPr lang="en-US" sz="3600" dirty="0">
                <a:solidFill>
                  <a:srgbClr val="000000"/>
                </a:solidFill>
              </a:rPr>
              <a:t>Residual chemicals removed</a:t>
            </a:r>
            <a:endParaRPr lang="en-US" sz="3600" dirty="0"/>
          </a:p>
          <a:p>
            <a:pPr marL="0" indent="0">
              <a:spcAft>
                <a:spcPts val="800"/>
              </a:spcAft>
              <a:buNone/>
            </a:pPr>
            <a:r>
              <a:rPr lang="en-US" sz="3600" b="1" dirty="0">
                <a:solidFill>
                  <a:srgbClr val="000000"/>
                </a:solidFill>
              </a:rPr>
              <a:t>5. Dry: </a:t>
            </a:r>
            <a:r>
              <a:rPr lang="en-US" sz="3600" dirty="0">
                <a:solidFill>
                  <a:srgbClr val="000000"/>
                </a:solidFill>
              </a:rPr>
              <a:t>Film hung to dry</a:t>
            </a:r>
            <a:endParaRPr lang="en-US" sz="3600" dirty="0"/>
          </a:p>
          <a:p>
            <a:pPr marL="0" indent="0">
              <a:spcBef>
                <a:spcPts val="600"/>
              </a:spcBef>
              <a:buNone/>
            </a:pPr>
            <a:endParaRPr lang="en-US" sz="3600" dirty="0"/>
          </a:p>
          <a:p>
            <a:endParaRPr lang="en-US" sz="3600" dirty="0"/>
          </a:p>
        </p:txBody>
      </p:sp>
    </p:spTree>
    <p:extLst>
      <p:ext uri="{BB962C8B-B14F-4D97-AF65-F5344CB8AC3E}">
        <p14:creationId xmlns:p14="http://schemas.microsoft.com/office/powerpoint/2010/main" val="2454257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E0CBF-CEB4-CFFF-08BC-A6F5B384CADF}"/>
              </a:ext>
            </a:extLst>
          </p:cNvPr>
          <p:cNvSpPr>
            <a:spLocks noGrp="1"/>
          </p:cNvSpPr>
          <p:nvPr>
            <p:ph type="title"/>
          </p:nvPr>
        </p:nvSpPr>
        <p:spPr/>
        <p:txBody>
          <a:bodyPr/>
          <a:lstStyle/>
          <a:p>
            <a:pPr algn="ctr"/>
            <a:r>
              <a:rPr lang="en-US" b="1" dirty="0">
                <a:solidFill>
                  <a:srgbClr val="EE0000"/>
                </a:solidFill>
              </a:rPr>
              <a:t>Advantages and limitations</a:t>
            </a:r>
            <a:endParaRPr lang="en-US" dirty="0">
              <a:solidFill>
                <a:srgbClr val="EE0000"/>
              </a:solidFill>
            </a:endParaRPr>
          </a:p>
        </p:txBody>
      </p:sp>
      <p:sp>
        <p:nvSpPr>
          <p:cNvPr id="3" name="Content Placeholder 2">
            <a:extLst>
              <a:ext uri="{FF2B5EF4-FFF2-40B4-BE49-F238E27FC236}">
                <a16:creationId xmlns:a16="http://schemas.microsoft.com/office/drawing/2014/main" id="{0AB2DB48-3F5E-D806-63F6-05F37BD59946}"/>
              </a:ext>
            </a:extLst>
          </p:cNvPr>
          <p:cNvSpPr>
            <a:spLocks noGrp="1"/>
          </p:cNvSpPr>
          <p:nvPr>
            <p:ph sz="half" idx="1"/>
          </p:nvPr>
        </p:nvSpPr>
        <p:spPr/>
        <p:txBody>
          <a:bodyPr>
            <a:normAutofit/>
          </a:bodyPr>
          <a:lstStyle/>
          <a:p>
            <a:pPr marL="0" indent="0">
              <a:spcAft>
                <a:spcPts val="400"/>
              </a:spcAft>
              <a:buNone/>
            </a:pPr>
            <a:r>
              <a:rPr lang="en-US" sz="3200" b="1" dirty="0">
                <a:solidFill>
                  <a:srgbClr val="000000"/>
                </a:solidFill>
              </a:rPr>
              <a:t>Advantages</a:t>
            </a:r>
            <a:endParaRPr lang="en-US" sz="3200" dirty="0"/>
          </a:p>
          <a:p>
            <a:pPr>
              <a:spcAft>
                <a:spcPts val="800"/>
              </a:spcAft>
              <a:buSzPct val="100000"/>
            </a:pPr>
            <a:r>
              <a:rPr lang="en-US" sz="3200" dirty="0">
                <a:solidFill>
                  <a:srgbClr val="000000"/>
                </a:solidFill>
              </a:rPr>
              <a:t>Simple and quick to use</a:t>
            </a:r>
            <a:endParaRPr lang="en-US" sz="3200" dirty="0"/>
          </a:p>
          <a:p>
            <a:pPr>
              <a:spcAft>
                <a:spcPts val="800"/>
              </a:spcAft>
              <a:buSzPct val="100000"/>
            </a:pPr>
            <a:r>
              <a:rPr lang="en-US" sz="3200" dirty="0">
                <a:solidFill>
                  <a:srgbClr val="000000"/>
                </a:solidFill>
              </a:rPr>
              <a:t>One tank saves space</a:t>
            </a:r>
            <a:endParaRPr lang="en-US" sz="3200" dirty="0"/>
          </a:p>
          <a:p>
            <a:pPr>
              <a:spcAft>
                <a:spcPts val="800"/>
              </a:spcAft>
              <a:buSzPct val="100000"/>
            </a:pPr>
            <a:r>
              <a:rPr lang="en-US" sz="3200" dirty="0">
                <a:solidFill>
                  <a:srgbClr val="000000"/>
                </a:solidFill>
              </a:rPr>
              <a:t>Fewer steps to teach or remember</a:t>
            </a:r>
            <a:endParaRPr lang="en-US" sz="3200" dirty="0"/>
          </a:p>
          <a:p>
            <a:pPr>
              <a:spcAft>
                <a:spcPts val="800"/>
              </a:spcAft>
              <a:buSzPct val="100000"/>
            </a:pPr>
            <a:r>
              <a:rPr lang="en-US" sz="3200" dirty="0">
                <a:solidFill>
                  <a:srgbClr val="000000"/>
                </a:solidFill>
              </a:rPr>
              <a:t>Fewer solutions to mix and change</a:t>
            </a:r>
            <a:endParaRPr lang="en-US" sz="3200" dirty="0"/>
          </a:p>
          <a:p>
            <a:endParaRPr lang="en-US" sz="3200" dirty="0"/>
          </a:p>
        </p:txBody>
      </p:sp>
      <p:sp>
        <p:nvSpPr>
          <p:cNvPr id="4" name="Content Placeholder 3">
            <a:extLst>
              <a:ext uri="{FF2B5EF4-FFF2-40B4-BE49-F238E27FC236}">
                <a16:creationId xmlns:a16="http://schemas.microsoft.com/office/drawing/2014/main" id="{B5384851-E911-DAFA-F900-2DE78DF46233}"/>
              </a:ext>
            </a:extLst>
          </p:cNvPr>
          <p:cNvSpPr>
            <a:spLocks noGrp="1"/>
          </p:cNvSpPr>
          <p:nvPr>
            <p:ph sz="half" idx="2"/>
          </p:nvPr>
        </p:nvSpPr>
        <p:spPr/>
        <p:txBody>
          <a:bodyPr>
            <a:noAutofit/>
          </a:bodyPr>
          <a:lstStyle/>
          <a:p>
            <a:pPr marL="0" indent="0">
              <a:spcAft>
                <a:spcPts val="400"/>
              </a:spcAft>
              <a:buNone/>
            </a:pPr>
            <a:r>
              <a:rPr lang="en-US" sz="3200" b="1" dirty="0">
                <a:solidFill>
                  <a:srgbClr val="000000"/>
                </a:solidFill>
              </a:rPr>
              <a:t>Limitations</a:t>
            </a:r>
            <a:endParaRPr lang="en-US" sz="3200" dirty="0"/>
          </a:p>
          <a:p>
            <a:pPr>
              <a:spcAft>
                <a:spcPts val="800"/>
              </a:spcAft>
              <a:buSzPct val="100000"/>
            </a:pPr>
            <a:r>
              <a:rPr lang="en-US" sz="3200" dirty="0">
                <a:solidFill>
                  <a:srgbClr val="000000"/>
                </a:solidFill>
              </a:rPr>
              <a:t>Poor control of contrast and speed</a:t>
            </a:r>
            <a:endParaRPr lang="en-US" sz="3200" dirty="0"/>
          </a:p>
          <a:p>
            <a:pPr>
              <a:spcAft>
                <a:spcPts val="800"/>
              </a:spcAft>
              <a:buSzPct val="100000"/>
            </a:pPr>
            <a:r>
              <a:rPr lang="en-US" sz="3200" dirty="0">
                <a:solidFill>
                  <a:srgbClr val="000000"/>
                </a:solidFill>
              </a:rPr>
              <a:t>Lower density and image quality</a:t>
            </a:r>
            <a:endParaRPr lang="en-US" sz="3200" dirty="0"/>
          </a:p>
          <a:p>
            <a:pPr>
              <a:spcAft>
                <a:spcPts val="800"/>
              </a:spcAft>
              <a:buSzPct val="100000"/>
            </a:pPr>
            <a:r>
              <a:rPr lang="en-US" sz="3200" dirty="0">
                <a:solidFill>
                  <a:srgbClr val="000000"/>
                </a:solidFill>
              </a:rPr>
              <a:t>Bath exhausts rapidly</a:t>
            </a:r>
            <a:endParaRPr lang="en-US" sz="3200" dirty="0"/>
          </a:p>
          <a:p>
            <a:pPr>
              <a:spcAft>
                <a:spcPts val="800"/>
              </a:spcAft>
              <a:buSzPct val="100000"/>
            </a:pPr>
            <a:r>
              <a:rPr lang="en-US" sz="3200" dirty="0">
                <a:solidFill>
                  <a:srgbClr val="000000"/>
                </a:solidFill>
              </a:rPr>
              <a:t>Not suited for routine diagnostic work</a:t>
            </a:r>
            <a:endParaRPr lang="en-US" sz="3200" dirty="0"/>
          </a:p>
          <a:p>
            <a:endParaRPr lang="en-US" sz="3200" dirty="0"/>
          </a:p>
        </p:txBody>
      </p:sp>
    </p:spTree>
    <p:extLst>
      <p:ext uri="{BB962C8B-B14F-4D97-AF65-F5344CB8AC3E}">
        <p14:creationId xmlns:p14="http://schemas.microsoft.com/office/powerpoint/2010/main" val="1035052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69A24-A7C4-F9F3-BB55-54F38F55A81F}"/>
              </a:ext>
            </a:extLst>
          </p:cNvPr>
          <p:cNvSpPr>
            <a:spLocks noGrp="1"/>
          </p:cNvSpPr>
          <p:nvPr>
            <p:ph type="title"/>
          </p:nvPr>
        </p:nvSpPr>
        <p:spPr/>
        <p:txBody>
          <a:bodyPr/>
          <a:lstStyle/>
          <a:p>
            <a:pPr algn="ctr"/>
            <a:r>
              <a:rPr lang="en-US" b="1" dirty="0">
                <a:solidFill>
                  <a:srgbClr val="EE0000"/>
                </a:solidFill>
              </a:rPr>
              <a:t>Where single-bath is used</a:t>
            </a:r>
            <a:endParaRPr lang="en-US" dirty="0">
              <a:solidFill>
                <a:srgbClr val="EE0000"/>
              </a:solidFill>
            </a:endParaRPr>
          </a:p>
        </p:txBody>
      </p:sp>
      <p:sp>
        <p:nvSpPr>
          <p:cNvPr id="3" name="Content Placeholder 2">
            <a:extLst>
              <a:ext uri="{FF2B5EF4-FFF2-40B4-BE49-F238E27FC236}">
                <a16:creationId xmlns:a16="http://schemas.microsoft.com/office/drawing/2014/main" id="{3E377F63-048A-A753-5D92-AB5C31D2571D}"/>
              </a:ext>
            </a:extLst>
          </p:cNvPr>
          <p:cNvSpPr>
            <a:spLocks noGrp="1"/>
          </p:cNvSpPr>
          <p:nvPr>
            <p:ph idx="1"/>
          </p:nvPr>
        </p:nvSpPr>
        <p:spPr/>
        <p:txBody>
          <a:bodyPr>
            <a:normAutofit/>
          </a:bodyPr>
          <a:lstStyle/>
          <a:p>
            <a:pPr>
              <a:spcAft>
                <a:spcPts val="800"/>
              </a:spcAft>
              <a:buSzPct val="100000"/>
            </a:pPr>
            <a:r>
              <a:rPr lang="en-US" sz="3600" dirty="0">
                <a:solidFill>
                  <a:srgbClr val="000000"/>
                </a:solidFill>
              </a:rPr>
              <a:t>Teaching demonstrations of the principle of processing</a:t>
            </a:r>
            <a:endParaRPr lang="en-US" sz="3600" dirty="0"/>
          </a:p>
          <a:p>
            <a:pPr>
              <a:spcAft>
                <a:spcPts val="800"/>
              </a:spcAft>
              <a:buSzPct val="100000"/>
            </a:pPr>
            <a:r>
              <a:rPr lang="en-US" sz="3600" dirty="0">
                <a:solidFill>
                  <a:srgbClr val="000000"/>
                </a:solidFill>
              </a:rPr>
              <a:t>Emergency or improvised work where tanks are not available</a:t>
            </a:r>
            <a:endParaRPr lang="en-US" sz="3600" dirty="0"/>
          </a:p>
          <a:p>
            <a:pPr>
              <a:spcAft>
                <a:spcPts val="800"/>
              </a:spcAft>
              <a:buSzPct val="100000"/>
            </a:pPr>
            <a:r>
              <a:rPr lang="en-US" sz="3600" dirty="0">
                <a:solidFill>
                  <a:srgbClr val="000000"/>
                </a:solidFill>
              </a:rPr>
              <a:t>Very small workloads that do not justify several tanks</a:t>
            </a:r>
            <a:endParaRPr lang="en-US" sz="3600" dirty="0"/>
          </a:p>
          <a:p>
            <a:pPr>
              <a:spcAft>
                <a:spcPts val="800"/>
              </a:spcAft>
              <a:buSzPct val="100000"/>
            </a:pPr>
            <a:r>
              <a:rPr lang="en-US" sz="3600" dirty="0">
                <a:solidFill>
                  <a:srgbClr val="000000"/>
                </a:solidFill>
              </a:rPr>
              <a:t>Not recommended for routine diagnostic radiography</a:t>
            </a:r>
          </a:p>
          <a:p>
            <a:pPr>
              <a:spcAft>
                <a:spcPts val="800"/>
              </a:spcAft>
              <a:buSzPct val="100000"/>
            </a:pPr>
            <a:endParaRPr lang="en-US" sz="3600" dirty="0"/>
          </a:p>
          <a:p>
            <a:endParaRPr lang="en-US" sz="3600" dirty="0"/>
          </a:p>
        </p:txBody>
      </p:sp>
    </p:spTree>
    <p:extLst>
      <p:ext uri="{BB962C8B-B14F-4D97-AF65-F5344CB8AC3E}">
        <p14:creationId xmlns:p14="http://schemas.microsoft.com/office/powerpoint/2010/main" val="957420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84293-0133-686A-2227-60DB19A1D32C}"/>
              </a:ext>
            </a:extLst>
          </p:cNvPr>
          <p:cNvSpPr>
            <a:spLocks noGrp="1"/>
          </p:cNvSpPr>
          <p:nvPr>
            <p:ph type="title"/>
          </p:nvPr>
        </p:nvSpPr>
        <p:spPr>
          <a:xfrm>
            <a:off x="838200" y="147711"/>
            <a:ext cx="10515600" cy="963637"/>
          </a:xfrm>
        </p:spPr>
        <p:txBody>
          <a:bodyPr/>
          <a:lstStyle/>
          <a:p>
            <a:pPr algn="ctr"/>
            <a:r>
              <a:rPr lang="en-US" b="1" dirty="0">
                <a:solidFill>
                  <a:srgbClr val="EE0000"/>
                </a:solidFill>
              </a:rPr>
              <a:t>Problems with single-bath processing</a:t>
            </a:r>
            <a:endParaRPr lang="en-US" dirty="0">
              <a:solidFill>
                <a:srgbClr val="EE0000"/>
              </a:solidFill>
            </a:endParaRPr>
          </a:p>
        </p:txBody>
      </p:sp>
      <p:sp>
        <p:nvSpPr>
          <p:cNvPr id="3" name="Content Placeholder 2">
            <a:extLst>
              <a:ext uri="{FF2B5EF4-FFF2-40B4-BE49-F238E27FC236}">
                <a16:creationId xmlns:a16="http://schemas.microsoft.com/office/drawing/2014/main" id="{1BD7DA3C-C979-11BF-50B4-37DFF1EC3030}"/>
              </a:ext>
            </a:extLst>
          </p:cNvPr>
          <p:cNvSpPr>
            <a:spLocks noGrp="1"/>
          </p:cNvSpPr>
          <p:nvPr>
            <p:ph idx="1"/>
          </p:nvPr>
        </p:nvSpPr>
        <p:spPr>
          <a:xfrm>
            <a:off x="562707" y="1406769"/>
            <a:ext cx="11085341" cy="5303520"/>
          </a:xfrm>
        </p:spPr>
        <p:txBody>
          <a:bodyPr>
            <a:normAutofit/>
          </a:bodyPr>
          <a:lstStyle/>
          <a:p>
            <a:pPr>
              <a:spcAft>
                <a:spcPts val="800"/>
              </a:spcAft>
            </a:pPr>
            <a:r>
              <a:rPr lang="en-US" sz="3600" dirty="0">
                <a:solidFill>
                  <a:srgbClr val="000000"/>
                </a:solidFill>
              </a:rPr>
              <a:t>Weak contrast and low density compared with standard processing</a:t>
            </a:r>
            <a:endParaRPr lang="en-US" sz="3600" dirty="0"/>
          </a:p>
          <a:p>
            <a:pPr>
              <a:spcAft>
                <a:spcPts val="800"/>
              </a:spcAft>
            </a:pPr>
            <a:r>
              <a:rPr lang="en-US" sz="3600" dirty="0">
                <a:solidFill>
                  <a:srgbClr val="000000"/>
                </a:solidFill>
              </a:rPr>
              <a:t>Fogging if the bath is too warm </a:t>
            </a:r>
          </a:p>
          <a:p>
            <a:pPr>
              <a:spcAft>
                <a:spcPts val="800"/>
              </a:spcAft>
            </a:pPr>
            <a:r>
              <a:rPr lang="en-US" sz="3600" dirty="0">
                <a:solidFill>
                  <a:srgbClr val="000000"/>
                </a:solidFill>
              </a:rPr>
              <a:t>Short bath life, so results drift quickly</a:t>
            </a:r>
            <a:endParaRPr lang="en-US" sz="3600" dirty="0"/>
          </a:p>
          <a:p>
            <a:pPr>
              <a:spcAft>
                <a:spcPts val="800"/>
              </a:spcAft>
            </a:pPr>
            <a:r>
              <a:rPr lang="en-US" sz="3600" dirty="0">
                <a:solidFill>
                  <a:srgbClr val="000000"/>
                </a:solidFill>
              </a:rPr>
              <a:t>Residual silver compounds may remain and stain the film</a:t>
            </a:r>
            <a:endParaRPr lang="en-US" sz="3600" dirty="0"/>
          </a:p>
          <a:p>
            <a:pPr>
              <a:spcAft>
                <a:spcPts val="800"/>
              </a:spcAft>
              <a:buSzPct val="100000"/>
            </a:pPr>
            <a:endParaRPr lang="en-US" sz="3600" dirty="0"/>
          </a:p>
          <a:p>
            <a:pPr marL="0" indent="0">
              <a:spcBef>
                <a:spcPts val="600"/>
              </a:spcBef>
              <a:buNone/>
            </a:pPr>
            <a:r>
              <a:rPr lang="en-US" sz="3600" i="1" dirty="0">
                <a:solidFill>
                  <a:srgbClr val="000000"/>
                </a:solidFill>
              </a:rPr>
              <a:t>Key point: Quality control is hard when one bath does everything.</a:t>
            </a:r>
            <a:endParaRPr lang="en-US" sz="3600" dirty="0"/>
          </a:p>
          <a:p>
            <a:pPr marL="0" indent="0">
              <a:buNone/>
            </a:pPr>
            <a:endParaRPr lang="en-US" sz="3600" dirty="0"/>
          </a:p>
        </p:txBody>
      </p:sp>
    </p:spTree>
    <p:extLst>
      <p:ext uri="{BB962C8B-B14F-4D97-AF65-F5344CB8AC3E}">
        <p14:creationId xmlns:p14="http://schemas.microsoft.com/office/powerpoint/2010/main" val="3876435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FE552-1A38-7552-4130-F25B46241D9C}"/>
              </a:ext>
            </a:extLst>
          </p:cNvPr>
          <p:cNvSpPr>
            <a:spLocks noGrp="1"/>
          </p:cNvSpPr>
          <p:nvPr>
            <p:ph type="title"/>
          </p:nvPr>
        </p:nvSpPr>
        <p:spPr>
          <a:xfrm>
            <a:off x="838200" y="1"/>
            <a:ext cx="10515600" cy="1181685"/>
          </a:xfrm>
        </p:spPr>
        <p:txBody>
          <a:bodyPr/>
          <a:lstStyle/>
          <a:p>
            <a:pPr algn="ctr"/>
            <a:r>
              <a:rPr lang="en-US" b="1" dirty="0">
                <a:solidFill>
                  <a:srgbClr val="EE0000"/>
                </a:solidFill>
              </a:rPr>
              <a:t>What is conventional processing?</a:t>
            </a:r>
            <a:endParaRPr lang="en-US" dirty="0">
              <a:solidFill>
                <a:srgbClr val="EE0000"/>
              </a:solidFill>
            </a:endParaRPr>
          </a:p>
        </p:txBody>
      </p:sp>
      <p:sp>
        <p:nvSpPr>
          <p:cNvPr id="3" name="Content Placeholder 2">
            <a:extLst>
              <a:ext uri="{FF2B5EF4-FFF2-40B4-BE49-F238E27FC236}">
                <a16:creationId xmlns:a16="http://schemas.microsoft.com/office/drawing/2014/main" id="{76DF09C4-B011-0328-B0EB-F7CD30B15E2C}"/>
              </a:ext>
            </a:extLst>
          </p:cNvPr>
          <p:cNvSpPr>
            <a:spLocks noGrp="1"/>
          </p:cNvSpPr>
          <p:nvPr>
            <p:ph idx="1"/>
          </p:nvPr>
        </p:nvSpPr>
        <p:spPr>
          <a:xfrm>
            <a:off x="478301" y="1181686"/>
            <a:ext cx="11085341" cy="5676313"/>
          </a:xfrm>
        </p:spPr>
        <p:txBody>
          <a:bodyPr>
            <a:noAutofit/>
          </a:bodyPr>
          <a:lstStyle/>
          <a:p>
            <a:pPr>
              <a:spcAft>
                <a:spcPts val="800"/>
              </a:spcAft>
            </a:pPr>
            <a:r>
              <a:rPr lang="en-US" sz="3600" dirty="0">
                <a:solidFill>
                  <a:srgbClr val="000000"/>
                </a:solidFill>
              </a:rPr>
              <a:t>Developer, rinse, fixer and wash as separate solutions in separate tanks</a:t>
            </a:r>
            <a:endParaRPr lang="en-US" sz="3600" dirty="0"/>
          </a:p>
          <a:p>
            <a:pPr>
              <a:spcAft>
                <a:spcPts val="800"/>
              </a:spcAft>
            </a:pPr>
            <a:r>
              <a:rPr lang="en-US" sz="3600" dirty="0">
                <a:solidFill>
                  <a:srgbClr val="000000"/>
                </a:solidFill>
              </a:rPr>
              <a:t>The film moves from tank to tank on a hanger</a:t>
            </a:r>
            <a:endParaRPr lang="en-US" sz="3600" dirty="0"/>
          </a:p>
          <a:p>
            <a:pPr>
              <a:spcAft>
                <a:spcPts val="800"/>
              </a:spcAft>
            </a:pPr>
            <a:r>
              <a:rPr lang="en-US" sz="3600" dirty="0">
                <a:solidFill>
                  <a:srgbClr val="000000"/>
                </a:solidFill>
              </a:rPr>
              <a:t>Each stage mostly developing stage is controlled by time and temperature</a:t>
            </a:r>
            <a:endParaRPr lang="en-US" sz="3600" dirty="0"/>
          </a:p>
          <a:p>
            <a:pPr>
              <a:spcAft>
                <a:spcPts val="800"/>
              </a:spcAft>
            </a:pPr>
            <a:r>
              <a:rPr lang="en-US" sz="3600" dirty="0">
                <a:solidFill>
                  <a:srgbClr val="000000"/>
                </a:solidFill>
              </a:rPr>
              <a:t>It is the standard method of manual processing for diagnostic films</a:t>
            </a:r>
            <a:endParaRPr lang="en-US" sz="3600" dirty="0"/>
          </a:p>
          <a:p>
            <a:pPr marL="0" indent="0">
              <a:spcBef>
                <a:spcPts val="600"/>
              </a:spcBef>
              <a:buNone/>
            </a:pPr>
            <a:r>
              <a:rPr lang="en-US" sz="3600" i="1" dirty="0">
                <a:solidFill>
                  <a:srgbClr val="000000"/>
                </a:solidFill>
              </a:rPr>
              <a:t>Key point: Separate baths, each doing one job well.</a:t>
            </a:r>
            <a:endParaRPr lang="en-US" sz="3600" dirty="0"/>
          </a:p>
          <a:p>
            <a:pPr marL="0" indent="0">
              <a:buNone/>
            </a:pPr>
            <a:endParaRPr lang="en-US" sz="3600" dirty="0"/>
          </a:p>
        </p:txBody>
      </p:sp>
    </p:spTree>
    <p:extLst>
      <p:ext uri="{BB962C8B-B14F-4D97-AF65-F5344CB8AC3E}">
        <p14:creationId xmlns:p14="http://schemas.microsoft.com/office/powerpoint/2010/main" val="1571075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A9168-3634-1FB8-F166-51410683A95C}"/>
              </a:ext>
            </a:extLst>
          </p:cNvPr>
          <p:cNvSpPr>
            <a:spLocks noGrp="1"/>
          </p:cNvSpPr>
          <p:nvPr>
            <p:ph type="title"/>
          </p:nvPr>
        </p:nvSpPr>
        <p:spPr>
          <a:xfrm>
            <a:off x="838200" y="1"/>
            <a:ext cx="10515600" cy="1139482"/>
          </a:xfrm>
        </p:spPr>
        <p:txBody>
          <a:bodyPr>
            <a:normAutofit/>
          </a:bodyPr>
          <a:lstStyle/>
          <a:p>
            <a:pPr algn="ctr"/>
            <a:r>
              <a:rPr lang="en-US" sz="4800" b="1" dirty="0">
                <a:solidFill>
                  <a:srgbClr val="EE0000"/>
                </a:solidFill>
              </a:rPr>
              <a:t>Manual processing stages and tanks</a:t>
            </a:r>
            <a:endParaRPr lang="en-US" sz="4800" dirty="0">
              <a:solidFill>
                <a:srgbClr val="EE0000"/>
              </a:solidFill>
            </a:endParaRPr>
          </a:p>
        </p:txBody>
      </p:sp>
      <p:sp>
        <p:nvSpPr>
          <p:cNvPr id="3" name="Content Placeholder 2">
            <a:extLst>
              <a:ext uri="{FF2B5EF4-FFF2-40B4-BE49-F238E27FC236}">
                <a16:creationId xmlns:a16="http://schemas.microsoft.com/office/drawing/2014/main" id="{AA23D74E-342B-7EA1-7073-FDE2EF9DC724}"/>
              </a:ext>
            </a:extLst>
          </p:cNvPr>
          <p:cNvSpPr>
            <a:spLocks noGrp="1"/>
          </p:cNvSpPr>
          <p:nvPr>
            <p:ph idx="1"/>
          </p:nvPr>
        </p:nvSpPr>
        <p:spPr>
          <a:xfrm>
            <a:off x="838200" y="1294228"/>
            <a:ext cx="10515600" cy="4882735"/>
          </a:xfrm>
        </p:spPr>
        <p:txBody>
          <a:bodyPr>
            <a:normAutofit/>
          </a:bodyPr>
          <a:lstStyle/>
          <a:p>
            <a:pPr marL="0" indent="0">
              <a:spcAft>
                <a:spcPts val="800"/>
              </a:spcAft>
              <a:buNone/>
            </a:pPr>
            <a:r>
              <a:rPr lang="en-US" sz="3600" b="1" dirty="0"/>
              <a:t>1. Developer tank: </a:t>
            </a:r>
            <a:r>
              <a:rPr lang="en-US" sz="3600" dirty="0"/>
              <a:t>Makes the latent image visible</a:t>
            </a:r>
          </a:p>
          <a:p>
            <a:pPr marL="0" indent="0">
              <a:spcAft>
                <a:spcPts val="800"/>
              </a:spcAft>
              <a:buNone/>
            </a:pPr>
            <a:r>
              <a:rPr lang="en-US" sz="3600" b="1" dirty="0"/>
              <a:t>2. Rinse tank: </a:t>
            </a:r>
            <a:r>
              <a:rPr lang="en-US" sz="3600" dirty="0"/>
              <a:t>Stops development</a:t>
            </a:r>
          </a:p>
          <a:p>
            <a:pPr marL="0" indent="0">
              <a:spcAft>
                <a:spcPts val="800"/>
              </a:spcAft>
              <a:buNone/>
            </a:pPr>
            <a:r>
              <a:rPr lang="en-US" sz="3600" b="1" dirty="0"/>
              <a:t>3. Fixer tank: </a:t>
            </a:r>
            <a:r>
              <a:rPr lang="en-US" sz="3600" dirty="0"/>
              <a:t>Clears and fixes the image</a:t>
            </a:r>
          </a:p>
          <a:p>
            <a:pPr marL="0" indent="0">
              <a:spcAft>
                <a:spcPts val="800"/>
              </a:spcAft>
              <a:buNone/>
            </a:pPr>
            <a:r>
              <a:rPr lang="en-US" sz="3600" b="1" dirty="0"/>
              <a:t>4. Wash tank: </a:t>
            </a:r>
            <a:r>
              <a:rPr lang="en-US" sz="3600" dirty="0"/>
              <a:t>Running water removes chemicals</a:t>
            </a:r>
          </a:p>
          <a:p>
            <a:pPr marL="0" indent="0">
              <a:spcAft>
                <a:spcPts val="800"/>
              </a:spcAft>
              <a:buNone/>
            </a:pPr>
            <a:r>
              <a:rPr lang="en-US" sz="3600" b="1" dirty="0"/>
              <a:t>5. Drying: </a:t>
            </a:r>
            <a:r>
              <a:rPr lang="en-US" sz="3600" dirty="0"/>
              <a:t>Warm, filtered air</a:t>
            </a:r>
          </a:p>
          <a:p>
            <a:pPr marL="0" indent="0">
              <a:spcBef>
                <a:spcPts val="600"/>
              </a:spcBef>
              <a:buNone/>
            </a:pPr>
            <a:r>
              <a:rPr lang="en-US" sz="3600" i="1" dirty="0"/>
              <a:t>Tanks are arranged in the order the film travels.</a:t>
            </a:r>
            <a:endParaRPr lang="en-US" sz="3600" dirty="0"/>
          </a:p>
          <a:p>
            <a:endParaRPr lang="en-US" sz="3600" dirty="0"/>
          </a:p>
        </p:txBody>
      </p:sp>
    </p:spTree>
    <p:extLst>
      <p:ext uri="{BB962C8B-B14F-4D97-AF65-F5344CB8AC3E}">
        <p14:creationId xmlns:p14="http://schemas.microsoft.com/office/powerpoint/2010/main" val="904780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F0A27-0082-8036-438B-F39B849FE011}"/>
              </a:ext>
            </a:extLst>
          </p:cNvPr>
          <p:cNvSpPr>
            <a:spLocks noGrp="1"/>
          </p:cNvSpPr>
          <p:nvPr>
            <p:ph type="title"/>
          </p:nvPr>
        </p:nvSpPr>
        <p:spPr/>
        <p:txBody>
          <a:bodyPr/>
          <a:lstStyle/>
          <a:p>
            <a:pPr algn="ctr"/>
            <a:r>
              <a:rPr lang="en-US" b="1" dirty="0">
                <a:solidFill>
                  <a:srgbClr val="EE0000"/>
                </a:solidFill>
              </a:rPr>
              <a:t>MANUAL PROCESSING TANKS</a:t>
            </a:r>
          </a:p>
        </p:txBody>
      </p:sp>
      <p:pic>
        <p:nvPicPr>
          <p:cNvPr id="6" name="Content Placeholder 5">
            <a:extLst>
              <a:ext uri="{FF2B5EF4-FFF2-40B4-BE49-F238E27FC236}">
                <a16:creationId xmlns:a16="http://schemas.microsoft.com/office/drawing/2014/main" id="{8D8A4796-AD11-B831-D481-CF04EBC9A93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09057" y="1519310"/>
            <a:ext cx="5302425" cy="5134707"/>
          </a:xfrm>
          <a:prstGeom prst="rect">
            <a:avLst/>
          </a:prstGeom>
        </p:spPr>
      </p:pic>
      <p:pic>
        <p:nvPicPr>
          <p:cNvPr id="8" name="Content Placeholder 7">
            <a:extLst>
              <a:ext uri="{FF2B5EF4-FFF2-40B4-BE49-F238E27FC236}">
                <a16:creationId xmlns:a16="http://schemas.microsoft.com/office/drawing/2014/main" id="{BDC25AEC-A8E3-439A-2678-6B0666EE426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096000" y="1690689"/>
            <a:ext cx="6096000" cy="4963328"/>
          </a:xfrm>
          <a:prstGeom prst="rect">
            <a:avLst/>
          </a:prstGeom>
        </p:spPr>
      </p:pic>
    </p:spTree>
    <p:extLst>
      <p:ext uri="{BB962C8B-B14F-4D97-AF65-F5344CB8AC3E}">
        <p14:creationId xmlns:p14="http://schemas.microsoft.com/office/powerpoint/2010/main" val="25871610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74198-9AF0-CE37-3FA1-AF92D5B331CE}"/>
              </a:ext>
            </a:extLst>
          </p:cNvPr>
          <p:cNvSpPr>
            <a:spLocks noGrp="1"/>
          </p:cNvSpPr>
          <p:nvPr>
            <p:ph type="title"/>
          </p:nvPr>
        </p:nvSpPr>
        <p:spPr>
          <a:xfrm>
            <a:off x="838200" y="365126"/>
            <a:ext cx="10515600" cy="943170"/>
          </a:xfrm>
        </p:spPr>
        <p:txBody>
          <a:bodyPr/>
          <a:lstStyle/>
          <a:p>
            <a:pPr algn="ctr"/>
            <a:r>
              <a:rPr lang="en-US" b="1" dirty="0">
                <a:solidFill>
                  <a:srgbClr val="EE0000"/>
                </a:solidFill>
              </a:rPr>
              <a:t>Why use separate baths?</a:t>
            </a:r>
            <a:endParaRPr lang="en-US" dirty="0">
              <a:solidFill>
                <a:srgbClr val="EE0000"/>
              </a:solidFill>
            </a:endParaRPr>
          </a:p>
        </p:txBody>
      </p:sp>
      <p:sp>
        <p:nvSpPr>
          <p:cNvPr id="3" name="Content Placeholder 2">
            <a:extLst>
              <a:ext uri="{FF2B5EF4-FFF2-40B4-BE49-F238E27FC236}">
                <a16:creationId xmlns:a16="http://schemas.microsoft.com/office/drawing/2014/main" id="{3069F5D3-0942-7E50-1662-669EAF2CC471}"/>
              </a:ext>
            </a:extLst>
          </p:cNvPr>
          <p:cNvSpPr>
            <a:spLocks noGrp="1"/>
          </p:cNvSpPr>
          <p:nvPr>
            <p:ph idx="1"/>
          </p:nvPr>
        </p:nvSpPr>
        <p:spPr>
          <a:xfrm>
            <a:off x="0" y="1308295"/>
            <a:ext cx="12192000" cy="5549706"/>
          </a:xfrm>
        </p:spPr>
        <p:txBody>
          <a:bodyPr>
            <a:noAutofit/>
          </a:bodyPr>
          <a:lstStyle/>
          <a:p>
            <a:pPr>
              <a:spcAft>
                <a:spcPts val="800"/>
              </a:spcAft>
            </a:pPr>
            <a:r>
              <a:rPr lang="en-US" sz="3600" i="1" dirty="0">
                <a:solidFill>
                  <a:srgbClr val="000000"/>
                </a:solidFill>
              </a:rPr>
              <a:t>Separate baths paves way for  control and control gives quality.</a:t>
            </a:r>
          </a:p>
          <a:p>
            <a:pPr>
              <a:spcAft>
                <a:spcPts val="800"/>
              </a:spcAft>
            </a:pPr>
            <a:r>
              <a:rPr lang="en-US" sz="3600" dirty="0">
                <a:solidFill>
                  <a:srgbClr val="000000"/>
                </a:solidFill>
              </a:rPr>
              <a:t>Contrast and density are controlled through the developer alone</a:t>
            </a:r>
          </a:p>
          <a:p>
            <a:pPr>
              <a:spcAft>
                <a:spcPts val="800"/>
              </a:spcAft>
            </a:pPr>
            <a:r>
              <a:rPr lang="en-US" sz="3600" dirty="0">
                <a:solidFill>
                  <a:srgbClr val="000000"/>
                </a:solidFill>
              </a:rPr>
              <a:t>Each solution is replenished and replaced on its own schedule</a:t>
            </a:r>
          </a:p>
          <a:p>
            <a:pPr>
              <a:spcAft>
                <a:spcPts val="800"/>
              </a:spcAft>
            </a:pPr>
            <a:r>
              <a:rPr lang="en-US" sz="3600" dirty="0">
                <a:solidFill>
                  <a:srgbClr val="000000"/>
                </a:solidFill>
              </a:rPr>
              <a:t>Results are stable enough for diagnosis and long-term storage</a:t>
            </a:r>
          </a:p>
          <a:p>
            <a:pPr>
              <a:spcAft>
                <a:spcPts val="800"/>
              </a:spcAft>
            </a:pPr>
            <a:endParaRPr lang="en-US" sz="3600" i="1" dirty="0">
              <a:solidFill>
                <a:srgbClr val="000000"/>
              </a:solidFill>
            </a:endParaRPr>
          </a:p>
          <a:p>
            <a:pPr>
              <a:spcBef>
                <a:spcPts val="600"/>
              </a:spcBef>
            </a:pPr>
            <a:r>
              <a:rPr lang="en-US" sz="3600" i="1" dirty="0">
                <a:solidFill>
                  <a:srgbClr val="000000"/>
                </a:solidFill>
              </a:rPr>
              <a:t>Key point: </a:t>
            </a:r>
            <a:r>
              <a:rPr lang="en-US" sz="3600" dirty="0">
                <a:solidFill>
                  <a:srgbClr val="000000"/>
                </a:solidFill>
              </a:rPr>
              <a:t>Developer is alkaline and fixer is acidic, so each works best apart</a:t>
            </a:r>
            <a:endParaRPr lang="en-US" sz="3600" dirty="0"/>
          </a:p>
          <a:p>
            <a:pPr marL="0" indent="0">
              <a:spcBef>
                <a:spcPts val="600"/>
              </a:spcBef>
              <a:buNone/>
            </a:pPr>
            <a:endParaRPr lang="en-US" sz="3600" dirty="0"/>
          </a:p>
        </p:txBody>
      </p:sp>
    </p:spTree>
    <p:extLst>
      <p:ext uri="{BB962C8B-B14F-4D97-AF65-F5344CB8AC3E}">
        <p14:creationId xmlns:p14="http://schemas.microsoft.com/office/powerpoint/2010/main" val="31796889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02CF-03E7-755A-6305-18E357C2DCD7}"/>
              </a:ext>
            </a:extLst>
          </p:cNvPr>
          <p:cNvSpPr>
            <a:spLocks noGrp="1"/>
          </p:cNvSpPr>
          <p:nvPr>
            <p:ph type="title"/>
          </p:nvPr>
        </p:nvSpPr>
        <p:spPr>
          <a:xfrm>
            <a:off x="838200" y="1"/>
            <a:ext cx="10515600" cy="1181685"/>
          </a:xfrm>
        </p:spPr>
        <p:txBody>
          <a:bodyPr/>
          <a:lstStyle/>
          <a:p>
            <a:pPr algn="ctr"/>
            <a:r>
              <a:rPr lang="en-US" b="1" dirty="0">
                <a:solidFill>
                  <a:srgbClr val="EE0000"/>
                </a:solidFill>
              </a:rPr>
              <a:t>What each bath does</a:t>
            </a:r>
            <a:endParaRPr lang="en-US" dirty="0">
              <a:solidFill>
                <a:srgbClr val="EE0000"/>
              </a:solidFill>
            </a:endParaRPr>
          </a:p>
        </p:txBody>
      </p:sp>
      <p:sp>
        <p:nvSpPr>
          <p:cNvPr id="3" name="Content Placeholder 2">
            <a:extLst>
              <a:ext uri="{FF2B5EF4-FFF2-40B4-BE49-F238E27FC236}">
                <a16:creationId xmlns:a16="http://schemas.microsoft.com/office/drawing/2014/main" id="{6122B927-4925-02DD-2DCA-C9982BAB70D8}"/>
              </a:ext>
            </a:extLst>
          </p:cNvPr>
          <p:cNvSpPr>
            <a:spLocks noGrp="1"/>
          </p:cNvSpPr>
          <p:nvPr>
            <p:ph sz="half" idx="1"/>
          </p:nvPr>
        </p:nvSpPr>
        <p:spPr/>
        <p:txBody>
          <a:bodyPr>
            <a:normAutofit/>
          </a:bodyPr>
          <a:lstStyle/>
          <a:p>
            <a:pPr marL="0" indent="0">
              <a:spcAft>
                <a:spcPts val="400"/>
              </a:spcAft>
              <a:buNone/>
            </a:pPr>
            <a:r>
              <a:rPr lang="en-US" sz="3600" b="1" dirty="0">
                <a:solidFill>
                  <a:srgbClr val="000000"/>
                </a:solidFill>
              </a:rPr>
              <a:t>Developer bath</a:t>
            </a:r>
            <a:endParaRPr lang="en-US" sz="3600" dirty="0"/>
          </a:p>
          <a:p>
            <a:pPr>
              <a:spcAft>
                <a:spcPts val="800"/>
              </a:spcAft>
            </a:pPr>
            <a:r>
              <a:rPr lang="en-US" sz="3600" dirty="0">
                <a:solidFill>
                  <a:srgbClr val="000000"/>
                </a:solidFill>
              </a:rPr>
              <a:t>Alkaline solution</a:t>
            </a:r>
            <a:endParaRPr lang="en-US" sz="3600" dirty="0"/>
          </a:p>
          <a:p>
            <a:pPr>
              <a:spcAft>
                <a:spcPts val="800"/>
              </a:spcAft>
            </a:pPr>
            <a:r>
              <a:rPr lang="en-US" sz="3600" dirty="0">
                <a:solidFill>
                  <a:srgbClr val="000000"/>
                </a:solidFill>
              </a:rPr>
              <a:t>Reduces exposed halide </a:t>
            </a:r>
            <a:endParaRPr lang="en-US" sz="3600" dirty="0"/>
          </a:p>
          <a:p>
            <a:pPr>
              <a:spcAft>
                <a:spcPts val="800"/>
              </a:spcAft>
            </a:pPr>
            <a:r>
              <a:rPr lang="en-US" sz="3600" dirty="0">
                <a:solidFill>
                  <a:srgbClr val="000000"/>
                </a:solidFill>
              </a:rPr>
              <a:t>About 5 minutes at 20 °C</a:t>
            </a:r>
            <a:endParaRPr lang="en-US" sz="3600" dirty="0"/>
          </a:p>
          <a:p>
            <a:pPr>
              <a:spcAft>
                <a:spcPts val="800"/>
              </a:spcAft>
            </a:pPr>
            <a:r>
              <a:rPr lang="en-US" sz="3600" dirty="0">
                <a:solidFill>
                  <a:srgbClr val="000000"/>
                </a:solidFill>
              </a:rPr>
              <a:t>Controls density and contrast</a:t>
            </a:r>
            <a:endParaRPr lang="en-US" sz="3600" dirty="0"/>
          </a:p>
          <a:p>
            <a:pPr marL="0" indent="0">
              <a:buNone/>
            </a:pPr>
            <a:endParaRPr lang="en-US" sz="3600" dirty="0"/>
          </a:p>
        </p:txBody>
      </p:sp>
      <p:sp>
        <p:nvSpPr>
          <p:cNvPr id="4" name="Content Placeholder 3">
            <a:extLst>
              <a:ext uri="{FF2B5EF4-FFF2-40B4-BE49-F238E27FC236}">
                <a16:creationId xmlns:a16="http://schemas.microsoft.com/office/drawing/2014/main" id="{F3F99811-6F69-30BC-D252-B83DAEB9FE23}"/>
              </a:ext>
            </a:extLst>
          </p:cNvPr>
          <p:cNvSpPr>
            <a:spLocks noGrp="1"/>
          </p:cNvSpPr>
          <p:nvPr>
            <p:ph sz="half" idx="2"/>
          </p:nvPr>
        </p:nvSpPr>
        <p:spPr/>
        <p:txBody>
          <a:bodyPr>
            <a:noAutofit/>
          </a:bodyPr>
          <a:lstStyle/>
          <a:p>
            <a:pPr marL="0" indent="0">
              <a:spcAft>
                <a:spcPts val="400"/>
              </a:spcAft>
              <a:buNone/>
            </a:pPr>
            <a:r>
              <a:rPr lang="en-US" sz="3600" b="1" dirty="0">
                <a:solidFill>
                  <a:srgbClr val="000000"/>
                </a:solidFill>
              </a:rPr>
              <a:t>Fixer bath</a:t>
            </a:r>
            <a:endParaRPr lang="en-US" sz="3600" dirty="0"/>
          </a:p>
          <a:p>
            <a:pPr>
              <a:spcAft>
                <a:spcPts val="800"/>
              </a:spcAft>
            </a:pPr>
            <a:r>
              <a:rPr lang="en-US" sz="3600" dirty="0">
                <a:solidFill>
                  <a:srgbClr val="000000"/>
                </a:solidFill>
              </a:rPr>
              <a:t>Acidic solution</a:t>
            </a:r>
            <a:endParaRPr lang="en-US" sz="3600" dirty="0"/>
          </a:p>
          <a:p>
            <a:pPr>
              <a:spcAft>
                <a:spcPts val="800"/>
              </a:spcAft>
            </a:pPr>
            <a:r>
              <a:rPr lang="en-US" sz="3600" dirty="0">
                <a:solidFill>
                  <a:srgbClr val="000000"/>
                </a:solidFill>
              </a:rPr>
              <a:t>Dissolves unexposed halide</a:t>
            </a:r>
            <a:endParaRPr lang="en-US" sz="3600" dirty="0"/>
          </a:p>
          <a:p>
            <a:pPr>
              <a:spcAft>
                <a:spcPts val="800"/>
              </a:spcAft>
            </a:pPr>
            <a:r>
              <a:rPr lang="en-US" sz="3600" dirty="0">
                <a:solidFill>
                  <a:srgbClr val="000000"/>
                </a:solidFill>
              </a:rPr>
              <a:t>About 10 minutes</a:t>
            </a:r>
            <a:endParaRPr lang="en-US" sz="3600" dirty="0"/>
          </a:p>
          <a:p>
            <a:pPr>
              <a:spcAft>
                <a:spcPts val="800"/>
              </a:spcAft>
            </a:pPr>
            <a:r>
              <a:rPr lang="en-US" sz="3600" dirty="0">
                <a:solidFill>
                  <a:srgbClr val="000000"/>
                </a:solidFill>
              </a:rPr>
              <a:t>Hardens and preserves the emulsion</a:t>
            </a:r>
            <a:endParaRPr lang="en-US" sz="3600" dirty="0"/>
          </a:p>
          <a:p>
            <a:pPr marL="0" indent="0">
              <a:buNone/>
            </a:pPr>
            <a:endParaRPr lang="en-US" sz="3600" dirty="0"/>
          </a:p>
        </p:txBody>
      </p:sp>
    </p:spTree>
    <p:extLst>
      <p:ext uri="{BB962C8B-B14F-4D97-AF65-F5344CB8AC3E}">
        <p14:creationId xmlns:p14="http://schemas.microsoft.com/office/powerpoint/2010/main" val="4217629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7846A-0D22-F23C-8415-9F2D5CA8D376}"/>
              </a:ext>
            </a:extLst>
          </p:cNvPr>
          <p:cNvSpPr>
            <a:spLocks noGrp="1"/>
          </p:cNvSpPr>
          <p:nvPr>
            <p:ph type="title"/>
          </p:nvPr>
        </p:nvSpPr>
        <p:spPr>
          <a:xfrm>
            <a:off x="838200" y="154745"/>
            <a:ext cx="10515600" cy="1012873"/>
          </a:xfrm>
        </p:spPr>
        <p:txBody>
          <a:bodyPr/>
          <a:lstStyle/>
          <a:p>
            <a:pPr algn="ctr"/>
            <a:r>
              <a:rPr lang="en-US" b="1" dirty="0">
                <a:solidFill>
                  <a:srgbClr val="EE0000"/>
                </a:solidFill>
              </a:rPr>
              <a:t>Manual processing technique</a:t>
            </a:r>
            <a:endParaRPr lang="en-US" dirty="0">
              <a:solidFill>
                <a:srgbClr val="EE0000"/>
              </a:solidFill>
            </a:endParaRPr>
          </a:p>
        </p:txBody>
      </p:sp>
      <p:sp>
        <p:nvSpPr>
          <p:cNvPr id="3" name="Content Placeholder 2">
            <a:extLst>
              <a:ext uri="{FF2B5EF4-FFF2-40B4-BE49-F238E27FC236}">
                <a16:creationId xmlns:a16="http://schemas.microsoft.com/office/drawing/2014/main" id="{BB76EF60-D94A-59BF-FB7B-E6794523BFAE}"/>
              </a:ext>
            </a:extLst>
          </p:cNvPr>
          <p:cNvSpPr>
            <a:spLocks noGrp="1"/>
          </p:cNvSpPr>
          <p:nvPr>
            <p:ph idx="1"/>
          </p:nvPr>
        </p:nvSpPr>
        <p:spPr>
          <a:xfrm>
            <a:off x="838200" y="1266092"/>
            <a:ext cx="10515600" cy="5591908"/>
          </a:xfrm>
        </p:spPr>
        <p:txBody>
          <a:bodyPr>
            <a:noAutofit/>
          </a:bodyPr>
          <a:lstStyle/>
          <a:p>
            <a:pPr>
              <a:spcAft>
                <a:spcPts val="800"/>
              </a:spcAft>
            </a:pPr>
            <a:r>
              <a:rPr lang="en-US" sz="3600" dirty="0">
                <a:solidFill>
                  <a:srgbClr val="000000"/>
                </a:solidFill>
              </a:rPr>
              <a:t>Clip the film by its corners on a clean, dry hanger</a:t>
            </a:r>
            <a:endParaRPr lang="en-US" sz="3600" dirty="0"/>
          </a:p>
          <a:p>
            <a:pPr>
              <a:spcAft>
                <a:spcPts val="800"/>
              </a:spcAft>
            </a:pPr>
            <a:r>
              <a:rPr lang="en-US" sz="3600" dirty="0">
                <a:solidFill>
                  <a:srgbClr val="000000"/>
                </a:solidFill>
              </a:rPr>
              <a:t>Lower it smoothly into the developer and start the timer </a:t>
            </a:r>
            <a:endParaRPr lang="en-US" sz="3600" dirty="0"/>
          </a:p>
          <a:p>
            <a:pPr>
              <a:spcAft>
                <a:spcPts val="800"/>
              </a:spcAft>
            </a:pPr>
            <a:r>
              <a:rPr lang="en-US" sz="3600" dirty="0">
                <a:solidFill>
                  <a:srgbClr val="000000"/>
                </a:solidFill>
              </a:rPr>
              <a:t>Agitate at the start and tap to release air bells</a:t>
            </a:r>
            <a:endParaRPr lang="en-US" sz="3600" dirty="0"/>
          </a:p>
          <a:p>
            <a:pPr>
              <a:spcAft>
                <a:spcPts val="800"/>
              </a:spcAft>
            </a:pPr>
            <a:r>
              <a:rPr lang="en-US" sz="3600" dirty="0">
                <a:solidFill>
                  <a:srgbClr val="000000"/>
                </a:solidFill>
              </a:rPr>
              <a:t>Drain, rinse, then fix for the full time</a:t>
            </a:r>
            <a:endParaRPr lang="en-US" sz="3600" dirty="0"/>
          </a:p>
          <a:p>
            <a:pPr>
              <a:spcAft>
                <a:spcPts val="800"/>
              </a:spcAft>
            </a:pPr>
            <a:r>
              <a:rPr lang="en-US" sz="3600" dirty="0">
                <a:solidFill>
                  <a:srgbClr val="000000"/>
                </a:solidFill>
              </a:rPr>
              <a:t>Wash in running water and dry without touching the surface</a:t>
            </a:r>
            <a:endParaRPr lang="en-US" sz="3600" dirty="0"/>
          </a:p>
          <a:p>
            <a:pPr marL="0" indent="0">
              <a:spcBef>
                <a:spcPts val="600"/>
              </a:spcBef>
              <a:buNone/>
            </a:pPr>
            <a:r>
              <a:rPr lang="en-US" sz="3600" i="1" dirty="0">
                <a:solidFill>
                  <a:srgbClr val="000000"/>
                </a:solidFill>
              </a:rPr>
              <a:t>Key point: Smooth, timed, clean handling prevents most artifacts.</a:t>
            </a:r>
            <a:endParaRPr lang="en-US" sz="3600" dirty="0"/>
          </a:p>
          <a:p>
            <a:pPr marL="0" indent="0">
              <a:buNone/>
            </a:pPr>
            <a:endParaRPr lang="en-US" sz="3600" dirty="0"/>
          </a:p>
        </p:txBody>
      </p:sp>
    </p:spTree>
    <p:extLst>
      <p:ext uri="{BB962C8B-B14F-4D97-AF65-F5344CB8AC3E}">
        <p14:creationId xmlns:p14="http://schemas.microsoft.com/office/powerpoint/2010/main" val="963054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2D238-BDD2-77CB-543D-5D964C2C5447}"/>
              </a:ext>
            </a:extLst>
          </p:cNvPr>
          <p:cNvSpPr>
            <a:spLocks noGrp="1"/>
          </p:cNvSpPr>
          <p:nvPr>
            <p:ph type="title"/>
          </p:nvPr>
        </p:nvSpPr>
        <p:spPr>
          <a:xfrm>
            <a:off x="838200" y="0"/>
            <a:ext cx="10515600" cy="1125416"/>
          </a:xfrm>
        </p:spPr>
        <p:txBody>
          <a:bodyPr/>
          <a:lstStyle/>
          <a:p>
            <a:pPr algn="ctr"/>
            <a:r>
              <a:rPr lang="en-US" b="1" dirty="0">
                <a:solidFill>
                  <a:srgbClr val="EE0000"/>
                </a:solidFill>
              </a:rPr>
              <a:t>Time and temperature control</a:t>
            </a:r>
            <a:endParaRPr lang="en-US" dirty="0">
              <a:solidFill>
                <a:srgbClr val="EE0000"/>
              </a:solidFill>
            </a:endParaRPr>
          </a:p>
        </p:txBody>
      </p:sp>
      <p:sp>
        <p:nvSpPr>
          <p:cNvPr id="3" name="Content Placeholder 2">
            <a:extLst>
              <a:ext uri="{FF2B5EF4-FFF2-40B4-BE49-F238E27FC236}">
                <a16:creationId xmlns:a16="http://schemas.microsoft.com/office/drawing/2014/main" id="{2A1EB9B6-DD07-2A0A-A72B-7B2646B88E3E}"/>
              </a:ext>
            </a:extLst>
          </p:cNvPr>
          <p:cNvSpPr>
            <a:spLocks noGrp="1"/>
          </p:cNvSpPr>
          <p:nvPr>
            <p:ph idx="1"/>
          </p:nvPr>
        </p:nvSpPr>
        <p:spPr>
          <a:xfrm>
            <a:off x="534572" y="1519310"/>
            <a:ext cx="10819228" cy="4867421"/>
          </a:xfrm>
        </p:spPr>
        <p:txBody>
          <a:bodyPr>
            <a:normAutofit/>
          </a:bodyPr>
          <a:lstStyle/>
          <a:p>
            <a:pPr>
              <a:spcAft>
                <a:spcPts val="800"/>
              </a:spcAft>
            </a:pPr>
            <a:r>
              <a:rPr lang="en-US" sz="3600" dirty="0">
                <a:solidFill>
                  <a:srgbClr val="000000"/>
                </a:solidFill>
              </a:rPr>
              <a:t>Standard development is about 5 minutes at 20 °C</a:t>
            </a:r>
            <a:endParaRPr lang="en-US" sz="3600" dirty="0"/>
          </a:p>
          <a:p>
            <a:pPr>
              <a:spcAft>
                <a:spcPts val="800"/>
              </a:spcAft>
            </a:pPr>
            <a:r>
              <a:rPr lang="en-US" sz="3600" dirty="0">
                <a:solidFill>
                  <a:srgbClr val="000000"/>
                </a:solidFill>
              </a:rPr>
              <a:t>A warmer bath works faster and may fog the film</a:t>
            </a:r>
            <a:endParaRPr lang="en-US" sz="3600" dirty="0"/>
          </a:p>
          <a:p>
            <a:pPr>
              <a:spcAft>
                <a:spcPts val="800"/>
              </a:spcAft>
            </a:pPr>
            <a:r>
              <a:rPr lang="en-US" sz="3600" dirty="0">
                <a:solidFill>
                  <a:srgbClr val="000000"/>
                </a:solidFill>
              </a:rPr>
              <a:t>A cooler bath works slowly and under-develops</a:t>
            </a:r>
            <a:endParaRPr lang="en-US" sz="3600" dirty="0"/>
          </a:p>
          <a:p>
            <a:pPr>
              <a:spcAft>
                <a:spcPts val="800"/>
              </a:spcAft>
            </a:pPr>
            <a:r>
              <a:rPr lang="en-US" sz="3600" dirty="0">
                <a:solidFill>
                  <a:srgbClr val="000000"/>
                </a:solidFill>
              </a:rPr>
              <a:t>Use a thermometer and a timer for every film</a:t>
            </a:r>
          </a:p>
          <a:p>
            <a:pPr>
              <a:spcAft>
                <a:spcPts val="800"/>
              </a:spcAft>
            </a:pPr>
            <a:endParaRPr lang="en-US" sz="3600" dirty="0"/>
          </a:p>
          <a:p>
            <a:pPr marL="0" indent="0">
              <a:spcBef>
                <a:spcPts val="600"/>
              </a:spcBef>
              <a:buNone/>
            </a:pPr>
            <a:r>
              <a:rPr lang="en-US" sz="3600" i="1" dirty="0">
                <a:solidFill>
                  <a:srgbClr val="000000"/>
                </a:solidFill>
              </a:rPr>
              <a:t>Key point: Time and temperature must always be read together.</a:t>
            </a:r>
            <a:endParaRPr lang="en-US" sz="3600" dirty="0"/>
          </a:p>
          <a:p>
            <a:pPr marL="0" indent="0">
              <a:buNone/>
            </a:pPr>
            <a:endParaRPr lang="en-US" sz="3600" dirty="0"/>
          </a:p>
        </p:txBody>
      </p:sp>
    </p:spTree>
    <p:extLst>
      <p:ext uri="{BB962C8B-B14F-4D97-AF65-F5344CB8AC3E}">
        <p14:creationId xmlns:p14="http://schemas.microsoft.com/office/powerpoint/2010/main" val="490281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5D70A-06E0-18EF-5A0B-4D5BD900DA28}"/>
              </a:ext>
            </a:extLst>
          </p:cNvPr>
          <p:cNvSpPr>
            <a:spLocks noGrp="1"/>
          </p:cNvSpPr>
          <p:nvPr>
            <p:ph type="title"/>
          </p:nvPr>
        </p:nvSpPr>
        <p:spPr>
          <a:xfrm>
            <a:off x="838200" y="98475"/>
            <a:ext cx="10515600" cy="1153550"/>
          </a:xfrm>
        </p:spPr>
        <p:txBody>
          <a:bodyPr/>
          <a:lstStyle/>
          <a:p>
            <a:pPr algn="ctr"/>
            <a:r>
              <a:rPr lang="en-US" b="1" dirty="0">
                <a:solidFill>
                  <a:srgbClr val="EE0000"/>
                </a:solidFill>
              </a:rPr>
              <a:t>Tank arrangement</a:t>
            </a:r>
            <a:endParaRPr lang="en-US" dirty="0">
              <a:solidFill>
                <a:srgbClr val="EE0000"/>
              </a:solidFill>
            </a:endParaRPr>
          </a:p>
        </p:txBody>
      </p:sp>
      <p:sp>
        <p:nvSpPr>
          <p:cNvPr id="3" name="Content Placeholder 2">
            <a:extLst>
              <a:ext uri="{FF2B5EF4-FFF2-40B4-BE49-F238E27FC236}">
                <a16:creationId xmlns:a16="http://schemas.microsoft.com/office/drawing/2014/main" id="{2629F19B-3285-26DF-A0D3-1A08843A4F35}"/>
              </a:ext>
            </a:extLst>
          </p:cNvPr>
          <p:cNvSpPr>
            <a:spLocks noGrp="1"/>
          </p:cNvSpPr>
          <p:nvPr>
            <p:ph idx="1"/>
          </p:nvPr>
        </p:nvSpPr>
        <p:spPr>
          <a:xfrm>
            <a:off x="464234" y="1252024"/>
            <a:ext cx="10889566" cy="5134707"/>
          </a:xfrm>
        </p:spPr>
        <p:txBody>
          <a:bodyPr>
            <a:normAutofit/>
          </a:bodyPr>
          <a:lstStyle/>
          <a:p>
            <a:pPr>
              <a:spcAft>
                <a:spcPts val="800"/>
              </a:spcAft>
              <a:buSzPct val="100000"/>
            </a:pPr>
            <a:r>
              <a:rPr lang="en-US" sz="3600" dirty="0">
                <a:solidFill>
                  <a:srgbClr val="000000"/>
                </a:solidFill>
              </a:rPr>
              <a:t>Tanks sit in a line: developer, rinse, fixer, wash</a:t>
            </a:r>
            <a:endParaRPr lang="en-US" sz="3600" dirty="0"/>
          </a:p>
          <a:p>
            <a:pPr>
              <a:spcAft>
                <a:spcPts val="800"/>
              </a:spcAft>
              <a:buSzPct val="100000"/>
            </a:pPr>
            <a:r>
              <a:rPr lang="en-US" sz="3600" dirty="0">
                <a:solidFill>
                  <a:srgbClr val="000000"/>
                </a:solidFill>
              </a:rPr>
              <a:t>Film never travels back over a tank it has left</a:t>
            </a:r>
            <a:endParaRPr lang="en-US" sz="3600" dirty="0"/>
          </a:p>
          <a:p>
            <a:pPr>
              <a:spcAft>
                <a:spcPts val="800"/>
              </a:spcAft>
              <a:buSzPct val="100000"/>
            </a:pPr>
            <a:r>
              <a:rPr lang="en-US" sz="3600" dirty="0">
                <a:solidFill>
                  <a:srgbClr val="000000"/>
                </a:solidFill>
              </a:rPr>
              <a:t>Each tank has its own lid and stirring rod</a:t>
            </a:r>
            <a:endParaRPr lang="en-US" sz="3600" dirty="0"/>
          </a:p>
          <a:p>
            <a:pPr>
              <a:spcAft>
                <a:spcPts val="800"/>
              </a:spcAft>
              <a:buSzPct val="100000"/>
            </a:pPr>
            <a:r>
              <a:rPr lang="en-US" sz="3600" dirty="0">
                <a:solidFill>
                  <a:srgbClr val="000000"/>
                </a:solidFill>
              </a:rPr>
              <a:t>Wash tank sits last, with running water</a:t>
            </a:r>
          </a:p>
          <a:p>
            <a:pPr>
              <a:spcAft>
                <a:spcPts val="800"/>
              </a:spcAft>
              <a:buSzPct val="100000"/>
            </a:pPr>
            <a:endParaRPr lang="en-US" sz="3600" dirty="0"/>
          </a:p>
          <a:p>
            <a:pPr marL="0" indent="0">
              <a:spcBef>
                <a:spcPts val="600"/>
              </a:spcBef>
              <a:buNone/>
            </a:pPr>
            <a:r>
              <a:rPr lang="en-US" sz="3600" i="1" dirty="0">
                <a:solidFill>
                  <a:srgbClr val="000000"/>
                </a:solidFill>
              </a:rPr>
              <a:t>Key point: A one-way path protects each solution from contamination.</a:t>
            </a:r>
            <a:endParaRPr lang="en-US" sz="3600" dirty="0"/>
          </a:p>
          <a:p>
            <a:endParaRPr lang="en-US" sz="3600" dirty="0"/>
          </a:p>
        </p:txBody>
      </p:sp>
    </p:spTree>
    <p:extLst>
      <p:ext uri="{BB962C8B-B14F-4D97-AF65-F5344CB8AC3E}">
        <p14:creationId xmlns:p14="http://schemas.microsoft.com/office/powerpoint/2010/main" val="3495014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2B5BC-3589-C543-D102-28DE8F1B2962}"/>
              </a:ext>
            </a:extLst>
          </p:cNvPr>
          <p:cNvSpPr>
            <a:spLocks noGrp="1"/>
          </p:cNvSpPr>
          <p:nvPr>
            <p:ph type="title"/>
          </p:nvPr>
        </p:nvSpPr>
        <p:spPr>
          <a:xfrm>
            <a:off x="838200" y="1"/>
            <a:ext cx="10515600" cy="1167618"/>
          </a:xfrm>
        </p:spPr>
        <p:txBody>
          <a:bodyPr/>
          <a:lstStyle/>
          <a:p>
            <a:pPr algn="ctr"/>
            <a:r>
              <a:rPr lang="en-US" b="1" dirty="0">
                <a:solidFill>
                  <a:srgbClr val="EE0000"/>
                </a:solidFill>
              </a:rPr>
              <a:t>Advantages and limitations</a:t>
            </a:r>
            <a:endParaRPr lang="en-US" dirty="0">
              <a:solidFill>
                <a:srgbClr val="EE0000"/>
              </a:solidFill>
            </a:endParaRPr>
          </a:p>
        </p:txBody>
      </p:sp>
      <p:sp>
        <p:nvSpPr>
          <p:cNvPr id="3" name="Content Placeholder 2">
            <a:extLst>
              <a:ext uri="{FF2B5EF4-FFF2-40B4-BE49-F238E27FC236}">
                <a16:creationId xmlns:a16="http://schemas.microsoft.com/office/drawing/2014/main" id="{75447167-962C-1F7C-532A-7AE705DA17B2}"/>
              </a:ext>
            </a:extLst>
          </p:cNvPr>
          <p:cNvSpPr>
            <a:spLocks noGrp="1"/>
          </p:cNvSpPr>
          <p:nvPr>
            <p:ph sz="half" idx="1"/>
          </p:nvPr>
        </p:nvSpPr>
        <p:spPr/>
        <p:txBody>
          <a:bodyPr>
            <a:normAutofit/>
          </a:bodyPr>
          <a:lstStyle/>
          <a:p>
            <a:pPr marL="0" indent="0">
              <a:spcAft>
                <a:spcPts val="400"/>
              </a:spcAft>
              <a:buNone/>
            </a:pPr>
            <a:r>
              <a:rPr lang="en-US" sz="3200" b="1" dirty="0">
                <a:solidFill>
                  <a:srgbClr val="000000"/>
                </a:solidFill>
              </a:rPr>
              <a:t>Advantages</a:t>
            </a:r>
            <a:endParaRPr lang="en-US" sz="3200" dirty="0"/>
          </a:p>
          <a:p>
            <a:pPr>
              <a:spcAft>
                <a:spcPts val="800"/>
              </a:spcAft>
            </a:pPr>
            <a:r>
              <a:rPr lang="en-US" sz="3200" dirty="0">
                <a:solidFill>
                  <a:srgbClr val="000000"/>
                </a:solidFill>
              </a:rPr>
              <a:t>Good control of image quality</a:t>
            </a:r>
            <a:endParaRPr lang="en-US" sz="3200" dirty="0"/>
          </a:p>
          <a:p>
            <a:pPr>
              <a:spcAft>
                <a:spcPts val="800"/>
              </a:spcAft>
            </a:pPr>
            <a:r>
              <a:rPr lang="en-US" sz="3200" dirty="0">
                <a:solidFill>
                  <a:srgbClr val="000000"/>
                </a:solidFill>
              </a:rPr>
              <a:t>Reliable, repeatable results</a:t>
            </a:r>
            <a:endParaRPr lang="en-US" sz="3200" dirty="0"/>
          </a:p>
          <a:p>
            <a:pPr>
              <a:spcAft>
                <a:spcPts val="800"/>
              </a:spcAft>
            </a:pPr>
            <a:r>
              <a:rPr lang="en-US" sz="3200" dirty="0">
                <a:solidFill>
                  <a:srgbClr val="000000"/>
                </a:solidFill>
              </a:rPr>
              <a:t>Solutions can be replenished</a:t>
            </a:r>
            <a:endParaRPr lang="en-US" sz="3200" dirty="0"/>
          </a:p>
          <a:p>
            <a:pPr>
              <a:spcAft>
                <a:spcPts val="800"/>
              </a:spcAft>
            </a:pPr>
            <a:r>
              <a:rPr lang="en-US" sz="3200" dirty="0">
                <a:solidFill>
                  <a:srgbClr val="000000"/>
                </a:solidFill>
              </a:rPr>
              <a:t>Low equipment cost</a:t>
            </a:r>
            <a:endParaRPr lang="en-US" sz="3200" dirty="0"/>
          </a:p>
          <a:p>
            <a:pPr marL="0" indent="0">
              <a:buNone/>
            </a:pPr>
            <a:endParaRPr lang="en-US" sz="3200" dirty="0"/>
          </a:p>
        </p:txBody>
      </p:sp>
      <p:sp>
        <p:nvSpPr>
          <p:cNvPr id="4" name="Content Placeholder 3">
            <a:extLst>
              <a:ext uri="{FF2B5EF4-FFF2-40B4-BE49-F238E27FC236}">
                <a16:creationId xmlns:a16="http://schemas.microsoft.com/office/drawing/2014/main" id="{C8ACAD47-1445-308C-6EC0-684485882405}"/>
              </a:ext>
            </a:extLst>
          </p:cNvPr>
          <p:cNvSpPr>
            <a:spLocks noGrp="1"/>
          </p:cNvSpPr>
          <p:nvPr>
            <p:ph sz="half" idx="2"/>
          </p:nvPr>
        </p:nvSpPr>
        <p:spPr/>
        <p:txBody>
          <a:bodyPr>
            <a:normAutofit/>
          </a:bodyPr>
          <a:lstStyle/>
          <a:p>
            <a:pPr marL="0" indent="0">
              <a:spcAft>
                <a:spcPts val="400"/>
              </a:spcAft>
              <a:buNone/>
            </a:pPr>
            <a:r>
              <a:rPr lang="en-US" sz="3200" b="1" dirty="0">
                <a:solidFill>
                  <a:srgbClr val="000000"/>
                </a:solidFill>
              </a:rPr>
              <a:t>Limitations</a:t>
            </a:r>
            <a:endParaRPr lang="en-US" sz="3200" dirty="0"/>
          </a:p>
          <a:p>
            <a:pPr>
              <a:spcAft>
                <a:spcPts val="800"/>
              </a:spcAft>
            </a:pPr>
            <a:r>
              <a:rPr lang="en-US" sz="3200" dirty="0">
                <a:solidFill>
                  <a:srgbClr val="000000"/>
                </a:solidFill>
              </a:rPr>
              <a:t>Slow and </a:t>
            </a:r>
            <a:r>
              <a:rPr lang="en-US" sz="3200" dirty="0" err="1">
                <a:solidFill>
                  <a:srgbClr val="000000"/>
                </a:solidFill>
              </a:rPr>
              <a:t>labour</a:t>
            </a:r>
            <a:r>
              <a:rPr lang="en-US" sz="3200" dirty="0">
                <a:solidFill>
                  <a:srgbClr val="000000"/>
                </a:solidFill>
              </a:rPr>
              <a:t> intensive</a:t>
            </a:r>
            <a:endParaRPr lang="en-US" sz="3200" dirty="0"/>
          </a:p>
          <a:p>
            <a:pPr>
              <a:spcAft>
                <a:spcPts val="800"/>
              </a:spcAft>
            </a:pPr>
            <a:r>
              <a:rPr lang="en-US" sz="3200" dirty="0">
                <a:solidFill>
                  <a:srgbClr val="000000"/>
                </a:solidFill>
              </a:rPr>
              <a:t>Depends on operator skill</a:t>
            </a:r>
            <a:endParaRPr lang="en-US" sz="3200" dirty="0"/>
          </a:p>
          <a:p>
            <a:pPr>
              <a:spcAft>
                <a:spcPts val="800"/>
              </a:spcAft>
            </a:pPr>
            <a:r>
              <a:rPr lang="en-US" sz="3200" dirty="0">
                <a:solidFill>
                  <a:srgbClr val="000000"/>
                </a:solidFill>
              </a:rPr>
              <a:t>Needs space and running water</a:t>
            </a:r>
            <a:endParaRPr lang="en-US" sz="3200" dirty="0"/>
          </a:p>
          <a:p>
            <a:pPr marL="0" indent="0">
              <a:buNone/>
            </a:pPr>
            <a:endParaRPr lang="en-US" sz="3200" dirty="0"/>
          </a:p>
        </p:txBody>
      </p:sp>
    </p:spTree>
    <p:extLst>
      <p:ext uri="{BB962C8B-B14F-4D97-AF65-F5344CB8AC3E}">
        <p14:creationId xmlns:p14="http://schemas.microsoft.com/office/powerpoint/2010/main" val="2595301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96ED1-A3E8-4AB2-3D66-16065AB44DC2}"/>
              </a:ext>
            </a:extLst>
          </p:cNvPr>
          <p:cNvSpPr>
            <a:spLocks noGrp="1"/>
          </p:cNvSpPr>
          <p:nvPr>
            <p:ph type="title"/>
          </p:nvPr>
        </p:nvSpPr>
        <p:spPr>
          <a:xfrm>
            <a:off x="838200" y="1"/>
            <a:ext cx="10515600" cy="1181686"/>
          </a:xfrm>
        </p:spPr>
        <p:txBody>
          <a:bodyPr/>
          <a:lstStyle/>
          <a:p>
            <a:pPr algn="ctr"/>
            <a:r>
              <a:rPr lang="en-US" b="1" dirty="0">
                <a:solidFill>
                  <a:srgbClr val="EE0000"/>
                </a:solidFill>
              </a:rPr>
              <a:t>Single-bath vs conventional</a:t>
            </a:r>
            <a:endParaRPr lang="en-US" dirty="0">
              <a:solidFill>
                <a:srgbClr val="EE0000"/>
              </a:solidFill>
            </a:endParaRPr>
          </a:p>
        </p:txBody>
      </p:sp>
      <p:sp>
        <p:nvSpPr>
          <p:cNvPr id="3" name="Content Placeholder 2">
            <a:extLst>
              <a:ext uri="{FF2B5EF4-FFF2-40B4-BE49-F238E27FC236}">
                <a16:creationId xmlns:a16="http://schemas.microsoft.com/office/drawing/2014/main" id="{4F402C9E-1CD3-BF03-D5DF-1EAD57ADA526}"/>
              </a:ext>
            </a:extLst>
          </p:cNvPr>
          <p:cNvSpPr>
            <a:spLocks noGrp="1"/>
          </p:cNvSpPr>
          <p:nvPr>
            <p:ph idx="1"/>
          </p:nvPr>
        </p:nvSpPr>
        <p:spPr>
          <a:xfrm>
            <a:off x="379828" y="1181687"/>
            <a:ext cx="11338560" cy="5373858"/>
          </a:xfrm>
        </p:spPr>
        <p:txBody>
          <a:bodyPr>
            <a:noAutofit/>
          </a:bodyPr>
          <a:lstStyle/>
          <a:p>
            <a:pPr marL="0" indent="0">
              <a:spcAft>
                <a:spcPts val="800"/>
              </a:spcAft>
              <a:buNone/>
            </a:pPr>
            <a:r>
              <a:rPr lang="en-US" sz="3200" b="1" dirty="0">
                <a:solidFill>
                  <a:srgbClr val="000000"/>
                </a:solidFill>
              </a:rPr>
              <a:t>Solutions: </a:t>
            </a:r>
            <a:r>
              <a:rPr lang="en-US" sz="3200" dirty="0">
                <a:solidFill>
                  <a:srgbClr val="000000"/>
                </a:solidFill>
              </a:rPr>
              <a:t>Single bath: One combined bath. Conventional (separate baths): Developer and fixer apart</a:t>
            </a:r>
            <a:endParaRPr lang="en-US" sz="3200" dirty="0"/>
          </a:p>
          <a:p>
            <a:pPr marL="0" indent="0">
              <a:spcAft>
                <a:spcPts val="800"/>
              </a:spcAft>
              <a:buNone/>
            </a:pPr>
            <a:r>
              <a:rPr lang="en-US" sz="3200" b="1" dirty="0">
                <a:solidFill>
                  <a:srgbClr val="000000"/>
                </a:solidFill>
              </a:rPr>
              <a:t>Control of image: </a:t>
            </a:r>
            <a:r>
              <a:rPr lang="en-US" sz="3200" dirty="0">
                <a:solidFill>
                  <a:srgbClr val="000000"/>
                </a:solidFill>
              </a:rPr>
              <a:t>Single bath: Limited. Conventional (separate baths): Good, adjustable by time and temperature</a:t>
            </a:r>
            <a:endParaRPr lang="en-US" sz="3200" dirty="0"/>
          </a:p>
          <a:p>
            <a:pPr marL="0" indent="0">
              <a:spcAft>
                <a:spcPts val="800"/>
              </a:spcAft>
              <a:buNone/>
            </a:pPr>
            <a:r>
              <a:rPr lang="en-US" sz="3200" b="1" dirty="0">
                <a:solidFill>
                  <a:srgbClr val="000000"/>
                </a:solidFill>
              </a:rPr>
              <a:t>Image quality: </a:t>
            </a:r>
            <a:r>
              <a:rPr lang="en-US" sz="3200" dirty="0">
                <a:solidFill>
                  <a:srgbClr val="000000"/>
                </a:solidFill>
              </a:rPr>
              <a:t>Single bath: Lower. Conventional (separate baths): Diagnostic standard</a:t>
            </a:r>
            <a:endParaRPr lang="en-US" sz="3200" dirty="0"/>
          </a:p>
          <a:p>
            <a:pPr marL="0" indent="0">
              <a:spcAft>
                <a:spcPts val="800"/>
              </a:spcAft>
              <a:buNone/>
            </a:pPr>
            <a:r>
              <a:rPr lang="en-US" sz="3200" b="1" dirty="0">
                <a:solidFill>
                  <a:srgbClr val="000000"/>
                </a:solidFill>
              </a:rPr>
              <a:t>Keeping quality: </a:t>
            </a:r>
            <a:r>
              <a:rPr lang="en-US" sz="3200" dirty="0">
                <a:solidFill>
                  <a:srgbClr val="000000"/>
                </a:solidFill>
              </a:rPr>
              <a:t>Single bath: Short bath life. Conventional (separate baths): Longer, replenishable</a:t>
            </a:r>
            <a:endParaRPr lang="en-US" sz="3200" dirty="0"/>
          </a:p>
          <a:p>
            <a:pPr marL="0" indent="0">
              <a:spcAft>
                <a:spcPts val="800"/>
              </a:spcAft>
              <a:buNone/>
            </a:pPr>
            <a:r>
              <a:rPr lang="en-US" sz="3200" b="1" dirty="0">
                <a:solidFill>
                  <a:srgbClr val="000000"/>
                </a:solidFill>
              </a:rPr>
              <a:t>Typical use: </a:t>
            </a:r>
            <a:r>
              <a:rPr lang="en-US" sz="3200" dirty="0">
                <a:solidFill>
                  <a:srgbClr val="000000"/>
                </a:solidFill>
              </a:rPr>
              <a:t>Single bath: Teaching, improvisation. Conventional (separate baths): Routine radiography</a:t>
            </a:r>
            <a:endParaRPr lang="en-US" sz="3200" dirty="0"/>
          </a:p>
          <a:p>
            <a:pPr marL="0" indent="0">
              <a:buNone/>
            </a:pPr>
            <a:endParaRPr lang="en-US" sz="3200" dirty="0"/>
          </a:p>
          <a:p>
            <a:pPr marL="0" indent="0">
              <a:buNone/>
            </a:pPr>
            <a:endParaRPr lang="en-US" sz="3200" dirty="0"/>
          </a:p>
        </p:txBody>
      </p:sp>
    </p:spTree>
    <p:extLst>
      <p:ext uri="{BB962C8B-B14F-4D97-AF65-F5344CB8AC3E}">
        <p14:creationId xmlns:p14="http://schemas.microsoft.com/office/powerpoint/2010/main" val="34050533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E3142-9322-E316-23AD-2D5814C96822}"/>
              </a:ext>
            </a:extLst>
          </p:cNvPr>
          <p:cNvSpPr>
            <a:spLocks noGrp="1"/>
          </p:cNvSpPr>
          <p:nvPr>
            <p:ph type="title"/>
          </p:nvPr>
        </p:nvSpPr>
        <p:spPr>
          <a:xfrm>
            <a:off x="838200" y="140677"/>
            <a:ext cx="10515600" cy="1153551"/>
          </a:xfrm>
        </p:spPr>
        <p:txBody>
          <a:bodyPr/>
          <a:lstStyle/>
          <a:p>
            <a:pPr algn="ctr"/>
            <a:r>
              <a:rPr lang="en-US" b="1" dirty="0">
                <a:solidFill>
                  <a:srgbClr val="EE0000"/>
                </a:solidFill>
              </a:rPr>
              <a:t>What is an integrated system?</a:t>
            </a:r>
            <a:endParaRPr lang="en-US" dirty="0">
              <a:solidFill>
                <a:srgbClr val="EE0000"/>
              </a:solidFill>
            </a:endParaRPr>
          </a:p>
        </p:txBody>
      </p:sp>
      <p:sp>
        <p:nvSpPr>
          <p:cNvPr id="3" name="Content Placeholder 2">
            <a:extLst>
              <a:ext uri="{FF2B5EF4-FFF2-40B4-BE49-F238E27FC236}">
                <a16:creationId xmlns:a16="http://schemas.microsoft.com/office/drawing/2014/main" id="{2DAB4B94-5144-07C9-FE6F-702A3C429CC6}"/>
              </a:ext>
            </a:extLst>
          </p:cNvPr>
          <p:cNvSpPr>
            <a:spLocks noGrp="1"/>
          </p:cNvSpPr>
          <p:nvPr>
            <p:ph idx="1"/>
          </p:nvPr>
        </p:nvSpPr>
        <p:spPr>
          <a:xfrm>
            <a:off x="422031" y="1294228"/>
            <a:ext cx="10931769" cy="5423095"/>
          </a:xfrm>
        </p:spPr>
        <p:txBody>
          <a:bodyPr>
            <a:noAutofit/>
          </a:bodyPr>
          <a:lstStyle/>
          <a:p>
            <a:pPr>
              <a:spcAft>
                <a:spcPts val="800"/>
              </a:spcAft>
            </a:pPr>
            <a:r>
              <a:rPr lang="en-US" sz="3600" dirty="0">
                <a:solidFill>
                  <a:srgbClr val="000000"/>
                </a:solidFill>
              </a:rPr>
              <a:t>Developer, rinse, fixer and wash tanks combined in one unit</a:t>
            </a:r>
            <a:endParaRPr lang="en-US" sz="3600" dirty="0"/>
          </a:p>
          <a:p>
            <a:pPr>
              <a:spcAft>
                <a:spcPts val="800"/>
              </a:spcAft>
            </a:pPr>
            <a:r>
              <a:rPr lang="en-US" sz="3600" dirty="0">
                <a:solidFill>
                  <a:srgbClr val="000000"/>
                </a:solidFill>
              </a:rPr>
              <a:t>Tanks are arranged in the order of processing</a:t>
            </a:r>
          </a:p>
          <a:p>
            <a:pPr>
              <a:spcAft>
                <a:spcPts val="800"/>
              </a:spcAft>
            </a:pPr>
            <a:endParaRPr lang="en-US" sz="3600" dirty="0"/>
          </a:p>
          <a:p>
            <a:pPr marL="0" indent="0">
              <a:spcBef>
                <a:spcPts val="600"/>
              </a:spcBef>
              <a:buNone/>
            </a:pPr>
            <a:r>
              <a:rPr lang="en-US" sz="3600" i="1" dirty="0">
                <a:solidFill>
                  <a:srgbClr val="000000"/>
                </a:solidFill>
              </a:rPr>
              <a:t>Key point: All stages, one unit, one temperature environment.</a:t>
            </a:r>
          </a:p>
          <a:p>
            <a:pPr marL="0" indent="0">
              <a:spcBef>
                <a:spcPts val="600"/>
              </a:spcBef>
              <a:buNone/>
            </a:pPr>
            <a:endParaRPr lang="en-US" sz="3600" i="1" dirty="0">
              <a:solidFill>
                <a:srgbClr val="000000"/>
              </a:solidFill>
            </a:endParaRPr>
          </a:p>
          <a:p>
            <a:pPr marL="0" indent="0">
              <a:spcBef>
                <a:spcPts val="600"/>
              </a:spcBef>
              <a:buNone/>
            </a:pPr>
            <a:r>
              <a:rPr lang="en-US" sz="3600" i="1" dirty="0">
                <a:solidFill>
                  <a:srgbClr val="000000"/>
                </a:solidFill>
              </a:rPr>
              <a:t>Moving water keeps both solutions at a steady temperature</a:t>
            </a:r>
          </a:p>
          <a:p>
            <a:pPr marL="0" indent="0">
              <a:spcBef>
                <a:spcPts val="600"/>
              </a:spcBef>
              <a:buNone/>
            </a:pPr>
            <a:endParaRPr lang="en-US" sz="3600" dirty="0"/>
          </a:p>
          <a:p>
            <a:pPr marL="0" indent="0">
              <a:buNone/>
            </a:pPr>
            <a:endParaRPr lang="en-US" sz="3600" dirty="0"/>
          </a:p>
        </p:txBody>
      </p:sp>
    </p:spTree>
    <p:extLst>
      <p:ext uri="{BB962C8B-B14F-4D97-AF65-F5344CB8AC3E}">
        <p14:creationId xmlns:p14="http://schemas.microsoft.com/office/powerpoint/2010/main" val="2108954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B56F8-3737-693E-48B3-F0BFDB106F68}"/>
              </a:ext>
            </a:extLst>
          </p:cNvPr>
          <p:cNvSpPr>
            <a:spLocks noGrp="1"/>
          </p:cNvSpPr>
          <p:nvPr>
            <p:ph type="title"/>
          </p:nvPr>
        </p:nvSpPr>
        <p:spPr>
          <a:xfrm>
            <a:off x="838200" y="112543"/>
            <a:ext cx="10515600" cy="1041008"/>
          </a:xfrm>
        </p:spPr>
        <p:txBody>
          <a:bodyPr/>
          <a:lstStyle/>
          <a:p>
            <a:pPr algn="ctr"/>
            <a:r>
              <a:rPr lang="en-US" b="1" dirty="0">
                <a:solidFill>
                  <a:srgbClr val="EE0000"/>
                </a:solidFill>
              </a:rPr>
              <a:t>Components of the unit</a:t>
            </a:r>
            <a:endParaRPr lang="en-US" dirty="0">
              <a:solidFill>
                <a:srgbClr val="EE0000"/>
              </a:solidFill>
            </a:endParaRPr>
          </a:p>
        </p:txBody>
      </p:sp>
      <p:sp>
        <p:nvSpPr>
          <p:cNvPr id="3" name="Content Placeholder 2">
            <a:extLst>
              <a:ext uri="{FF2B5EF4-FFF2-40B4-BE49-F238E27FC236}">
                <a16:creationId xmlns:a16="http://schemas.microsoft.com/office/drawing/2014/main" id="{07284A5D-235F-154F-B544-D8C044ED312B}"/>
              </a:ext>
            </a:extLst>
          </p:cNvPr>
          <p:cNvSpPr>
            <a:spLocks noGrp="1"/>
          </p:cNvSpPr>
          <p:nvPr>
            <p:ph idx="1"/>
          </p:nvPr>
        </p:nvSpPr>
        <p:spPr>
          <a:xfrm>
            <a:off x="309488" y="1153551"/>
            <a:ext cx="11044311" cy="5591906"/>
          </a:xfrm>
        </p:spPr>
        <p:txBody>
          <a:bodyPr>
            <a:noAutofit/>
          </a:bodyPr>
          <a:lstStyle/>
          <a:p>
            <a:pPr marL="0" indent="0">
              <a:spcAft>
                <a:spcPts val="800"/>
              </a:spcAft>
              <a:buNone/>
            </a:pPr>
            <a:r>
              <a:rPr lang="en-US" sz="3200" b="1" dirty="0">
                <a:solidFill>
                  <a:srgbClr val="000000"/>
                </a:solidFill>
              </a:rPr>
              <a:t>Master tank: </a:t>
            </a:r>
            <a:r>
              <a:rPr lang="en-US" sz="3200" dirty="0">
                <a:solidFill>
                  <a:srgbClr val="000000"/>
                </a:solidFill>
              </a:rPr>
              <a:t>Outer tank holding the water jacket (this jacket warms or cools solutions through the tank walls). This jacket has thermostat that regulate the temperature to about 20 degree Celsius. Continuous flow of water keeps the water jacket temperature even.</a:t>
            </a:r>
            <a:endParaRPr lang="en-US" sz="3200" dirty="0"/>
          </a:p>
          <a:p>
            <a:pPr marL="0" indent="0">
              <a:spcAft>
                <a:spcPts val="800"/>
              </a:spcAft>
              <a:buNone/>
            </a:pPr>
            <a:r>
              <a:rPr lang="en-US" sz="3200" b="1" dirty="0">
                <a:solidFill>
                  <a:srgbClr val="000000"/>
                </a:solidFill>
              </a:rPr>
              <a:t>Inner tanks: </a:t>
            </a:r>
            <a:r>
              <a:rPr lang="en-US" sz="3200" dirty="0">
                <a:solidFill>
                  <a:srgbClr val="000000"/>
                </a:solidFill>
              </a:rPr>
              <a:t>Developer and fixer solution tanks</a:t>
            </a:r>
            <a:endParaRPr lang="en-US" sz="3200" dirty="0"/>
          </a:p>
          <a:p>
            <a:pPr marL="0" indent="0">
              <a:spcAft>
                <a:spcPts val="800"/>
              </a:spcAft>
              <a:buNone/>
            </a:pPr>
            <a:r>
              <a:rPr lang="en-US" sz="3200" b="1" dirty="0">
                <a:solidFill>
                  <a:srgbClr val="000000"/>
                </a:solidFill>
              </a:rPr>
              <a:t>Wash tank: </a:t>
            </a:r>
            <a:r>
              <a:rPr lang="en-US" sz="3200" dirty="0">
                <a:solidFill>
                  <a:srgbClr val="000000"/>
                </a:solidFill>
              </a:rPr>
              <a:t>Large tank with running water</a:t>
            </a:r>
            <a:endParaRPr lang="en-US" sz="3200" dirty="0"/>
          </a:p>
          <a:p>
            <a:pPr marL="0" indent="0">
              <a:spcAft>
                <a:spcPts val="800"/>
              </a:spcAft>
              <a:buNone/>
            </a:pPr>
            <a:r>
              <a:rPr lang="en-US" sz="3200" b="1" dirty="0">
                <a:solidFill>
                  <a:srgbClr val="000000"/>
                </a:solidFill>
              </a:rPr>
              <a:t>Thermostatic mixer: </a:t>
            </a:r>
            <a:r>
              <a:rPr lang="en-US" sz="3200" dirty="0">
                <a:solidFill>
                  <a:srgbClr val="000000"/>
                </a:solidFill>
              </a:rPr>
              <a:t>Blends hot and cold water</a:t>
            </a:r>
            <a:endParaRPr lang="en-US" sz="3200" dirty="0"/>
          </a:p>
          <a:p>
            <a:pPr marL="0" indent="0">
              <a:spcAft>
                <a:spcPts val="800"/>
              </a:spcAft>
              <a:buNone/>
            </a:pPr>
            <a:r>
              <a:rPr lang="en-US" sz="3200" b="1" dirty="0">
                <a:solidFill>
                  <a:srgbClr val="000000"/>
                </a:solidFill>
              </a:rPr>
              <a:t>Overflow and drain: </a:t>
            </a:r>
            <a:r>
              <a:rPr lang="en-US" sz="3200" dirty="0">
                <a:solidFill>
                  <a:srgbClr val="000000"/>
                </a:solidFill>
              </a:rPr>
              <a:t>Keep levels safe and empty tanks</a:t>
            </a:r>
            <a:endParaRPr lang="en-US" sz="3200" dirty="0"/>
          </a:p>
          <a:p>
            <a:pPr marL="0" indent="0">
              <a:spcAft>
                <a:spcPts val="800"/>
              </a:spcAft>
              <a:buNone/>
            </a:pPr>
            <a:r>
              <a:rPr lang="en-US" sz="3200" b="1" dirty="0">
                <a:solidFill>
                  <a:srgbClr val="000000"/>
                </a:solidFill>
              </a:rPr>
              <a:t>Lids and racks: </a:t>
            </a:r>
            <a:r>
              <a:rPr lang="en-US" sz="3200" dirty="0">
                <a:solidFill>
                  <a:srgbClr val="000000"/>
                </a:solidFill>
              </a:rPr>
              <a:t>Cover tanks and hold hangers</a:t>
            </a:r>
            <a:endParaRPr lang="en-US" sz="3200" dirty="0"/>
          </a:p>
          <a:p>
            <a:pPr marL="0" indent="0">
              <a:buNone/>
            </a:pPr>
            <a:endParaRPr lang="en-US" sz="3200" dirty="0"/>
          </a:p>
        </p:txBody>
      </p:sp>
    </p:spTree>
    <p:extLst>
      <p:ext uri="{BB962C8B-B14F-4D97-AF65-F5344CB8AC3E}">
        <p14:creationId xmlns:p14="http://schemas.microsoft.com/office/powerpoint/2010/main" val="1179874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78A9E-0DA5-EB70-2085-F040322A2F70}"/>
              </a:ext>
            </a:extLst>
          </p:cNvPr>
          <p:cNvSpPr>
            <a:spLocks noGrp="1"/>
          </p:cNvSpPr>
          <p:nvPr>
            <p:ph type="title"/>
          </p:nvPr>
        </p:nvSpPr>
        <p:spPr>
          <a:xfrm>
            <a:off x="838200" y="1"/>
            <a:ext cx="10515600" cy="1083211"/>
          </a:xfrm>
        </p:spPr>
        <p:txBody>
          <a:bodyPr/>
          <a:lstStyle/>
          <a:p>
            <a:pPr algn="ctr"/>
            <a:r>
              <a:rPr lang="en-US" b="1" dirty="0">
                <a:solidFill>
                  <a:srgbClr val="EE0000"/>
                </a:solidFill>
              </a:rPr>
              <a:t>Layout of the tanks</a:t>
            </a:r>
            <a:endParaRPr lang="en-US" dirty="0">
              <a:solidFill>
                <a:srgbClr val="EE0000"/>
              </a:solidFill>
            </a:endParaRPr>
          </a:p>
        </p:txBody>
      </p:sp>
      <p:sp>
        <p:nvSpPr>
          <p:cNvPr id="3" name="Content Placeholder 2">
            <a:extLst>
              <a:ext uri="{FF2B5EF4-FFF2-40B4-BE49-F238E27FC236}">
                <a16:creationId xmlns:a16="http://schemas.microsoft.com/office/drawing/2014/main" id="{926C6A14-48F3-023C-ECF8-2E2BFD11E7A4}"/>
              </a:ext>
            </a:extLst>
          </p:cNvPr>
          <p:cNvSpPr>
            <a:spLocks noGrp="1"/>
          </p:cNvSpPr>
          <p:nvPr>
            <p:ph idx="1"/>
          </p:nvPr>
        </p:nvSpPr>
        <p:spPr>
          <a:xfrm>
            <a:off x="838200" y="1308295"/>
            <a:ext cx="10515600" cy="4868668"/>
          </a:xfrm>
        </p:spPr>
        <p:txBody>
          <a:bodyPr>
            <a:normAutofit/>
          </a:bodyPr>
          <a:lstStyle/>
          <a:p>
            <a:pPr marL="0" indent="0">
              <a:spcAft>
                <a:spcPts val="800"/>
              </a:spcAft>
              <a:buNone/>
            </a:pPr>
            <a:r>
              <a:rPr lang="en-US" sz="4400" b="1" dirty="0">
                <a:solidFill>
                  <a:srgbClr val="000000"/>
                </a:solidFill>
              </a:rPr>
              <a:t>1. Developer: </a:t>
            </a:r>
            <a:r>
              <a:rPr lang="en-US" sz="4400" dirty="0">
                <a:solidFill>
                  <a:srgbClr val="000000"/>
                </a:solidFill>
              </a:rPr>
              <a:t>First tank, in the water jacket</a:t>
            </a:r>
            <a:endParaRPr lang="en-US" sz="4400" dirty="0"/>
          </a:p>
          <a:p>
            <a:pPr marL="0" indent="0">
              <a:spcAft>
                <a:spcPts val="800"/>
              </a:spcAft>
              <a:buNone/>
            </a:pPr>
            <a:r>
              <a:rPr lang="en-US" sz="4400" b="1" dirty="0">
                <a:solidFill>
                  <a:srgbClr val="000000"/>
                </a:solidFill>
              </a:rPr>
              <a:t>2. Rinse: </a:t>
            </a:r>
            <a:r>
              <a:rPr lang="en-US" sz="4400" dirty="0">
                <a:solidFill>
                  <a:srgbClr val="000000"/>
                </a:solidFill>
              </a:rPr>
              <a:t>Short rinse or stop bath</a:t>
            </a:r>
            <a:endParaRPr lang="en-US" sz="4400" dirty="0"/>
          </a:p>
          <a:p>
            <a:pPr marL="0" indent="0">
              <a:spcAft>
                <a:spcPts val="800"/>
              </a:spcAft>
              <a:buNone/>
            </a:pPr>
            <a:r>
              <a:rPr lang="en-US" sz="4400" b="1" dirty="0">
                <a:solidFill>
                  <a:srgbClr val="000000"/>
                </a:solidFill>
              </a:rPr>
              <a:t>3. Fixer: </a:t>
            </a:r>
            <a:r>
              <a:rPr lang="en-US" sz="4400" dirty="0">
                <a:solidFill>
                  <a:srgbClr val="000000"/>
                </a:solidFill>
              </a:rPr>
              <a:t>Second jacketed tank</a:t>
            </a:r>
            <a:endParaRPr lang="en-US" sz="4400" dirty="0"/>
          </a:p>
          <a:p>
            <a:pPr marL="0" indent="0">
              <a:spcAft>
                <a:spcPts val="800"/>
              </a:spcAft>
              <a:buNone/>
            </a:pPr>
            <a:r>
              <a:rPr lang="en-US" sz="4400" b="1" dirty="0">
                <a:solidFill>
                  <a:srgbClr val="000000"/>
                </a:solidFill>
              </a:rPr>
              <a:t>4. Wash: </a:t>
            </a:r>
            <a:r>
              <a:rPr lang="en-US" sz="4400" dirty="0">
                <a:solidFill>
                  <a:srgbClr val="000000"/>
                </a:solidFill>
              </a:rPr>
              <a:t>Largest tank, running water</a:t>
            </a:r>
            <a:endParaRPr lang="en-US" sz="4400" dirty="0"/>
          </a:p>
          <a:p>
            <a:pPr marL="0" indent="0">
              <a:spcAft>
                <a:spcPts val="800"/>
              </a:spcAft>
              <a:buNone/>
            </a:pPr>
            <a:r>
              <a:rPr lang="en-US" sz="4400" b="1" dirty="0">
                <a:solidFill>
                  <a:srgbClr val="000000"/>
                </a:solidFill>
              </a:rPr>
              <a:t>5. Drying: </a:t>
            </a:r>
            <a:r>
              <a:rPr lang="en-US" sz="4400" dirty="0">
                <a:solidFill>
                  <a:srgbClr val="000000"/>
                </a:solidFill>
              </a:rPr>
              <a:t>Cabinet or rack</a:t>
            </a:r>
            <a:endParaRPr lang="en-US" sz="4400" dirty="0"/>
          </a:p>
          <a:p>
            <a:pPr marL="0" indent="0">
              <a:buNone/>
            </a:pPr>
            <a:endParaRPr lang="en-US" sz="4400" dirty="0"/>
          </a:p>
        </p:txBody>
      </p:sp>
    </p:spTree>
    <p:extLst>
      <p:ext uri="{BB962C8B-B14F-4D97-AF65-F5344CB8AC3E}">
        <p14:creationId xmlns:p14="http://schemas.microsoft.com/office/powerpoint/2010/main" val="8978236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412AD-0B11-552A-2A96-8B4F5AFCFAD2}"/>
              </a:ext>
            </a:extLst>
          </p:cNvPr>
          <p:cNvSpPr>
            <a:spLocks noGrp="1"/>
          </p:cNvSpPr>
          <p:nvPr>
            <p:ph type="title"/>
          </p:nvPr>
        </p:nvSpPr>
        <p:spPr>
          <a:xfrm>
            <a:off x="838200" y="98475"/>
            <a:ext cx="10515600" cy="984737"/>
          </a:xfrm>
        </p:spPr>
        <p:txBody>
          <a:bodyPr/>
          <a:lstStyle/>
          <a:p>
            <a:pPr algn="ctr"/>
            <a:r>
              <a:rPr lang="en-US" b="1" dirty="0">
                <a:solidFill>
                  <a:srgbClr val="EE0000"/>
                </a:solidFill>
              </a:rPr>
              <a:t>Advantages and limitations</a:t>
            </a:r>
            <a:endParaRPr lang="en-US" dirty="0">
              <a:solidFill>
                <a:srgbClr val="EE0000"/>
              </a:solidFill>
            </a:endParaRPr>
          </a:p>
        </p:txBody>
      </p:sp>
      <p:sp>
        <p:nvSpPr>
          <p:cNvPr id="3" name="Content Placeholder 2">
            <a:extLst>
              <a:ext uri="{FF2B5EF4-FFF2-40B4-BE49-F238E27FC236}">
                <a16:creationId xmlns:a16="http://schemas.microsoft.com/office/drawing/2014/main" id="{FE20D012-45E5-7456-6497-C7982E06B652}"/>
              </a:ext>
            </a:extLst>
          </p:cNvPr>
          <p:cNvSpPr>
            <a:spLocks noGrp="1"/>
          </p:cNvSpPr>
          <p:nvPr>
            <p:ph sz="half" idx="1"/>
          </p:nvPr>
        </p:nvSpPr>
        <p:spPr/>
        <p:txBody>
          <a:bodyPr>
            <a:normAutofit/>
          </a:bodyPr>
          <a:lstStyle/>
          <a:p>
            <a:pPr marL="0" indent="0">
              <a:spcAft>
                <a:spcPts val="400"/>
              </a:spcAft>
              <a:buNone/>
            </a:pPr>
            <a:r>
              <a:rPr lang="en-US" sz="3600" b="1" dirty="0">
                <a:solidFill>
                  <a:srgbClr val="000000"/>
                </a:solidFill>
              </a:rPr>
              <a:t>Advantages</a:t>
            </a:r>
            <a:endParaRPr lang="en-US" sz="3600" dirty="0"/>
          </a:p>
          <a:p>
            <a:pPr>
              <a:spcAft>
                <a:spcPts val="800"/>
              </a:spcAft>
            </a:pPr>
            <a:r>
              <a:rPr lang="en-US" sz="3600" dirty="0">
                <a:solidFill>
                  <a:srgbClr val="000000"/>
                </a:solidFill>
              </a:rPr>
              <a:t>Stable solution temperature</a:t>
            </a:r>
            <a:endParaRPr lang="en-US" sz="3600" dirty="0"/>
          </a:p>
          <a:p>
            <a:pPr>
              <a:spcAft>
                <a:spcPts val="800"/>
              </a:spcAft>
            </a:pPr>
            <a:r>
              <a:rPr lang="en-US" sz="3600" dirty="0">
                <a:solidFill>
                  <a:srgbClr val="000000"/>
                </a:solidFill>
              </a:rPr>
              <a:t>Low cost and simple servicing</a:t>
            </a:r>
            <a:endParaRPr lang="en-US" sz="3600" dirty="0"/>
          </a:p>
          <a:p>
            <a:pPr>
              <a:spcAft>
                <a:spcPts val="800"/>
              </a:spcAft>
            </a:pPr>
            <a:r>
              <a:rPr lang="en-US" sz="3600" dirty="0">
                <a:solidFill>
                  <a:srgbClr val="000000"/>
                </a:solidFill>
              </a:rPr>
              <a:t>Works without complex electronics</a:t>
            </a:r>
            <a:endParaRPr lang="en-US" sz="3600" dirty="0"/>
          </a:p>
          <a:p>
            <a:pPr marL="0" indent="0">
              <a:buNone/>
            </a:pPr>
            <a:endParaRPr lang="en-US" sz="3600" dirty="0"/>
          </a:p>
        </p:txBody>
      </p:sp>
      <p:sp>
        <p:nvSpPr>
          <p:cNvPr id="4" name="Content Placeholder 3">
            <a:extLst>
              <a:ext uri="{FF2B5EF4-FFF2-40B4-BE49-F238E27FC236}">
                <a16:creationId xmlns:a16="http://schemas.microsoft.com/office/drawing/2014/main" id="{63D0065E-2C97-4B13-ED64-9AD4A1B8D06F}"/>
              </a:ext>
            </a:extLst>
          </p:cNvPr>
          <p:cNvSpPr>
            <a:spLocks noGrp="1"/>
          </p:cNvSpPr>
          <p:nvPr>
            <p:ph sz="half" idx="2"/>
          </p:nvPr>
        </p:nvSpPr>
        <p:spPr/>
        <p:txBody>
          <a:bodyPr>
            <a:normAutofit/>
          </a:bodyPr>
          <a:lstStyle/>
          <a:p>
            <a:pPr marL="0" indent="0">
              <a:spcAft>
                <a:spcPts val="400"/>
              </a:spcAft>
              <a:buNone/>
            </a:pPr>
            <a:r>
              <a:rPr lang="en-US" sz="3600" b="1" dirty="0">
                <a:solidFill>
                  <a:srgbClr val="000000"/>
                </a:solidFill>
              </a:rPr>
              <a:t>Limitations</a:t>
            </a:r>
            <a:endParaRPr lang="en-US" sz="3600" dirty="0"/>
          </a:p>
          <a:p>
            <a:pPr>
              <a:spcAft>
                <a:spcPts val="800"/>
              </a:spcAft>
            </a:pPr>
            <a:r>
              <a:rPr lang="en-US" sz="3600" dirty="0">
                <a:solidFill>
                  <a:srgbClr val="000000"/>
                </a:solidFill>
              </a:rPr>
              <a:t>Low throughput</a:t>
            </a:r>
            <a:endParaRPr lang="en-US" sz="3600" dirty="0"/>
          </a:p>
          <a:p>
            <a:pPr>
              <a:spcAft>
                <a:spcPts val="800"/>
              </a:spcAft>
            </a:pPr>
            <a:r>
              <a:rPr lang="en-US" sz="3600" dirty="0" err="1">
                <a:solidFill>
                  <a:srgbClr val="000000"/>
                </a:solidFill>
              </a:rPr>
              <a:t>Labour</a:t>
            </a:r>
            <a:r>
              <a:rPr lang="en-US" sz="3600" dirty="0">
                <a:solidFill>
                  <a:srgbClr val="000000"/>
                </a:solidFill>
              </a:rPr>
              <a:t> intensive</a:t>
            </a:r>
            <a:endParaRPr lang="en-US" sz="3600" dirty="0"/>
          </a:p>
          <a:p>
            <a:pPr>
              <a:spcAft>
                <a:spcPts val="800"/>
              </a:spcAft>
            </a:pPr>
            <a:r>
              <a:rPr lang="en-US" sz="3600" dirty="0">
                <a:solidFill>
                  <a:srgbClr val="000000"/>
                </a:solidFill>
              </a:rPr>
              <a:t>Needs water and space</a:t>
            </a:r>
            <a:endParaRPr lang="en-US" sz="3600" dirty="0"/>
          </a:p>
          <a:p>
            <a:pPr>
              <a:spcAft>
                <a:spcPts val="800"/>
              </a:spcAft>
            </a:pPr>
            <a:r>
              <a:rPr lang="en-US" sz="3600" dirty="0">
                <a:solidFill>
                  <a:srgbClr val="000000"/>
                </a:solidFill>
              </a:rPr>
              <a:t>Operator error: timing, agitation</a:t>
            </a:r>
            <a:endParaRPr lang="en-US" sz="3600" dirty="0"/>
          </a:p>
          <a:p>
            <a:pPr marL="0" indent="0">
              <a:buNone/>
            </a:pPr>
            <a:endParaRPr lang="en-US" sz="3600" dirty="0"/>
          </a:p>
        </p:txBody>
      </p:sp>
    </p:spTree>
    <p:extLst>
      <p:ext uri="{BB962C8B-B14F-4D97-AF65-F5344CB8AC3E}">
        <p14:creationId xmlns:p14="http://schemas.microsoft.com/office/powerpoint/2010/main" val="42481351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59AB4-D8D7-36A8-7D63-5DEE4354D7F1}"/>
              </a:ext>
            </a:extLst>
          </p:cNvPr>
          <p:cNvSpPr>
            <a:spLocks noGrp="1"/>
          </p:cNvSpPr>
          <p:nvPr>
            <p:ph type="title"/>
          </p:nvPr>
        </p:nvSpPr>
        <p:spPr>
          <a:xfrm>
            <a:off x="838200" y="112543"/>
            <a:ext cx="10515600" cy="844060"/>
          </a:xfrm>
        </p:spPr>
        <p:txBody>
          <a:bodyPr/>
          <a:lstStyle/>
          <a:p>
            <a:pPr algn="ctr"/>
            <a:r>
              <a:rPr lang="en-US" b="1" dirty="0">
                <a:solidFill>
                  <a:srgbClr val="EE0000"/>
                </a:solidFill>
              </a:rPr>
              <a:t>Manual vs automatic processing</a:t>
            </a:r>
            <a:endParaRPr lang="en-US" dirty="0">
              <a:solidFill>
                <a:srgbClr val="EE0000"/>
              </a:solidFill>
            </a:endParaRPr>
          </a:p>
        </p:txBody>
      </p:sp>
      <p:sp>
        <p:nvSpPr>
          <p:cNvPr id="3" name="Content Placeholder 2">
            <a:extLst>
              <a:ext uri="{FF2B5EF4-FFF2-40B4-BE49-F238E27FC236}">
                <a16:creationId xmlns:a16="http://schemas.microsoft.com/office/drawing/2014/main" id="{AD7EF17B-8F63-7DE4-565C-1F7076A5FC70}"/>
              </a:ext>
            </a:extLst>
          </p:cNvPr>
          <p:cNvSpPr>
            <a:spLocks noGrp="1"/>
          </p:cNvSpPr>
          <p:nvPr>
            <p:ph idx="1"/>
          </p:nvPr>
        </p:nvSpPr>
        <p:spPr>
          <a:xfrm>
            <a:off x="393895" y="1378634"/>
            <a:ext cx="11324493" cy="5114241"/>
          </a:xfrm>
        </p:spPr>
        <p:txBody>
          <a:bodyPr>
            <a:normAutofit/>
          </a:bodyPr>
          <a:lstStyle/>
          <a:p>
            <a:pPr marL="0" indent="0">
              <a:spcAft>
                <a:spcPts val="800"/>
              </a:spcAft>
              <a:buNone/>
            </a:pPr>
            <a:r>
              <a:rPr lang="en-US" sz="3600" b="1" dirty="0">
                <a:solidFill>
                  <a:srgbClr val="000000"/>
                </a:solidFill>
              </a:rPr>
              <a:t>Processing time: </a:t>
            </a:r>
            <a:r>
              <a:rPr lang="en-US" sz="3600" dirty="0">
                <a:solidFill>
                  <a:srgbClr val="000000"/>
                </a:solidFill>
              </a:rPr>
              <a:t>Manual: About 30 to 60 minutes to dry film. Automatic processor: About 90 seconds to 3 minutes</a:t>
            </a:r>
            <a:endParaRPr lang="en-US" sz="3600" dirty="0"/>
          </a:p>
          <a:p>
            <a:pPr marL="0" indent="0">
              <a:spcAft>
                <a:spcPts val="800"/>
              </a:spcAft>
              <a:buNone/>
            </a:pPr>
            <a:r>
              <a:rPr lang="en-US" sz="3600" b="1" dirty="0">
                <a:solidFill>
                  <a:srgbClr val="000000"/>
                </a:solidFill>
              </a:rPr>
              <a:t>Throughput: </a:t>
            </a:r>
            <a:r>
              <a:rPr lang="en-US" sz="3600" dirty="0">
                <a:solidFill>
                  <a:srgbClr val="000000"/>
                </a:solidFill>
              </a:rPr>
              <a:t>Manual: Low. Automatic processor: High</a:t>
            </a:r>
            <a:endParaRPr lang="en-US" sz="3600" dirty="0"/>
          </a:p>
          <a:p>
            <a:pPr marL="0" indent="0">
              <a:spcAft>
                <a:spcPts val="800"/>
              </a:spcAft>
              <a:buNone/>
            </a:pPr>
            <a:r>
              <a:rPr lang="en-US" sz="3600" b="1" dirty="0">
                <a:solidFill>
                  <a:srgbClr val="000000"/>
                </a:solidFill>
              </a:rPr>
              <a:t>Consistency: </a:t>
            </a:r>
            <a:r>
              <a:rPr lang="en-US" sz="3600" dirty="0">
                <a:solidFill>
                  <a:srgbClr val="000000"/>
                </a:solidFill>
              </a:rPr>
              <a:t>Manual: Operator dependent. Automatic processor: Machine controlled</a:t>
            </a:r>
            <a:endParaRPr lang="en-US" sz="3600" dirty="0"/>
          </a:p>
          <a:p>
            <a:pPr marL="0" indent="0">
              <a:spcAft>
                <a:spcPts val="800"/>
              </a:spcAft>
              <a:buNone/>
            </a:pPr>
            <a:r>
              <a:rPr lang="en-US" sz="3600" b="1" dirty="0" err="1">
                <a:solidFill>
                  <a:srgbClr val="000000"/>
                </a:solidFill>
              </a:rPr>
              <a:t>Labour</a:t>
            </a:r>
            <a:r>
              <a:rPr lang="en-US" sz="3600" b="1" dirty="0">
                <a:solidFill>
                  <a:srgbClr val="000000"/>
                </a:solidFill>
              </a:rPr>
              <a:t>: </a:t>
            </a:r>
            <a:r>
              <a:rPr lang="en-US" sz="3600" dirty="0">
                <a:solidFill>
                  <a:srgbClr val="000000"/>
                </a:solidFill>
              </a:rPr>
              <a:t>Manual: High. Automatic processor: Low</a:t>
            </a:r>
            <a:endParaRPr lang="en-US" sz="3600" dirty="0"/>
          </a:p>
          <a:p>
            <a:pPr marL="0" indent="0">
              <a:spcAft>
                <a:spcPts val="800"/>
              </a:spcAft>
              <a:buNone/>
            </a:pPr>
            <a:r>
              <a:rPr lang="en-US" sz="3600" b="1" dirty="0">
                <a:solidFill>
                  <a:srgbClr val="000000"/>
                </a:solidFill>
              </a:rPr>
              <a:t>Running cost: </a:t>
            </a:r>
            <a:r>
              <a:rPr lang="en-US" sz="3600" dirty="0">
                <a:solidFill>
                  <a:srgbClr val="000000"/>
                </a:solidFill>
              </a:rPr>
              <a:t>Manual: Low equipment cost. Automatic processor: Higher equipment and service cost</a:t>
            </a:r>
            <a:endParaRPr lang="en-US" sz="3600" dirty="0"/>
          </a:p>
          <a:p>
            <a:pPr marL="0" indent="0">
              <a:buNone/>
            </a:pPr>
            <a:endParaRPr lang="en-US" sz="3600" dirty="0"/>
          </a:p>
        </p:txBody>
      </p:sp>
    </p:spTree>
    <p:extLst>
      <p:ext uri="{BB962C8B-B14F-4D97-AF65-F5344CB8AC3E}">
        <p14:creationId xmlns:p14="http://schemas.microsoft.com/office/powerpoint/2010/main" val="1547446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3D7F0-9AEB-2C8C-510F-AA0CDC690D41}"/>
              </a:ext>
            </a:extLst>
          </p:cNvPr>
          <p:cNvSpPr>
            <a:spLocks noGrp="1"/>
          </p:cNvSpPr>
          <p:nvPr>
            <p:ph type="title"/>
          </p:nvPr>
        </p:nvSpPr>
        <p:spPr>
          <a:xfrm>
            <a:off x="838200" y="0"/>
            <a:ext cx="10515600" cy="1589650"/>
          </a:xfrm>
        </p:spPr>
        <p:txBody>
          <a:bodyPr>
            <a:normAutofit fontScale="90000"/>
          </a:bodyPr>
          <a:lstStyle/>
          <a:p>
            <a:pPr algn="ctr"/>
            <a:r>
              <a:rPr lang="en-US" b="1" dirty="0">
                <a:solidFill>
                  <a:srgbClr val="EE0000"/>
                </a:solidFill>
                <a:latin typeface="Cambria" pitchFamily="34" charset="0"/>
                <a:ea typeface="Cambria" pitchFamily="34" charset="-122"/>
                <a:cs typeface="Cambria" pitchFamily="34" charset="-120"/>
              </a:rPr>
              <a:t>Darkroom Construction, Layout and Materials</a:t>
            </a:r>
            <a:br>
              <a:rPr lang="en-US" dirty="0">
                <a:solidFill>
                  <a:srgbClr val="EE0000"/>
                </a:solidFill>
              </a:rPr>
            </a:br>
            <a:endParaRPr lang="en-US" dirty="0">
              <a:solidFill>
                <a:srgbClr val="EE0000"/>
              </a:solidFill>
            </a:endParaRPr>
          </a:p>
        </p:txBody>
      </p:sp>
      <p:sp>
        <p:nvSpPr>
          <p:cNvPr id="3" name="Content Placeholder 2">
            <a:extLst>
              <a:ext uri="{FF2B5EF4-FFF2-40B4-BE49-F238E27FC236}">
                <a16:creationId xmlns:a16="http://schemas.microsoft.com/office/drawing/2014/main" id="{50C2409F-48BD-B449-FE34-BB44A7917605}"/>
              </a:ext>
            </a:extLst>
          </p:cNvPr>
          <p:cNvSpPr>
            <a:spLocks noGrp="1"/>
          </p:cNvSpPr>
          <p:nvPr>
            <p:ph idx="1"/>
          </p:nvPr>
        </p:nvSpPr>
        <p:spPr>
          <a:xfrm>
            <a:off x="838200" y="2082017"/>
            <a:ext cx="10515600" cy="4094945"/>
          </a:xfrm>
        </p:spPr>
        <p:txBody>
          <a:bodyPr/>
          <a:lstStyle/>
          <a:p>
            <a:pPr marL="0" indent="0" algn="ctr">
              <a:buNone/>
            </a:pPr>
            <a:r>
              <a:rPr lang="en-US" sz="4000" b="1" dirty="0">
                <a:solidFill>
                  <a:srgbClr val="EE0000"/>
                </a:solidFill>
              </a:rPr>
              <a:t>Darkroom design principles</a:t>
            </a:r>
          </a:p>
          <a:p>
            <a:pPr>
              <a:spcAft>
                <a:spcPts val="800"/>
              </a:spcAft>
            </a:pPr>
            <a:r>
              <a:rPr lang="en-US" sz="4400" dirty="0">
                <a:solidFill>
                  <a:srgbClr val="000000"/>
                </a:solidFill>
              </a:rPr>
              <a:t>Complete light-tightness</a:t>
            </a:r>
            <a:endParaRPr lang="en-US" sz="4400" dirty="0"/>
          </a:p>
          <a:p>
            <a:pPr>
              <a:spcAft>
                <a:spcPts val="800"/>
              </a:spcAft>
            </a:pPr>
            <a:r>
              <a:rPr lang="en-US" sz="4400" dirty="0">
                <a:solidFill>
                  <a:srgbClr val="000000"/>
                </a:solidFill>
              </a:rPr>
              <a:t>Separate wet and dry zones</a:t>
            </a:r>
            <a:endParaRPr lang="en-US" sz="4400" dirty="0"/>
          </a:p>
          <a:p>
            <a:pPr>
              <a:spcAft>
                <a:spcPts val="800"/>
              </a:spcAft>
            </a:pPr>
            <a:r>
              <a:rPr lang="en-US" sz="4400" dirty="0">
                <a:solidFill>
                  <a:srgbClr val="000000"/>
                </a:solidFill>
              </a:rPr>
              <a:t>Good ventilation and drainage</a:t>
            </a:r>
            <a:endParaRPr lang="en-US" sz="4400" dirty="0"/>
          </a:p>
          <a:p>
            <a:pPr>
              <a:spcAft>
                <a:spcPts val="800"/>
              </a:spcAft>
            </a:pPr>
            <a:r>
              <a:rPr lang="en-US" sz="4400" dirty="0">
                <a:solidFill>
                  <a:srgbClr val="000000"/>
                </a:solidFill>
              </a:rPr>
              <a:t>Easy-to-clean, chemical-resistant surfaces</a:t>
            </a:r>
            <a:endParaRPr lang="en-US" sz="4400" dirty="0"/>
          </a:p>
          <a:p>
            <a:pPr marL="0" indent="0" algn="ctr">
              <a:buNone/>
            </a:pPr>
            <a:endParaRPr lang="en-US" dirty="0"/>
          </a:p>
        </p:txBody>
      </p:sp>
    </p:spTree>
    <p:extLst>
      <p:ext uri="{BB962C8B-B14F-4D97-AF65-F5344CB8AC3E}">
        <p14:creationId xmlns:p14="http://schemas.microsoft.com/office/powerpoint/2010/main" val="2552392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571FD-F6EC-2E54-9932-5FF9E5C51606}"/>
              </a:ext>
            </a:extLst>
          </p:cNvPr>
          <p:cNvSpPr>
            <a:spLocks noGrp="1"/>
          </p:cNvSpPr>
          <p:nvPr>
            <p:ph type="title"/>
          </p:nvPr>
        </p:nvSpPr>
        <p:spPr>
          <a:xfrm>
            <a:off x="838200" y="112543"/>
            <a:ext cx="10515600" cy="1505242"/>
          </a:xfrm>
        </p:spPr>
        <p:txBody>
          <a:bodyPr/>
          <a:lstStyle/>
          <a:p>
            <a:pPr algn="ctr"/>
            <a:r>
              <a:rPr lang="en-US" b="1" dirty="0">
                <a:solidFill>
                  <a:srgbClr val="EE0000"/>
                </a:solidFill>
              </a:rPr>
              <a:t>Entrances</a:t>
            </a:r>
            <a:endParaRPr lang="en-US" dirty="0">
              <a:solidFill>
                <a:srgbClr val="EE0000"/>
              </a:solidFill>
            </a:endParaRPr>
          </a:p>
        </p:txBody>
      </p:sp>
      <p:sp>
        <p:nvSpPr>
          <p:cNvPr id="3" name="Content Placeholder 2">
            <a:extLst>
              <a:ext uri="{FF2B5EF4-FFF2-40B4-BE49-F238E27FC236}">
                <a16:creationId xmlns:a16="http://schemas.microsoft.com/office/drawing/2014/main" id="{6CD0B666-0942-3899-3AD9-1D49559A2060}"/>
              </a:ext>
            </a:extLst>
          </p:cNvPr>
          <p:cNvSpPr>
            <a:spLocks noGrp="1"/>
          </p:cNvSpPr>
          <p:nvPr>
            <p:ph idx="1"/>
          </p:nvPr>
        </p:nvSpPr>
        <p:spPr>
          <a:xfrm>
            <a:off x="1575582" y="1825624"/>
            <a:ext cx="9566030" cy="5032375"/>
          </a:xfrm>
        </p:spPr>
        <p:txBody>
          <a:bodyPr>
            <a:normAutofit/>
          </a:bodyPr>
          <a:lstStyle/>
          <a:p>
            <a:r>
              <a:rPr lang="en-US" sz="3600" dirty="0">
                <a:latin typeface="Times New Roman" panose="02020603050405020304" pitchFamily="18" charset="0"/>
                <a:cs typeface="Times New Roman" panose="02020603050405020304" pitchFamily="18" charset="0"/>
              </a:rPr>
              <a:t>The entrance should be fitted and completely light proof</a:t>
            </a:r>
          </a:p>
          <a:p>
            <a:r>
              <a:rPr lang="en-US" sz="3600" dirty="0">
                <a:latin typeface="Times New Roman" panose="02020603050405020304" pitchFamily="18" charset="0"/>
                <a:cs typeface="Times New Roman" panose="02020603050405020304" pitchFamily="18" charset="0"/>
              </a:rPr>
              <a:t>Use of double doors advisable.</a:t>
            </a:r>
          </a:p>
          <a:p>
            <a:r>
              <a:rPr lang="en-US" sz="3600" dirty="0">
                <a:latin typeface="Times New Roman" panose="02020603050405020304" pitchFamily="18" charset="0"/>
                <a:cs typeface="Times New Roman" panose="02020603050405020304" pitchFamily="18" charset="0"/>
              </a:rPr>
              <a:t>The doors should be designed in such a way that the one closer to the darkroom opens into the room </a:t>
            </a:r>
          </a:p>
          <a:p>
            <a:r>
              <a:rPr lang="en-US" sz="3600" dirty="0">
                <a:latin typeface="Times New Roman" panose="02020603050405020304" pitchFamily="18" charset="0"/>
                <a:cs typeface="Times New Roman" panose="02020603050405020304" pitchFamily="18" charset="0"/>
              </a:rPr>
              <a:t>Whereas the other opens outwardly </a:t>
            </a:r>
          </a:p>
        </p:txBody>
      </p:sp>
    </p:spTree>
    <p:extLst>
      <p:ext uri="{BB962C8B-B14F-4D97-AF65-F5344CB8AC3E}">
        <p14:creationId xmlns:p14="http://schemas.microsoft.com/office/powerpoint/2010/main" val="3234353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341D5-806B-D2B7-9A02-9D48A95DAAE8}"/>
              </a:ext>
            </a:extLst>
          </p:cNvPr>
          <p:cNvSpPr>
            <a:spLocks noGrp="1"/>
          </p:cNvSpPr>
          <p:nvPr>
            <p:ph type="title"/>
          </p:nvPr>
        </p:nvSpPr>
        <p:spPr>
          <a:xfrm>
            <a:off x="838200" y="0"/>
            <a:ext cx="10515600" cy="787791"/>
          </a:xfrm>
        </p:spPr>
        <p:txBody>
          <a:bodyPr>
            <a:normAutofit/>
          </a:bodyPr>
          <a:lstStyle/>
          <a:p>
            <a:pPr algn="ctr"/>
            <a:r>
              <a:rPr lang="en-US" sz="4000" b="1" dirty="0">
                <a:solidFill>
                  <a:srgbClr val="EE0000"/>
                </a:solidFill>
              </a:rPr>
              <a:t>Darkroom </a:t>
            </a:r>
            <a:r>
              <a:rPr lang="en-US" sz="4000" b="1" dirty="0" err="1">
                <a:solidFill>
                  <a:srgbClr val="EE0000"/>
                </a:solidFill>
              </a:rPr>
              <a:t>equipments</a:t>
            </a:r>
            <a:endParaRPr lang="en-US" sz="4000" b="1" dirty="0">
              <a:solidFill>
                <a:srgbClr val="EE0000"/>
              </a:solidFill>
            </a:endParaRPr>
          </a:p>
        </p:txBody>
      </p:sp>
      <p:sp>
        <p:nvSpPr>
          <p:cNvPr id="3" name="Content Placeholder 2">
            <a:extLst>
              <a:ext uri="{FF2B5EF4-FFF2-40B4-BE49-F238E27FC236}">
                <a16:creationId xmlns:a16="http://schemas.microsoft.com/office/drawing/2014/main" id="{EBC9554B-0AFF-391A-84CC-AB3CF52521E5}"/>
              </a:ext>
            </a:extLst>
          </p:cNvPr>
          <p:cNvSpPr>
            <a:spLocks noGrp="1"/>
          </p:cNvSpPr>
          <p:nvPr>
            <p:ph idx="1"/>
          </p:nvPr>
        </p:nvSpPr>
        <p:spPr>
          <a:xfrm>
            <a:off x="0" y="787792"/>
            <a:ext cx="12191999" cy="6070208"/>
          </a:xfrm>
        </p:spPr>
        <p:txBody>
          <a:bodyPr>
            <a:noAutofit/>
          </a:bodyPr>
          <a:lstStyle/>
          <a:p>
            <a:pPr marL="0" indent="0" algn="ctr">
              <a:spcAft>
                <a:spcPts val="800"/>
              </a:spcAft>
              <a:buNone/>
            </a:pPr>
            <a:r>
              <a:rPr lang="en-US" sz="3200" b="1" dirty="0">
                <a:solidFill>
                  <a:srgbClr val="EE0000"/>
                </a:solidFill>
              </a:rPr>
              <a:t>Wet bench and dry bench</a:t>
            </a:r>
            <a:endParaRPr lang="en-US" sz="3200" b="1" dirty="0">
              <a:solidFill>
                <a:srgbClr val="000000"/>
              </a:solidFill>
            </a:endParaRPr>
          </a:p>
          <a:p>
            <a:pPr marL="0" indent="0">
              <a:spcAft>
                <a:spcPts val="800"/>
              </a:spcAft>
              <a:buNone/>
            </a:pPr>
            <a:r>
              <a:rPr lang="en-US" sz="3200" b="1" dirty="0">
                <a:solidFill>
                  <a:srgbClr val="000000"/>
                </a:solidFill>
              </a:rPr>
              <a:t>Separation: </a:t>
            </a:r>
            <a:r>
              <a:rPr lang="en-US" sz="3200" dirty="0">
                <a:solidFill>
                  <a:srgbClr val="000000"/>
                </a:solidFill>
              </a:rPr>
              <a:t>Keep apart wet and dry bench so that water cannot reach the film</a:t>
            </a:r>
            <a:endParaRPr lang="en-US" sz="3200" b="1" dirty="0">
              <a:solidFill>
                <a:srgbClr val="000000"/>
              </a:solidFill>
            </a:endParaRPr>
          </a:p>
          <a:p>
            <a:pPr marL="0" indent="0">
              <a:spcAft>
                <a:spcPts val="800"/>
              </a:spcAft>
              <a:buNone/>
            </a:pPr>
            <a:r>
              <a:rPr lang="en-US" sz="3200" b="1" dirty="0">
                <a:solidFill>
                  <a:srgbClr val="000000"/>
                </a:solidFill>
              </a:rPr>
              <a:t>Dry bench: </a:t>
            </a:r>
            <a:r>
              <a:rPr lang="en-US" sz="3200" dirty="0">
                <a:solidFill>
                  <a:srgbClr val="000000"/>
                </a:solidFill>
              </a:rPr>
              <a:t>where cassettes are unloaded and loaded with new film.</a:t>
            </a:r>
          </a:p>
          <a:p>
            <a:pPr marL="0" indent="0">
              <a:spcAft>
                <a:spcPts val="800"/>
              </a:spcAft>
              <a:buNone/>
            </a:pPr>
            <a:r>
              <a:rPr lang="en-US" sz="3200" dirty="0">
                <a:solidFill>
                  <a:srgbClr val="000000"/>
                </a:solidFill>
              </a:rPr>
              <a:t>Its top should be large enough to accommodate the biggest cassette.</a:t>
            </a:r>
          </a:p>
          <a:p>
            <a:pPr marL="0" indent="0">
              <a:spcAft>
                <a:spcPts val="800"/>
              </a:spcAft>
              <a:buNone/>
            </a:pPr>
            <a:r>
              <a:rPr lang="en-US" sz="3200" dirty="0">
                <a:solidFill>
                  <a:srgbClr val="000000"/>
                </a:solidFill>
              </a:rPr>
              <a:t>The surface of the dry bench should be made up of either wood or linoleum</a:t>
            </a:r>
            <a:endParaRPr lang="en-US" sz="3200" dirty="0"/>
          </a:p>
          <a:p>
            <a:pPr marL="0" indent="0">
              <a:spcAft>
                <a:spcPts val="800"/>
              </a:spcAft>
              <a:buNone/>
            </a:pPr>
            <a:r>
              <a:rPr lang="en-US" sz="3200" b="1" dirty="0">
                <a:solidFill>
                  <a:srgbClr val="000000"/>
                </a:solidFill>
              </a:rPr>
              <a:t>Wet bench: </a:t>
            </a:r>
            <a:r>
              <a:rPr lang="en-US" sz="3200" dirty="0">
                <a:solidFill>
                  <a:srgbClr val="000000"/>
                </a:solidFill>
              </a:rPr>
              <a:t>this is an area of processing unit where processing are carried out</a:t>
            </a:r>
          </a:p>
          <a:p>
            <a:pPr marL="0" indent="0">
              <a:spcAft>
                <a:spcPts val="800"/>
              </a:spcAft>
              <a:buNone/>
            </a:pPr>
            <a:r>
              <a:rPr lang="en-US" sz="3200" dirty="0">
                <a:solidFill>
                  <a:srgbClr val="000000"/>
                </a:solidFill>
              </a:rPr>
              <a:t>Contain tanks, sink and wash facilities</a:t>
            </a:r>
            <a:endParaRPr lang="en-US" sz="3200" dirty="0"/>
          </a:p>
          <a:p>
            <a:endParaRPr lang="en-US" sz="3200" dirty="0"/>
          </a:p>
        </p:txBody>
      </p:sp>
    </p:spTree>
    <p:extLst>
      <p:ext uri="{BB962C8B-B14F-4D97-AF65-F5344CB8AC3E}">
        <p14:creationId xmlns:p14="http://schemas.microsoft.com/office/powerpoint/2010/main" val="39592783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F77E9-2026-636C-6211-5A1E309CA20D}"/>
              </a:ext>
            </a:extLst>
          </p:cNvPr>
          <p:cNvSpPr>
            <a:spLocks noGrp="1"/>
          </p:cNvSpPr>
          <p:nvPr>
            <p:ph type="title"/>
          </p:nvPr>
        </p:nvSpPr>
        <p:spPr>
          <a:xfrm>
            <a:off x="838200" y="1"/>
            <a:ext cx="10515600" cy="844062"/>
          </a:xfrm>
        </p:spPr>
        <p:txBody>
          <a:bodyPr>
            <a:normAutofit/>
          </a:bodyPr>
          <a:lstStyle/>
          <a:p>
            <a:pPr algn="ctr"/>
            <a:r>
              <a:rPr lang="en-US" dirty="0">
                <a:solidFill>
                  <a:srgbClr val="EE0000"/>
                </a:solidFill>
              </a:rPr>
              <a:t>Film storage devices</a:t>
            </a:r>
          </a:p>
        </p:txBody>
      </p:sp>
      <p:sp>
        <p:nvSpPr>
          <p:cNvPr id="3" name="Content Placeholder 2">
            <a:extLst>
              <a:ext uri="{FF2B5EF4-FFF2-40B4-BE49-F238E27FC236}">
                <a16:creationId xmlns:a16="http://schemas.microsoft.com/office/drawing/2014/main" id="{6DDB51CC-D5B9-7459-24D2-3892A042E148}"/>
              </a:ext>
            </a:extLst>
          </p:cNvPr>
          <p:cNvSpPr>
            <a:spLocks noGrp="1"/>
          </p:cNvSpPr>
          <p:nvPr>
            <p:ph idx="1"/>
          </p:nvPr>
        </p:nvSpPr>
        <p:spPr>
          <a:xfrm>
            <a:off x="0" y="844064"/>
            <a:ext cx="12192000" cy="6013936"/>
          </a:xfrm>
        </p:spPr>
        <p:txBody>
          <a:bodyPr>
            <a:normAutofit lnSpcReduction="10000"/>
          </a:bodyPr>
          <a:lstStyle/>
          <a:p>
            <a:pPr marL="0" indent="0">
              <a:buNone/>
            </a:pPr>
            <a:r>
              <a:rPr lang="en-US" sz="3600" dirty="0">
                <a:latin typeface="Times New Roman" panose="02020603050405020304" pitchFamily="18" charset="0"/>
                <a:cs typeface="Times New Roman" panose="02020603050405020304" pitchFamily="18" charset="0"/>
              </a:rPr>
              <a:t>Include but not limited to </a:t>
            </a:r>
            <a:r>
              <a:rPr lang="en-US" sz="3600" dirty="0" err="1">
                <a:latin typeface="Times New Roman" panose="02020603050405020304" pitchFamily="18" charset="0"/>
                <a:cs typeface="Times New Roman" panose="02020603050405020304" pitchFamily="18" charset="0"/>
              </a:rPr>
              <a:t>hopper,drawers</a:t>
            </a:r>
            <a:r>
              <a:rPr lang="en-US" sz="3600" dirty="0">
                <a:latin typeface="Times New Roman" panose="02020603050405020304" pitchFamily="18" charset="0"/>
                <a:cs typeface="Times New Roman" panose="02020603050405020304" pitchFamily="18" charset="0"/>
              </a:rPr>
              <a:t> and cupboard</a:t>
            </a:r>
          </a:p>
          <a:p>
            <a:r>
              <a:rPr lang="en-US" sz="3600" b="1" dirty="0">
                <a:latin typeface="Times New Roman" panose="02020603050405020304" pitchFamily="18" charset="0"/>
                <a:cs typeface="Times New Roman" panose="02020603050405020304" pitchFamily="18" charset="0"/>
              </a:rPr>
              <a:t>HOPPER: </a:t>
            </a:r>
            <a:r>
              <a:rPr lang="en-US" sz="3600" dirty="0">
                <a:latin typeface="Times New Roman" panose="02020603050405020304" pitchFamily="18" charset="0"/>
                <a:cs typeface="Times New Roman" panose="02020603050405020304" pitchFamily="18" charset="0"/>
              </a:rPr>
              <a:t>for storage of unexposed film</a:t>
            </a:r>
          </a:p>
          <a:p>
            <a:endParaRPr lang="en-US" sz="3600" dirty="0">
              <a:latin typeface="Times New Roman" panose="02020603050405020304" pitchFamily="18" charset="0"/>
              <a:cs typeface="Times New Roman" panose="02020603050405020304" pitchFamily="18" charset="0"/>
            </a:endParaRPr>
          </a:p>
          <a:p>
            <a:r>
              <a:rPr lang="en-US" sz="3600" b="1" dirty="0">
                <a:latin typeface="Times New Roman" panose="02020603050405020304" pitchFamily="18" charset="0"/>
                <a:cs typeface="Times New Roman" panose="02020603050405020304" pitchFamily="18" charset="0"/>
              </a:rPr>
              <a:t>DRAWERS: </a:t>
            </a:r>
            <a:r>
              <a:rPr lang="en-US" sz="3600" dirty="0">
                <a:latin typeface="Times New Roman" panose="02020603050405020304" pitchFamily="18" charset="0"/>
                <a:cs typeface="Times New Roman" panose="02020603050405020304" pitchFamily="18" charset="0"/>
              </a:rPr>
              <a:t>use in some radiography department instead of hopper. It should be light tight. They should be of different sizes based on the film size to be stored</a:t>
            </a:r>
          </a:p>
          <a:p>
            <a:endParaRPr lang="en-US" sz="3600" dirty="0">
              <a:latin typeface="Times New Roman" panose="02020603050405020304" pitchFamily="18" charset="0"/>
              <a:cs typeface="Times New Roman" panose="02020603050405020304" pitchFamily="18" charset="0"/>
            </a:endParaRPr>
          </a:p>
          <a:p>
            <a:r>
              <a:rPr lang="en-US" sz="3600" b="1" dirty="0">
                <a:latin typeface="Times New Roman" panose="02020603050405020304" pitchFamily="18" charset="0"/>
                <a:cs typeface="Times New Roman" panose="02020603050405020304" pitchFamily="18" charset="0"/>
              </a:rPr>
              <a:t>CUPBOARDS: </a:t>
            </a:r>
            <a:r>
              <a:rPr lang="en-US" sz="3600" dirty="0">
                <a:latin typeface="Times New Roman" panose="02020603050405020304" pitchFamily="18" charset="0"/>
                <a:cs typeface="Times New Roman" panose="02020603050405020304" pitchFamily="18" charset="0"/>
              </a:rPr>
              <a:t>to stock recent film supply intended for replenishment of the film hopper. The cupboard dimension should allow film boxes to stand upright to avoid any form of static discharge </a:t>
            </a:r>
          </a:p>
        </p:txBody>
      </p:sp>
    </p:spTree>
    <p:extLst>
      <p:ext uri="{BB962C8B-B14F-4D97-AF65-F5344CB8AC3E}">
        <p14:creationId xmlns:p14="http://schemas.microsoft.com/office/powerpoint/2010/main" val="29050211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B6D53-F77C-795C-D12F-C9C865EC0F1E}"/>
              </a:ext>
            </a:extLst>
          </p:cNvPr>
          <p:cNvSpPr>
            <a:spLocks noGrp="1"/>
          </p:cNvSpPr>
          <p:nvPr>
            <p:ph idx="1"/>
          </p:nvPr>
        </p:nvSpPr>
        <p:spPr>
          <a:xfrm>
            <a:off x="838200" y="829994"/>
            <a:ext cx="10515600" cy="5346969"/>
          </a:xfrm>
        </p:spPr>
        <p:txBody>
          <a:bodyPr>
            <a:normAutofit/>
          </a:bodyPr>
          <a:lstStyle/>
          <a:p>
            <a:pPr marL="0" indent="0">
              <a:buNone/>
            </a:pPr>
            <a:r>
              <a:rPr lang="en-US" sz="3600" dirty="0"/>
              <a:t>Cassette rack: used for housing loaded cassette</a:t>
            </a:r>
          </a:p>
          <a:p>
            <a:pPr marL="0" indent="0">
              <a:buNone/>
            </a:pPr>
            <a:endParaRPr lang="en-US" sz="3600" dirty="0"/>
          </a:p>
          <a:p>
            <a:pPr marL="0" indent="0">
              <a:buNone/>
            </a:pPr>
            <a:r>
              <a:rPr lang="en-US" sz="3600" dirty="0"/>
              <a:t>Cassette hatch: wall link between the darkroom and exposure room. It allows free passage of cassette from dark room to the exposure room</a:t>
            </a:r>
          </a:p>
          <a:p>
            <a:pPr marL="0" indent="0">
              <a:buNone/>
            </a:pPr>
            <a:endParaRPr lang="en-US" sz="3600" dirty="0"/>
          </a:p>
          <a:p>
            <a:pPr marL="0" indent="0">
              <a:buNone/>
            </a:pPr>
            <a:r>
              <a:rPr lang="en-US" sz="3600" dirty="0" err="1"/>
              <a:t>Proceesing</a:t>
            </a:r>
            <a:r>
              <a:rPr lang="en-US" sz="3600" dirty="0"/>
              <a:t> hangers</a:t>
            </a:r>
          </a:p>
          <a:p>
            <a:pPr marL="0" indent="0">
              <a:buNone/>
            </a:pPr>
            <a:endParaRPr lang="en-US" sz="3600" dirty="0"/>
          </a:p>
        </p:txBody>
      </p:sp>
    </p:spTree>
    <p:extLst>
      <p:ext uri="{BB962C8B-B14F-4D97-AF65-F5344CB8AC3E}">
        <p14:creationId xmlns:p14="http://schemas.microsoft.com/office/powerpoint/2010/main" val="39338548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94336-FF95-4151-7A2A-BAA3367FD005}"/>
              </a:ext>
            </a:extLst>
          </p:cNvPr>
          <p:cNvSpPr>
            <a:spLocks noGrp="1"/>
          </p:cNvSpPr>
          <p:nvPr>
            <p:ph type="title"/>
          </p:nvPr>
        </p:nvSpPr>
        <p:spPr>
          <a:xfrm>
            <a:off x="838200" y="112543"/>
            <a:ext cx="10515600" cy="1083211"/>
          </a:xfrm>
        </p:spPr>
        <p:txBody>
          <a:bodyPr/>
          <a:lstStyle/>
          <a:p>
            <a:pPr algn="ctr"/>
            <a:r>
              <a:rPr lang="en-US" b="1" dirty="0">
                <a:solidFill>
                  <a:srgbClr val="EE0000"/>
                </a:solidFill>
              </a:rPr>
              <a:t>Materials: use and avoid</a:t>
            </a:r>
            <a:endParaRPr lang="en-US" dirty="0">
              <a:solidFill>
                <a:srgbClr val="EE0000"/>
              </a:solidFill>
            </a:endParaRPr>
          </a:p>
        </p:txBody>
      </p:sp>
      <p:sp>
        <p:nvSpPr>
          <p:cNvPr id="3" name="Content Placeholder 2">
            <a:extLst>
              <a:ext uri="{FF2B5EF4-FFF2-40B4-BE49-F238E27FC236}">
                <a16:creationId xmlns:a16="http://schemas.microsoft.com/office/drawing/2014/main" id="{FB2942DF-5F60-A466-C321-2A0471E6DFFE}"/>
              </a:ext>
            </a:extLst>
          </p:cNvPr>
          <p:cNvSpPr>
            <a:spLocks noGrp="1"/>
          </p:cNvSpPr>
          <p:nvPr>
            <p:ph idx="1"/>
          </p:nvPr>
        </p:nvSpPr>
        <p:spPr>
          <a:xfrm>
            <a:off x="838200" y="1195754"/>
            <a:ext cx="10515600" cy="5549703"/>
          </a:xfrm>
        </p:spPr>
        <p:txBody>
          <a:bodyPr>
            <a:normAutofit/>
          </a:bodyPr>
          <a:lstStyle/>
          <a:p>
            <a:pPr marL="0" indent="0">
              <a:spcAft>
                <a:spcPts val="800"/>
              </a:spcAft>
              <a:buNone/>
            </a:pPr>
            <a:r>
              <a:rPr lang="en-US" sz="3600" b="1" dirty="0">
                <a:solidFill>
                  <a:srgbClr val="000000"/>
                </a:solidFill>
              </a:rPr>
              <a:t>Tanks: </a:t>
            </a:r>
            <a:r>
              <a:rPr lang="en-US" sz="3600" dirty="0">
                <a:solidFill>
                  <a:srgbClr val="000000"/>
                </a:solidFill>
              </a:rPr>
              <a:t>Recommended: Stainless steel 316, polypropylene. Avoid: Copper, brass, </a:t>
            </a:r>
            <a:r>
              <a:rPr lang="en-US" sz="3600" dirty="0" err="1">
                <a:solidFill>
                  <a:srgbClr val="000000"/>
                </a:solidFill>
              </a:rPr>
              <a:t>aluminium</a:t>
            </a:r>
            <a:r>
              <a:rPr lang="en-US" sz="3600" dirty="0">
                <a:solidFill>
                  <a:srgbClr val="000000"/>
                </a:solidFill>
              </a:rPr>
              <a:t>, </a:t>
            </a:r>
            <a:r>
              <a:rPr lang="en-US" sz="3600" dirty="0" err="1">
                <a:solidFill>
                  <a:srgbClr val="000000"/>
                </a:solidFill>
              </a:rPr>
              <a:t>galvanised</a:t>
            </a:r>
            <a:r>
              <a:rPr lang="en-US" sz="3600" dirty="0">
                <a:solidFill>
                  <a:srgbClr val="000000"/>
                </a:solidFill>
              </a:rPr>
              <a:t> steel</a:t>
            </a:r>
            <a:endParaRPr lang="en-US" sz="3600" dirty="0"/>
          </a:p>
          <a:p>
            <a:pPr marL="0" indent="0">
              <a:spcAft>
                <a:spcPts val="800"/>
              </a:spcAft>
              <a:buNone/>
            </a:pPr>
            <a:r>
              <a:rPr lang="en-US" sz="3600" b="1" dirty="0">
                <a:solidFill>
                  <a:srgbClr val="000000"/>
                </a:solidFill>
              </a:rPr>
              <a:t>Walls: </a:t>
            </a:r>
            <a:r>
              <a:rPr lang="en-US" sz="3600" dirty="0">
                <a:solidFill>
                  <a:srgbClr val="000000"/>
                </a:solidFill>
              </a:rPr>
              <a:t>Recommended: Light, washable matt paint. Avoid: Glossy or flaking paint</a:t>
            </a:r>
            <a:endParaRPr lang="en-US" sz="3600" dirty="0"/>
          </a:p>
          <a:p>
            <a:pPr marL="0" indent="0">
              <a:spcAft>
                <a:spcPts val="800"/>
              </a:spcAft>
              <a:buNone/>
            </a:pPr>
            <a:r>
              <a:rPr lang="en-US" sz="3600" b="1" dirty="0">
                <a:solidFill>
                  <a:srgbClr val="000000"/>
                </a:solidFill>
              </a:rPr>
              <a:t>Floor: </a:t>
            </a:r>
            <a:r>
              <a:rPr lang="en-US" sz="3600" dirty="0">
                <a:solidFill>
                  <a:srgbClr val="000000"/>
                </a:solidFill>
              </a:rPr>
              <a:t>Recommended: Non-slip, chemical resistant, sloped to drain. Avoid: Bare wood or porous tiles</a:t>
            </a:r>
            <a:endParaRPr lang="en-US" sz="3600" dirty="0"/>
          </a:p>
          <a:p>
            <a:pPr marL="0" indent="0">
              <a:spcAft>
                <a:spcPts val="800"/>
              </a:spcAft>
              <a:buNone/>
            </a:pPr>
            <a:r>
              <a:rPr lang="en-US" sz="3600" b="1" dirty="0">
                <a:solidFill>
                  <a:srgbClr val="000000"/>
                </a:solidFill>
              </a:rPr>
              <a:t>Pipes: </a:t>
            </a:r>
            <a:r>
              <a:rPr lang="en-US" sz="3600" dirty="0">
                <a:solidFill>
                  <a:srgbClr val="000000"/>
                </a:solidFill>
              </a:rPr>
              <a:t>Recommended: Plastic or stainless. Avoid: Corroding metal pipes</a:t>
            </a:r>
            <a:endParaRPr lang="en-US" sz="3600" dirty="0"/>
          </a:p>
          <a:p>
            <a:pPr marL="0" indent="0">
              <a:buNone/>
            </a:pPr>
            <a:endParaRPr lang="en-US" sz="3600" dirty="0"/>
          </a:p>
        </p:txBody>
      </p:sp>
    </p:spTree>
    <p:extLst>
      <p:ext uri="{BB962C8B-B14F-4D97-AF65-F5344CB8AC3E}">
        <p14:creationId xmlns:p14="http://schemas.microsoft.com/office/powerpoint/2010/main" val="5894707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4E4A3-DAEF-BEB3-D1B0-58AC890B5689}"/>
              </a:ext>
            </a:extLst>
          </p:cNvPr>
          <p:cNvSpPr>
            <a:spLocks noGrp="1"/>
          </p:cNvSpPr>
          <p:nvPr>
            <p:ph type="title"/>
          </p:nvPr>
        </p:nvSpPr>
        <p:spPr/>
        <p:txBody>
          <a:bodyPr>
            <a:normAutofit/>
          </a:bodyPr>
          <a:lstStyle/>
          <a:p>
            <a:pPr algn="ctr"/>
            <a:r>
              <a:rPr lang="en-US" sz="5400" b="1" dirty="0">
                <a:solidFill>
                  <a:srgbClr val="EE0000"/>
                </a:solidFill>
              </a:rPr>
              <a:t>Safelight and illumination</a:t>
            </a:r>
            <a:endParaRPr lang="en-US" sz="5400" dirty="0">
              <a:solidFill>
                <a:srgbClr val="EE0000"/>
              </a:solidFill>
            </a:endParaRPr>
          </a:p>
        </p:txBody>
      </p:sp>
      <p:sp>
        <p:nvSpPr>
          <p:cNvPr id="3" name="Content Placeholder 2">
            <a:extLst>
              <a:ext uri="{FF2B5EF4-FFF2-40B4-BE49-F238E27FC236}">
                <a16:creationId xmlns:a16="http://schemas.microsoft.com/office/drawing/2014/main" id="{0BC1F5B0-DA4C-713B-346C-B7AA702CD209}"/>
              </a:ext>
            </a:extLst>
          </p:cNvPr>
          <p:cNvSpPr>
            <a:spLocks noGrp="1"/>
          </p:cNvSpPr>
          <p:nvPr>
            <p:ph idx="1"/>
          </p:nvPr>
        </p:nvSpPr>
        <p:spPr/>
        <p:txBody>
          <a:bodyPr>
            <a:normAutofit/>
          </a:bodyPr>
          <a:lstStyle/>
          <a:p>
            <a:pPr>
              <a:spcAft>
                <a:spcPts val="800"/>
              </a:spcAft>
              <a:buSzPct val="100000"/>
            </a:pPr>
            <a:r>
              <a:rPr lang="en-US" sz="4400" dirty="0">
                <a:solidFill>
                  <a:srgbClr val="000000"/>
                </a:solidFill>
              </a:rPr>
              <a:t>Amber or red filter matched to the film type</a:t>
            </a:r>
            <a:endParaRPr lang="en-US" sz="4400" dirty="0"/>
          </a:p>
          <a:p>
            <a:pPr>
              <a:spcAft>
                <a:spcPts val="800"/>
              </a:spcAft>
              <a:buSzPct val="100000"/>
            </a:pPr>
            <a:r>
              <a:rPr lang="en-US" sz="4400" dirty="0">
                <a:solidFill>
                  <a:srgbClr val="000000"/>
                </a:solidFill>
              </a:rPr>
              <a:t>About 15 W bulb, roughly 1.2 m from the bench</a:t>
            </a:r>
            <a:endParaRPr lang="en-US" sz="4400" dirty="0"/>
          </a:p>
          <a:p>
            <a:pPr>
              <a:spcAft>
                <a:spcPts val="800"/>
              </a:spcAft>
              <a:buSzPct val="100000"/>
            </a:pPr>
            <a:r>
              <a:rPr lang="en-US" sz="4400" dirty="0">
                <a:solidFill>
                  <a:srgbClr val="000000"/>
                </a:solidFill>
              </a:rPr>
              <a:t>Separate white-light switch with a warning</a:t>
            </a:r>
            <a:endParaRPr lang="en-US" sz="4400" dirty="0"/>
          </a:p>
          <a:p>
            <a:endParaRPr lang="en-US" sz="4400" dirty="0"/>
          </a:p>
        </p:txBody>
      </p:sp>
    </p:spTree>
    <p:extLst>
      <p:ext uri="{BB962C8B-B14F-4D97-AF65-F5344CB8AC3E}">
        <p14:creationId xmlns:p14="http://schemas.microsoft.com/office/powerpoint/2010/main" val="3296101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FFE5C-DDEE-1C83-6805-F9E719D725F3}"/>
              </a:ext>
            </a:extLst>
          </p:cNvPr>
          <p:cNvSpPr>
            <a:spLocks noGrp="1"/>
          </p:cNvSpPr>
          <p:nvPr>
            <p:ph type="title"/>
          </p:nvPr>
        </p:nvSpPr>
        <p:spPr>
          <a:xfrm>
            <a:off x="838200" y="0"/>
            <a:ext cx="10515600" cy="1575582"/>
          </a:xfrm>
        </p:spPr>
        <p:txBody>
          <a:bodyPr>
            <a:normAutofit/>
          </a:bodyPr>
          <a:lstStyle/>
          <a:p>
            <a:pPr algn="ctr"/>
            <a:r>
              <a:rPr lang="en-US" b="1" dirty="0">
                <a:solidFill>
                  <a:srgbClr val="EE0000"/>
                </a:solidFill>
                <a:latin typeface="Cambria" pitchFamily="34" charset="0"/>
                <a:ea typeface="Cambria" pitchFamily="34" charset="-122"/>
                <a:cs typeface="Cambria" pitchFamily="34" charset="-120"/>
              </a:rPr>
              <a:t>Care and Maintenance of Equipment</a:t>
            </a:r>
            <a:br>
              <a:rPr lang="en-US" dirty="0">
                <a:solidFill>
                  <a:srgbClr val="EE0000"/>
                </a:solidFill>
              </a:rPr>
            </a:br>
            <a:endParaRPr lang="en-US" dirty="0">
              <a:solidFill>
                <a:srgbClr val="EE0000"/>
              </a:solidFill>
            </a:endParaRPr>
          </a:p>
        </p:txBody>
      </p:sp>
      <p:sp>
        <p:nvSpPr>
          <p:cNvPr id="3" name="Content Placeholder 2">
            <a:extLst>
              <a:ext uri="{FF2B5EF4-FFF2-40B4-BE49-F238E27FC236}">
                <a16:creationId xmlns:a16="http://schemas.microsoft.com/office/drawing/2014/main" id="{60BC06B7-921D-6CED-1899-8F616C098E1D}"/>
              </a:ext>
            </a:extLst>
          </p:cNvPr>
          <p:cNvSpPr>
            <a:spLocks noGrp="1"/>
          </p:cNvSpPr>
          <p:nvPr>
            <p:ph idx="1"/>
          </p:nvPr>
        </p:nvSpPr>
        <p:spPr>
          <a:xfrm>
            <a:off x="492369" y="1575582"/>
            <a:ext cx="10861431" cy="5486399"/>
          </a:xfrm>
        </p:spPr>
        <p:txBody>
          <a:bodyPr>
            <a:normAutofit fontScale="92500" lnSpcReduction="10000"/>
          </a:bodyPr>
          <a:lstStyle/>
          <a:p>
            <a:pPr marL="0" indent="0" algn="ctr">
              <a:buNone/>
            </a:pPr>
            <a:r>
              <a:rPr lang="en-US" sz="4000" b="1" dirty="0">
                <a:solidFill>
                  <a:srgbClr val="EE0000"/>
                </a:solidFill>
              </a:rPr>
              <a:t>Daily care routine</a:t>
            </a:r>
          </a:p>
          <a:p>
            <a:pPr>
              <a:spcAft>
                <a:spcPts val="800"/>
              </a:spcAft>
            </a:pPr>
            <a:r>
              <a:rPr lang="en-US" sz="4000" dirty="0">
                <a:solidFill>
                  <a:srgbClr val="000000"/>
                </a:solidFill>
              </a:rPr>
              <a:t>Cover tanks when not in use to limit oxidation and dust</a:t>
            </a:r>
            <a:endParaRPr lang="en-US" sz="4000" dirty="0"/>
          </a:p>
          <a:p>
            <a:pPr>
              <a:spcAft>
                <a:spcPts val="800"/>
              </a:spcAft>
            </a:pPr>
            <a:r>
              <a:rPr lang="en-US" sz="4000" dirty="0">
                <a:solidFill>
                  <a:srgbClr val="000000"/>
                </a:solidFill>
              </a:rPr>
              <a:t>Stir developer and fixer before use</a:t>
            </a:r>
            <a:endParaRPr lang="en-US" sz="4000" dirty="0"/>
          </a:p>
          <a:p>
            <a:pPr>
              <a:spcAft>
                <a:spcPts val="800"/>
              </a:spcAft>
            </a:pPr>
            <a:r>
              <a:rPr lang="en-US" sz="4000" dirty="0">
                <a:solidFill>
                  <a:srgbClr val="000000"/>
                </a:solidFill>
              </a:rPr>
              <a:t>Check levels and temperature</a:t>
            </a:r>
            <a:endParaRPr lang="en-US" sz="4000" dirty="0"/>
          </a:p>
          <a:p>
            <a:pPr>
              <a:spcAft>
                <a:spcPts val="800"/>
              </a:spcAft>
            </a:pPr>
            <a:r>
              <a:rPr lang="en-US" sz="4000" dirty="0">
                <a:solidFill>
                  <a:srgbClr val="000000"/>
                </a:solidFill>
              </a:rPr>
              <a:t>Wipe spills and rinse hangers</a:t>
            </a:r>
            <a:endParaRPr lang="en-US" sz="4000" dirty="0"/>
          </a:p>
          <a:p>
            <a:pPr>
              <a:spcAft>
                <a:spcPts val="800"/>
              </a:spcAft>
            </a:pPr>
            <a:r>
              <a:rPr lang="en-US" sz="4000" dirty="0">
                <a:solidFill>
                  <a:srgbClr val="000000"/>
                </a:solidFill>
              </a:rPr>
              <a:t>Record what was done in the log</a:t>
            </a:r>
            <a:endParaRPr lang="en-US" sz="4000" dirty="0"/>
          </a:p>
          <a:p>
            <a:pPr marL="0" indent="0">
              <a:spcBef>
                <a:spcPts val="600"/>
              </a:spcBef>
              <a:buNone/>
            </a:pPr>
            <a:r>
              <a:rPr lang="en-US" sz="4000" i="1" dirty="0">
                <a:solidFill>
                  <a:srgbClr val="000000"/>
                </a:solidFill>
              </a:rPr>
              <a:t>Key point: A two-minute check before work prevents a bad hour after.</a:t>
            </a:r>
            <a:endParaRPr lang="en-US" sz="4000" dirty="0"/>
          </a:p>
          <a:p>
            <a:pPr marL="0" indent="0" algn="ctr">
              <a:buNone/>
            </a:pPr>
            <a:endParaRPr lang="en-US" sz="4000" dirty="0"/>
          </a:p>
        </p:txBody>
      </p:sp>
    </p:spTree>
    <p:extLst>
      <p:ext uri="{BB962C8B-B14F-4D97-AF65-F5344CB8AC3E}">
        <p14:creationId xmlns:p14="http://schemas.microsoft.com/office/powerpoint/2010/main" val="39175866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5A575-E7E3-3B67-5D34-6392530B55A6}"/>
              </a:ext>
            </a:extLst>
          </p:cNvPr>
          <p:cNvSpPr>
            <a:spLocks noGrp="1"/>
          </p:cNvSpPr>
          <p:nvPr>
            <p:ph type="title"/>
          </p:nvPr>
        </p:nvSpPr>
        <p:spPr>
          <a:xfrm>
            <a:off x="838200" y="98474"/>
            <a:ext cx="10515600" cy="1055078"/>
          </a:xfrm>
        </p:spPr>
        <p:txBody>
          <a:bodyPr/>
          <a:lstStyle/>
          <a:p>
            <a:pPr algn="ctr"/>
            <a:r>
              <a:rPr lang="en-US" b="1" dirty="0">
                <a:solidFill>
                  <a:srgbClr val="EE0000"/>
                </a:solidFill>
              </a:rPr>
              <a:t>Maintenance schedule</a:t>
            </a:r>
            <a:endParaRPr lang="en-US" dirty="0">
              <a:solidFill>
                <a:srgbClr val="EE0000"/>
              </a:solidFill>
            </a:endParaRPr>
          </a:p>
        </p:txBody>
      </p:sp>
      <p:sp>
        <p:nvSpPr>
          <p:cNvPr id="3" name="Content Placeholder 2">
            <a:extLst>
              <a:ext uri="{FF2B5EF4-FFF2-40B4-BE49-F238E27FC236}">
                <a16:creationId xmlns:a16="http://schemas.microsoft.com/office/drawing/2014/main" id="{80A80D7C-87A7-CC1F-61AD-0D405FDEDB26}"/>
              </a:ext>
            </a:extLst>
          </p:cNvPr>
          <p:cNvSpPr>
            <a:spLocks noGrp="1"/>
          </p:cNvSpPr>
          <p:nvPr>
            <p:ph idx="1"/>
          </p:nvPr>
        </p:nvSpPr>
        <p:spPr>
          <a:xfrm>
            <a:off x="436098" y="1153552"/>
            <a:ext cx="11211951" cy="5247248"/>
          </a:xfrm>
        </p:spPr>
        <p:txBody>
          <a:bodyPr>
            <a:noAutofit/>
          </a:bodyPr>
          <a:lstStyle/>
          <a:p>
            <a:pPr marL="0" indent="0">
              <a:spcAft>
                <a:spcPts val="800"/>
              </a:spcAft>
              <a:buNone/>
            </a:pPr>
            <a:r>
              <a:rPr lang="en-US" sz="3600" b="1" dirty="0">
                <a:solidFill>
                  <a:srgbClr val="000000"/>
                </a:solidFill>
              </a:rPr>
              <a:t>Daily: </a:t>
            </a:r>
            <a:r>
              <a:rPr lang="en-US" sz="3600" dirty="0">
                <a:solidFill>
                  <a:srgbClr val="000000"/>
                </a:solidFill>
              </a:rPr>
              <a:t>Tasks: Stir, check level and temperature, cover tanks, wipe spills</a:t>
            </a:r>
            <a:endParaRPr lang="en-US" sz="3600" dirty="0"/>
          </a:p>
          <a:p>
            <a:pPr marL="0" indent="0">
              <a:spcAft>
                <a:spcPts val="800"/>
              </a:spcAft>
              <a:buNone/>
            </a:pPr>
            <a:r>
              <a:rPr lang="en-US" sz="3600" b="1" dirty="0">
                <a:solidFill>
                  <a:srgbClr val="000000"/>
                </a:solidFill>
              </a:rPr>
              <a:t>Weekly: </a:t>
            </a:r>
            <a:r>
              <a:rPr lang="en-US" sz="3600" dirty="0">
                <a:solidFill>
                  <a:srgbClr val="000000"/>
                </a:solidFill>
              </a:rPr>
              <a:t>Tasks: Clean hangers and rods, scrub tank rims, check safelight and thermometer</a:t>
            </a:r>
            <a:endParaRPr lang="en-US" sz="3600" dirty="0"/>
          </a:p>
          <a:p>
            <a:pPr marL="0" indent="0">
              <a:spcAft>
                <a:spcPts val="800"/>
              </a:spcAft>
              <a:buNone/>
            </a:pPr>
            <a:r>
              <a:rPr lang="en-US" sz="3600" b="1" dirty="0">
                <a:solidFill>
                  <a:srgbClr val="000000"/>
                </a:solidFill>
              </a:rPr>
              <a:t>Monthly: </a:t>
            </a:r>
            <a:r>
              <a:rPr lang="en-US" sz="3600" dirty="0">
                <a:solidFill>
                  <a:srgbClr val="000000"/>
                </a:solidFill>
              </a:rPr>
              <a:t>Tasks: Drain, clean and refill tanks, check filters and drains</a:t>
            </a:r>
            <a:endParaRPr lang="en-US" sz="3600" dirty="0"/>
          </a:p>
          <a:p>
            <a:pPr marL="0" indent="0">
              <a:spcAft>
                <a:spcPts val="800"/>
              </a:spcAft>
              <a:buNone/>
            </a:pPr>
            <a:r>
              <a:rPr lang="en-US" sz="3600" b="1" dirty="0">
                <a:solidFill>
                  <a:srgbClr val="000000"/>
                </a:solidFill>
              </a:rPr>
              <a:t>As needed: </a:t>
            </a:r>
            <a:r>
              <a:rPr lang="en-US" sz="3600" dirty="0">
                <a:solidFill>
                  <a:srgbClr val="000000"/>
                </a:solidFill>
              </a:rPr>
              <a:t>Tasks: Replace exhausted solutions, descale(removing hard deposit), repair leaks</a:t>
            </a:r>
            <a:endParaRPr lang="en-US" sz="3600" dirty="0"/>
          </a:p>
          <a:p>
            <a:pPr marL="0" indent="0">
              <a:buNone/>
            </a:pPr>
            <a:endParaRPr lang="en-US" sz="3600" dirty="0"/>
          </a:p>
        </p:txBody>
      </p:sp>
    </p:spTree>
    <p:extLst>
      <p:ext uri="{BB962C8B-B14F-4D97-AF65-F5344CB8AC3E}">
        <p14:creationId xmlns:p14="http://schemas.microsoft.com/office/powerpoint/2010/main" val="37908558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6B09A-E88E-1500-865D-47A27E984B69}"/>
              </a:ext>
            </a:extLst>
          </p:cNvPr>
          <p:cNvSpPr>
            <a:spLocks noGrp="1"/>
          </p:cNvSpPr>
          <p:nvPr>
            <p:ph type="title"/>
          </p:nvPr>
        </p:nvSpPr>
        <p:spPr/>
        <p:txBody>
          <a:bodyPr/>
          <a:lstStyle/>
          <a:p>
            <a:pPr algn="ctr"/>
            <a:r>
              <a:rPr lang="en-US" b="1" dirty="0">
                <a:solidFill>
                  <a:srgbClr val="EE0000"/>
                </a:solidFill>
              </a:rPr>
              <a:t>Cleaning a processing tank</a:t>
            </a:r>
            <a:endParaRPr lang="en-US" dirty="0">
              <a:solidFill>
                <a:srgbClr val="EE0000"/>
              </a:solidFill>
            </a:endParaRPr>
          </a:p>
        </p:txBody>
      </p:sp>
      <p:sp>
        <p:nvSpPr>
          <p:cNvPr id="3" name="Content Placeholder 2">
            <a:extLst>
              <a:ext uri="{FF2B5EF4-FFF2-40B4-BE49-F238E27FC236}">
                <a16:creationId xmlns:a16="http://schemas.microsoft.com/office/drawing/2014/main" id="{D4601C7A-F46C-0117-41B4-58AB92169A64}"/>
              </a:ext>
            </a:extLst>
          </p:cNvPr>
          <p:cNvSpPr>
            <a:spLocks noGrp="1"/>
          </p:cNvSpPr>
          <p:nvPr>
            <p:ph idx="1"/>
          </p:nvPr>
        </p:nvSpPr>
        <p:spPr>
          <a:xfrm>
            <a:off x="548640" y="1825625"/>
            <a:ext cx="10805160" cy="4667250"/>
          </a:xfrm>
        </p:spPr>
        <p:txBody>
          <a:bodyPr>
            <a:noAutofit/>
          </a:bodyPr>
          <a:lstStyle/>
          <a:p>
            <a:pPr marL="0" indent="0">
              <a:spcAft>
                <a:spcPts val="800"/>
              </a:spcAft>
              <a:buNone/>
            </a:pPr>
            <a:r>
              <a:rPr lang="en-US" sz="3600" b="1" dirty="0">
                <a:solidFill>
                  <a:srgbClr val="000000"/>
                </a:solidFill>
              </a:rPr>
              <a:t>1. Drain: </a:t>
            </a:r>
            <a:r>
              <a:rPr lang="en-US" sz="3600" dirty="0">
                <a:solidFill>
                  <a:srgbClr val="000000"/>
                </a:solidFill>
              </a:rPr>
              <a:t>Empty and store waste safely</a:t>
            </a:r>
            <a:endParaRPr lang="en-US" sz="3600" dirty="0"/>
          </a:p>
          <a:p>
            <a:pPr marL="0" indent="0">
              <a:spcAft>
                <a:spcPts val="800"/>
              </a:spcAft>
              <a:buNone/>
            </a:pPr>
            <a:r>
              <a:rPr lang="en-US" sz="3600" b="1" dirty="0">
                <a:solidFill>
                  <a:srgbClr val="000000"/>
                </a:solidFill>
              </a:rPr>
              <a:t>2. Scrub: </a:t>
            </a:r>
            <a:r>
              <a:rPr lang="en-US" sz="3600" dirty="0">
                <a:solidFill>
                  <a:srgbClr val="000000"/>
                </a:solidFill>
              </a:rPr>
              <a:t>Non-abrasive pad and mild cleaner</a:t>
            </a:r>
            <a:endParaRPr lang="en-US" sz="3600" dirty="0"/>
          </a:p>
          <a:p>
            <a:pPr marL="0" indent="0">
              <a:spcAft>
                <a:spcPts val="800"/>
              </a:spcAft>
              <a:buNone/>
            </a:pPr>
            <a:r>
              <a:rPr lang="en-US" sz="3600" b="1" dirty="0">
                <a:solidFill>
                  <a:srgbClr val="000000"/>
                </a:solidFill>
              </a:rPr>
              <a:t>3. Rinse: </a:t>
            </a:r>
            <a:r>
              <a:rPr lang="en-US" sz="3600" dirty="0">
                <a:solidFill>
                  <a:srgbClr val="000000"/>
                </a:solidFill>
              </a:rPr>
              <a:t>Flush thoroughly with clean water</a:t>
            </a:r>
            <a:endParaRPr lang="en-US" sz="3600" dirty="0"/>
          </a:p>
          <a:p>
            <a:pPr marL="0" indent="0">
              <a:spcAft>
                <a:spcPts val="800"/>
              </a:spcAft>
              <a:buNone/>
            </a:pPr>
            <a:r>
              <a:rPr lang="en-US" sz="3600" b="1" dirty="0">
                <a:solidFill>
                  <a:srgbClr val="000000"/>
                </a:solidFill>
              </a:rPr>
              <a:t>4. Descale: </a:t>
            </a:r>
            <a:r>
              <a:rPr lang="en-US" sz="3600" dirty="0">
                <a:solidFill>
                  <a:srgbClr val="000000"/>
                </a:solidFill>
              </a:rPr>
              <a:t>Remove deposits if present</a:t>
            </a:r>
            <a:endParaRPr lang="en-US" sz="3600" dirty="0"/>
          </a:p>
          <a:p>
            <a:pPr marL="0" indent="0">
              <a:spcAft>
                <a:spcPts val="800"/>
              </a:spcAft>
              <a:buNone/>
            </a:pPr>
            <a:r>
              <a:rPr lang="en-US" sz="3600" b="1" dirty="0">
                <a:solidFill>
                  <a:srgbClr val="000000"/>
                </a:solidFill>
              </a:rPr>
              <a:t>5. Refill: </a:t>
            </a:r>
            <a:r>
              <a:rPr lang="en-US" sz="3600" dirty="0">
                <a:solidFill>
                  <a:srgbClr val="000000"/>
                </a:solidFill>
              </a:rPr>
              <a:t>Fresh solution, check temperature</a:t>
            </a:r>
            <a:endParaRPr lang="en-US" sz="3600" dirty="0"/>
          </a:p>
          <a:p>
            <a:pPr marL="0" indent="0">
              <a:buNone/>
            </a:pPr>
            <a:endParaRPr lang="en-US" sz="3600" dirty="0"/>
          </a:p>
        </p:txBody>
      </p:sp>
    </p:spTree>
    <p:extLst>
      <p:ext uri="{BB962C8B-B14F-4D97-AF65-F5344CB8AC3E}">
        <p14:creationId xmlns:p14="http://schemas.microsoft.com/office/powerpoint/2010/main" val="13875002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81B4C-743A-6EE4-B09E-277893C22474}"/>
              </a:ext>
            </a:extLst>
          </p:cNvPr>
          <p:cNvSpPr>
            <a:spLocks noGrp="1"/>
          </p:cNvSpPr>
          <p:nvPr>
            <p:ph type="title"/>
          </p:nvPr>
        </p:nvSpPr>
        <p:spPr>
          <a:xfrm>
            <a:off x="492369" y="1"/>
            <a:ext cx="10861431" cy="1690688"/>
          </a:xfrm>
        </p:spPr>
        <p:txBody>
          <a:bodyPr>
            <a:normAutofit fontScale="90000"/>
          </a:bodyPr>
          <a:lstStyle/>
          <a:p>
            <a:pPr algn="ctr"/>
            <a:r>
              <a:rPr lang="en-US" b="1" dirty="0">
                <a:solidFill>
                  <a:srgbClr val="EE0000"/>
                </a:solidFill>
                <a:latin typeface="Cambria" pitchFamily="34" charset="0"/>
                <a:ea typeface="Cambria" pitchFamily="34" charset="-122"/>
                <a:cs typeface="Cambria" pitchFamily="34" charset="-120"/>
              </a:rPr>
              <a:t>COR: Control of Chemistry and Replenishment</a:t>
            </a:r>
            <a:br>
              <a:rPr lang="en-US" dirty="0">
                <a:solidFill>
                  <a:srgbClr val="EE0000"/>
                </a:solidFill>
              </a:rPr>
            </a:br>
            <a:endParaRPr lang="en-US" dirty="0">
              <a:solidFill>
                <a:srgbClr val="EE0000"/>
              </a:solidFill>
            </a:endParaRPr>
          </a:p>
        </p:txBody>
      </p:sp>
      <p:sp>
        <p:nvSpPr>
          <p:cNvPr id="3" name="Content Placeholder 2">
            <a:extLst>
              <a:ext uri="{FF2B5EF4-FFF2-40B4-BE49-F238E27FC236}">
                <a16:creationId xmlns:a16="http://schemas.microsoft.com/office/drawing/2014/main" id="{62C8F6D2-3E6E-C40C-F68F-96BFF918359D}"/>
              </a:ext>
            </a:extLst>
          </p:cNvPr>
          <p:cNvSpPr>
            <a:spLocks noGrp="1"/>
          </p:cNvSpPr>
          <p:nvPr>
            <p:ph idx="1"/>
          </p:nvPr>
        </p:nvSpPr>
        <p:spPr>
          <a:xfrm>
            <a:off x="838200" y="1223889"/>
            <a:ext cx="10515600" cy="4953074"/>
          </a:xfrm>
        </p:spPr>
        <p:txBody>
          <a:bodyPr>
            <a:normAutofit fontScale="92500" lnSpcReduction="20000"/>
          </a:bodyPr>
          <a:lstStyle/>
          <a:p>
            <a:pPr marL="0" indent="0" algn="ctr">
              <a:buNone/>
            </a:pPr>
            <a:r>
              <a:rPr lang="en-US" sz="3600" b="1" dirty="0">
                <a:solidFill>
                  <a:srgbClr val="EE0000"/>
                </a:solidFill>
              </a:rPr>
              <a:t>Why control processing?</a:t>
            </a:r>
          </a:p>
          <a:p>
            <a:pPr>
              <a:spcAft>
                <a:spcPts val="800"/>
              </a:spcAft>
            </a:pPr>
            <a:r>
              <a:rPr lang="en-US" sz="3600" dirty="0">
                <a:solidFill>
                  <a:srgbClr val="000000"/>
                </a:solidFill>
              </a:rPr>
              <a:t>Consistent density and contrast on every film</a:t>
            </a:r>
            <a:endParaRPr lang="en-US" sz="3600" dirty="0"/>
          </a:p>
          <a:p>
            <a:pPr>
              <a:spcAft>
                <a:spcPts val="800"/>
              </a:spcAft>
            </a:pPr>
            <a:r>
              <a:rPr lang="en-US" sz="3600" dirty="0">
                <a:solidFill>
                  <a:srgbClr val="000000"/>
                </a:solidFill>
              </a:rPr>
              <a:t>Fewer repeat and lower patient dose</a:t>
            </a:r>
            <a:endParaRPr lang="en-US" sz="3600" dirty="0"/>
          </a:p>
          <a:p>
            <a:pPr>
              <a:spcAft>
                <a:spcPts val="800"/>
              </a:spcAft>
            </a:pPr>
            <a:r>
              <a:rPr lang="en-US" sz="3600" dirty="0">
                <a:solidFill>
                  <a:srgbClr val="000000"/>
                </a:solidFill>
              </a:rPr>
              <a:t>Chemistry degrades with use, time and air</a:t>
            </a:r>
          </a:p>
          <a:p>
            <a:pPr>
              <a:spcAft>
                <a:spcPts val="800"/>
              </a:spcAft>
              <a:buSzPct val="100000"/>
            </a:pPr>
            <a:r>
              <a:rPr lang="en-US" sz="3600" dirty="0">
                <a:solidFill>
                  <a:srgbClr val="000000"/>
                </a:solidFill>
              </a:rPr>
              <a:t>As a result there is need for replenisher to restores both chemistry and level</a:t>
            </a:r>
            <a:endParaRPr lang="en-US" sz="3600" dirty="0"/>
          </a:p>
          <a:p>
            <a:pPr>
              <a:spcAft>
                <a:spcPts val="800"/>
              </a:spcAft>
            </a:pPr>
            <a:r>
              <a:rPr lang="en-US" sz="3600" dirty="0">
                <a:solidFill>
                  <a:srgbClr val="000000"/>
                </a:solidFill>
              </a:rPr>
              <a:t>Four variables to control: time, temperature, concentration, purity</a:t>
            </a:r>
            <a:endParaRPr lang="en-US" sz="3600" dirty="0"/>
          </a:p>
          <a:p>
            <a:pPr marL="0" indent="0">
              <a:spcBef>
                <a:spcPts val="600"/>
              </a:spcBef>
              <a:buNone/>
            </a:pPr>
            <a:r>
              <a:rPr lang="en-US" sz="3600" i="1" dirty="0">
                <a:solidFill>
                  <a:srgbClr val="000000"/>
                </a:solidFill>
              </a:rPr>
              <a:t>Key point: Controlled processing protects the image and the patient from radiation.</a:t>
            </a:r>
            <a:endParaRPr lang="en-US" sz="3600" dirty="0"/>
          </a:p>
          <a:p>
            <a:pPr marL="0" indent="0" algn="ctr">
              <a:buNone/>
            </a:pPr>
            <a:endParaRPr lang="en-US" sz="3600" dirty="0"/>
          </a:p>
        </p:txBody>
      </p:sp>
    </p:spTree>
    <p:extLst>
      <p:ext uri="{BB962C8B-B14F-4D97-AF65-F5344CB8AC3E}">
        <p14:creationId xmlns:p14="http://schemas.microsoft.com/office/powerpoint/2010/main" val="19403543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B0D08-5264-3C26-5A15-A51D7288BE2A}"/>
              </a:ext>
            </a:extLst>
          </p:cNvPr>
          <p:cNvSpPr>
            <a:spLocks noGrp="1"/>
          </p:cNvSpPr>
          <p:nvPr>
            <p:ph type="title"/>
          </p:nvPr>
        </p:nvSpPr>
        <p:spPr>
          <a:xfrm>
            <a:off x="838200" y="365125"/>
            <a:ext cx="10515600" cy="844697"/>
          </a:xfrm>
        </p:spPr>
        <p:txBody>
          <a:bodyPr>
            <a:normAutofit/>
          </a:bodyPr>
          <a:lstStyle/>
          <a:p>
            <a:pPr algn="ctr"/>
            <a:r>
              <a:rPr lang="en-US" sz="4800" b="1" dirty="0">
                <a:solidFill>
                  <a:srgbClr val="EE0000"/>
                </a:solidFill>
              </a:rPr>
              <a:t>Developer chemistry</a:t>
            </a:r>
            <a:endParaRPr lang="en-US" sz="4800" dirty="0">
              <a:solidFill>
                <a:srgbClr val="EE0000"/>
              </a:solidFill>
            </a:endParaRPr>
          </a:p>
        </p:txBody>
      </p:sp>
      <p:sp>
        <p:nvSpPr>
          <p:cNvPr id="3" name="Content Placeholder 2">
            <a:extLst>
              <a:ext uri="{FF2B5EF4-FFF2-40B4-BE49-F238E27FC236}">
                <a16:creationId xmlns:a16="http://schemas.microsoft.com/office/drawing/2014/main" id="{194B48C5-5227-1CD6-8462-C6080AE46672}"/>
              </a:ext>
            </a:extLst>
          </p:cNvPr>
          <p:cNvSpPr>
            <a:spLocks noGrp="1"/>
          </p:cNvSpPr>
          <p:nvPr>
            <p:ph idx="1"/>
          </p:nvPr>
        </p:nvSpPr>
        <p:spPr>
          <a:xfrm>
            <a:off x="0" y="1477108"/>
            <a:ext cx="12191999" cy="5380892"/>
          </a:xfrm>
        </p:spPr>
        <p:txBody>
          <a:bodyPr>
            <a:noAutofit/>
          </a:bodyPr>
          <a:lstStyle/>
          <a:p>
            <a:pPr>
              <a:spcAft>
                <a:spcPts val="800"/>
              </a:spcAft>
            </a:pPr>
            <a:r>
              <a:rPr lang="en-US" sz="3600" b="1" dirty="0">
                <a:solidFill>
                  <a:srgbClr val="000000"/>
                </a:solidFill>
              </a:rPr>
              <a:t>Developing agents: </a:t>
            </a:r>
            <a:r>
              <a:rPr lang="en-US" sz="3600" dirty="0">
                <a:solidFill>
                  <a:srgbClr val="000000"/>
                </a:solidFill>
              </a:rPr>
              <a:t>reduces exposed halide. Examples are </a:t>
            </a:r>
            <a:r>
              <a:rPr lang="en-US" sz="3600" dirty="0" err="1">
                <a:solidFill>
                  <a:srgbClr val="000000"/>
                </a:solidFill>
              </a:rPr>
              <a:t>Phenidone</a:t>
            </a:r>
            <a:r>
              <a:rPr lang="en-US" sz="3600" dirty="0">
                <a:solidFill>
                  <a:srgbClr val="000000"/>
                </a:solidFill>
              </a:rPr>
              <a:t>, hydroquinone, metol (</a:t>
            </a:r>
            <a:r>
              <a:rPr lang="en-US" sz="3600" dirty="0" err="1">
                <a:solidFill>
                  <a:srgbClr val="000000"/>
                </a:solidFill>
              </a:rPr>
              <a:t>elon</a:t>
            </a:r>
            <a:r>
              <a:rPr lang="en-US" sz="3600" dirty="0">
                <a:solidFill>
                  <a:srgbClr val="000000"/>
                </a:solidFill>
              </a:rPr>
              <a:t>), ascorbic acid and </a:t>
            </a:r>
            <a:r>
              <a:rPr lang="en-US" sz="3600" dirty="0" err="1">
                <a:solidFill>
                  <a:srgbClr val="000000"/>
                </a:solidFill>
              </a:rPr>
              <a:t>glycin</a:t>
            </a:r>
            <a:endParaRPr lang="en-US" sz="3600" dirty="0"/>
          </a:p>
          <a:p>
            <a:pPr>
              <a:spcAft>
                <a:spcPts val="800"/>
              </a:spcAft>
            </a:pPr>
            <a:r>
              <a:rPr lang="en-US" sz="3600" b="1" dirty="0">
                <a:solidFill>
                  <a:srgbClr val="000000"/>
                </a:solidFill>
              </a:rPr>
              <a:t>Accelerator: </a:t>
            </a:r>
            <a:r>
              <a:rPr lang="en-US" sz="3600" dirty="0">
                <a:solidFill>
                  <a:srgbClr val="000000"/>
                </a:solidFill>
              </a:rPr>
              <a:t>Alkali (carbonate) gives the alkaline pH</a:t>
            </a:r>
            <a:endParaRPr lang="en-US" sz="3600" dirty="0"/>
          </a:p>
          <a:p>
            <a:pPr>
              <a:spcAft>
                <a:spcPts val="800"/>
              </a:spcAft>
            </a:pPr>
            <a:r>
              <a:rPr lang="en-US" sz="3600" b="1" dirty="0">
                <a:solidFill>
                  <a:srgbClr val="000000"/>
                </a:solidFill>
              </a:rPr>
              <a:t>Restrainer: </a:t>
            </a:r>
            <a:r>
              <a:rPr lang="en-US" sz="3600" dirty="0">
                <a:solidFill>
                  <a:srgbClr val="000000"/>
                </a:solidFill>
              </a:rPr>
              <a:t>Potassium bromide limits fog</a:t>
            </a:r>
            <a:endParaRPr lang="en-US" sz="3600" dirty="0"/>
          </a:p>
          <a:p>
            <a:pPr>
              <a:spcAft>
                <a:spcPts val="800"/>
              </a:spcAft>
            </a:pPr>
            <a:r>
              <a:rPr lang="en-US" sz="3600" b="1" dirty="0">
                <a:solidFill>
                  <a:srgbClr val="000000"/>
                </a:solidFill>
              </a:rPr>
              <a:t>Preservative: </a:t>
            </a:r>
            <a:r>
              <a:rPr lang="en-US" sz="3600" dirty="0">
                <a:solidFill>
                  <a:srgbClr val="000000"/>
                </a:solidFill>
              </a:rPr>
              <a:t>Sulfite slows oxidation</a:t>
            </a:r>
            <a:endParaRPr lang="en-US" sz="3600" dirty="0"/>
          </a:p>
          <a:p>
            <a:pPr>
              <a:spcAft>
                <a:spcPts val="800"/>
              </a:spcAft>
            </a:pPr>
            <a:r>
              <a:rPr lang="en-US" sz="3600" b="1" dirty="0">
                <a:solidFill>
                  <a:srgbClr val="000000"/>
                </a:solidFill>
              </a:rPr>
              <a:t>Hardener: </a:t>
            </a:r>
            <a:r>
              <a:rPr lang="en-US" sz="3600" dirty="0">
                <a:solidFill>
                  <a:srgbClr val="000000"/>
                </a:solidFill>
              </a:rPr>
              <a:t>Limits gelatin swelling</a:t>
            </a:r>
            <a:endParaRPr lang="en-US" sz="3600" dirty="0"/>
          </a:p>
          <a:p>
            <a:pPr>
              <a:spcAft>
                <a:spcPts val="800"/>
              </a:spcAft>
            </a:pPr>
            <a:r>
              <a:rPr lang="en-US" sz="3600" b="1" dirty="0">
                <a:solidFill>
                  <a:srgbClr val="000000"/>
                </a:solidFill>
              </a:rPr>
              <a:t>Solvent: </a:t>
            </a:r>
            <a:r>
              <a:rPr lang="en-US" sz="3600" dirty="0">
                <a:solidFill>
                  <a:srgbClr val="000000"/>
                </a:solidFill>
              </a:rPr>
              <a:t>Water carries the chemicals</a:t>
            </a:r>
            <a:endParaRPr lang="en-US" sz="3600" dirty="0"/>
          </a:p>
          <a:p>
            <a:pPr marL="0" indent="0">
              <a:buNone/>
            </a:pPr>
            <a:endParaRPr lang="en-US" sz="3600" dirty="0"/>
          </a:p>
        </p:txBody>
      </p:sp>
    </p:spTree>
    <p:extLst>
      <p:ext uri="{BB962C8B-B14F-4D97-AF65-F5344CB8AC3E}">
        <p14:creationId xmlns:p14="http://schemas.microsoft.com/office/powerpoint/2010/main" val="33641423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16FD9-7D2E-19ED-7B59-E53472A4F6AD}"/>
              </a:ext>
            </a:extLst>
          </p:cNvPr>
          <p:cNvSpPr>
            <a:spLocks noGrp="1"/>
          </p:cNvSpPr>
          <p:nvPr>
            <p:ph type="title"/>
          </p:nvPr>
        </p:nvSpPr>
        <p:spPr>
          <a:xfrm>
            <a:off x="838200" y="168812"/>
            <a:ext cx="10515600" cy="1083214"/>
          </a:xfrm>
        </p:spPr>
        <p:txBody>
          <a:bodyPr>
            <a:normAutofit/>
          </a:bodyPr>
          <a:lstStyle/>
          <a:p>
            <a:pPr algn="ctr"/>
            <a:r>
              <a:rPr lang="en-US" sz="6000" b="1" dirty="0">
                <a:solidFill>
                  <a:srgbClr val="EE0000"/>
                </a:solidFill>
              </a:rPr>
              <a:t>Fixer chemistry</a:t>
            </a:r>
          </a:p>
        </p:txBody>
      </p:sp>
      <p:sp>
        <p:nvSpPr>
          <p:cNvPr id="3" name="Content Placeholder 2">
            <a:extLst>
              <a:ext uri="{FF2B5EF4-FFF2-40B4-BE49-F238E27FC236}">
                <a16:creationId xmlns:a16="http://schemas.microsoft.com/office/drawing/2014/main" id="{C59FDED5-5AD6-7943-DF54-84F34C01BA89}"/>
              </a:ext>
            </a:extLst>
          </p:cNvPr>
          <p:cNvSpPr>
            <a:spLocks noGrp="1"/>
          </p:cNvSpPr>
          <p:nvPr>
            <p:ph idx="1"/>
          </p:nvPr>
        </p:nvSpPr>
        <p:spPr>
          <a:xfrm>
            <a:off x="604911" y="1448972"/>
            <a:ext cx="10748889" cy="5043903"/>
          </a:xfrm>
        </p:spPr>
        <p:txBody>
          <a:bodyPr>
            <a:noAutofit/>
          </a:bodyPr>
          <a:lstStyle/>
          <a:p>
            <a:pPr marL="0" indent="0">
              <a:spcAft>
                <a:spcPts val="800"/>
              </a:spcAft>
              <a:buNone/>
            </a:pPr>
            <a:r>
              <a:rPr lang="en-US" sz="4000" b="1" dirty="0">
                <a:solidFill>
                  <a:srgbClr val="000000"/>
                </a:solidFill>
              </a:rPr>
              <a:t>Clearing agent: </a:t>
            </a:r>
            <a:r>
              <a:rPr lang="en-US" sz="4000" dirty="0">
                <a:solidFill>
                  <a:srgbClr val="000000"/>
                </a:solidFill>
              </a:rPr>
              <a:t>Thiosulfate dissolves unexposed halide</a:t>
            </a:r>
            <a:endParaRPr lang="en-US" sz="4000" dirty="0"/>
          </a:p>
          <a:p>
            <a:pPr marL="0" indent="0">
              <a:spcAft>
                <a:spcPts val="800"/>
              </a:spcAft>
              <a:buNone/>
            </a:pPr>
            <a:r>
              <a:rPr lang="en-US" sz="4000" b="1" dirty="0">
                <a:solidFill>
                  <a:srgbClr val="000000"/>
                </a:solidFill>
              </a:rPr>
              <a:t>Acidifier: </a:t>
            </a:r>
            <a:r>
              <a:rPr lang="en-US" sz="4000" dirty="0">
                <a:solidFill>
                  <a:srgbClr val="000000"/>
                </a:solidFill>
              </a:rPr>
              <a:t>Acetic acid stops development</a:t>
            </a:r>
            <a:endParaRPr lang="en-US" sz="4000" dirty="0"/>
          </a:p>
          <a:p>
            <a:pPr marL="0" indent="0">
              <a:spcAft>
                <a:spcPts val="800"/>
              </a:spcAft>
              <a:buNone/>
            </a:pPr>
            <a:r>
              <a:rPr lang="en-US" sz="4000" b="1" dirty="0">
                <a:solidFill>
                  <a:srgbClr val="000000"/>
                </a:solidFill>
              </a:rPr>
              <a:t>Preservative: </a:t>
            </a:r>
            <a:r>
              <a:rPr lang="en-US" sz="4000" dirty="0">
                <a:solidFill>
                  <a:srgbClr val="000000"/>
                </a:solidFill>
              </a:rPr>
              <a:t>Sulfite </a:t>
            </a:r>
            <a:r>
              <a:rPr lang="en-US" sz="4000" dirty="0" err="1">
                <a:solidFill>
                  <a:srgbClr val="000000"/>
                </a:solidFill>
              </a:rPr>
              <a:t>stabilises</a:t>
            </a:r>
            <a:r>
              <a:rPr lang="en-US" sz="4000" dirty="0">
                <a:solidFill>
                  <a:srgbClr val="000000"/>
                </a:solidFill>
              </a:rPr>
              <a:t> thiosulfate</a:t>
            </a:r>
            <a:endParaRPr lang="en-US" sz="4000" dirty="0"/>
          </a:p>
          <a:p>
            <a:pPr marL="0" indent="0">
              <a:spcAft>
                <a:spcPts val="800"/>
              </a:spcAft>
              <a:buNone/>
            </a:pPr>
            <a:r>
              <a:rPr lang="en-US" sz="4000" b="1" dirty="0">
                <a:solidFill>
                  <a:srgbClr val="000000"/>
                </a:solidFill>
              </a:rPr>
              <a:t>Hardener: </a:t>
            </a:r>
            <a:r>
              <a:rPr lang="en-US" sz="4000" dirty="0">
                <a:solidFill>
                  <a:srgbClr val="000000"/>
                </a:solidFill>
              </a:rPr>
              <a:t>Alum hardens the gelatin</a:t>
            </a:r>
            <a:endParaRPr lang="en-US" sz="4000" dirty="0"/>
          </a:p>
          <a:p>
            <a:pPr marL="0" indent="0">
              <a:spcAft>
                <a:spcPts val="800"/>
              </a:spcAft>
              <a:buNone/>
            </a:pPr>
            <a:r>
              <a:rPr lang="en-US" sz="4000" b="1" dirty="0">
                <a:solidFill>
                  <a:srgbClr val="000000"/>
                </a:solidFill>
              </a:rPr>
              <a:t>Buffer: </a:t>
            </a:r>
            <a:r>
              <a:rPr lang="en-US" sz="4000" dirty="0">
                <a:solidFill>
                  <a:srgbClr val="000000"/>
                </a:solidFill>
              </a:rPr>
              <a:t>Holds pH steady</a:t>
            </a:r>
            <a:endParaRPr lang="en-US" sz="4000" dirty="0"/>
          </a:p>
          <a:p>
            <a:pPr marL="0" indent="0">
              <a:spcAft>
                <a:spcPts val="800"/>
              </a:spcAft>
              <a:buNone/>
            </a:pPr>
            <a:r>
              <a:rPr lang="en-US" sz="4000" b="1" dirty="0">
                <a:solidFill>
                  <a:srgbClr val="000000"/>
                </a:solidFill>
              </a:rPr>
              <a:t>Solvent: </a:t>
            </a:r>
            <a:r>
              <a:rPr lang="en-US" sz="4000" dirty="0">
                <a:solidFill>
                  <a:srgbClr val="000000"/>
                </a:solidFill>
              </a:rPr>
              <a:t>Water carries the chemicals</a:t>
            </a:r>
            <a:endParaRPr lang="en-US" sz="4000" dirty="0"/>
          </a:p>
          <a:p>
            <a:pPr marL="0" indent="0">
              <a:buNone/>
            </a:pPr>
            <a:endParaRPr lang="en-US" sz="4000" dirty="0"/>
          </a:p>
        </p:txBody>
      </p:sp>
    </p:spTree>
    <p:extLst>
      <p:ext uri="{BB962C8B-B14F-4D97-AF65-F5344CB8AC3E}">
        <p14:creationId xmlns:p14="http://schemas.microsoft.com/office/powerpoint/2010/main" val="21265971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C4BD0-345E-ADBA-181D-CCEBA4F19E04}"/>
              </a:ext>
            </a:extLst>
          </p:cNvPr>
          <p:cNvSpPr>
            <a:spLocks noGrp="1"/>
          </p:cNvSpPr>
          <p:nvPr>
            <p:ph type="title"/>
          </p:nvPr>
        </p:nvSpPr>
        <p:spPr/>
        <p:txBody>
          <a:bodyPr/>
          <a:lstStyle/>
          <a:p>
            <a:pPr algn="ctr"/>
            <a:r>
              <a:rPr lang="en-US" b="1" dirty="0">
                <a:solidFill>
                  <a:srgbClr val="EE0000"/>
                </a:solidFill>
              </a:rPr>
              <a:t>Signs of exhausted solutions</a:t>
            </a:r>
            <a:endParaRPr lang="en-US" dirty="0">
              <a:solidFill>
                <a:srgbClr val="EE0000"/>
              </a:solidFill>
            </a:endParaRPr>
          </a:p>
        </p:txBody>
      </p:sp>
      <p:sp>
        <p:nvSpPr>
          <p:cNvPr id="3" name="Content Placeholder 2">
            <a:extLst>
              <a:ext uri="{FF2B5EF4-FFF2-40B4-BE49-F238E27FC236}">
                <a16:creationId xmlns:a16="http://schemas.microsoft.com/office/drawing/2014/main" id="{D190AB81-0AE7-1D2B-5B38-F3844985C9C7}"/>
              </a:ext>
            </a:extLst>
          </p:cNvPr>
          <p:cNvSpPr>
            <a:spLocks noGrp="1"/>
          </p:cNvSpPr>
          <p:nvPr>
            <p:ph sz="half" idx="1"/>
          </p:nvPr>
        </p:nvSpPr>
        <p:spPr/>
        <p:txBody>
          <a:bodyPr>
            <a:normAutofit/>
          </a:bodyPr>
          <a:lstStyle/>
          <a:p>
            <a:pPr marL="0" indent="0">
              <a:spcAft>
                <a:spcPts val="400"/>
              </a:spcAft>
              <a:buNone/>
            </a:pPr>
            <a:r>
              <a:rPr lang="en-US" sz="3600" b="1" dirty="0">
                <a:solidFill>
                  <a:srgbClr val="000000"/>
                </a:solidFill>
              </a:rPr>
              <a:t>Developer</a:t>
            </a:r>
            <a:endParaRPr lang="en-US" sz="3600" dirty="0"/>
          </a:p>
          <a:p>
            <a:pPr>
              <a:spcAft>
                <a:spcPts val="800"/>
              </a:spcAft>
            </a:pPr>
            <a:r>
              <a:rPr lang="en-US" sz="3600" dirty="0">
                <a:solidFill>
                  <a:srgbClr val="000000"/>
                </a:solidFill>
              </a:rPr>
              <a:t>Low density and weak contrast</a:t>
            </a:r>
            <a:endParaRPr lang="en-US" sz="3600" dirty="0"/>
          </a:p>
          <a:p>
            <a:pPr>
              <a:spcAft>
                <a:spcPts val="800"/>
              </a:spcAft>
            </a:pPr>
            <a:r>
              <a:rPr lang="en-US" sz="3600" dirty="0">
                <a:solidFill>
                  <a:srgbClr val="000000"/>
                </a:solidFill>
              </a:rPr>
              <a:t>Brown or dark solution</a:t>
            </a:r>
            <a:endParaRPr lang="en-US" sz="3600" dirty="0"/>
          </a:p>
          <a:p>
            <a:pPr>
              <a:spcAft>
                <a:spcPts val="800"/>
              </a:spcAft>
            </a:pPr>
            <a:r>
              <a:rPr lang="en-US" sz="3600" dirty="0">
                <a:solidFill>
                  <a:srgbClr val="000000"/>
                </a:solidFill>
              </a:rPr>
              <a:t>Longer time needed</a:t>
            </a:r>
            <a:endParaRPr lang="en-US" sz="3600" dirty="0"/>
          </a:p>
          <a:p>
            <a:pPr>
              <a:spcAft>
                <a:spcPts val="800"/>
              </a:spcAft>
            </a:pPr>
            <a:r>
              <a:rPr lang="en-US" sz="3600" dirty="0">
                <a:solidFill>
                  <a:srgbClr val="000000"/>
                </a:solidFill>
              </a:rPr>
              <a:t>Chemical fog</a:t>
            </a:r>
            <a:endParaRPr lang="en-US" sz="3600" dirty="0"/>
          </a:p>
          <a:p>
            <a:pPr marL="0" indent="0">
              <a:buNone/>
            </a:pPr>
            <a:endParaRPr lang="en-US" sz="3600" dirty="0"/>
          </a:p>
        </p:txBody>
      </p:sp>
      <p:sp>
        <p:nvSpPr>
          <p:cNvPr id="4" name="Content Placeholder 3">
            <a:extLst>
              <a:ext uri="{FF2B5EF4-FFF2-40B4-BE49-F238E27FC236}">
                <a16:creationId xmlns:a16="http://schemas.microsoft.com/office/drawing/2014/main" id="{85731F1B-9F46-9F27-B708-CDB01F0C0D0C}"/>
              </a:ext>
            </a:extLst>
          </p:cNvPr>
          <p:cNvSpPr>
            <a:spLocks noGrp="1"/>
          </p:cNvSpPr>
          <p:nvPr>
            <p:ph sz="half" idx="2"/>
          </p:nvPr>
        </p:nvSpPr>
        <p:spPr/>
        <p:txBody>
          <a:bodyPr>
            <a:normAutofit/>
          </a:bodyPr>
          <a:lstStyle/>
          <a:p>
            <a:pPr marL="0" indent="0">
              <a:spcAft>
                <a:spcPts val="400"/>
              </a:spcAft>
              <a:buNone/>
            </a:pPr>
            <a:r>
              <a:rPr lang="en-US" sz="3600" b="1" dirty="0">
                <a:solidFill>
                  <a:srgbClr val="000000"/>
                </a:solidFill>
              </a:rPr>
              <a:t>Fixer</a:t>
            </a:r>
            <a:endParaRPr lang="en-US" sz="3600" dirty="0"/>
          </a:p>
          <a:p>
            <a:pPr>
              <a:spcAft>
                <a:spcPts val="800"/>
              </a:spcAft>
            </a:pPr>
            <a:r>
              <a:rPr lang="en-US" sz="3600" dirty="0">
                <a:solidFill>
                  <a:srgbClr val="000000"/>
                </a:solidFill>
              </a:rPr>
              <a:t>Clearing takes much longer</a:t>
            </a:r>
            <a:endParaRPr lang="en-US" sz="3600" dirty="0"/>
          </a:p>
          <a:p>
            <a:pPr>
              <a:spcAft>
                <a:spcPts val="800"/>
              </a:spcAft>
            </a:pPr>
            <a:r>
              <a:rPr lang="en-US" sz="3600" dirty="0">
                <a:solidFill>
                  <a:srgbClr val="000000"/>
                </a:solidFill>
              </a:rPr>
              <a:t>Milky or cloudy film</a:t>
            </a:r>
            <a:endParaRPr lang="en-US" sz="3600" dirty="0"/>
          </a:p>
          <a:p>
            <a:pPr>
              <a:spcAft>
                <a:spcPts val="800"/>
              </a:spcAft>
            </a:pPr>
            <a:r>
              <a:rPr lang="en-US" sz="3600" dirty="0">
                <a:solidFill>
                  <a:srgbClr val="000000"/>
                </a:solidFill>
              </a:rPr>
              <a:t>Yellow-brown stain later</a:t>
            </a:r>
            <a:endParaRPr lang="en-US" sz="3600" dirty="0"/>
          </a:p>
          <a:p>
            <a:pPr>
              <a:spcAft>
                <a:spcPts val="800"/>
              </a:spcAft>
            </a:pPr>
            <a:r>
              <a:rPr lang="en-US" sz="3600" dirty="0">
                <a:solidFill>
                  <a:srgbClr val="000000"/>
                </a:solidFill>
              </a:rPr>
              <a:t>Sticky or soft gelatin</a:t>
            </a:r>
            <a:endParaRPr lang="en-US" sz="3600" dirty="0"/>
          </a:p>
          <a:p>
            <a:pPr marL="0" indent="0">
              <a:buNone/>
            </a:pPr>
            <a:endParaRPr lang="en-US" sz="3600" dirty="0"/>
          </a:p>
        </p:txBody>
      </p:sp>
    </p:spTree>
    <p:extLst>
      <p:ext uri="{BB962C8B-B14F-4D97-AF65-F5344CB8AC3E}">
        <p14:creationId xmlns:p14="http://schemas.microsoft.com/office/powerpoint/2010/main" val="21420573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9CE0F-CB64-D78F-BBC9-832229A612C2}"/>
              </a:ext>
            </a:extLst>
          </p:cNvPr>
          <p:cNvSpPr>
            <a:spLocks noGrp="1"/>
          </p:cNvSpPr>
          <p:nvPr>
            <p:ph type="title"/>
          </p:nvPr>
        </p:nvSpPr>
        <p:spPr/>
        <p:txBody>
          <a:bodyPr/>
          <a:lstStyle/>
          <a:p>
            <a:pPr algn="ctr"/>
            <a:r>
              <a:rPr lang="en-US" b="1" dirty="0">
                <a:solidFill>
                  <a:srgbClr val="EE0000"/>
                </a:solidFill>
                <a:latin typeface="Cambria" pitchFamily="34" charset="0"/>
                <a:ea typeface="Cambria" pitchFamily="34" charset="-122"/>
                <a:cs typeface="Cambria" pitchFamily="34" charset="-120"/>
              </a:rPr>
              <a:t>Processing Artifacts</a:t>
            </a:r>
            <a:br>
              <a:rPr lang="en-US" dirty="0">
                <a:solidFill>
                  <a:srgbClr val="EE0000"/>
                </a:solidFill>
              </a:rPr>
            </a:br>
            <a:endParaRPr lang="en-US" dirty="0">
              <a:solidFill>
                <a:srgbClr val="EE0000"/>
              </a:solidFill>
            </a:endParaRPr>
          </a:p>
        </p:txBody>
      </p:sp>
      <p:sp>
        <p:nvSpPr>
          <p:cNvPr id="3" name="Content Placeholder 2">
            <a:extLst>
              <a:ext uri="{FF2B5EF4-FFF2-40B4-BE49-F238E27FC236}">
                <a16:creationId xmlns:a16="http://schemas.microsoft.com/office/drawing/2014/main" id="{BF148CA3-A61E-35F3-FFC0-E786FC194496}"/>
              </a:ext>
            </a:extLst>
          </p:cNvPr>
          <p:cNvSpPr>
            <a:spLocks noGrp="1"/>
          </p:cNvSpPr>
          <p:nvPr>
            <p:ph idx="1"/>
          </p:nvPr>
        </p:nvSpPr>
        <p:spPr>
          <a:xfrm>
            <a:off x="548640" y="1885071"/>
            <a:ext cx="10805160" cy="4291892"/>
          </a:xfrm>
        </p:spPr>
        <p:txBody>
          <a:bodyPr>
            <a:normAutofit lnSpcReduction="10000"/>
          </a:bodyPr>
          <a:lstStyle/>
          <a:p>
            <a:pPr marL="0" indent="0" algn="ctr">
              <a:buNone/>
            </a:pPr>
            <a:r>
              <a:rPr lang="en-US" sz="3600" b="1" dirty="0">
                <a:solidFill>
                  <a:srgbClr val="EE0000"/>
                </a:solidFill>
              </a:rPr>
              <a:t>This can be Classified into different categories </a:t>
            </a:r>
          </a:p>
          <a:p>
            <a:pPr marL="0" indent="0" algn="ctr">
              <a:buNone/>
            </a:pPr>
            <a:endParaRPr lang="en-US" sz="3600" b="1" dirty="0">
              <a:solidFill>
                <a:srgbClr val="000000"/>
              </a:solidFill>
            </a:endParaRPr>
          </a:p>
          <a:p>
            <a:pPr marL="0" indent="0">
              <a:spcAft>
                <a:spcPts val="800"/>
              </a:spcAft>
              <a:buNone/>
            </a:pPr>
            <a:r>
              <a:rPr lang="en-US" sz="3600" b="1" dirty="0">
                <a:solidFill>
                  <a:srgbClr val="000000"/>
                </a:solidFill>
              </a:rPr>
              <a:t>Handling: </a:t>
            </a:r>
            <a:r>
              <a:rPr lang="en-US" sz="3600" dirty="0">
                <a:solidFill>
                  <a:srgbClr val="000000"/>
                </a:solidFill>
              </a:rPr>
              <a:t>Crescents, finger marks, static, scratches</a:t>
            </a:r>
            <a:endParaRPr lang="en-US" sz="3600" dirty="0"/>
          </a:p>
          <a:p>
            <a:pPr marL="0" indent="0">
              <a:spcAft>
                <a:spcPts val="800"/>
              </a:spcAft>
              <a:buNone/>
            </a:pPr>
            <a:r>
              <a:rPr lang="en-US" sz="3600" b="1" dirty="0">
                <a:solidFill>
                  <a:srgbClr val="000000"/>
                </a:solidFill>
              </a:rPr>
              <a:t>Light: </a:t>
            </a:r>
            <a:r>
              <a:rPr lang="en-US" sz="3600" dirty="0">
                <a:solidFill>
                  <a:srgbClr val="000000"/>
                </a:solidFill>
              </a:rPr>
              <a:t>Light leaks, safelight fog, white-light exposure</a:t>
            </a:r>
            <a:endParaRPr lang="en-US" sz="3600" dirty="0"/>
          </a:p>
          <a:p>
            <a:pPr marL="0" indent="0">
              <a:spcAft>
                <a:spcPts val="800"/>
              </a:spcAft>
              <a:buNone/>
            </a:pPr>
            <a:r>
              <a:rPr lang="en-US" sz="3600" b="1" dirty="0">
                <a:solidFill>
                  <a:srgbClr val="000000"/>
                </a:solidFill>
              </a:rPr>
              <a:t>Chemical: </a:t>
            </a:r>
            <a:r>
              <a:rPr lang="en-US" sz="3600" dirty="0">
                <a:solidFill>
                  <a:srgbClr val="000000"/>
                </a:solidFill>
              </a:rPr>
              <a:t>Fog, dichroic stain, contamination spots</a:t>
            </a:r>
            <a:endParaRPr lang="en-US" sz="3600" dirty="0"/>
          </a:p>
          <a:p>
            <a:pPr marL="0" indent="0">
              <a:spcAft>
                <a:spcPts val="800"/>
              </a:spcAft>
              <a:buNone/>
            </a:pPr>
            <a:r>
              <a:rPr lang="en-US" sz="3600" b="1" dirty="0">
                <a:solidFill>
                  <a:srgbClr val="000000"/>
                </a:solidFill>
              </a:rPr>
              <a:t>Agitation and solution: </a:t>
            </a:r>
            <a:r>
              <a:rPr lang="en-US" sz="3600" dirty="0">
                <a:solidFill>
                  <a:srgbClr val="000000"/>
                </a:solidFill>
              </a:rPr>
              <a:t>Air bells, streaks, stains, reticulation</a:t>
            </a:r>
            <a:endParaRPr lang="en-US" sz="3600" dirty="0"/>
          </a:p>
          <a:p>
            <a:pPr marL="0" indent="0" algn="ctr">
              <a:buNone/>
            </a:pPr>
            <a:endParaRPr lang="en-US" sz="3600" dirty="0"/>
          </a:p>
        </p:txBody>
      </p:sp>
    </p:spTree>
    <p:extLst>
      <p:ext uri="{BB962C8B-B14F-4D97-AF65-F5344CB8AC3E}">
        <p14:creationId xmlns:p14="http://schemas.microsoft.com/office/powerpoint/2010/main" val="652402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A341A-E5CC-1FC7-8B50-98602BF07173}"/>
              </a:ext>
            </a:extLst>
          </p:cNvPr>
          <p:cNvSpPr>
            <a:spLocks noGrp="1"/>
          </p:cNvSpPr>
          <p:nvPr>
            <p:ph type="title"/>
          </p:nvPr>
        </p:nvSpPr>
        <p:spPr>
          <a:xfrm>
            <a:off x="838200" y="365126"/>
            <a:ext cx="10515600" cy="858764"/>
          </a:xfrm>
        </p:spPr>
        <p:txBody>
          <a:bodyPr>
            <a:normAutofit/>
          </a:bodyPr>
          <a:lstStyle/>
          <a:p>
            <a:pPr algn="ctr"/>
            <a:r>
              <a:rPr lang="en-US" sz="4800" b="1" dirty="0">
                <a:solidFill>
                  <a:srgbClr val="EE0000"/>
                </a:solidFill>
              </a:rPr>
              <a:t>Handling artifacts</a:t>
            </a:r>
            <a:endParaRPr lang="en-US" sz="4800" dirty="0">
              <a:solidFill>
                <a:srgbClr val="EE0000"/>
              </a:solidFill>
            </a:endParaRPr>
          </a:p>
        </p:txBody>
      </p:sp>
      <p:sp>
        <p:nvSpPr>
          <p:cNvPr id="3" name="Content Placeholder 2">
            <a:extLst>
              <a:ext uri="{FF2B5EF4-FFF2-40B4-BE49-F238E27FC236}">
                <a16:creationId xmlns:a16="http://schemas.microsoft.com/office/drawing/2014/main" id="{C37E8058-C93F-D2FE-A63D-DC359BE48C36}"/>
              </a:ext>
            </a:extLst>
          </p:cNvPr>
          <p:cNvSpPr>
            <a:spLocks noGrp="1"/>
          </p:cNvSpPr>
          <p:nvPr>
            <p:ph idx="1"/>
          </p:nvPr>
        </p:nvSpPr>
        <p:spPr>
          <a:xfrm>
            <a:off x="838200" y="1406769"/>
            <a:ext cx="10515600" cy="4770194"/>
          </a:xfrm>
        </p:spPr>
        <p:txBody>
          <a:bodyPr>
            <a:noAutofit/>
          </a:bodyPr>
          <a:lstStyle/>
          <a:p>
            <a:pPr marL="0" indent="0">
              <a:spcAft>
                <a:spcPts val="800"/>
              </a:spcAft>
              <a:buNone/>
            </a:pPr>
            <a:r>
              <a:rPr lang="en-US" sz="3600" b="1" dirty="0">
                <a:solidFill>
                  <a:srgbClr val="000000"/>
                </a:solidFill>
              </a:rPr>
              <a:t>Crescent marks: </a:t>
            </a:r>
            <a:r>
              <a:rPr lang="en-US" sz="3600" dirty="0">
                <a:solidFill>
                  <a:srgbClr val="000000"/>
                </a:solidFill>
              </a:rPr>
              <a:t>Cause: Film bent or kinked. Prevention: Hold by edges, avoid flexing</a:t>
            </a:r>
            <a:endParaRPr lang="en-US" sz="3600" dirty="0"/>
          </a:p>
          <a:p>
            <a:pPr marL="0" indent="0">
              <a:spcAft>
                <a:spcPts val="800"/>
              </a:spcAft>
              <a:buNone/>
            </a:pPr>
            <a:r>
              <a:rPr lang="en-US" sz="3600" b="1" dirty="0">
                <a:solidFill>
                  <a:srgbClr val="000000"/>
                </a:solidFill>
              </a:rPr>
              <a:t>Finger marks: </a:t>
            </a:r>
            <a:r>
              <a:rPr lang="en-US" sz="3600" dirty="0">
                <a:solidFill>
                  <a:srgbClr val="000000"/>
                </a:solidFill>
              </a:rPr>
              <a:t>Cause: Dirty or wet hands. Prevention: Dry, clean hands</a:t>
            </a:r>
            <a:endParaRPr lang="en-US" sz="3600" dirty="0"/>
          </a:p>
          <a:p>
            <a:pPr marL="0" indent="0">
              <a:spcAft>
                <a:spcPts val="800"/>
              </a:spcAft>
              <a:buNone/>
            </a:pPr>
            <a:r>
              <a:rPr lang="en-US" sz="3600" b="1" dirty="0">
                <a:solidFill>
                  <a:srgbClr val="000000"/>
                </a:solidFill>
              </a:rPr>
              <a:t>Static: </a:t>
            </a:r>
            <a:r>
              <a:rPr lang="en-US" sz="3600" dirty="0">
                <a:solidFill>
                  <a:srgbClr val="000000"/>
                </a:solidFill>
              </a:rPr>
              <a:t>Cause: Dry air, quick film removal. Prevention: Humidity control, slow handling</a:t>
            </a:r>
            <a:endParaRPr lang="en-US" sz="3600" dirty="0"/>
          </a:p>
          <a:p>
            <a:pPr marL="0" indent="0">
              <a:spcAft>
                <a:spcPts val="800"/>
              </a:spcAft>
              <a:buNone/>
            </a:pPr>
            <a:r>
              <a:rPr lang="en-US" sz="3600" b="1" dirty="0">
                <a:solidFill>
                  <a:srgbClr val="000000"/>
                </a:solidFill>
              </a:rPr>
              <a:t>Scratches: </a:t>
            </a:r>
            <a:r>
              <a:rPr lang="en-US" sz="3600" dirty="0">
                <a:solidFill>
                  <a:srgbClr val="000000"/>
                </a:solidFill>
              </a:rPr>
              <a:t>Cause: Rough surfaces or hangers. Prevention: Smooth surfaces, careful loading</a:t>
            </a:r>
            <a:endParaRPr lang="en-US" sz="3600" dirty="0"/>
          </a:p>
          <a:p>
            <a:pPr marL="0" indent="0">
              <a:buNone/>
            </a:pPr>
            <a:endParaRPr lang="en-US" sz="3600" dirty="0"/>
          </a:p>
        </p:txBody>
      </p:sp>
    </p:spTree>
    <p:extLst>
      <p:ext uri="{BB962C8B-B14F-4D97-AF65-F5344CB8AC3E}">
        <p14:creationId xmlns:p14="http://schemas.microsoft.com/office/powerpoint/2010/main" val="37997039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F752-2430-E3A9-AEF2-3A6AC208D0E3}"/>
              </a:ext>
            </a:extLst>
          </p:cNvPr>
          <p:cNvSpPr>
            <a:spLocks noGrp="1"/>
          </p:cNvSpPr>
          <p:nvPr>
            <p:ph type="title"/>
          </p:nvPr>
        </p:nvSpPr>
        <p:spPr/>
        <p:txBody>
          <a:bodyPr>
            <a:normAutofit/>
          </a:bodyPr>
          <a:lstStyle/>
          <a:p>
            <a:pPr algn="ctr"/>
            <a:r>
              <a:rPr lang="en-US" sz="6000" b="1" dirty="0">
                <a:solidFill>
                  <a:srgbClr val="EE0000"/>
                </a:solidFill>
              </a:rPr>
              <a:t>Light and fog artifacts</a:t>
            </a:r>
            <a:endParaRPr lang="en-US" sz="6000" dirty="0">
              <a:solidFill>
                <a:srgbClr val="EE0000"/>
              </a:solidFill>
            </a:endParaRPr>
          </a:p>
        </p:txBody>
      </p:sp>
      <p:sp>
        <p:nvSpPr>
          <p:cNvPr id="3" name="Content Placeholder 2">
            <a:extLst>
              <a:ext uri="{FF2B5EF4-FFF2-40B4-BE49-F238E27FC236}">
                <a16:creationId xmlns:a16="http://schemas.microsoft.com/office/drawing/2014/main" id="{170B018A-F2DE-6293-F245-FBE0490A383A}"/>
              </a:ext>
            </a:extLst>
          </p:cNvPr>
          <p:cNvSpPr>
            <a:spLocks noGrp="1"/>
          </p:cNvSpPr>
          <p:nvPr>
            <p:ph idx="1"/>
          </p:nvPr>
        </p:nvSpPr>
        <p:spPr>
          <a:xfrm>
            <a:off x="604911" y="1690687"/>
            <a:ext cx="10748889" cy="4907061"/>
          </a:xfrm>
        </p:spPr>
        <p:txBody>
          <a:bodyPr>
            <a:noAutofit/>
          </a:bodyPr>
          <a:lstStyle/>
          <a:p>
            <a:pPr marL="0" indent="0">
              <a:spcAft>
                <a:spcPts val="800"/>
              </a:spcAft>
              <a:buNone/>
            </a:pPr>
            <a:r>
              <a:rPr lang="en-US" sz="3600" b="1" dirty="0">
                <a:solidFill>
                  <a:srgbClr val="000000"/>
                </a:solidFill>
              </a:rPr>
              <a:t>Light fog: </a:t>
            </a:r>
            <a:r>
              <a:rPr lang="en-US" sz="3600" dirty="0">
                <a:solidFill>
                  <a:srgbClr val="000000"/>
                </a:solidFill>
              </a:rPr>
              <a:t>Cause: Light leak or white light. Prevention: Test and seal darkroom</a:t>
            </a:r>
            <a:endParaRPr lang="en-US" sz="3600" dirty="0"/>
          </a:p>
          <a:p>
            <a:pPr marL="0" indent="0">
              <a:spcAft>
                <a:spcPts val="800"/>
              </a:spcAft>
              <a:buNone/>
            </a:pPr>
            <a:r>
              <a:rPr lang="en-US" sz="3600" b="1" dirty="0">
                <a:solidFill>
                  <a:srgbClr val="000000"/>
                </a:solidFill>
              </a:rPr>
              <a:t>Safelight fog: </a:t>
            </a:r>
            <a:r>
              <a:rPr lang="en-US" sz="3600" dirty="0">
                <a:solidFill>
                  <a:srgbClr val="000000"/>
                </a:solidFill>
              </a:rPr>
              <a:t>Cause: Wrong filter, bulb or distance. Prevention: Correct filter, 15 W, about 1.2 m</a:t>
            </a:r>
            <a:endParaRPr lang="en-US" sz="3600" dirty="0"/>
          </a:p>
          <a:p>
            <a:pPr marL="0" indent="0">
              <a:spcAft>
                <a:spcPts val="800"/>
              </a:spcAft>
              <a:buNone/>
            </a:pPr>
            <a:r>
              <a:rPr lang="en-US" sz="3600" b="1" dirty="0">
                <a:solidFill>
                  <a:srgbClr val="000000"/>
                </a:solidFill>
              </a:rPr>
              <a:t>Chemical fog: </a:t>
            </a:r>
            <a:r>
              <a:rPr lang="en-US" sz="3600" dirty="0">
                <a:solidFill>
                  <a:srgbClr val="000000"/>
                </a:solidFill>
              </a:rPr>
              <a:t>Cause: Warm or contaminated developer. Prevention: Control temperature, fresh chemicals</a:t>
            </a:r>
            <a:endParaRPr lang="en-US" sz="3600" dirty="0"/>
          </a:p>
          <a:p>
            <a:pPr marL="0" indent="0">
              <a:spcAft>
                <a:spcPts val="800"/>
              </a:spcAft>
              <a:buNone/>
            </a:pPr>
            <a:r>
              <a:rPr lang="en-US" sz="3600" b="1" dirty="0">
                <a:solidFill>
                  <a:srgbClr val="000000"/>
                </a:solidFill>
              </a:rPr>
              <a:t>Dichroic fog: </a:t>
            </a:r>
            <a:r>
              <a:rPr lang="en-US" sz="3600" dirty="0">
                <a:solidFill>
                  <a:srgbClr val="000000"/>
                </a:solidFill>
              </a:rPr>
              <a:t>Cause: Fixer in developer, weak fixing. Prevention: Prevent splashes, fresh fixer</a:t>
            </a:r>
            <a:endParaRPr lang="en-US" sz="3600" dirty="0"/>
          </a:p>
          <a:p>
            <a:pPr marL="0" indent="0">
              <a:buNone/>
            </a:pPr>
            <a:endParaRPr lang="en-US" sz="3600" dirty="0"/>
          </a:p>
        </p:txBody>
      </p:sp>
    </p:spTree>
    <p:extLst>
      <p:ext uri="{BB962C8B-B14F-4D97-AF65-F5344CB8AC3E}">
        <p14:creationId xmlns:p14="http://schemas.microsoft.com/office/powerpoint/2010/main" val="3271831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B1030-00DE-8FB2-E754-960FFBCE16DF}"/>
              </a:ext>
            </a:extLst>
          </p:cNvPr>
          <p:cNvSpPr>
            <a:spLocks noGrp="1"/>
          </p:cNvSpPr>
          <p:nvPr>
            <p:ph type="title"/>
          </p:nvPr>
        </p:nvSpPr>
        <p:spPr/>
        <p:txBody>
          <a:bodyPr/>
          <a:lstStyle/>
          <a:p>
            <a:pPr algn="ctr"/>
            <a:r>
              <a:rPr lang="en-US" b="1" dirty="0">
                <a:solidFill>
                  <a:srgbClr val="EE0000"/>
                </a:solidFill>
              </a:rPr>
              <a:t>Solution and agitation artifacts</a:t>
            </a:r>
            <a:endParaRPr lang="en-US" dirty="0">
              <a:solidFill>
                <a:srgbClr val="EE0000"/>
              </a:solidFill>
            </a:endParaRPr>
          </a:p>
        </p:txBody>
      </p:sp>
      <p:sp>
        <p:nvSpPr>
          <p:cNvPr id="3" name="Content Placeholder 2">
            <a:extLst>
              <a:ext uri="{FF2B5EF4-FFF2-40B4-BE49-F238E27FC236}">
                <a16:creationId xmlns:a16="http://schemas.microsoft.com/office/drawing/2014/main" id="{78AC09E8-D5CF-995F-37C0-9BFC42B7B2E3}"/>
              </a:ext>
            </a:extLst>
          </p:cNvPr>
          <p:cNvSpPr>
            <a:spLocks noGrp="1"/>
          </p:cNvSpPr>
          <p:nvPr>
            <p:ph idx="1"/>
          </p:nvPr>
        </p:nvSpPr>
        <p:spPr>
          <a:xfrm>
            <a:off x="838200" y="1983544"/>
            <a:ext cx="10515600" cy="4874455"/>
          </a:xfrm>
        </p:spPr>
        <p:txBody>
          <a:bodyPr>
            <a:noAutofit/>
          </a:bodyPr>
          <a:lstStyle/>
          <a:p>
            <a:pPr marL="0" indent="0">
              <a:spcAft>
                <a:spcPts val="800"/>
              </a:spcAft>
              <a:buNone/>
            </a:pPr>
            <a:r>
              <a:rPr lang="en-US" sz="3600" b="1" dirty="0">
                <a:solidFill>
                  <a:srgbClr val="000000"/>
                </a:solidFill>
              </a:rPr>
              <a:t>Air bells (pale spots): </a:t>
            </a:r>
            <a:r>
              <a:rPr lang="en-US" sz="3600" dirty="0">
                <a:solidFill>
                  <a:srgbClr val="000000"/>
                </a:solidFill>
              </a:rPr>
              <a:t>Cause: Bubbles cling to film. Prevention: Tap hanger, agitate</a:t>
            </a:r>
            <a:endParaRPr lang="en-US" sz="3600" dirty="0"/>
          </a:p>
          <a:p>
            <a:pPr marL="0" indent="0">
              <a:spcAft>
                <a:spcPts val="800"/>
              </a:spcAft>
              <a:buNone/>
            </a:pPr>
            <a:r>
              <a:rPr lang="en-US" sz="3600" b="1" dirty="0">
                <a:solidFill>
                  <a:srgbClr val="000000"/>
                </a:solidFill>
              </a:rPr>
              <a:t>Streaks, uneven density: </a:t>
            </a:r>
            <a:r>
              <a:rPr lang="en-US" sz="3600" dirty="0">
                <a:solidFill>
                  <a:srgbClr val="000000"/>
                </a:solidFill>
              </a:rPr>
              <a:t>Cause: No agitation. Prevention: Agitate at the start</a:t>
            </a:r>
            <a:endParaRPr lang="en-US" sz="3600" dirty="0"/>
          </a:p>
          <a:p>
            <a:pPr marL="0" indent="0">
              <a:spcAft>
                <a:spcPts val="800"/>
              </a:spcAft>
              <a:buNone/>
            </a:pPr>
            <a:r>
              <a:rPr lang="en-US" sz="3600" b="1" dirty="0">
                <a:solidFill>
                  <a:srgbClr val="000000"/>
                </a:solidFill>
              </a:rPr>
              <a:t>Dark spots: </a:t>
            </a:r>
            <a:r>
              <a:rPr lang="en-US" sz="3600" dirty="0">
                <a:solidFill>
                  <a:srgbClr val="000000"/>
                </a:solidFill>
              </a:rPr>
              <a:t>Cause: Developer splashes before immersion. Prevention: Keep area clean</a:t>
            </a:r>
            <a:endParaRPr lang="en-US" sz="3600" dirty="0"/>
          </a:p>
          <a:p>
            <a:pPr marL="0" indent="0">
              <a:spcAft>
                <a:spcPts val="800"/>
              </a:spcAft>
              <a:buNone/>
            </a:pPr>
            <a:r>
              <a:rPr lang="en-US" sz="3600" b="1" dirty="0">
                <a:solidFill>
                  <a:srgbClr val="000000"/>
                </a:solidFill>
              </a:rPr>
              <a:t>White spots: </a:t>
            </a:r>
            <a:r>
              <a:rPr lang="en-US" sz="3600" dirty="0">
                <a:solidFill>
                  <a:srgbClr val="000000"/>
                </a:solidFill>
              </a:rPr>
              <a:t>Cause: Fixer splashes before development. Prevention: Keep area clean</a:t>
            </a:r>
            <a:endParaRPr lang="en-US" sz="3600" dirty="0"/>
          </a:p>
          <a:p>
            <a:pPr marL="0" indent="0">
              <a:buNone/>
            </a:pPr>
            <a:endParaRPr lang="en-US" sz="3600" dirty="0"/>
          </a:p>
        </p:txBody>
      </p:sp>
    </p:spTree>
    <p:extLst>
      <p:ext uri="{BB962C8B-B14F-4D97-AF65-F5344CB8AC3E}">
        <p14:creationId xmlns:p14="http://schemas.microsoft.com/office/powerpoint/2010/main" val="6290287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319FD-596A-B2DD-8F65-9F054245D4EA}"/>
              </a:ext>
            </a:extLst>
          </p:cNvPr>
          <p:cNvSpPr>
            <a:spLocks noGrp="1"/>
          </p:cNvSpPr>
          <p:nvPr>
            <p:ph type="title"/>
          </p:nvPr>
        </p:nvSpPr>
        <p:spPr>
          <a:xfrm>
            <a:off x="838200" y="0"/>
            <a:ext cx="10515600" cy="1153552"/>
          </a:xfrm>
        </p:spPr>
        <p:txBody>
          <a:bodyPr>
            <a:normAutofit/>
          </a:bodyPr>
          <a:lstStyle/>
          <a:p>
            <a:pPr algn="ctr"/>
            <a:r>
              <a:rPr lang="en-US" sz="5400" b="1" dirty="0">
                <a:solidFill>
                  <a:srgbClr val="EE0000"/>
                </a:solidFill>
              </a:rPr>
              <a:t>How to Prevent artifacts</a:t>
            </a:r>
            <a:endParaRPr lang="en-US" sz="5400" dirty="0">
              <a:solidFill>
                <a:srgbClr val="EE0000"/>
              </a:solidFill>
            </a:endParaRPr>
          </a:p>
        </p:txBody>
      </p:sp>
      <p:sp>
        <p:nvSpPr>
          <p:cNvPr id="3" name="Content Placeholder 2">
            <a:extLst>
              <a:ext uri="{FF2B5EF4-FFF2-40B4-BE49-F238E27FC236}">
                <a16:creationId xmlns:a16="http://schemas.microsoft.com/office/drawing/2014/main" id="{F7936D2C-3C7C-2C2C-0763-CEB46BEBE977}"/>
              </a:ext>
            </a:extLst>
          </p:cNvPr>
          <p:cNvSpPr>
            <a:spLocks noGrp="1"/>
          </p:cNvSpPr>
          <p:nvPr>
            <p:ph idx="1"/>
          </p:nvPr>
        </p:nvSpPr>
        <p:spPr>
          <a:xfrm>
            <a:off x="478302" y="1463040"/>
            <a:ext cx="10875498" cy="5134708"/>
          </a:xfrm>
        </p:spPr>
        <p:txBody>
          <a:bodyPr>
            <a:normAutofit/>
          </a:bodyPr>
          <a:lstStyle/>
          <a:p>
            <a:pPr>
              <a:spcAft>
                <a:spcPts val="800"/>
              </a:spcAft>
            </a:pPr>
            <a:r>
              <a:rPr lang="en-US" sz="3600" dirty="0">
                <a:solidFill>
                  <a:srgbClr val="000000"/>
                </a:solidFill>
              </a:rPr>
              <a:t>Handle film by the edges with clean, dry hands</a:t>
            </a:r>
            <a:endParaRPr lang="en-US" sz="3600" dirty="0"/>
          </a:p>
          <a:p>
            <a:pPr>
              <a:spcAft>
                <a:spcPts val="800"/>
              </a:spcAft>
            </a:pPr>
            <a:r>
              <a:rPr lang="en-US" sz="3600" dirty="0">
                <a:solidFill>
                  <a:srgbClr val="000000"/>
                </a:solidFill>
              </a:rPr>
              <a:t>Keep solutions fresh, clean and at the right temperature</a:t>
            </a:r>
            <a:endParaRPr lang="en-US" sz="3600" dirty="0"/>
          </a:p>
          <a:p>
            <a:pPr>
              <a:spcAft>
                <a:spcPts val="800"/>
              </a:spcAft>
            </a:pPr>
            <a:r>
              <a:rPr lang="en-US" sz="3600" dirty="0">
                <a:solidFill>
                  <a:srgbClr val="000000"/>
                </a:solidFill>
              </a:rPr>
              <a:t>Agitate at the start of development and fixing</a:t>
            </a:r>
            <a:endParaRPr lang="en-US" sz="3600" dirty="0"/>
          </a:p>
          <a:p>
            <a:pPr>
              <a:spcAft>
                <a:spcPts val="800"/>
              </a:spcAft>
            </a:pPr>
            <a:r>
              <a:rPr lang="en-US" sz="3600" dirty="0">
                <a:solidFill>
                  <a:srgbClr val="000000"/>
                </a:solidFill>
              </a:rPr>
              <a:t>Wash thoroughly and dry in clean air</a:t>
            </a:r>
            <a:endParaRPr lang="en-US" sz="3600" dirty="0"/>
          </a:p>
          <a:p>
            <a:pPr>
              <a:spcAft>
                <a:spcPts val="800"/>
              </a:spcAft>
            </a:pPr>
            <a:r>
              <a:rPr lang="en-US" sz="3600" dirty="0">
                <a:solidFill>
                  <a:srgbClr val="000000"/>
                </a:solidFill>
              </a:rPr>
              <a:t>Study every artifact film, not only discard it</a:t>
            </a:r>
            <a:endParaRPr lang="en-US" sz="3600" dirty="0"/>
          </a:p>
          <a:p>
            <a:pPr marL="0" indent="0">
              <a:spcBef>
                <a:spcPts val="600"/>
              </a:spcBef>
              <a:buNone/>
            </a:pPr>
            <a:r>
              <a:rPr lang="en-US" sz="3600" i="1" dirty="0">
                <a:solidFill>
                  <a:srgbClr val="000000"/>
                </a:solidFill>
              </a:rPr>
              <a:t>Key point: Every artifact points to the cause that should be fixed.</a:t>
            </a:r>
            <a:endParaRPr lang="en-US" sz="3600" dirty="0"/>
          </a:p>
          <a:p>
            <a:pPr marL="0" indent="0">
              <a:buNone/>
            </a:pPr>
            <a:endParaRPr lang="en-US" sz="3600" dirty="0"/>
          </a:p>
        </p:txBody>
      </p:sp>
    </p:spTree>
    <p:extLst>
      <p:ext uri="{BB962C8B-B14F-4D97-AF65-F5344CB8AC3E}">
        <p14:creationId xmlns:p14="http://schemas.microsoft.com/office/powerpoint/2010/main" val="21753756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48D93-3219-2E87-91E5-CF85442F2648}"/>
              </a:ext>
            </a:extLst>
          </p:cNvPr>
          <p:cNvSpPr>
            <a:spLocks noGrp="1"/>
          </p:cNvSpPr>
          <p:nvPr>
            <p:ph type="title"/>
          </p:nvPr>
        </p:nvSpPr>
        <p:spPr/>
        <p:txBody>
          <a:bodyPr/>
          <a:lstStyle/>
          <a:p>
            <a:pPr algn="ctr"/>
            <a:r>
              <a:rPr lang="en-US" b="1" dirty="0">
                <a:solidFill>
                  <a:srgbClr val="EE0000"/>
                </a:solidFill>
                <a:latin typeface="Cambria" pitchFamily="34" charset="0"/>
                <a:ea typeface="Cambria" pitchFamily="34" charset="-122"/>
                <a:cs typeface="Cambria" pitchFamily="34" charset="-120"/>
              </a:rPr>
              <a:t>Sequence of Processing</a:t>
            </a:r>
            <a:br>
              <a:rPr lang="en-US" dirty="0">
                <a:solidFill>
                  <a:srgbClr val="EE0000"/>
                </a:solidFill>
              </a:rPr>
            </a:br>
            <a:endParaRPr lang="en-US" dirty="0">
              <a:solidFill>
                <a:srgbClr val="EE0000"/>
              </a:solidFill>
            </a:endParaRPr>
          </a:p>
        </p:txBody>
      </p:sp>
      <p:sp>
        <p:nvSpPr>
          <p:cNvPr id="3" name="Content Placeholder 2">
            <a:extLst>
              <a:ext uri="{FF2B5EF4-FFF2-40B4-BE49-F238E27FC236}">
                <a16:creationId xmlns:a16="http://schemas.microsoft.com/office/drawing/2014/main" id="{D356D4F9-CE99-78C7-6719-9BFAF80630FF}"/>
              </a:ext>
            </a:extLst>
          </p:cNvPr>
          <p:cNvSpPr>
            <a:spLocks noGrp="1"/>
          </p:cNvSpPr>
          <p:nvPr>
            <p:ph idx="1"/>
          </p:nvPr>
        </p:nvSpPr>
        <p:spPr>
          <a:xfrm>
            <a:off x="618978" y="1167618"/>
            <a:ext cx="10734822" cy="5325257"/>
          </a:xfrm>
        </p:spPr>
        <p:txBody>
          <a:bodyPr>
            <a:normAutofit fontScale="92500" lnSpcReduction="10000"/>
          </a:bodyPr>
          <a:lstStyle/>
          <a:p>
            <a:pPr marL="0" indent="0" algn="ctr">
              <a:buNone/>
            </a:pPr>
            <a:r>
              <a:rPr lang="en-US" sz="4000" b="1" dirty="0">
                <a:solidFill>
                  <a:srgbClr val="EE0000"/>
                </a:solidFill>
              </a:rPr>
              <a:t>The five stages</a:t>
            </a:r>
          </a:p>
          <a:p>
            <a:pPr marL="0" indent="0">
              <a:spcAft>
                <a:spcPts val="800"/>
              </a:spcAft>
              <a:buNone/>
            </a:pPr>
            <a:r>
              <a:rPr lang="en-US" sz="4000" b="1" dirty="0">
                <a:solidFill>
                  <a:srgbClr val="000000"/>
                </a:solidFill>
              </a:rPr>
              <a:t>1. Develop: </a:t>
            </a:r>
            <a:r>
              <a:rPr lang="en-US" sz="4000" dirty="0">
                <a:solidFill>
                  <a:srgbClr val="000000"/>
                </a:solidFill>
              </a:rPr>
              <a:t>About 5 min at 20 °C</a:t>
            </a:r>
            <a:endParaRPr lang="en-US" sz="4000" dirty="0"/>
          </a:p>
          <a:p>
            <a:pPr marL="0" indent="0">
              <a:spcAft>
                <a:spcPts val="800"/>
              </a:spcAft>
              <a:buNone/>
            </a:pPr>
            <a:r>
              <a:rPr lang="en-US" sz="4000" b="1" dirty="0">
                <a:solidFill>
                  <a:srgbClr val="000000"/>
                </a:solidFill>
              </a:rPr>
              <a:t>2. Rinse: </a:t>
            </a:r>
            <a:r>
              <a:rPr lang="en-US" sz="4000" dirty="0">
                <a:solidFill>
                  <a:srgbClr val="000000"/>
                </a:solidFill>
              </a:rPr>
              <a:t>About 30 to 60 seconds</a:t>
            </a:r>
            <a:endParaRPr lang="en-US" sz="4000" dirty="0"/>
          </a:p>
          <a:p>
            <a:pPr marL="0" indent="0">
              <a:spcAft>
                <a:spcPts val="800"/>
              </a:spcAft>
              <a:buNone/>
            </a:pPr>
            <a:r>
              <a:rPr lang="en-US" sz="4000" b="1" dirty="0">
                <a:solidFill>
                  <a:srgbClr val="000000"/>
                </a:solidFill>
              </a:rPr>
              <a:t>3. Fix: </a:t>
            </a:r>
            <a:r>
              <a:rPr lang="en-US" sz="4000" dirty="0">
                <a:solidFill>
                  <a:srgbClr val="000000"/>
                </a:solidFill>
              </a:rPr>
              <a:t>About 10 minutes</a:t>
            </a:r>
            <a:endParaRPr lang="en-US" sz="4000" dirty="0"/>
          </a:p>
          <a:p>
            <a:pPr marL="0" indent="0">
              <a:spcAft>
                <a:spcPts val="800"/>
              </a:spcAft>
              <a:buNone/>
            </a:pPr>
            <a:r>
              <a:rPr lang="en-US" sz="4000" b="1" dirty="0">
                <a:solidFill>
                  <a:srgbClr val="000000"/>
                </a:solidFill>
              </a:rPr>
              <a:t>4. Wash: </a:t>
            </a:r>
            <a:r>
              <a:rPr lang="en-US" sz="4000" dirty="0">
                <a:solidFill>
                  <a:srgbClr val="000000"/>
                </a:solidFill>
              </a:rPr>
              <a:t>20 to 30 minutes</a:t>
            </a:r>
            <a:endParaRPr lang="en-US" sz="4000" dirty="0"/>
          </a:p>
          <a:p>
            <a:pPr marL="0" indent="0">
              <a:spcAft>
                <a:spcPts val="800"/>
              </a:spcAft>
              <a:buNone/>
            </a:pPr>
            <a:r>
              <a:rPr lang="en-US" sz="4000" b="1" dirty="0">
                <a:solidFill>
                  <a:srgbClr val="000000"/>
                </a:solidFill>
              </a:rPr>
              <a:t>5. Dry: </a:t>
            </a:r>
            <a:r>
              <a:rPr lang="en-US" sz="4000" dirty="0">
                <a:solidFill>
                  <a:srgbClr val="000000"/>
                </a:solidFill>
              </a:rPr>
              <a:t>Warm filtered air</a:t>
            </a:r>
            <a:endParaRPr lang="en-US" sz="4000" dirty="0"/>
          </a:p>
          <a:p>
            <a:pPr marL="0" indent="0">
              <a:spcBef>
                <a:spcPts val="600"/>
              </a:spcBef>
              <a:buNone/>
            </a:pPr>
            <a:r>
              <a:rPr lang="en-US" sz="4000" i="1" dirty="0">
                <a:solidFill>
                  <a:srgbClr val="000000"/>
                </a:solidFill>
              </a:rPr>
              <a:t>Each stage prepares the film for the next, and none can be skipped.</a:t>
            </a:r>
            <a:endParaRPr lang="en-US" sz="4000" dirty="0"/>
          </a:p>
          <a:p>
            <a:pPr marL="0" indent="0" algn="ctr">
              <a:buNone/>
            </a:pPr>
            <a:endParaRPr lang="en-US" sz="4000" dirty="0"/>
          </a:p>
        </p:txBody>
      </p:sp>
    </p:spTree>
    <p:extLst>
      <p:ext uri="{BB962C8B-B14F-4D97-AF65-F5344CB8AC3E}">
        <p14:creationId xmlns:p14="http://schemas.microsoft.com/office/powerpoint/2010/main" val="39494170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CB37D-E5D2-2E13-A4A3-CF03E935E0D6}"/>
              </a:ext>
            </a:extLst>
          </p:cNvPr>
          <p:cNvSpPr>
            <a:spLocks noGrp="1"/>
          </p:cNvSpPr>
          <p:nvPr>
            <p:ph type="title"/>
          </p:nvPr>
        </p:nvSpPr>
        <p:spPr>
          <a:xfrm>
            <a:off x="838200" y="239151"/>
            <a:ext cx="10515600" cy="1012875"/>
          </a:xfrm>
        </p:spPr>
        <p:txBody>
          <a:bodyPr>
            <a:normAutofit/>
          </a:bodyPr>
          <a:lstStyle/>
          <a:p>
            <a:pPr algn="ctr"/>
            <a:r>
              <a:rPr lang="en-US" sz="6000" b="1" dirty="0">
                <a:solidFill>
                  <a:srgbClr val="EE0000"/>
                </a:solidFill>
              </a:rPr>
              <a:t>Before processing: preparation</a:t>
            </a:r>
            <a:endParaRPr lang="en-US" sz="6000" dirty="0">
              <a:solidFill>
                <a:srgbClr val="EE0000"/>
              </a:solidFill>
            </a:endParaRPr>
          </a:p>
        </p:txBody>
      </p:sp>
      <p:sp>
        <p:nvSpPr>
          <p:cNvPr id="3" name="Content Placeholder 2">
            <a:extLst>
              <a:ext uri="{FF2B5EF4-FFF2-40B4-BE49-F238E27FC236}">
                <a16:creationId xmlns:a16="http://schemas.microsoft.com/office/drawing/2014/main" id="{67E2BCBA-0C0B-12C9-3D59-2AB9DEEE0A10}"/>
              </a:ext>
            </a:extLst>
          </p:cNvPr>
          <p:cNvSpPr>
            <a:spLocks noGrp="1"/>
          </p:cNvSpPr>
          <p:nvPr>
            <p:ph idx="1"/>
          </p:nvPr>
        </p:nvSpPr>
        <p:spPr>
          <a:xfrm>
            <a:off x="703385" y="1814732"/>
            <a:ext cx="10650415" cy="4804117"/>
          </a:xfrm>
        </p:spPr>
        <p:txBody>
          <a:bodyPr>
            <a:normAutofit/>
          </a:bodyPr>
          <a:lstStyle/>
          <a:p>
            <a:pPr>
              <a:spcAft>
                <a:spcPts val="800"/>
              </a:spcAft>
            </a:pPr>
            <a:r>
              <a:rPr lang="en-US" sz="4400" dirty="0">
                <a:solidFill>
                  <a:srgbClr val="000000"/>
                </a:solidFill>
              </a:rPr>
              <a:t>Check developer temperature and set the timer</a:t>
            </a:r>
            <a:endParaRPr lang="en-US" sz="4400" dirty="0"/>
          </a:p>
          <a:p>
            <a:pPr>
              <a:spcAft>
                <a:spcPts val="800"/>
              </a:spcAft>
            </a:pPr>
            <a:r>
              <a:rPr lang="en-US" sz="4400" dirty="0">
                <a:solidFill>
                  <a:srgbClr val="000000"/>
                </a:solidFill>
              </a:rPr>
              <a:t>Confirm safelight only before opening film</a:t>
            </a:r>
            <a:endParaRPr lang="en-US" sz="4400" dirty="0"/>
          </a:p>
          <a:p>
            <a:pPr>
              <a:spcAft>
                <a:spcPts val="800"/>
              </a:spcAft>
            </a:pPr>
            <a:r>
              <a:rPr lang="en-US" sz="4400" dirty="0">
                <a:solidFill>
                  <a:srgbClr val="000000"/>
                </a:solidFill>
              </a:rPr>
              <a:t>Clip film firmly on the correct hanger</a:t>
            </a:r>
            <a:endParaRPr lang="en-US" sz="4400" dirty="0"/>
          </a:p>
          <a:p>
            <a:pPr>
              <a:spcAft>
                <a:spcPts val="800"/>
              </a:spcAft>
            </a:pPr>
            <a:r>
              <a:rPr lang="en-US" sz="4400" dirty="0">
                <a:solidFill>
                  <a:srgbClr val="000000"/>
                </a:solidFill>
              </a:rPr>
              <a:t>Hold hanger by the corners and edges only</a:t>
            </a:r>
            <a:endParaRPr lang="en-US" sz="4400" dirty="0"/>
          </a:p>
          <a:p>
            <a:pPr marL="0" indent="0">
              <a:buNone/>
            </a:pPr>
            <a:endParaRPr lang="en-US" sz="4400" dirty="0"/>
          </a:p>
        </p:txBody>
      </p:sp>
    </p:spTree>
    <p:extLst>
      <p:ext uri="{BB962C8B-B14F-4D97-AF65-F5344CB8AC3E}">
        <p14:creationId xmlns:p14="http://schemas.microsoft.com/office/powerpoint/2010/main" val="10198484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22FA4-618C-AFF1-5C85-FC6F4B1655C9}"/>
              </a:ext>
            </a:extLst>
          </p:cNvPr>
          <p:cNvSpPr>
            <a:spLocks noGrp="1"/>
          </p:cNvSpPr>
          <p:nvPr>
            <p:ph type="title"/>
          </p:nvPr>
        </p:nvSpPr>
        <p:spPr/>
        <p:txBody>
          <a:bodyPr>
            <a:normAutofit/>
          </a:bodyPr>
          <a:lstStyle/>
          <a:p>
            <a:pPr algn="ctr"/>
            <a:r>
              <a:rPr lang="en-US" sz="6000" b="1" dirty="0">
                <a:solidFill>
                  <a:srgbClr val="EE0000"/>
                </a:solidFill>
              </a:rPr>
              <a:t>Processing stages</a:t>
            </a:r>
          </a:p>
        </p:txBody>
      </p:sp>
      <p:sp>
        <p:nvSpPr>
          <p:cNvPr id="3" name="Content Placeholder 2">
            <a:extLst>
              <a:ext uri="{FF2B5EF4-FFF2-40B4-BE49-F238E27FC236}">
                <a16:creationId xmlns:a16="http://schemas.microsoft.com/office/drawing/2014/main" id="{CE06E23E-A115-70CA-709E-BBE74E8B4863}"/>
              </a:ext>
            </a:extLst>
          </p:cNvPr>
          <p:cNvSpPr>
            <a:spLocks noGrp="1"/>
          </p:cNvSpPr>
          <p:nvPr>
            <p:ph idx="1"/>
          </p:nvPr>
        </p:nvSpPr>
        <p:spPr>
          <a:xfrm>
            <a:off x="838200" y="1690688"/>
            <a:ext cx="10515600" cy="4802187"/>
          </a:xfrm>
        </p:spPr>
        <p:txBody>
          <a:bodyPr>
            <a:normAutofit fontScale="92500" lnSpcReduction="10000"/>
          </a:bodyPr>
          <a:lstStyle/>
          <a:p>
            <a:pPr marL="0" indent="0" algn="ctr">
              <a:buNone/>
            </a:pPr>
            <a:r>
              <a:rPr lang="en-US" sz="4000" b="1" dirty="0">
                <a:solidFill>
                  <a:srgbClr val="EE0000"/>
                </a:solidFill>
              </a:rPr>
              <a:t>Stage 1: Developing</a:t>
            </a:r>
          </a:p>
          <a:p>
            <a:pPr>
              <a:spcAft>
                <a:spcPts val="800"/>
              </a:spcAft>
            </a:pPr>
            <a:r>
              <a:rPr lang="en-US" sz="4000" dirty="0">
                <a:solidFill>
                  <a:srgbClr val="000000"/>
                </a:solidFill>
              </a:rPr>
              <a:t>About 5 minutes at 20 °C, or as per the maker's chart</a:t>
            </a:r>
            <a:endParaRPr lang="en-US" sz="4000" dirty="0"/>
          </a:p>
          <a:p>
            <a:pPr>
              <a:spcAft>
                <a:spcPts val="800"/>
              </a:spcAft>
            </a:pPr>
            <a:r>
              <a:rPr lang="en-US" sz="4000" dirty="0">
                <a:solidFill>
                  <a:srgbClr val="000000"/>
                </a:solidFill>
              </a:rPr>
              <a:t>Agitate at the start, then at intervals</a:t>
            </a:r>
            <a:endParaRPr lang="en-US" sz="4000" dirty="0"/>
          </a:p>
          <a:p>
            <a:pPr>
              <a:spcAft>
                <a:spcPts val="800"/>
              </a:spcAft>
            </a:pPr>
            <a:r>
              <a:rPr lang="en-US" sz="4000" dirty="0">
                <a:solidFill>
                  <a:srgbClr val="000000"/>
                </a:solidFill>
              </a:rPr>
              <a:t>Exposed silver halide is reduced to metallic silver</a:t>
            </a:r>
            <a:endParaRPr lang="en-US" sz="4000" dirty="0"/>
          </a:p>
          <a:p>
            <a:pPr>
              <a:spcAft>
                <a:spcPts val="800"/>
              </a:spcAft>
            </a:pPr>
            <a:r>
              <a:rPr lang="en-US" sz="4000" dirty="0">
                <a:solidFill>
                  <a:srgbClr val="000000"/>
                </a:solidFill>
              </a:rPr>
              <a:t>Tap hanger to dislodge air bells</a:t>
            </a:r>
            <a:endParaRPr lang="en-US" sz="4000" dirty="0"/>
          </a:p>
          <a:p>
            <a:pPr>
              <a:spcAft>
                <a:spcPts val="800"/>
              </a:spcAft>
            </a:pPr>
            <a:r>
              <a:rPr lang="en-US" sz="4000" dirty="0">
                <a:solidFill>
                  <a:srgbClr val="000000"/>
                </a:solidFill>
              </a:rPr>
              <a:t>Drain for a few seconds before the rinse</a:t>
            </a:r>
            <a:endParaRPr lang="en-US" sz="4000" dirty="0"/>
          </a:p>
          <a:p>
            <a:pPr marL="0" indent="0">
              <a:spcBef>
                <a:spcPts val="600"/>
              </a:spcBef>
              <a:buNone/>
            </a:pPr>
            <a:r>
              <a:rPr lang="en-US" sz="4000" i="1" dirty="0">
                <a:solidFill>
                  <a:srgbClr val="000000"/>
                </a:solidFill>
              </a:rPr>
              <a:t>Key point: The latent image becomes visible.</a:t>
            </a:r>
            <a:endParaRPr lang="en-US" sz="4000" dirty="0"/>
          </a:p>
          <a:p>
            <a:pPr marL="0" indent="0" algn="ctr">
              <a:buNone/>
            </a:pPr>
            <a:endParaRPr lang="en-US" sz="4000" dirty="0"/>
          </a:p>
        </p:txBody>
      </p:sp>
    </p:spTree>
    <p:extLst>
      <p:ext uri="{BB962C8B-B14F-4D97-AF65-F5344CB8AC3E}">
        <p14:creationId xmlns:p14="http://schemas.microsoft.com/office/powerpoint/2010/main" val="34485806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4B1C6-906F-FDBC-1D33-64D0952206FC}"/>
              </a:ext>
            </a:extLst>
          </p:cNvPr>
          <p:cNvSpPr>
            <a:spLocks noGrp="1"/>
          </p:cNvSpPr>
          <p:nvPr>
            <p:ph type="title"/>
          </p:nvPr>
        </p:nvSpPr>
        <p:spPr/>
        <p:txBody>
          <a:bodyPr>
            <a:normAutofit/>
          </a:bodyPr>
          <a:lstStyle/>
          <a:p>
            <a:pPr algn="ctr"/>
            <a:r>
              <a:rPr lang="en-US" sz="6000" b="1" dirty="0">
                <a:solidFill>
                  <a:srgbClr val="EE0000"/>
                </a:solidFill>
              </a:rPr>
              <a:t>Stage 2: Rinse (stop bath)</a:t>
            </a:r>
            <a:endParaRPr lang="en-US" sz="6000" dirty="0">
              <a:solidFill>
                <a:srgbClr val="EE0000"/>
              </a:solidFill>
            </a:endParaRPr>
          </a:p>
        </p:txBody>
      </p:sp>
      <p:sp>
        <p:nvSpPr>
          <p:cNvPr id="3" name="Content Placeholder 2">
            <a:extLst>
              <a:ext uri="{FF2B5EF4-FFF2-40B4-BE49-F238E27FC236}">
                <a16:creationId xmlns:a16="http://schemas.microsoft.com/office/drawing/2014/main" id="{34EB26B0-E4F2-747C-BC57-7DE22F4927D4}"/>
              </a:ext>
            </a:extLst>
          </p:cNvPr>
          <p:cNvSpPr>
            <a:spLocks noGrp="1"/>
          </p:cNvSpPr>
          <p:nvPr>
            <p:ph idx="1"/>
          </p:nvPr>
        </p:nvSpPr>
        <p:spPr>
          <a:xfrm>
            <a:off x="838200" y="1825624"/>
            <a:ext cx="10515600" cy="4772123"/>
          </a:xfrm>
        </p:spPr>
        <p:txBody>
          <a:bodyPr>
            <a:normAutofit/>
          </a:bodyPr>
          <a:lstStyle/>
          <a:p>
            <a:pPr>
              <a:spcAft>
                <a:spcPts val="800"/>
              </a:spcAft>
            </a:pPr>
            <a:r>
              <a:rPr lang="en-US" sz="3600" dirty="0">
                <a:solidFill>
                  <a:srgbClr val="000000"/>
                </a:solidFill>
              </a:rPr>
              <a:t>30 to 60 seconds in agitated clean water or stop bath</a:t>
            </a:r>
            <a:endParaRPr lang="en-US" sz="3600" dirty="0"/>
          </a:p>
          <a:p>
            <a:pPr>
              <a:spcAft>
                <a:spcPts val="800"/>
              </a:spcAft>
            </a:pPr>
            <a:r>
              <a:rPr lang="en-US" sz="3600" dirty="0">
                <a:solidFill>
                  <a:srgbClr val="000000"/>
                </a:solidFill>
              </a:rPr>
              <a:t>Halts development and removes alkaline developer</a:t>
            </a:r>
            <a:endParaRPr lang="en-US" sz="3600" dirty="0"/>
          </a:p>
          <a:p>
            <a:pPr>
              <a:spcAft>
                <a:spcPts val="800"/>
              </a:spcAft>
            </a:pPr>
            <a:r>
              <a:rPr lang="en-US" sz="3600" dirty="0">
                <a:solidFill>
                  <a:srgbClr val="000000"/>
                </a:solidFill>
              </a:rPr>
              <a:t>Protects the fixer from rapid exhaustion</a:t>
            </a:r>
            <a:endParaRPr lang="en-US" sz="3600" dirty="0"/>
          </a:p>
          <a:p>
            <a:pPr>
              <a:spcAft>
                <a:spcPts val="800"/>
              </a:spcAft>
            </a:pPr>
            <a:r>
              <a:rPr lang="en-US" sz="3600" dirty="0">
                <a:solidFill>
                  <a:srgbClr val="000000"/>
                </a:solidFill>
              </a:rPr>
              <a:t>Drain before moving to the fixer</a:t>
            </a:r>
            <a:endParaRPr lang="en-US" sz="3600" dirty="0"/>
          </a:p>
          <a:p>
            <a:pPr marL="0" indent="0">
              <a:spcBef>
                <a:spcPts val="600"/>
              </a:spcBef>
              <a:buNone/>
            </a:pPr>
            <a:r>
              <a:rPr lang="en-US" sz="3600" i="1" dirty="0">
                <a:solidFill>
                  <a:srgbClr val="000000"/>
                </a:solidFill>
              </a:rPr>
              <a:t>Key point: A good rinse protects the fixer and prevents stain.</a:t>
            </a:r>
            <a:endParaRPr lang="en-US" sz="3600" dirty="0"/>
          </a:p>
          <a:p>
            <a:pPr marL="0" indent="0">
              <a:buNone/>
            </a:pPr>
            <a:endParaRPr lang="en-US" sz="3600" dirty="0"/>
          </a:p>
        </p:txBody>
      </p:sp>
    </p:spTree>
    <p:extLst>
      <p:ext uri="{BB962C8B-B14F-4D97-AF65-F5344CB8AC3E}">
        <p14:creationId xmlns:p14="http://schemas.microsoft.com/office/powerpoint/2010/main" val="9897215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379E-480C-A39B-ED31-1495EB15DAFE}"/>
              </a:ext>
            </a:extLst>
          </p:cNvPr>
          <p:cNvSpPr>
            <a:spLocks noGrp="1"/>
          </p:cNvSpPr>
          <p:nvPr>
            <p:ph type="title"/>
          </p:nvPr>
        </p:nvSpPr>
        <p:spPr/>
        <p:txBody>
          <a:bodyPr>
            <a:normAutofit/>
          </a:bodyPr>
          <a:lstStyle/>
          <a:p>
            <a:pPr algn="ctr"/>
            <a:r>
              <a:rPr lang="en-US" sz="6000" b="1" dirty="0">
                <a:solidFill>
                  <a:srgbClr val="EE0000"/>
                </a:solidFill>
              </a:rPr>
              <a:t>Stage 3: Fixing</a:t>
            </a:r>
            <a:endParaRPr lang="en-US" sz="6000" dirty="0">
              <a:solidFill>
                <a:srgbClr val="EE0000"/>
              </a:solidFill>
            </a:endParaRPr>
          </a:p>
        </p:txBody>
      </p:sp>
      <p:sp>
        <p:nvSpPr>
          <p:cNvPr id="3" name="Content Placeholder 2">
            <a:extLst>
              <a:ext uri="{FF2B5EF4-FFF2-40B4-BE49-F238E27FC236}">
                <a16:creationId xmlns:a16="http://schemas.microsoft.com/office/drawing/2014/main" id="{3A0DC4B3-C292-D346-B26F-ABBDE29F7FC1}"/>
              </a:ext>
            </a:extLst>
          </p:cNvPr>
          <p:cNvSpPr>
            <a:spLocks noGrp="1"/>
          </p:cNvSpPr>
          <p:nvPr>
            <p:ph idx="1"/>
          </p:nvPr>
        </p:nvSpPr>
        <p:spPr>
          <a:xfrm>
            <a:off x="838200" y="1814732"/>
            <a:ext cx="10515600" cy="5043268"/>
          </a:xfrm>
        </p:spPr>
        <p:txBody>
          <a:bodyPr>
            <a:noAutofit/>
          </a:bodyPr>
          <a:lstStyle/>
          <a:p>
            <a:pPr>
              <a:spcAft>
                <a:spcPts val="800"/>
              </a:spcAft>
            </a:pPr>
            <a:r>
              <a:rPr lang="en-US" sz="3600" dirty="0">
                <a:solidFill>
                  <a:srgbClr val="000000"/>
                </a:solidFill>
              </a:rPr>
              <a:t>About 10 minutes, at least twice the clearing time</a:t>
            </a:r>
            <a:endParaRPr lang="en-US" sz="3600" dirty="0"/>
          </a:p>
          <a:p>
            <a:pPr>
              <a:spcAft>
                <a:spcPts val="800"/>
              </a:spcAft>
            </a:pPr>
            <a:r>
              <a:rPr lang="en-US" sz="3600" dirty="0">
                <a:solidFill>
                  <a:srgbClr val="000000"/>
                </a:solidFill>
              </a:rPr>
              <a:t>Thiosulfate dissolves unexposed silver halide</a:t>
            </a:r>
            <a:endParaRPr lang="en-US" sz="3600" dirty="0"/>
          </a:p>
          <a:p>
            <a:pPr>
              <a:spcAft>
                <a:spcPts val="800"/>
              </a:spcAft>
            </a:pPr>
            <a:r>
              <a:rPr lang="en-US" sz="3600" dirty="0">
                <a:solidFill>
                  <a:srgbClr val="000000"/>
                </a:solidFill>
              </a:rPr>
              <a:t>Acid stops development and hardener firms the gelatin</a:t>
            </a:r>
            <a:endParaRPr lang="en-US" sz="3600" dirty="0"/>
          </a:p>
          <a:p>
            <a:pPr>
              <a:spcAft>
                <a:spcPts val="800"/>
              </a:spcAft>
            </a:pPr>
            <a:r>
              <a:rPr lang="en-US" sz="3600" dirty="0">
                <a:solidFill>
                  <a:srgbClr val="000000"/>
                </a:solidFill>
              </a:rPr>
              <a:t>Agitate on entry for even action</a:t>
            </a:r>
            <a:endParaRPr lang="en-US" sz="3600" dirty="0"/>
          </a:p>
          <a:p>
            <a:pPr>
              <a:spcAft>
                <a:spcPts val="800"/>
              </a:spcAft>
            </a:pPr>
            <a:r>
              <a:rPr lang="en-US" sz="3600" dirty="0">
                <a:solidFill>
                  <a:srgbClr val="000000"/>
                </a:solidFill>
              </a:rPr>
              <a:t>Check clearing time regularly</a:t>
            </a:r>
            <a:endParaRPr lang="en-US" sz="3600" dirty="0"/>
          </a:p>
          <a:p>
            <a:pPr marL="0" indent="0">
              <a:spcBef>
                <a:spcPts val="600"/>
              </a:spcBef>
              <a:buNone/>
            </a:pPr>
            <a:r>
              <a:rPr lang="en-US" sz="3600" i="1" dirty="0">
                <a:solidFill>
                  <a:srgbClr val="000000"/>
                </a:solidFill>
              </a:rPr>
              <a:t>Key point: Fixing makes the image permanent and stable.</a:t>
            </a:r>
            <a:endParaRPr lang="en-US" sz="3600" dirty="0"/>
          </a:p>
          <a:p>
            <a:pPr marL="0" indent="0">
              <a:buNone/>
            </a:pPr>
            <a:endParaRPr lang="en-US" sz="3600" dirty="0"/>
          </a:p>
        </p:txBody>
      </p:sp>
    </p:spTree>
    <p:extLst>
      <p:ext uri="{BB962C8B-B14F-4D97-AF65-F5344CB8AC3E}">
        <p14:creationId xmlns:p14="http://schemas.microsoft.com/office/powerpoint/2010/main" val="12470938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07344-A2DF-6F52-9C29-8330D9BB4C0B}"/>
              </a:ext>
            </a:extLst>
          </p:cNvPr>
          <p:cNvSpPr>
            <a:spLocks noGrp="1"/>
          </p:cNvSpPr>
          <p:nvPr>
            <p:ph type="title"/>
          </p:nvPr>
        </p:nvSpPr>
        <p:spPr/>
        <p:txBody>
          <a:bodyPr>
            <a:normAutofit/>
          </a:bodyPr>
          <a:lstStyle/>
          <a:p>
            <a:pPr algn="ctr"/>
            <a:r>
              <a:rPr lang="en-US" sz="5400" b="1" dirty="0">
                <a:solidFill>
                  <a:srgbClr val="EE0000"/>
                </a:solidFill>
              </a:rPr>
              <a:t>Stage 4: Washing</a:t>
            </a:r>
            <a:endParaRPr lang="en-US" sz="5400" dirty="0">
              <a:solidFill>
                <a:srgbClr val="EE0000"/>
              </a:solidFill>
            </a:endParaRPr>
          </a:p>
        </p:txBody>
      </p:sp>
      <p:sp>
        <p:nvSpPr>
          <p:cNvPr id="3" name="Content Placeholder 2">
            <a:extLst>
              <a:ext uri="{FF2B5EF4-FFF2-40B4-BE49-F238E27FC236}">
                <a16:creationId xmlns:a16="http://schemas.microsoft.com/office/drawing/2014/main" id="{94829F20-5812-3BDD-7884-AEC0BF4141AC}"/>
              </a:ext>
            </a:extLst>
          </p:cNvPr>
          <p:cNvSpPr>
            <a:spLocks noGrp="1"/>
          </p:cNvSpPr>
          <p:nvPr>
            <p:ph idx="1"/>
          </p:nvPr>
        </p:nvSpPr>
        <p:spPr>
          <a:xfrm>
            <a:off x="838200" y="1690688"/>
            <a:ext cx="10515600" cy="4991465"/>
          </a:xfrm>
        </p:spPr>
        <p:txBody>
          <a:bodyPr>
            <a:noAutofit/>
          </a:bodyPr>
          <a:lstStyle/>
          <a:p>
            <a:pPr>
              <a:spcAft>
                <a:spcPts val="800"/>
              </a:spcAft>
            </a:pPr>
            <a:r>
              <a:rPr lang="en-US" sz="4000" dirty="0">
                <a:solidFill>
                  <a:srgbClr val="000000"/>
                </a:solidFill>
              </a:rPr>
              <a:t>20 to 30 minutes in running water</a:t>
            </a:r>
            <a:endParaRPr lang="en-US" sz="4000" dirty="0"/>
          </a:p>
          <a:p>
            <a:pPr>
              <a:spcAft>
                <a:spcPts val="800"/>
              </a:spcAft>
            </a:pPr>
            <a:r>
              <a:rPr lang="en-US" sz="4000" dirty="0">
                <a:solidFill>
                  <a:srgbClr val="000000"/>
                </a:solidFill>
              </a:rPr>
              <a:t>Removes residual thiosulfate and silver compounds</a:t>
            </a:r>
            <a:endParaRPr lang="en-US" sz="4000" dirty="0"/>
          </a:p>
          <a:p>
            <a:pPr>
              <a:spcAft>
                <a:spcPts val="800"/>
              </a:spcAft>
            </a:pPr>
            <a:r>
              <a:rPr lang="en-US" sz="4000" dirty="0">
                <a:solidFill>
                  <a:srgbClr val="000000"/>
                </a:solidFill>
              </a:rPr>
              <a:t>Poor washing causes brown stain with time</a:t>
            </a:r>
            <a:endParaRPr lang="en-US" sz="4000" dirty="0"/>
          </a:p>
          <a:p>
            <a:pPr marL="0" indent="0">
              <a:spcBef>
                <a:spcPts val="600"/>
              </a:spcBef>
              <a:buNone/>
            </a:pPr>
            <a:r>
              <a:rPr lang="en-US" sz="4000" i="1" dirty="0">
                <a:solidFill>
                  <a:srgbClr val="000000"/>
                </a:solidFill>
              </a:rPr>
              <a:t>Key point: An incomplete wash shortens the life of the radiograph.</a:t>
            </a:r>
            <a:endParaRPr lang="en-US" sz="4000" dirty="0"/>
          </a:p>
          <a:p>
            <a:pPr marL="0" indent="0">
              <a:buNone/>
            </a:pPr>
            <a:endParaRPr lang="en-US" sz="4000" dirty="0"/>
          </a:p>
        </p:txBody>
      </p:sp>
    </p:spTree>
    <p:extLst>
      <p:ext uri="{BB962C8B-B14F-4D97-AF65-F5344CB8AC3E}">
        <p14:creationId xmlns:p14="http://schemas.microsoft.com/office/powerpoint/2010/main" val="2259009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8844E-24D1-2B00-C313-443B5CDA89AE}"/>
              </a:ext>
            </a:extLst>
          </p:cNvPr>
          <p:cNvSpPr>
            <a:spLocks noGrp="1"/>
          </p:cNvSpPr>
          <p:nvPr>
            <p:ph type="title"/>
          </p:nvPr>
        </p:nvSpPr>
        <p:spPr/>
        <p:txBody>
          <a:bodyPr>
            <a:normAutofit/>
          </a:bodyPr>
          <a:lstStyle/>
          <a:p>
            <a:pPr algn="ctr"/>
            <a:r>
              <a:rPr lang="en-US" sz="5400" b="1" dirty="0">
                <a:solidFill>
                  <a:srgbClr val="EE0000"/>
                </a:solidFill>
              </a:rPr>
              <a:t>Stage 5: Drying</a:t>
            </a:r>
            <a:endParaRPr lang="en-US" sz="5400" dirty="0">
              <a:solidFill>
                <a:srgbClr val="EE0000"/>
              </a:solidFill>
            </a:endParaRPr>
          </a:p>
        </p:txBody>
      </p:sp>
      <p:sp>
        <p:nvSpPr>
          <p:cNvPr id="3" name="Content Placeholder 2">
            <a:extLst>
              <a:ext uri="{FF2B5EF4-FFF2-40B4-BE49-F238E27FC236}">
                <a16:creationId xmlns:a16="http://schemas.microsoft.com/office/drawing/2014/main" id="{D4F2D2BA-81DD-7D32-6F8C-8BA56156C066}"/>
              </a:ext>
            </a:extLst>
          </p:cNvPr>
          <p:cNvSpPr>
            <a:spLocks noGrp="1"/>
          </p:cNvSpPr>
          <p:nvPr>
            <p:ph idx="1"/>
          </p:nvPr>
        </p:nvSpPr>
        <p:spPr>
          <a:xfrm>
            <a:off x="492369" y="1825625"/>
            <a:ext cx="10861431" cy="4351338"/>
          </a:xfrm>
        </p:spPr>
        <p:txBody>
          <a:bodyPr>
            <a:normAutofit/>
          </a:bodyPr>
          <a:lstStyle/>
          <a:p>
            <a:pPr>
              <a:spcAft>
                <a:spcPts val="800"/>
              </a:spcAft>
            </a:pPr>
            <a:r>
              <a:rPr lang="en-US" sz="3600" dirty="0">
                <a:solidFill>
                  <a:srgbClr val="000000"/>
                </a:solidFill>
              </a:rPr>
              <a:t>Warm, filtered air in a cabinet or rack</a:t>
            </a:r>
            <a:endParaRPr lang="en-US" sz="3600" dirty="0"/>
          </a:p>
          <a:p>
            <a:pPr>
              <a:spcAft>
                <a:spcPts val="800"/>
              </a:spcAft>
            </a:pPr>
            <a:r>
              <a:rPr lang="en-US" sz="3600" dirty="0">
                <a:solidFill>
                  <a:srgbClr val="000000"/>
                </a:solidFill>
              </a:rPr>
              <a:t>Dust and drips cause marks, so keep air clean</a:t>
            </a:r>
            <a:endParaRPr lang="en-US" sz="3600" dirty="0"/>
          </a:p>
          <a:p>
            <a:pPr>
              <a:spcAft>
                <a:spcPts val="800"/>
              </a:spcAft>
            </a:pPr>
            <a:r>
              <a:rPr lang="en-US" sz="3600" dirty="0">
                <a:solidFill>
                  <a:srgbClr val="000000"/>
                </a:solidFill>
              </a:rPr>
              <a:t>Wet film is soft and scratches easily</a:t>
            </a:r>
            <a:endParaRPr lang="en-US" sz="3600" dirty="0"/>
          </a:p>
          <a:p>
            <a:pPr>
              <a:spcAft>
                <a:spcPts val="800"/>
              </a:spcAft>
            </a:pPr>
            <a:r>
              <a:rPr lang="en-US" sz="3600" dirty="0">
                <a:solidFill>
                  <a:srgbClr val="000000"/>
                </a:solidFill>
              </a:rPr>
              <a:t>Remove from hangers only when completely dry</a:t>
            </a:r>
            <a:endParaRPr lang="en-US" sz="3600" dirty="0"/>
          </a:p>
          <a:p>
            <a:pPr>
              <a:spcAft>
                <a:spcPts val="800"/>
              </a:spcAft>
            </a:pPr>
            <a:r>
              <a:rPr lang="en-US" sz="3600" dirty="0">
                <a:solidFill>
                  <a:srgbClr val="000000"/>
                </a:solidFill>
              </a:rPr>
              <a:t>Label and file once dry</a:t>
            </a:r>
            <a:endParaRPr lang="en-US" sz="3600" dirty="0"/>
          </a:p>
          <a:p>
            <a:pPr marL="0" indent="0">
              <a:spcBef>
                <a:spcPts val="600"/>
              </a:spcBef>
              <a:buNone/>
            </a:pPr>
            <a:r>
              <a:rPr lang="en-US" sz="3600" i="1" dirty="0">
                <a:solidFill>
                  <a:srgbClr val="000000"/>
                </a:solidFill>
              </a:rPr>
              <a:t>Key point: Handle wet film gently; the gelatin is soft.</a:t>
            </a:r>
            <a:endParaRPr lang="en-US" sz="3600" dirty="0"/>
          </a:p>
          <a:p>
            <a:pPr marL="0" indent="0">
              <a:buNone/>
            </a:pPr>
            <a:endParaRPr lang="en-US" sz="3600" dirty="0"/>
          </a:p>
        </p:txBody>
      </p:sp>
    </p:spTree>
    <p:extLst>
      <p:ext uri="{BB962C8B-B14F-4D97-AF65-F5344CB8AC3E}">
        <p14:creationId xmlns:p14="http://schemas.microsoft.com/office/powerpoint/2010/main" val="17331570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30A9F-5B42-694C-9117-06FAEA199EF0}"/>
              </a:ext>
            </a:extLst>
          </p:cNvPr>
          <p:cNvSpPr>
            <a:spLocks noGrp="1"/>
          </p:cNvSpPr>
          <p:nvPr>
            <p:ph type="title"/>
          </p:nvPr>
        </p:nvSpPr>
        <p:spPr/>
        <p:txBody>
          <a:bodyPr>
            <a:normAutofit/>
          </a:bodyPr>
          <a:lstStyle/>
          <a:p>
            <a:pPr algn="ctr"/>
            <a:r>
              <a:rPr lang="en-US" sz="5400" b="1" dirty="0">
                <a:solidFill>
                  <a:srgbClr val="EE0000"/>
                </a:solidFill>
              </a:rPr>
              <a:t>Processing summary</a:t>
            </a:r>
            <a:endParaRPr lang="en-US" sz="5400" dirty="0">
              <a:solidFill>
                <a:srgbClr val="EE0000"/>
              </a:solidFill>
            </a:endParaRPr>
          </a:p>
        </p:txBody>
      </p:sp>
      <p:sp>
        <p:nvSpPr>
          <p:cNvPr id="3" name="Content Placeholder 2">
            <a:extLst>
              <a:ext uri="{FF2B5EF4-FFF2-40B4-BE49-F238E27FC236}">
                <a16:creationId xmlns:a16="http://schemas.microsoft.com/office/drawing/2014/main" id="{15A58FE0-B131-F567-BF4F-CC5EB3D4E92F}"/>
              </a:ext>
            </a:extLst>
          </p:cNvPr>
          <p:cNvSpPr>
            <a:spLocks noGrp="1"/>
          </p:cNvSpPr>
          <p:nvPr>
            <p:ph idx="1"/>
          </p:nvPr>
        </p:nvSpPr>
        <p:spPr/>
        <p:txBody>
          <a:bodyPr/>
          <a:lstStyle/>
          <a:p>
            <a:pPr marL="0" indent="0">
              <a:spcAft>
                <a:spcPts val="800"/>
              </a:spcAft>
              <a:buNone/>
            </a:pPr>
            <a:r>
              <a:rPr lang="en-US" b="1" dirty="0">
                <a:solidFill>
                  <a:srgbClr val="000000"/>
                </a:solidFill>
              </a:rPr>
              <a:t>Developing: </a:t>
            </a:r>
            <a:r>
              <a:rPr lang="en-US" dirty="0">
                <a:solidFill>
                  <a:srgbClr val="000000"/>
                </a:solidFill>
              </a:rPr>
              <a:t>Approximate time: 5 min at 20 °C. Purpose: Make latent image visible</a:t>
            </a:r>
            <a:endParaRPr lang="en-US" dirty="0"/>
          </a:p>
          <a:p>
            <a:pPr marL="0" indent="0">
              <a:spcAft>
                <a:spcPts val="800"/>
              </a:spcAft>
              <a:buNone/>
            </a:pPr>
            <a:r>
              <a:rPr lang="en-US" b="1" dirty="0">
                <a:solidFill>
                  <a:srgbClr val="000000"/>
                </a:solidFill>
              </a:rPr>
              <a:t>Rinse: </a:t>
            </a:r>
            <a:r>
              <a:rPr lang="en-US" dirty="0">
                <a:solidFill>
                  <a:srgbClr val="000000"/>
                </a:solidFill>
              </a:rPr>
              <a:t>Approximate time: 30 to 60 s. Purpose: Stop development</a:t>
            </a:r>
            <a:endParaRPr lang="en-US" dirty="0"/>
          </a:p>
          <a:p>
            <a:pPr marL="0" indent="0">
              <a:spcAft>
                <a:spcPts val="800"/>
              </a:spcAft>
              <a:buNone/>
            </a:pPr>
            <a:r>
              <a:rPr lang="en-US" b="1" dirty="0">
                <a:solidFill>
                  <a:srgbClr val="000000"/>
                </a:solidFill>
              </a:rPr>
              <a:t>Fixing: </a:t>
            </a:r>
            <a:r>
              <a:rPr lang="en-US" dirty="0">
                <a:solidFill>
                  <a:srgbClr val="000000"/>
                </a:solidFill>
              </a:rPr>
              <a:t>Approximate time: About 10 min. Purpose: Remove unexposed halide</a:t>
            </a:r>
            <a:endParaRPr lang="en-US" dirty="0"/>
          </a:p>
          <a:p>
            <a:pPr marL="0" indent="0">
              <a:spcAft>
                <a:spcPts val="800"/>
              </a:spcAft>
              <a:buNone/>
            </a:pPr>
            <a:r>
              <a:rPr lang="en-US" b="1" dirty="0">
                <a:solidFill>
                  <a:srgbClr val="000000"/>
                </a:solidFill>
              </a:rPr>
              <a:t>Washing: </a:t>
            </a:r>
            <a:r>
              <a:rPr lang="en-US" dirty="0">
                <a:solidFill>
                  <a:srgbClr val="000000"/>
                </a:solidFill>
              </a:rPr>
              <a:t>Approximate time: 20 to 30 min. Purpose: Remove residual chemicals</a:t>
            </a:r>
            <a:endParaRPr lang="en-US" dirty="0"/>
          </a:p>
          <a:p>
            <a:pPr marL="0" indent="0">
              <a:spcAft>
                <a:spcPts val="800"/>
              </a:spcAft>
              <a:buNone/>
            </a:pPr>
            <a:r>
              <a:rPr lang="en-US" b="1" dirty="0">
                <a:solidFill>
                  <a:srgbClr val="000000"/>
                </a:solidFill>
              </a:rPr>
              <a:t>Drying: </a:t>
            </a:r>
            <a:r>
              <a:rPr lang="en-US" dirty="0">
                <a:solidFill>
                  <a:srgbClr val="000000"/>
                </a:solidFill>
              </a:rPr>
              <a:t>Approximate time: Until dry. Purpose: Finish the radiograph</a:t>
            </a:r>
            <a:endParaRPr lang="en-US" dirty="0"/>
          </a:p>
          <a:p>
            <a:pPr marL="0" indent="0">
              <a:buNone/>
            </a:pPr>
            <a:endParaRPr lang="en-US" dirty="0"/>
          </a:p>
        </p:txBody>
      </p:sp>
    </p:spTree>
    <p:extLst>
      <p:ext uri="{BB962C8B-B14F-4D97-AF65-F5344CB8AC3E}">
        <p14:creationId xmlns:p14="http://schemas.microsoft.com/office/powerpoint/2010/main" val="3751429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43715-F93B-FB80-7289-E1856DD15F6E}"/>
              </a:ext>
            </a:extLst>
          </p:cNvPr>
          <p:cNvSpPr>
            <a:spLocks noGrp="1"/>
          </p:cNvSpPr>
          <p:nvPr>
            <p:ph type="title"/>
          </p:nvPr>
        </p:nvSpPr>
        <p:spPr/>
        <p:txBody>
          <a:bodyPr/>
          <a:lstStyle/>
          <a:p>
            <a:pPr algn="ctr"/>
            <a:r>
              <a:rPr lang="en-US" b="1" dirty="0">
                <a:solidFill>
                  <a:srgbClr val="EE0000"/>
                </a:solidFill>
                <a:latin typeface="Cambria" pitchFamily="34" charset="0"/>
                <a:ea typeface="Cambria" pitchFamily="34" charset="-122"/>
                <a:cs typeface="Cambria" pitchFamily="34" charset="-120"/>
              </a:rPr>
              <a:t>Silver Recovery and Conservation</a:t>
            </a:r>
            <a:br>
              <a:rPr lang="en-US" dirty="0"/>
            </a:br>
            <a:endParaRPr lang="en-US" dirty="0"/>
          </a:p>
        </p:txBody>
      </p:sp>
      <p:sp>
        <p:nvSpPr>
          <p:cNvPr id="3" name="Content Placeholder 2">
            <a:extLst>
              <a:ext uri="{FF2B5EF4-FFF2-40B4-BE49-F238E27FC236}">
                <a16:creationId xmlns:a16="http://schemas.microsoft.com/office/drawing/2014/main" id="{C5071209-9650-1C88-4590-8AEF1374892B}"/>
              </a:ext>
            </a:extLst>
          </p:cNvPr>
          <p:cNvSpPr>
            <a:spLocks noGrp="1"/>
          </p:cNvSpPr>
          <p:nvPr>
            <p:ph idx="1"/>
          </p:nvPr>
        </p:nvSpPr>
        <p:spPr>
          <a:xfrm>
            <a:off x="0" y="942535"/>
            <a:ext cx="12191999" cy="6288259"/>
          </a:xfrm>
        </p:spPr>
        <p:txBody>
          <a:bodyPr>
            <a:normAutofit/>
          </a:bodyPr>
          <a:lstStyle/>
          <a:p>
            <a:pPr marL="0" indent="0" algn="ctr">
              <a:buNone/>
            </a:pPr>
            <a:r>
              <a:rPr lang="en-US" sz="3200" dirty="0">
                <a:solidFill>
                  <a:srgbClr val="000000"/>
                </a:solidFill>
              </a:rPr>
              <a:t>Silver recovery and conservation involve reclaiming precious metallic silver from used or discarded </a:t>
            </a:r>
            <a:r>
              <a:rPr lang="en-US" sz="3200" dirty="0" err="1">
                <a:solidFill>
                  <a:srgbClr val="000000"/>
                </a:solidFill>
              </a:rPr>
              <a:t>xray</a:t>
            </a:r>
            <a:r>
              <a:rPr lang="en-US" sz="3200" dirty="0">
                <a:solidFill>
                  <a:srgbClr val="000000"/>
                </a:solidFill>
              </a:rPr>
              <a:t> films.</a:t>
            </a:r>
          </a:p>
          <a:p>
            <a:pPr marL="0" indent="0" algn="ctr">
              <a:buNone/>
            </a:pPr>
            <a:r>
              <a:rPr lang="en-US" sz="3200" b="1" dirty="0">
                <a:solidFill>
                  <a:srgbClr val="EE0000"/>
                </a:solidFill>
              </a:rPr>
              <a:t>Why recover silver?</a:t>
            </a:r>
          </a:p>
          <a:p>
            <a:pPr>
              <a:spcAft>
                <a:spcPts val="800"/>
              </a:spcAft>
            </a:pPr>
            <a:r>
              <a:rPr lang="en-US" sz="3200" dirty="0">
                <a:solidFill>
                  <a:srgbClr val="000000"/>
                </a:solidFill>
              </a:rPr>
              <a:t>Used fixer carries dissolved silver from unexposed halide</a:t>
            </a:r>
            <a:endParaRPr lang="en-US" sz="3200" dirty="0"/>
          </a:p>
          <a:p>
            <a:pPr>
              <a:spcAft>
                <a:spcPts val="800"/>
              </a:spcAft>
            </a:pPr>
            <a:r>
              <a:rPr lang="en-US" sz="3200" dirty="0">
                <a:solidFill>
                  <a:srgbClr val="000000"/>
                </a:solidFill>
              </a:rPr>
              <a:t>Silver has real economic value</a:t>
            </a:r>
            <a:endParaRPr lang="en-US" sz="3200" dirty="0"/>
          </a:p>
          <a:p>
            <a:pPr>
              <a:spcAft>
                <a:spcPts val="800"/>
              </a:spcAft>
            </a:pPr>
            <a:r>
              <a:rPr lang="en-US" sz="3200" dirty="0">
                <a:solidFill>
                  <a:srgbClr val="000000"/>
                </a:solidFill>
              </a:rPr>
              <a:t>Silver is toxic to aquatic life, so it must not go down drains</a:t>
            </a:r>
            <a:endParaRPr lang="en-US" sz="3200" dirty="0"/>
          </a:p>
          <a:p>
            <a:pPr>
              <a:spcAft>
                <a:spcPts val="800"/>
              </a:spcAft>
            </a:pPr>
            <a:r>
              <a:rPr lang="en-US" sz="3200" dirty="0">
                <a:solidFill>
                  <a:srgbClr val="000000"/>
                </a:solidFill>
              </a:rPr>
              <a:t>Regulations often require recovery or safe disposal</a:t>
            </a:r>
            <a:endParaRPr lang="en-US" sz="3200" dirty="0"/>
          </a:p>
          <a:p>
            <a:pPr>
              <a:spcBef>
                <a:spcPts val="600"/>
              </a:spcBef>
            </a:pPr>
            <a:r>
              <a:rPr lang="en-US" sz="3200" i="1" dirty="0">
                <a:solidFill>
                  <a:srgbClr val="000000"/>
                </a:solidFill>
              </a:rPr>
              <a:t>Key point:.</a:t>
            </a:r>
            <a:r>
              <a:rPr lang="en-US" sz="3200" dirty="0">
                <a:solidFill>
                  <a:srgbClr val="000000"/>
                </a:solidFill>
              </a:rPr>
              <a:t> Reduce repeats with correct exposure technique is essential for silver conservation</a:t>
            </a:r>
          </a:p>
          <a:p>
            <a:pPr marL="0" indent="0">
              <a:spcBef>
                <a:spcPts val="600"/>
              </a:spcBef>
              <a:buNone/>
            </a:pPr>
            <a:endParaRPr lang="en-US" sz="3200" dirty="0"/>
          </a:p>
          <a:p>
            <a:pPr marL="0" indent="0" algn="ctr">
              <a:buNone/>
            </a:pPr>
            <a:endParaRPr lang="en-US" sz="3200" dirty="0"/>
          </a:p>
        </p:txBody>
      </p:sp>
    </p:spTree>
    <p:extLst>
      <p:ext uri="{BB962C8B-B14F-4D97-AF65-F5344CB8AC3E}">
        <p14:creationId xmlns:p14="http://schemas.microsoft.com/office/powerpoint/2010/main" val="9079244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91B59-0334-7672-A90D-F7E0DF499CF2}"/>
              </a:ext>
            </a:extLst>
          </p:cNvPr>
          <p:cNvSpPr>
            <a:spLocks noGrp="1"/>
          </p:cNvSpPr>
          <p:nvPr>
            <p:ph type="title"/>
          </p:nvPr>
        </p:nvSpPr>
        <p:spPr/>
        <p:txBody>
          <a:bodyPr>
            <a:normAutofit/>
          </a:bodyPr>
          <a:lstStyle/>
          <a:p>
            <a:pPr algn="ctr"/>
            <a:r>
              <a:rPr lang="en-US" sz="5400" b="1" dirty="0">
                <a:solidFill>
                  <a:srgbClr val="EE0000"/>
                </a:solidFill>
              </a:rPr>
              <a:t>Sources of silver</a:t>
            </a:r>
            <a:endParaRPr lang="en-US" sz="5400" dirty="0">
              <a:solidFill>
                <a:srgbClr val="EE0000"/>
              </a:solidFill>
            </a:endParaRPr>
          </a:p>
        </p:txBody>
      </p:sp>
      <p:sp>
        <p:nvSpPr>
          <p:cNvPr id="3" name="Content Placeholder 2">
            <a:extLst>
              <a:ext uri="{FF2B5EF4-FFF2-40B4-BE49-F238E27FC236}">
                <a16:creationId xmlns:a16="http://schemas.microsoft.com/office/drawing/2014/main" id="{00E45884-6EBB-3860-53F2-5FA3E05C1143}"/>
              </a:ext>
            </a:extLst>
          </p:cNvPr>
          <p:cNvSpPr>
            <a:spLocks noGrp="1"/>
          </p:cNvSpPr>
          <p:nvPr>
            <p:ph idx="1"/>
          </p:nvPr>
        </p:nvSpPr>
        <p:spPr/>
        <p:txBody>
          <a:bodyPr>
            <a:normAutofit/>
          </a:bodyPr>
          <a:lstStyle/>
          <a:p>
            <a:pPr marL="0" indent="0">
              <a:spcAft>
                <a:spcPts val="800"/>
              </a:spcAft>
              <a:buNone/>
            </a:pPr>
            <a:r>
              <a:rPr lang="en-US" sz="4400" b="1" dirty="0">
                <a:solidFill>
                  <a:srgbClr val="000000"/>
                </a:solidFill>
              </a:rPr>
              <a:t>Used fixer: </a:t>
            </a:r>
            <a:r>
              <a:rPr lang="en-US" sz="4400" dirty="0">
                <a:solidFill>
                  <a:srgbClr val="000000"/>
                </a:solidFill>
              </a:rPr>
              <a:t>Main source of dissolved silver</a:t>
            </a:r>
            <a:endParaRPr lang="en-US" sz="4400" dirty="0"/>
          </a:p>
          <a:p>
            <a:pPr marL="0" indent="0">
              <a:spcAft>
                <a:spcPts val="800"/>
              </a:spcAft>
              <a:buNone/>
            </a:pPr>
            <a:r>
              <a:rPr lang="en-US" sz="4400" b="1" dirty="0">
                <a:solidFill>
                  <a:srgbClr val="000000"/>
                </a:solidFill>
              </a:rPr>
              <a:t>Fixer overflow: </a:t>
            </a:r>
            <a:r>
              <a:rPr lang="en-US" sz="4400" dirty="0">
                <a:solidFill>
                  <a:srgbClr val="000000"/>
                </a:solidFill>
              </a:rPr>
              <a:t>Carries silver out of the tank</a:t>
            </a:r>
            <a:endParaRPr lang="en-US" sz="4400" dirty="0"/>
          </a:p>
          <a:p>
            <a:pPr marL="0" indent="0">
              <a:spcAft>
                <a:spcPts val="800"/>
              </a:spcAft>
              <a:buNone/>
            </a:pPr>
            <a:r>
              <a:rPr lang="en-US" sz="4400" b="1" dirty="0">
                <a:solidFill>
                  <a:srgbClr val="000000"/>
                </a:solidFill>
              </a:rPr>
              <a:t>Waste film: </a:t>
            </a:r>
            <a:r>
              <a:rPr lang="en-US" sz="4400" dirty="0">
                <a:solidFill>
                  <a:srgbClr val="000000"/>
                </a:solidFill>
              </a:rPr>
              <a:t>Rejected and old films contain silver</a:t>
            </a:r>
            <a:endParaRPr lang="en-US" sz="4400" dirty="0"/>
          </a:p>
          <a:p>
            <a:pPr marL="0" indent="0">
              <a:spcAft>
                <a:spcPts val="800"/>
              </a:spcAft>
              <a:buNone/>
            </a:pPr>
            <a:r>
              <a:rPr lang="en-US" sz="4400" b="1" dirty="0">
                <a:solidFill>
                  <a:srgbClr val="000000"/>
                </a:solidFill>
              </a:rPr>
              <a:t>Wash water: </a:t>
            </a:r>
            <a:r>
              <a:rPr lang="en-US" sz="4400" dirty="0">
                <a:solidFill>
                  <a:srgbClr val="000000"/>
                </a:solidFill>
              </a:rPr>
              <a:t>Trace silver from carryover</a:t>
            </a:r>
            <a:endParaRPr lang="en-US" sz="4400" dirty="0"/>
          </a:p>
          <a:p>
            <a:pPr marL="0" indent="0">
              <a:buNone/>
            </a:pPr>
            <a:endParaRPr lang="en-US" sz="4400" dirty="0"/>
          </a:p>
        </p:txBody>
      </p:sp>
    </p:spTree>
    <p:extLst>
      <p:ext uri="{BB962C8B-B14F-4D97-AF65-F5344CB8AC3E}">
        <p14:creationId xmlns:p14="http://schemas.microsoft.com/office/powerpoint/2010/main" val="9942746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F7FBB-7603-EE55-59B2-6888251361DB}"/>
              </a:ext>
            </a:extLst>
          </p:cNvPr>
          <p:cNvSpPr>
            <a:spLocks noGrp="1"/>
          </p:cNvSpPr>
          <p:nvPr>
            <p:ph type="title"/>
          </p:nvPr>
        </p:nvSpPr>
        <p:spPr>
          <a:xfrm>
            <a:off x="838200" y="0"/>
            <a:ext cx="10515600" cy="1125416"/>
          </a:xfrm>
        </p:spPr>
        <p:txBody>
          <a:bodyPr>
            <a:normAutofit/>
          </a:bodyPr>
          <a:lstStyle/>
          <a:p>
            <a:pPr algn="ctr"/>
            <a:r>
              <a:rPr lang="en-US" sz="5400" b="1" dirty="0">
                <a:solidFill>
                  <a:srgbClr val="EE0000"/>
                </a:solidFill>
              </a:rPr>
              <a:t>Silver recovery methods</a:t>
            </a:r>
            <a:endParaRPr lang="en-US" sz="5400" dirty="0">
              <a:solidFill>
                <a:srgbClr val="EE0000"/>
              </a:solidFill>
            </a:endParaRPr>
          </a:p>
        </p:txBody>
      </p:sp>
      <p:sp>
        <p:nvSpPr>
          <p:cNvPr id="3" name="Content Placeholder 2">
            <a:extLst>
              <a:ext uri="{FF2B5EF4-FFF2-40B4-BE49-F238E27FC236}">
                <a16:creationId xmlns:a16="http://schemas.microsoft.com/office/drawing/2014/main" id="{9DDD530B-516E-9252-5B34-6787D810C45F}"/>
              </a:ext>
            </a:extLst>
          </p:cNvPr>
          <p:cNvSpPr>
            <a:spLocks noGrp="1"/>
          </p:cNvSpPr>
          <p:nvPr>
            <p:ph idx="1"/>
          </p:nvPr>
        </p:nvSpPr>
        <p:spPr>
          <a:xfrm>
            <a:off x="0" y="1223890"/>
            <a:ext cx="12192000" cy="5634110"/>
          </a:xfrm>
        </p:spPr>
        <p:txBody>
          <a:bodyPr>
            <a:noAutofit/>
          </a:bodyPr>
          <a:lstStyle/>
          <a:p>
            <a:pPr marL="0" indent="0">
              <a:spcAft>
                <a:spcPts val="800"/>
              </a:spcAft>
              <a:buNone/>
            </a:pPr>
            <a:r>
              <a:rPr lang="en-US" b="1" dirty="0">
                <a:solidFill>
                  <a:srgbClr val="000000"/>
                </a:solidFill>
              </a:rPr>
              <a:t>Metallic replacement: </a:t>
            </a:r>
            <a:r>
              <a:rPr lang="en-US" dirty="0">
                <a:solidFill>
                  <a:srgbClr val="000000"/>
                </a:solidFill>
              </a:rPr>
              <a:t>Principle: Used fixer is passed through a container containing iron or steel </a:t>
            </a:r>
            <a:r>
              <a:rPr lang="en-US" dirty="0" err="1">
                <a:solidFill>
                  <a:srgbClr val="000000"/>
                </a:solidFill>
              </a:rPr>
              <a:t>wool.Steel</a:t>
            </a:r>
            <a:r>
              <a:rPr lang="en-US" dirty="0">
                <a:solidFill>
                  <a:srgbClr val="000000"/>
                </a:solidFill>
              </a:rPr>
              <a:t> wool or iron replaces silver from solution due to displacement action causing metallic silver to be deposited. Notes: Cheap, simple</a:t>
            </a:r>
          </a:p>
          <a:p>
            <a:pPr marL="0" indent="0">
              <a:spcAft>
                <a:spcPts val="800"/>
              </a:spcAft>
              <a:buNone/>
            </a:pPr>
            <a:r>
              <a:rPr lang="en-US" b="1" dirty="0">
                <a:solidFill>
                  <a:srgbClr val="000000"/>
                </a:solidFill>
              </a:rPr>
              <a:t>Electrolytic: </a:t>
            </a:r>
            <a:r>
              <a:rPr lang="en-US" dirty="0">
                <a:solidFill>
                  <a:srgbClr val="000000"/>
                </a:solidFill>
              </a:rPr>
              <a:t>Principle: electric current is passed through used fixer solution. The current plates or collect silver onto a cathode. Notes: High recovery; fixer can often be reused</a:t>
            </a:r>
            <a:endParaRPr lang="en-US" dirty="0"/>
          </a:p>
          <a:p>
            <a:pPr marL="0" indent="0">
              <a:spcAft>
                <a:spcPts val="800"/>
              </a:spcAft>
              <a:buNone/>
            </a:pPr>
            <a:r>
              <a:rPr lang="en-US" b="1" dirty="0">
                <a:solidFill>
                  <a:srgbClr val="000000"/>
                </a:solidFill>
              </a:rPr>
              <a:t>Chemical precipitation: </a:t>
            </a:r>
            <a:r>
              <a:rPr lang="en-US" dirty="0">
                <a:solidFill>
                  <a:srgbClr val="000000"/>
                </a:solidFill>
              </a:rPr>
              <a:t>Principle: Reagent or chemical added to the used fixer solution forms insoluble silver compound that can be separated and collected. Notes: Sludge (solid deposit containing recovered silver and other materials) needs careful handling</a:t>
            </a:r>
            <a:endParaRPr lang="en-US" dirty="0"/>
          </a:p>
          <a:p>
            <a:pPr marL="0" indent="0">
              <a:spcAft>
                <a:spcPts val="800"/>
              </a:spcAft>
              <a:buNone/>
            </a:pPr>
            <a:r>
              <a:rPr lang="en-US" b="1" dirty="0">
                <a:solidFill>
                  <a:srgbClr val="000000"/>
                </a:solidFill>
              </a:rPr>
              <a:t>Ion exchange: </a:t>
            </a:r>
            <a:r>
              <a:rPr lang="en-US" dirty="0">
                <a:solidFill>
                  <a:srgbClr val="000000"/>
                </a:solidFill>
              </a:rPr>
              <a:t>Principle: Resin captures silver ions. Notes: Used on larger scales</a:t>
            </a:r>
            <a:endParaRPr lang="en-US" dirty="0"/>
          </a:p>
          <a:p>
            <a:pPr marL="0" indent="0">
              <a:buNone/>
            </a:pPr>
            <a:endParaRPr lang="en-US" dirty="0"/>
          </a:p>
        </p:txBody>
      </p:sp>
    </p:spTree>
    <p:extLst>
      <p:ext uri="{BB962C8B-B14F-4D97-AF65-F5344CB8AC3E}">
        <p14:creationId xmlns:p14="http://schemas.microsoft.com/office/powerpoint/2010/main" val="31872147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AEAFF-F505-25DA-A4D8-D528F5792814}"/>
              </a:ext>
            </a:extLst>
          </p:cNvPr>
          <p:cNvSpPr>
            <a:spLocks noGrp="1"/>
          </p:cNvSpPr>
          <p:nvPr>
            <p:ph type="title"/>
          </p:nvPr>
        </p:nvSpPr>
        <p:spPr/>
        <p:txBody>
          <a:bodyPr>
            <a:normAutofit/>
          </a:bodyPr>
          <a:lstStyle/>
          <a:p>
            <a:pPr algn="ctr"/>
            <a:r>
              <a:rPr lang="en-US" sz="5400" b="1" dirty="0">
                <a:solidFill>
                  <a:srgbClr val="EE0000"/>
                </a:solidFill>
              </a:rPr>
              <a:t>Safe storage and disposal</a:t>
            </a:r>
            <a:endParaRPr lang="en-US" sz="5400" dirty="0">
              <a:solidFill>
                <a:srgbClr val="EE0000"/>
              </a:solidFill>
            </a:endParaRPr>
          </a:p>
        </p:txBody>
      </p:sp>
      <p:sp>
        <p:nvSpPr>
          <p:cNvPr id="3" name="Content Placeholder 2">
            <a:extLst>
              <a:ext uri="{FF2B5EF4-FFF2-40B4-BE49-F238E27FC236}">
                <a16:creationId xmlns:a16="http://schemas.microsoft.com/office/drawing/2014/main" id="{635C4525-BB5F-0557-B061-E701CB06A86C}"/>
              </a:ext>
            </a:extLst>
          </p:cNvPr>
          <p:cNvSpPr>
            <a:spLocks noGrp="1"/>
          </p:cNvSpPr>
          <p:nvPr>
            <p:ph idx="1"/>
          </p:nvPr>
        </p:nvSpPr>
        <p:spPr>
          <a:xfrm>
            <a:off x="838200" y="1825625"/>
            <a:ext cx="10515600" cy="4667250"/>
          </a:xfrm>
        </p:spPr>
        <p:txBody>
          <a:bodyPr>
            <a:noAutofit/>
          </a:bodyPr>
          <a:lstStyle/>
          <a:p>
            <a:pPr>
              <a:spcAft>
                <a:spcPts val="800"/>
              </a:spcAft>
            </a:pPr>
            <a:r>
              <a:rPr lang="en-US" sz="3600" dirty="0">
                <a:solidFill>
                  <a:srgbClr val="000000"/>
                </a:solidFill>
              </a:rPr>
              <a:t>Collect used fixer in labelled, sealed containers</a:t>
            </a:r>
            <a:endParaRPr lang="en-US" sz="3600" dirty="0"/>
          </a:p>
          <a:p>
            <a:pPr>
              <a:spcAft>
                <a:spcPts val="800"/>
              </a:spcAft>
            </a:pPr>
            <a:r>
              <a:rPr lang="en-US" sz="3600" dirty="0">
                <a:solidFill>
                  <a:srgbClr val="000000"/>
                </a:solidFill>
              </a:rPr>
              <a:t>Store away from developer, acids and heat</a:t>
            </a:r>
            <a:endParaRPr lang="en-US" sz="3600" dirty="0"/>
          </a:p>
          <a:p>
            <a:pPr>
              <a:spcAft>
                <a:spcPts val="800"/>
              </a:spcAft>
            </a:pPr>
            <a:r>
              <a:rPr lang="en-US" sz="3600" dirty="0">
                <a:solidFill>
                  <a:srgbClr val="000000"/>
                </a:solidFill>
              </a:rPr>
              <a:t>Use a licensed contractor to collect waste</a:t>
            </a:r>
            <a:endParaRPr lang="en-US" sz="3600" dirty="0"/>
          </a:p>
          <a:p>
            <a:pPr>
              <a:spcAft>
                <a:spcPts val="800"/>
              </a:spcAft>
            </a:pPr>
            <a:r>
              <a:rPr lang="en-US" sz="3600" dirty="0">
                <a:solidFill>
                  <a:srgbClr val="000000"/>
                </a:solidFill>
              </a:rPr>
              <a:t>Never pour used fixer or silver sludge down a drain</a:t>
            </a:r>
            <a:endParaRPr lang="en-US" sz="3600" dirty="0"/>
          </a:p>
          <a:p>
            <a:pPr>
              <a:spcAft>
                <a:spcPts val="800"/>
              </a:spcAft>
            </a:pPr>
            <a:r>
              <a:rPr lang="en-US" sz="3600" dirty="0">
                <a:solidFill>
                  <a:srgbClr val="000000"/>
                </a:solidFill>
              </a:rPr>
              <a:t>Keep disposal records for inspection</a:t>
            </a:r>
            <a:endParaRPr lang="en-US" sz="3600" dirty="0"/>
          </a:p>
          <a:p>
            <a:pPr marL="0" indent="0">
              <a:spcBef>
                <a:spcPts val="600"/>
              </a:spcBef>
              <a:buNone/>
            </a:pPr>
            <a:r>
              <a:rPr lang="en-US" sz="3600" i="1" dirty="0">
                <a:solidFill>
                  <a:srgbClr val="000000"/>
                </a:solidFill>
              </a:rPr>
              <a:t>Key point: Recover, store safely, and dispose through approved routes.</a:t>
            </a:r>
            <a:endParaRPr lang="en-US" sz="3600" dirty="0"/>
          </a:p>
          <a:p>
            <a:pPr marL="0" indent="0">
              <a:buNone/>
            </a:pPr>
            <a:endParaRPr lang="en-US" sz="3600" dirty="0"/>
          </a:p>
        </p:txBody>
      </p:sp>
    </p:spTree>
    <p:extLst>
      <p:ext uri="{BB962C8B-B14F-4D97-AF65-F5344CB8AC3E}">
        <p14:creationId xmlns:p14="http://schemas.microsoft.com/office/powerpoint/2010/main" val="15823895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3ADD1-EB7A-AAC2-604E-D024132D2603}"/>
              </a:ext>
            </a:extLst>
          </p:cNvPr>
          <p:cNvSpPr>
            <a:spLocks noGrp="1"/>
          </p:cNvSpPr>
          <p:nvPr>
            <p:ph type="title"/>
          </p:nvPr>
        </p:nvSpPr>
        <p:spPr/>
        <p:txBody>
          <a:bodyPr>
            <a:normAutofit/>
          </a:bodyPr>
          <a:lstStyle/>
          <a:p>
            <a:pPr algn="ctr"/>
            <a:r>
              <a:rPr lang="en-US" sz="5400" b="1" dirty="0">
                <a:solidFill>
                  <a:srgbClr val="EE0000"/>
                </a:solidFill>
              </a:rPr>
              <a:t>Conclusion</a:t>
            </a:r>
            <a:endParaRPr lang="en-US" sz="5400" dirty="0">
              <a:solidFill>
                <a:srgbClr val="EE0000"/>
              </a:solidFill>
            </a:endParaRPr>
          </a:p>
        </p:txBody>
      </p:sp>
      <p:sp>
        <p:nvSpPr>
          <p:cNvPr id="3" name="Content Placeholder 2">
            <a:extLst>
              <a:ext uri="{FF2B5EF4-FFF2-40B4-BE49-F238E27FC236}">
                <a16:creationId xmlns:a16="http://schemas.microsoft.com/office/drawing/2014/main" id="{2CA0802D-CADC-3D05-B591-69E9256E73FD}"/>
              </a:ext>
            </a:extLst>
          </p:cNvPr>
          <p:cNvSpPr>
            <a:spLocks noGrp="1"/>
          </p:cNvSpPr>
          <p:nvPr>
            <p:ph idx="1"/>
          </p:nvPr>
        </p:nvSpPr>
        <p:spPr/>
        <p:txBody>
          <a:bodyPr>
            <a:normAutofit lnSpcReduction="10000"/>
          </a:bodyPr>
          <a:lstStyle/>
          <a:p>
            <a:pPr>
              <a:spcAft>
                <a:spcPts val="800"/>
              </a:spcAft>
            </a:pPr>
            <a:r>
              <a:rPr lang="en-US" dirty="0">
                <a:solidFill>
                  <a:srgbClr val="000000"/>
                </a:solidFill>
              </a:rPr>
              <a:t>Single-bath processing is simple but limited, and mainly a teaching concept</a:t>
            </a:r>
            <a:endParaRPr lang="en-US" dirty="0"/>
          </a:p>
          <a:p>
            <a:pPr>
              <a:spcAft>
                <a:spcPts val="800"/>
              </a:spcAft>
            </a:pPr>
            <a:r>
              <a:rPr lang="en-US" dirty="0">
                <a:solidFill>
                  <a:srgbClr val="000000"/>
                </a:solidFill>
              </a:rPr>
              <a:t>Conventional processing uses separate baths and gives reliable diagnostic quality</a:t>
            </a:r>
          </a:p>
          <a:p>
            <a:pPr>
              <a:spcAft>
                <a:spcPts val="800"/>
              </a:spcAft>
              <a:buSzPct val="100000"/>
            </a:pPr>
            <a:r>
              <a:rPr lang="en-US" dirty="0">
                <a:solidFill>
                  <a:srgbClr val="000000"/>
                </a:solidFill>
              </a:rPr>
              <a:t>Always read time and temperature together</a:t>
            </a:r>
            <a:endParaRPr lang="en-US" dirty="0"/>
          </a:p>
          <a:p>
            <a:pPr>
              <a:spcAft>
                <a:spcPts val="800"/>
              </a:spcAft>
              <a:buSzPct val="100000"/>
            </a:pPr>
            <a:r>
              <a:rPr lang="en-US" dirty="0">
                <a:solidFill>
                  <a:srgbClr val="000000"/>
                </a:solidFill>
              </a:rPr>
              <a:t>Keep developer and fixer apart at all times</a:t>
            </a:r>
            <a:endParaRPr lang="en-US" dirty="0"/>
          </a:p>
          <a:p>
            <a:pPr>
              <a:spcAft>
                <a:spcPts val="800"/>
              </a:spcAft>
              <a:buSzPct val="100000"/>
            </a:pPr>
            <a:r>
              <a:rPr lang="en-US" dirty="0">
                <a:solidFill>
                  <a:srgbClr val="000000"/>
                </a:solidFill>
              </a:rPr>
              <a:t>Wash fully and dry in clean air</a:t>
            </a:r>
            <a:endParaRPr lang="en-US" dirty="0"/>
          </a:p>
          <a:p>
            <a:pPr>
              <a:spcAft>
                <a:spcPts val="800"/>
              </a:spcAft>
              <a:buSzPct val="100000"/>
            </a:pPr>
            <a:r>
              <a:rPr lang="en-US" dirty="0">
                <a:solidFill>
                  <a:srgbClr val="000000"/>
                </a:solidFill>
              </a:rPr>
              <a:t>Recover silver and dispose of waste through approved routes</a:t>
            </a:r>
            <a:endParaRPr lang="en-US" dirty="0"/>
          </a:p>
          <a:p>
            <a:pPr>
              <a:spcAft>
                <a:spcPts val="800"/>
              </a:spcAft>
            </a:pPr>
            <a:endParaRPr lang="en-US" dirty="0"/>
          </a:p>
          <a:p>
            <a:pPr marL="0" indent="0">
              <a:buNone/>
            </a:pPr>
            <a:endParaRPr lang="en-US" dirty="0"/>
          </a:p>
        </p:txBody>
      </p:sp>
    </p:spTree>
    <p:extLst>
      <p:ext uri="{BB962C8B-B14F-4D97-AF65-F5344CB8AC3E}">
        <p14:creationId xmlns:p14="http://schemas.microsoft.com/office/powerpoint/2010/main" val="37662043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64297-BFDA-7261-C69D-D1E634646EBD}"/>
              </a:ext>
            </a:extLst>
          </p:cNvPr>
          <p:cNvSpPr>
            <a:spLocks noGrp="1"/>
          </p:cNvSpPr>
          <p:nvPr>
            <p:ph type="title"/>
          </p:nvPr>
        </p:nvSpPr>
        <p:spPr>
          <a:xfrm rot="20220895">
            <a:off x="92612" y="102931"/>
            <a:ext cx="10515600" cy="1325563"/>
          </a:xfrm>
        </p:spPr>
        <p:txBody>
          <a:bodyPr>
            <a:normAutofit/>
          </a:bodyPr>
          <a:lstStyle/>
          <a:p>
            <a:pPr algn="ctr"/>
            <a:r>
              <a:rPr lang="en-US" sz="6000" b="1" dirty="0"/>
              <a:t>Advice</a:t>
            </a:r>
          </a:p>
        </p:txBody>
      </p:sp>
      <p:sp>
        <p:nvSpPr>
          <p:cNvPr id="3" name="Content Placeholder 2">
            <a:extLst>
              <a:ext uri="{FF2B5EF4-FFF2-40B4-BE49-F238E27FC236}">
                <a16:creationId xmlns:a16="http://schemas.microsoft.com/office/drawing/2014/main" id="{56BAE297-4FCE-7809-5485-61A8B6E53EAE}"/>
              </a:ext>
            </a:extLst>
          </p:cNvPr>
          <p:cNvSpPr>
            <a:spLocks noGrp="1"/>
          </p:cNvSpPr>
          <p:nvPr>
            <p:ph idx="1"/>
          </p:nvPr>
        </p:nvSpPr>
        <p:spPr>
          <a:xfrm rot="20274652">
            <a:off x="838200" y="1825625"/>
            <a:ext cx="10515600" cy="4351338"/>
          </a:xfrm>
        </p:spPr>
        <p:txBody>
          <a:bodyPr>
            <a:normAutofit/>
          </a:bodyPr>
          <a:lstStyle/>
          <a:p>
            <a:pPr marL="0" indent="0" algn="ctr">
              <a:buNone/>
            </a:pPr>
            <a:r>
              <a:rPr lang="en-US" sz="4800" dirty="0">
                <a:solidFill>
                  <a:srgbClr val="000000"/>
                </a:solidFill>
              </a:rPr>
              <a:t>Make quality processing a habit for accurate diagnosis</a:t>
            </a:r>
            <a:endParaRPr lang="en-US" sz="4800" dirty="0"/>
          </a:p>
        </p:txBody>
      </p:sp>
    </p:spTree>
    <p:extLst>
      <p:ext uri="{BB962C8B-B14F-4D97-AF65-F5344CB8AC3E}">
        <p14:creationId xmlns:p14="http://schemas.microsoft.com/office/powerpoint/2010/main" val="3688845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2881E-C6A9-D36F-8F65-70AAF8021A99}"/>
              </a:ext>
            </a:extLst>
          </p:cNvPr>
          <p:cNvSpPr>
            <a:spLocks noGrp="1"/>
          </p:cNvSpPr>
          <p:nvPr>
            <p:ph type="title"/>
          </p:nvPr>
        </p:nvSpPr>
        <p:spPr/>
        <p:txBody>
          <a:bodyPr>
            <a:normAutofit/>
          </a:bodyPr>
          <a:lstStyle/>
          <a:p>
            <a:pPr algn="ctr"/>
            <a:r>
              <a:rPr lang="en-US" sz="5400" b="1" dirty="0">
                <a:solidFill>
                  <a:srgbClr val="000000"/>
                </a:solidFill>
              </a:rPr>
              <a:t>References </a:t>
            </a:r>
            <a:endParaRPr lang="en-US" sz="5400" dirty="0"/>
          </a:p>
        </p:txBody>
      </p:sp>
      <p:sp>
        <p:nvSpPr>
          <p:cNvPr id="3" name="Content Placeholder 2">
            <a:extLst>
              <a:ext uri="{FF2B5EF4-FFF2-40B4-BE49-F238E27FC236}">
                <a16:creationId xmlns:a16="http://schemas.microsoft.com/office/drawing/2014/main" id="{E63035A0-D83B-C2CC-37C2-8E4C9D926B6A}"/>
              </a:ext>
            </a:extLst>
          </p:cNvPr>
          <p:cNvSpPr>
            <a:spLocks noGrp="1"/>
          </p:cNvSpPr>
          <p:nvPr>
            <p:ph idx="1"/>
          </p:nvPr>
        </p:nvSpPr>
        <p:spPr/>
        <p:txBody>
          <a:bodyPr>
            <a:normAutofit fontScale="77500" lnSpcReduction="20000"/>
          </a:bodyPr>
          <a:lstStyle/>
          <a:p>
            <a:pPr marL="0" indent="0">
              <a:spcAft>
                <a:spcPts val="600"/>
              </a:spcAft>
              <a:buNone/>
            </a:pPr>
            <a:r>
              <a:rPr lang="en-US" dirty="0">
                <a:solidFill>
                  <a:srgbClr val="000000"/>
                </a:solidFill>
              </a:rPr>
              <a:t>1. Bushong SC. Radiologic science for technologists: physics, biology, and protection. 11th ed. St. Louis: Elsevier; 2017.</a:t>
            </a:r>
            <a:endParaRPr lang="en-US" dirty="0"/>
          </a:p>
          <a:p>
            <a:pPr marL="0" indent="0">
              <a:spcAft>
                <a:spcPts val="600"/>
              </a:spcAft>
              <a:buNone/>
            </a:pPr>
            <a:r>
              <a:rPr lang="en-US" dirty="0">
                <a:solidFill>
                  <a:srgbClr val="000000"/>
                </a:solidFill>
              </a:rPr>
              <a:t>2. Carlton RR, Adler AM, </a:t>
            </a:r>
            <a:r>
              <a:rPr lang="en-US" dirty="0" err="1">
                <a:solidFill>
                  <a:srgbClr val="000000"/>
                </a:solidFill>
              </a:rPr>
              <a:t>Balac</a:t>
            </a:r>
            <a:r>
              <a:rPr lang="en-US" dirty="0">
                <a:solidFill>
                  <a:srgbClr val="000000"/>
                </a:solidFill>
              </a:rPr>
              <a:t> V. Principles of radiographic imaging: an art and a science. 6th ed. Boston: Cengage Learning; 2019.</a:t>
            </a:r>
            <a:endParaRPr lang="en-US" dirty="0"/>
          </a:p>
          <a:p>
            <a:pPr marL="0" indent="0">
              <a:spcAft>
                <a:spcPts val="600"/>
              </a:spcAft>
              <a:buNone/>
            </a:pPr>
            <a:r>
              <a:rPr lang="en-US" dirty="0">
                <a:solidFill>
                  <a:srgbClr val="000000"/>
                </a:solidFill>
              </a:rPr>
              <a:t>3. </a:t>
            </a:r>
            <a:r>
              <a:rPr lang="en-US" dirty="0" err="1">
                <a:solidFill>
                  <a:srgbClr val="000000"/>
                </a:solidFill>
              </a:rPr>
              <a:t>Bushberg</a:t>
            </a:r>
            <a:r>
              <a:rPr lang="en-US" dirty="0">
                <a:solidFill>
                  <a:srgbClr val="000000"/>
                </a:solidFill>
              </a:rPr>
              <a:t> JT, Seibert JA, Leidholdt EM Jr, Boone JM. The essential physics of medical imaging. 3rd ed. Philadelphia: Lippincott Williams &amp; Wilkins; 2012.</a:t>
            </a:r>
            <a:endParaRPr lang="en-US" dirty="0"/>
          </a:p>
          <a:p>
            <a:pPr marL="0" indent="0">
              <a:spcAft>
                <a:spcPts val="600"/>
              </a:spcAft>
              <a:buNone/>
            </a:pPr>
            <a:r>
              <a:rPr lang="en-US" dirty="0">
                <a:solidFill>
                  <a:srgbClr val="000000"/>
                </a:solidFill>
              </a:rPr>
              <a:t>4. Carroll QB. Radiography in the digital age. 3rd ed. Springfield (IL): Charles C Thomas; 2018.</a:t>
            </a:r>
            <a:endParaRPr lang="en-US" dirty="0"/>
          </a:p>
          <a:p>
            <a:pPr marL="0" indent="0">
              <a:spcAft>
                <a:spcPts val="600"/>
              </a:spcAft>
              <a:buNone/>
            </a:pPr>
            <a:r>
              <a:rPr lang="en-US" dirty="0">
                <a:solidFill>
                  <a:srgbClr val="000000"/>
                </a:solidFill>
              </a:rPr>
              <a:t>5. Fauber TL. Radiographic imaging and exposure. 6th ed. St. Louis: Elsevier; 2021.</a:t>
            </a:r>
            <a:endParaRPr lang="en-US" dirty="0"/>
          </a:p>
          <a:p>
            <a:pPr marL="0" indent="0">
              <a:spcAft>
                <a:spcPts val="600"/>
              </a:spcAft>
              <a:buNone/>
            </a:pPr>
            <a:r>
              <a:rPr lang="en-US" dirty="0">
                <a:solidFill>
                  <a:srgbClr val="000000"/>
                </a:solidFill>
              </a:rPr>
              <a:t>6. Papp J. Quality management in the imaging sciences. 6th ed. St. Louis: Elsevier; 2018.</a:t>
            </a:r>
            <a:endParaRPr lang="en-US" dirty="0"/>
          </a:p>
          <a:p>
            <a:pPr marL="0" indent="0">
              <a:spcAft>
                <a:spcPts val="600"/>
              </a:spcAft>
              <a:buNone/>
            </a:pPr>
            <a:r>
              <a:rPr lang="en-US" dirty="0">
                <a:solidFill>
                  <a:srgbClr val="000000"/>
                </a:solidFill>
              </a:rPr>
              <a:t>7. Ball J, Price T. Chesney's radiographic imaging. 6th ed. Oxford: Blackwell Science; 1995.</a:t>
            </a:r>
            <a:endParaRPr lang="en-US" dirty="0"/>
          </a:p>
          <a:p>
            <a:pPr marL="0" indent="0">
              <a:buNone/>
            </a:pPr>
            <a:endParaRPr lang="en-US" dirty="0"/>
          </a:p>
        </p:txBody>
      </p:sp>
    </p:spTree>
    <p:extLst>
      <p:ext uri="{BB962C8B-B14F-4D97-AF65-F5344CB8AC3E}">
        <p14:creationId xmlns:p14="http://schemas.microsoft.com/office/powerpoint/2010/main" val="6418682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F254E95-1039-543A-D21D-0A31D01285F1}"/>
              </a:ext>
            </a:extLst>
          </p:cNvPr>
          <p:cNvSpPr txBox="1"/>
          <p:nvPr/>
        </p:nvSpPr>
        <p:spPr>
          <a:xfrm rot="19792689">
            <a:off x="1832698" y="2532577"/>
            <a:ext cx="6245492" cy="1015663"/>
          </a:xfrm>
          <a:prstGeom prst="rect">
            <a:avLst/>
          </a:prstGeom>
          <a:noFill/>
        </p:spPr>
        <p:txBody>
          <a:bodyPr wrap="none" rtlCol="0">
            <a:spAutoFit/>
          </a:bodyPr>
          <a:lstStyle/>
          <a:p>
            <a:r>
              <a:rPr lang="en-US" sz="6000" i="1" dirty="0"/>
              <a:t>Thanks for listening</a:t>
            </a:r>
          </a:p>
        </p:txBody>
      </p:sp>
    </p:spTree>
    <p:extLst>
      <p:ext uri="{BB962C8B-B14F-4D97-AF65-F5344CB8AC3E}">
        <p14:creationId xmlns:p14="http://schemas.microsoft.com/office/powerpoint/2010/main" val="1633036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Film Burn</Template>
  <TotalTime>802</TotalTime>
  <Words>3358</Words>
  <Application>Microsoft Office PowerPoint</Application>
  <PresentationFormat>Widescreen</PresentationFormat>
  <Paragraphs>395</Paragraphs>
  <Slides>60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Arial</vt:lpstr>
      <vt:lpstr>Calibri</vt:lpstr>
      <vt:lpstr>Calibri Light</vt:lpstr>
      <vt:lpstr>Cambria</vt:lpstr>
      <vt:lpstr>Times New Roman</vt:lpstr>
      <vt:lpstr>Office Theme</vt:lpstr>
      <vt:lpstr>PowerPoint Presentation</vt:lpstr>
      <vt:lpstr>Course outline</vt:lpstr>
      <vt:lpstr>Learning objectives</vt:lpstr>
      <vt:lpstr>Why processing matters</vt:lpstr>
      <vt:lpstr>What is a single-bath system?</vt:lpstr>
      <vt:lpstr>Chemistry inside a monobath</vt:lpstr>
      <vt:lpstr>How a monobath works</vt:lpstr>
      <vt:lpstr>Advantages and limitations</vt:lpstr>
      <vt:lpstr>Where single-bath is used</vt:lpstr>
      <vt:lpstr>Problems with single-bath processing</vt:lpstr>
      <vt:lpstr>What is conventional processing?</vt:lpstr>
      <vt:lpstr>Manual processing stages and tanks</vt:lpstr>
      <vt:lpstr>MANUAL PROCESSING TANKS</vt:lpstr>
      <vt:lpstr>Why use separate baths?</vt:lpstr>
      <vt:lpstr>What each bath does</vt:lpstr>
      <vt:lpstr>Manual processing technique</vt:lpstr>
      <vt:lpstr>Time and temperature control</vt:lpstr>
      <vt:lpstr>Tank arrangement</vt:lpstr>
      <vt:lpstr>Advantages and limitations</vt:lpstr>
      <vt:lpstr>Single-bath vs conventional</vt:lpstr>
      <vt:lpstr>What is an integrated system?</vt:lpstr>
      <vt:lpstr>Components of the unit</vt:lpstr>
      <vt:lpstr>Layout of the tanks</vt:lpstr>
      <vt:lpstr>Advantages and limitations</vt:lpstr>
      <vt:lpstr>Manual vs automatic processing</vt:lpstr>
      <vt:lpstr>Darkroom Construction, Layout and Materials </vt:lpstr>
      <vt:lpstr>Entrances</vt:lpstr>
      <vt:lpstr>Darkroom equipments</vt:lpstr>
      <vt:lpstr>Film storage devices</vt:lpstr>
      <vt:lpstr>PowerPoint Presentation</vt:lpstr>
      <vt:lpstr>Materials: use and avoid</vt:lpstr>
      <vt:lpstr>Safelight and illumination</vt:lpstr>
      <vt:lpstr>Care and Maintenance of Equipment </vt:lpstr>
      <vt:lpstr>Maintenance schedule</vt:lpstr>
      <vt:lpstr>Cleaning a processing tank</vt:lpstr>
      <vt:lpstr>COR: Control of Chemistry and Replenishment </vt:lpstr>
      <vt:lpstr>Developer chemistry</vt:lpstr>
      <vt:lpstr>Fixer chemistry</vt:lpstr>
      <vt:lpstr>Signs of exhausted solutions</vt:lpstr>
      <vt:lpstr>Processing Artifacts </vt:lpstr>
      <vt:lpstr>Handling artifacts</vt:lpstr>
      <vt:lpstr>Light and fog artifacts</vt:lpstr>
      <vt:lpstr>Solution and agitation artifacts</vt:lpstr>
      <vt:lpstr>How to Prevent artifacts</vt:lpstr>
      <vt:lpstr>Sequence of Processing </vt:lpstr>
      <vt:lpstr>Before processing: preparation</vt:lpstr>
      <vt:lpstr>Processing stages</vt:lpstr>
      <vt:lpstr>Stage 2: Rinse (stop bath)</vt:lpstr>
      <vt:lpstr>Stage 3: Fixing</vt:lpstr>
      <vt:lpstr>Stage 4: Washing</vt:lpstr>
      <vt:lpstr>Stage 5: Drying</vt:lpstr>
      <vt:lpstr>Processing summary</vt:lpstr>
      <vt:lpstr>Silver Recovery and Conservation </vt:lpstr>
      <vt:lpstr>Sources of silver</vt:lpstr>
      <vt:lpstr>Silver recovery methods</vt:lpstr>
      <vt:lpstr>Safe storage and disposal</vt:lpstr>
      <vt:lpstr>Conclusion</vt:lpstr>
      <vt:lpstr>Advice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Egop Brownson Egop</dc:creator>
  <cp:lastModifiedBy>Egop Brownson Egop</cp:lastModifiedBy>
  <cp:revision>44</cp:revision>
  <dcterms:created xsi:type="dcterms:W3CDTF">2026-10-18T08:40:26Z</dcterms:created>
  <dcterms:modified xsi:type="dcterms:W3CDTF">2026-10-21T03:39:17Z</dcterms:modified>
</cp:coreProperties>
</file>