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67" d="100"/>
          <a:sy n="67" d="100"/>
        </p:scale>
        <p:origin x="-1476"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410743749"/>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018995540"/>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51473018"/>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71033720"/>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AB48476-3B37-4561-88DA-CBBE3B6F2195}"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246807894"/>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AB48476-3B37-4561-88DA-CBBE3B6F2195}"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72985801"/>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B48476-3B37-4561-88DA-CBBE3B6F2195}"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843333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1868987407"/>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AB48476-3B37-4561-88DA-CBBE3B6F2195}"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539827323"/>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2879525267"/>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AB48476-3B37-4561-88DA-CBBE3B6F2195}"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1C770E-7A1D-4500-A6D9-3C0735C73B23}" type="slidenum">
              <a:rPr lang="en-US" smtClean="0"/>
              <a:t>‹#›</a:t>
            </a:fld>
            <a:endParaRPr lang="en-US"/>
          </a:p>
        </p:txBody>
      </p:sp>
    </p:spTree>
    <p:extLst>
      <p:ext uri="{BB962C8B-B14F-4D97-AF65-F5344CB8AC3E}">
        <p14:creationId xmlns:p14="http://schemas.microsoft.com/office/powerpoint/2010/main" val="307768658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B48476-3B37-4561-88DA-CBBE3B6F2195}"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1C770E-7A1D-4500-A6D9-3C0735C73B23}" type="slidenum">
              <a:rPr lang="en-US" smtClean="0"/>
              <a:t>‹#›</a:t>
            </a:fld>
            <a:endParaRPr lang="en-US"/>
          </a:p>
        </p:txBody>
      </p:sp>
    </p:spTree>
    <p:extLst>
      <p:ext uri="{BB962C8B-B14F-4D97-AF65-F5344CB8AC3E}">
        <p14:creationId xmlns:p14="http://schemas.microsoft.com/office/powerpoint/2010/main" val="1470108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09800"/>
            <a:ext cx="7772400" cy="1752600"/>
          </a:xfrm>
        </p:spPr>
        <p:txBody>
          <a:bodyPr>
            <a:noAutofit/>
          </a:bodyPr>
          <a:lstStyle/>
          <a:p>
            <a:r>
              <a:rPr lang="en-US" sz="3600" b="1" dirty="0">
                <a:latin typeface="Times New Roman" pitchFamily="18" charset="0"/>
                <a:cs typeface="Times New Roman" pitchFamily="18" charset="0"/>
              </a:rPr>
              <a:t>INTRODUCTION TO AUTOMATIC FILM PROCESSING: EQUIPMENT AND </a:t>
            </a:r>
            <a:r>
              <a:rPr lang="en-US" sz="3600" b="1" dirty="0" smtClean="0">
                <a:latin typeface="Times New Roman" pitchFamily="18" charset="0"/>
                <a:cs typeface="Times New Roman" pitchFamily="18" charset="0"/>
              </a:rPr>
              <a:t>TECHNIQUES</a:t>
            </a:r>
            <a:r>
              <a:rPr lang="en-US" sz="3600" b="1" dirty="0">
                <a:latin typeface="Times New Roman" pitchFamily="18" charset="0"/>
                <a:cs typeface="Times New Roman" pitchFamily="18" charset="0"/>
              </a:rPr>
              <a:t/>
            </a:r>
            <a:br>
              <a:rPr lang="en-US" sz="3600" b="1" dirty="0">
                <a:latin typeface="Times New Roman" pitchFamily="18" charset="0"/>
                <a:cs typeface="Times New Roman" pitchFamily="18" charset="0"/>
              </a:rPr>
            </a:b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5029200"/>
            <a:ext cx="6400800" cy="685800"/>
          </a:xfrm>
        </p:spPr>
        <p:txBody>
          <a:bodyPr/>
          <a:lstStyle/>
          <a:p>
            <a:r>
              <a:rPr lang="en-US" b="1" i="1" dirty="0" smtClean="0"/>
              <a:t>RAD. PATRICK </a:t>
            </a:r>
            <a:r>
              <a:rPr lang="en-US" b="1" i="1" dirty="0" smtClean="0"/>
              <a:t>COLLINS</a:t>
            </a:r>
            <a:endParaRPr lang="en-US" b="1" i="1" dirty="0"/>
          </a:p>
        </p:txBody>
      </p:sp>
      <p:sp>
        <p:nvSpPr>
          <p:cNvPr id="4" name="Subtitle 2"/>
          <p:cNvSpPr txBox="1">
            <a:spLocks/>
          </p:cNvSpPr>
          <p:nvPr/>
        </p:nvSpPr>
        <p:spPr>
          <a:xfrm>
            <a:off x="1371600" y="3733800"/>
            <a:ext cx="6400800" cy="6858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b="1" i="1" dirty="0" smtClean="0"/>
              <a:t>MXT205</a:t>
            </a:r>
            <a:endParaRPr lang="en-US" b="1" i="1" dirty="0"/>
          </a:p>
        </p:txBody>
      </p:sp>
    </p:spTree>
    <p:extLst>
      <p:ext uri="{BB962C8B-B14F-4D97-AF65-F5344CB8AC3E}">
        <p14:creationId xmlns:p14="http://schemas.microsoft.com/office/powerpoint/2010/main" val="1284346856"/>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pPr marL="0" indent="0" algn="just">
              <a:buNone/>
            </a:pPr>
            <a:r>
              <a:rPr lang="en-US" sz="2800" dirty="0">
                <a:latin typeface="Times New Roman" pitchFamily="18" charset="0"/>
                <a:cs typeface="Times New Roman" pitchFamily="18" charset="0"/>
              </a:rPr>
              <a:t>Automatic film processing uses specialized machinery to quickly and uniformly convert a latent image on exposed film into a dry , visible radiograph or photograph.</a:t>
            </a:r>
          </a:p>
          <a:p>
            <a:pPr marL="0" indent="0" algn="just">
              <a:buNone/>
            </a:pPr>
            <a:endParaRPr lang="en-US" sz="2800" dirty="0" smtClean="0">
              <a:latin typeface="Times New Roman" pitchFamily="18" charset="0"/>
              <a:cs typeface="Times New Roman" pitchFamily="18" charset="0"/>
            </a:endParaRPr>
          </a:p>
          <a:p>
            <a:pPr marL="0" indent="0" algn="just">
              <a:buNone/>
            </a:pPr>
            <a:r>
              <a:rPr lang="en-US" sz="2800" b="1" dirty="0">
                <a:latin typeface="Times New Roman" pitchFamily="18" charset="0"/>
                <a:cs typeface="Times New Roman" pitchFamily="18" charset="0"/>
              </a:rPr>
              <a:t>KEY EQUIPMENT</a:t>
            </a:r>
          </a:p>
          <a:p>
            <a:pPr lvl="0" algn="just">
              <a:buFont typeface="Courier New" pitchFamily="49" charset="0"/>
              <a:buChar char="o"/>
            </a:pPr>
            <a:r>
              <a:rPr lang="en-US" sz="2800" dirty="0">
                <a:latin typeface="Times New Roman" pitchFamily="18" charset="0"/>
                <a:cs typeface="Times New Roman" pitchFamily="18" charset="0"/>
              </a:rPr>
              <a:t>Film feed section: The entry slot where the film is inserted, which activates the transport motor and replenishment system via a microswitch.</a:t>
            </a:r>
          </a:p>
          <a:p>
            <a:pPr lvl="0" algn="just">
              <a:buFont typeface="Courier New" pitchFamily="49" charset="0"/>
              <a:buChar char="o"/>
            </a:pPr>
            <a:r>
              <a:rPr lang="en-US" sz="2800" dirty="0">
                <a:latin typeface="Times New Roman" pitchFamily="18" charset="0"/>
                <a:cs typeface="Times New Roman" pitchFamily="18" charset="0"/>
              </a:rPr>
              <a:t>Roller transport system : A series of racks, crossover turn-</a:t>
            </a:r>
            <a:r>
              <a:rPr lang="en-US" sz="2800" dirty="0" err="1">
                <a:latin typeface="Times New Roman" pitchFamily="18" charset="0"/>
                <a:cs typeface="Times New Roman" pitchFamily="18" charset="0"/>
              </a:rPr>
              <a:t>arounds</a:t>
            </a:r>
            <a:r>
              <a:rPr lang="en-US" sz="2800" dirty="0">
                <a:latin typeface="Times New Roman" pitchFamily="18" charset="0"/>
                <a:cs typeface="Times New Roman" pitchFamily="18" charset="0"/>
              </a:rPr>
              <a:t>, and guide shoes that physically pull and push the film through each chemical tank at a constant speed.</a:t>
            </a: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330800281"/>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92500" lnSpcReduction="20000"/>
          </a:bodyPr>
          <a:lstStyle/>
          <a:p>
            <a:pPr lvl="0" algn="just">
              <a:buFont typeface="Courier New" pitchFamily="49" charset="0"/>
              <a:buChar char="o"/>
            </a:pPr>
            <a:r>
              <a:rPr lang="en-US" sz="3000" dirty="0">
                <a:latin typeface="Times New Roman" pitchFamily="18" charset="0"/>
                <a:cs typeface="Times New Roman" pitchFamily="18" charset="0"/>
              </a:rPr>
              <a:t>Processing tanks:  Compartments holding temperature – controlled solutions for developing , fixing , and washing:</a:t>
            </a:r>
          </a:p>
          <a:p>
            <a:pPr lvl="0" algn="just">
              <a:buFont typeface="Courier New" pitchFamily="49" charset="0"/>
              <a:buChar char="o"/>
            </a:pPr>
            <a:r>
              <a:rPr lang="en-US" sz="3000" dirty="0">
                <a:latin typeface="Times New Roman" pitchFamily="18" charset="0"/>
                <a:cs typeface="Times New Roman" pitchFamily="18" charset="0"/>
              </a:rPr>
              <a:t>Developer Tank:  converts exposed silver halide crystals into black metallic silver ( typically maintained around 33 C / 96 F ).</a:t>
            </a:r>
          </a:p>
          <a:p>
            <a:pPr lvl="0" algn="just">
              <a:buFont typeface="Courier New" pitchFamily="49" charset="0"/>
              <a:buChar char="o"/>
            </a:pPr>
            <a:r>
              <a:rPr lang="en-US" sz="3000" dirty="0">
                <a:latin typeface="Times New Roman" pitchFamily="18" charset="0"/>
                <a:cs typeface="Times New Roman" pitchFamily="18" charset="0"/>
              </a:rPr>
              <a:t>Fixer Tank : Dissolves unexposed / underdeveloped silver halide and hardens the gelatin emulsion.</a:t>
            </a:r>
          </a:p>
          <a:p>
            <a:pPr lvl="0" algn="just">
              <a:buFont typeface="Courier New" pitchFamily="49" charset="0"/>
              <a:buChar char="o"/>
            </a:pPr>
            <a:r>
              <a:rPr lang="en-US" sz="3000" dirty="0">
                <a:latin typeface="Times New Roman" pitchFamily="18" charset="0"/>
                <a:cs typeface="Times New Roman" pitchFamily="18" charset="0"/>
              </a:rPr>
              <a:t>Wash Tank: Uses circulating water to flush away residual processing chemicals.</a:t>
            </a:r>
          </a:p>
          <a:p>
            <a:pPr lvl="0" algn="just">
              <a:buFont typeface="Courier New" pitchFamily="49" charset="0"/>
              <a:buChar char="o"/>
            </a:pPr>
            <a:r>
              <a:rPr lang="en-US" sz="3000" dirty="0">
                <a:latin typeface="Times New Roman" pitchFamily="18" charset="0"/>
                <a:cs typeface="Times New Roman" pitchFamily="18" charset="0"/>
              </a:rPr>
              <a:t>Recirculation and filtration system: continuously agitates, mixes ,  filters , and maintains even temperatures across the chemical baths.</a:t>
            </a:r>
          </a:p>
          <a:p>
            <a:pPr lvl="0"/>
            <a:r>
              <a:rPr lang="en-US" sz="2800" dirty="0"/>
              <a:t> </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49733334"/>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a:bodyPr>
          <a:lstStyle/>
          <a:p>
            <a:pPr lvl="0" algn="just"/>
            <a:r>
              <a:rPr lang="en-US" sz="2800" dirty="0" smtClean="0">
                <a:latin typeface="Times New Roman" pitchFamily="18" charset="0"/>
                <a:cs typeface="Times New Roman" pitchFamily="18" charset="0"/>
              </a:rPr>
              <a:t>Replenishment system: Automatically pumps fresh chemical solution ( or replenisher ) into the developer and fixer tanks based on the size or running time of the processed film to maintain chemical activity.</a:t>
            </a:r>
          </a:p>
          <a:p>
            <a:pPr lvl="0" algn="just"/>
            <a:r>
              <a:rPr lang="en-US" sz="2800" dirty="0" smtClean="0">
                <a:latin typeface="Times New Roman" pitchFamily="18" charset="0"/>
                <a:cs typeface="Times New Roman" pitchFamily="18" charset="0"/>
              </a:rPr>
              <a:t>Drying system: uses heated air  ( around 50 C to 55C / 120F to 130F ) blown across the film surface via squeegee rollers to yield a completely dry film upon exit.</a:t>
            </a: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457204682"/>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indent="0">
              <a:buNone/>
            </a:pPr>
            <a:r>
              <a:rPr lang="en-US" sz="2800" b="1" dirty="0">
                <a:latin typeface="Times New Roman" pitchFamily="18" charset="0"/>
                <a:cs typeface="Times New Roman" pitchFamily="18" charset="0"/>
              </a:rPr>
              <a:t>STANDARD TECHNIQUES AND WORKFLOW</a:t>
            </a:r>
          </a:p>
          <a:p>
            <a:pPr lvl="0">
              <a:buFont typeface="Courier New" pitchFamily="49" charset="0"/>
              <a:buChar char="o"/>
            </a:pPr>
            <a:r>
              <a:rPr lang="en-US" sz="2800" dirty="0">
                <a:latin typeface="Times New Roman" pitchFamily="18" charset="0"/>
                <a:cs typeface="Times New Roman" pitchFamily="18" charset="0"/>
              </a:rPr>
              <a:t>Total cycle Time : Modern automated medical or industrial processors complete the entire dry – to –drop sequence in roughly 50 seconds ( compared to an hour or more in manual processing ):</a:t>
            </a:r>
          </a:p>
          <a:p>
            <a:pPr marL="571500" lvl="0" indent="-571500">
              <a:buFont typeface="+mj-lt"/>
              <a:buAutoNum type="romanLcPeriod"/>
            </a:pPr>
            <a:r>
              <a:rPr lang="en-US" sz="2800" dirty="0">
                <a:latin typeface="Times New Roman" pitchFamily="18" charset="0"/>
                <a:cs typeface="Times New Roman" pitchFamily="18" charset="0"/>
              </a:rPr>
              <a:t>Developing – 22 seconds</a:t>
            </a:r>
          </a:p>
          <a:p>
            <a:pPr marL="571500" lvl="0" indent="-571500">
              <a:buFont typeface="+mj-lt"/>
              <a:buAutoNum type="romanLcPeriod"/>
            </a:pPr>
            <a:r>
              <a:rPr lang="en-US" sz="2800" dirty="0">
                <a:latin typeface="Times New Roman" pitchFamily="18" charset="0"/>
                <a:cs typeface="Times New Roman" pitchFamily="18" charset="0"/>
              </a:rPr>
              <a:t>Fixing – 22 seconds</a:t>
            </a:r>
          </a:p>
          <a:p>
            <a:pPr marL="571500" lvl="0" indent="-571500">
              <a:buFont typeface="+mj-lt"/>
              <a:buAutoNum type="romanLcPeriod"/>
            </a:pPr>
            <a:r>
              <a:rPr lang="en-US" sz="2800" dirty="0">
                <a:latin typeface="Times New Roman" pitchFamily="18" charset="0"/>
                <a:cs typeface="Times New Roman" pitchFamily="18" charset="0"/>
              </a:rPr>
              <a:t>Washing – 20 -  26 seconds</a:t>
            </a:r>
          </a:p>
          <a:p>
            <a:pPr marL="571500" lvl="0" indent="-571500">
              <a:buFont typeface="+mj-lt"/>
              <a:buAutoNum type="romanLcPeriod"/>
            </a:pPr>
            <a:r>
              <a:rPr lang="en-US" sz="2800" dirty="0">
                <a:latin typeface="Times New Roman" pitchFamily="18" charset="0"/>
                <a:cs typeface="Times New Roman" pitchFamily="18" charset="0"/>
              </a:rPr>
              <a:t>Drying – 20 </a:t>
            </a:r>
            <a:r>
              <a:rPr lang="en-US" sz="2800" dirty="0" smtClean="0">
                <a:latin typeface="Times New Roman" pitchFamily="18" charset="0"/>
                <a:cs typeface="Times New Roman" pitchFamily="18" charset="0"/>
              </a:rPr>
              <a:t>seconds</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441725775"/>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indent="0" algn="just">
              <a:buNone/>
            </a:pPr>
            <a:r>
              <a:rPr lang="en-US" sz="2800" b="1" dirty="0" smtClean="0">
                <a:latin typeface="Times New Roman" pitchFamily="18" charset="0"/>
                <a:cs typeface="Times New Roman" pitchFamily="18" charset="0"/>
              </a:rPr>
              <a:t>Feeding Technique : </a:t>
            </a:r>
            <a:r>
              <a:rPr lang="en-US" sz="2800" dirty="0" smtClean="0">
                <a:latin typeface="Times New Roman" pitchFamily="18" charset="0"/>
                <a:cs typeface="Times New Roman" pitchFamily="18" charset="0"/>
              </a:rPr>
              <a:t>Films are fed straight into the entry tray in a staggered pattern ( rather than overlapping side – by –side ) to prevent roller jams , overlapping , or chemical contamination .</a:t>
            </a:r>
          </a:p>
          <a:p>
            <a:pPr lvl="0" algn="just">
              <a:buFont typeface="Courier New" pitchFamily="49" charset="0"/>
              <a:buChar char="o"/>
            </a:pPr>
            <a:endParaRPr lang="en-US" sz="2800" dirty="0" smtClean="0">
              <a:latin typeface="Times New Roman" pitchFamily="18" charset="0"/>
              <a:cs typeface="Times New Roman" pitchFamily="18" charset="0"/>
            </a:endParaRPr>
          </a:p>
          <a:p>
            <a:pPr lvl="0">
              <a:buFont typeface="Courier New" pitchFamily="49" charset="0"/>
              <a:buChar char="o"/>
            </a:pPr>
            <a:r>
              <a:rPr lang="en-US" sz="2800" dirty="0">
                <a:latin typeface="Times New Roman" pitchFamily="18" charset="0"/>
                <a:cs typeface="Times New Roman" pitchFamily="18" charset="0"/>
              </a:rPr>
              <a:t>Standby mode:  When idle, the machine drops into a low – power standby state where the roller drive stops or slows down to conserve water and electricity until a new film triggers the sensor.</a:t>
            </a:r>
          </a:p>
          <a:p>
            <a:pPr marL="0" indent="0">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091636448"/>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indent="0" algn="just">
              <a:buNone/>
            </a:pPr>
            <a:r>
              <a:rPr lang="en-US" sz="2800" b="1" dirty="0">
                <a:latin typeface="Times New Roman" pitchFamily="18" charset="0"/>
                <a:cs typeface="Times New Roman" pitchFamily="18" charset="0"/>
              </a:rPr>
              <a:t>DAILY AND MONTHLY MAINTENANCE</a:t>
            </a:r>
          </a:p>
          <a:p>
            <a:pPr algn="just">
              <a:buFont typeface="Courier New" pitchFamily="49" charset="0"/>
              <a:buChar char="o"/>
            </a:pPr>
            <a:r>
              <a:rPr lang="en-US" sz="2800" dirty="0">
                <a:latin typeface="Times New Roman" pitchFamily="18" charset="0"/>
                <a:cs typeface="Times New Roman" pitchFamily="18" charset="0"/>
              </a:rPr>
              <a:t>This requires routine cleaning of crossover rollers to prevent “” pi lines “ or guide – shoe marks, alongside periodic tank draining , rack scrubbing, and sensitometric testing </a:t>
            </a:r>
          </a:p>
          <a:p>
            <a:pPr marL="0" indent="0" algn="just">
              <a:buNone/>
            </a:pPr>
            <a:r>
              <a:rPr lang="en-US" sz="2800" b="1" dirty="0">
                <a:latin typeface="Times New Roman" pitchFamily="18" charset="0"/>
                <a:cs typeface="Times New Roman" pitchFamily="18" charset="0"/>
              </a:rPr>
              <a:t>MEDICAL X-RAY AUTOMATIC PROCESSING</a:t>
            </a:r>
          </a:p>
          <a:p>
            <a:pPr algn="just"/>
            <a:r>
              <a:rPr lang="en-US" sz="2800" dirty="0">
                <a:latin typeface="Times New Roman" pitchFamily="18" charset="0"/>
                <a:cs typeface="Times New Roman" pitchFamily="18" charset="0"/>
              </a:rPr>
              <a:t>A medical x-ray automatic processor is an electrochemical device designed to automate and standardize the chemical processing of radiographic films. It converts a latent ( invisible ) image on an exposed x-ray film into a permanent , manifest ( visible ) radiograph in a matter of seconds.</a:t>
            </a: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281969162"/>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lvl="0" indent="0" algn="just">
              <a:buNone/>
            </a:pPr>
            <a:r>
              <a:rPr lang="en-US" sz="2800" b="1" dirty="0" smtClean="0"/>
              <a:t>1. PRINCIPLES </a:t>
            </a:r>
            <a:r>
              <a:rPr lang="en-US" sz="2800" b="1" dirty="0"/>
              <a:t>OF AUTOMATIC PROCESSING:</a:t>
            </a:r>
          </a:p>
          <a:p>
            <a:pPr algn="just">
              <a:buFont typeface="Courier New" pitchFamily="49" charset="0"/>
              <a:buChar char="o"/>
            </a:pPr>
            <a:r>
              <a:rPr lang="en-US" sz="2800" dirty="0">
                <a:latin typeface="Times New Roman" pitchFamily="18" charset="0"/>
                <a:cs typeface="Times New Roman" pitchFamily="18" charset="0"/>
              </a:rPr>
              <a:t>The core principle of automatic processing is standardization of time , temperature , and chemical activity. It operates on the same chemical sequence as manual processing – developing, fixing , washing, and drying – but compresses the entire </a:t>
            </a:r>
            <a:r>
              <a:rPr lang="en-US" sz="2800" dirty="0" smtClean="0">
                <a:latin typeface="Times New Roman" pitchFamily="18" charset="0"/>
                <a:cs typeface="Times New Roman" pitchFamily="18" charset="0"/>
              </a:rPr>
              <a:t>timeline </a:t>
            </a:r>
            <a:r>
              <a:rPr lang="en-US" sz="2800" dirty="0">
                <a:latin typeface="Times New Roman" pitchFamily="18" charset="0"/>
                <a:cs typeface="Times New Roman" pitchFamily="18" charset="0"/>
              </a:rPr>
              <a:t>( typically down to 90 seconds ) by utilizing:</a:t>
            </a:r>
          </a:p>
          <a:p>
            <a:pPr lvl="0" algn="just">
              <a:buFont typeface="Courier New" pitchFamily="49" charset="0"/>
              <a:buChar char="o"/>
            </a:pPr>
            <a:r>
              <a:rPr lang="en-US" sz="2800" dirty="0">
                <a:latin typeface="Times New Roman" pitchFamily="18" charset="0"/>
                <a:cs typeface="Times New Roman" pitchFamily="18" charset="0"/>
              </a:rPr>
              <a:t>High chemical concentration:  Formulated specifically to handle aggressive development speed.</a:t>
            </a:r>
          </a:p>
          <a:p>
            <a:pPr lvl="0" algn="just">
              <a:buFont typeface="Courier New" pitchFamily="49" charset="0"/>
              <a:buChar char="o"/>
            </a:pPr>
            <a:r>
              <a:rPr lang="en-US" sz="2800" dirty="0">
                <a:latin typeface="Times New Roman" pitchFamily="18" charset="0"/>
                <a:cs typeface="Times New Roman" pitchFamily="18" charset="0"/>
              </a:rPr>
              <a:t>Elevated temperature:  Processing solution are heated to maximize chemical activity.</a:t>
            </a:r>
          </a:p>
          <a:p>
            <a:pPr algn="just">
              <a:buFont typeface="Courier New" pitchFamily="49" charset="0"/>
              <a:buChar char="o"/>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939541090"/>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lvl="0" algn="just">
              <a:buFont typeface="Courier New" pitchFamily="49" charset="0"/>
              <a:buChar char="o"/>
            </a:pPr>
            <a:r>
              <a:rPr lang="en-US" sz="2800" dirty="0" smtClean="0">
                <a:latin typeface="Times New Roman" pitchFamily="18" charset="0"/>
                <a:cs typeface="Times New Roman" pitchFamily="18" charset="0"/>
              </a:rPr>
              <a:t>Continuous mechanical agitation:  Constant contact between the rollers and the film emulsion forces fresh chemicals into the film surface while squeezing out exhausted solutions.</a:t>
            </a:r>
          </a:p>
          <a:p>
            <a:pPr marL="0" indent="0" algn="just">
              <a:buNone/>
            </a:pPr>
            <a:endParaRPr lang="en-US" sz="2800" dirty="0" smtClean="0">
              <a:latin typeface="Times New Roman" pitchFamily="18" charset="0"/>
              <a:cs typeface="Times New Roman" pitchFamily="18" charset="0"/>
            </a:endParaRPr>
          </a:p>
          <a:p>
            <a:pPr marL="0" lvl="0" indent="0">
              <a:buNone/>
            </a:pPr>
            <a:r>
              <a:rPr lang="en-US" sz="2800" b="1" dirty="0" smtClean="0">
                <a:latin typeface="Times New Roman" pitchFamily="18" charset="0"/>
                <a:cs typeface="Times New Roman" pitchFamily="18" charset="0"/>
              </a:rPr>
              <a:t>2. CONSTRUCTION </a:t>
            </a:r>
            <a:r>
              <a:rPr lang="en-US" sz="2800" b="1" dirty="0">
                <a:latin typeface="Times New Roman" pitchFamily="18" charset="0"/>
                <a:cs typeface="Times New Roman" pitchFamily="18" charset="0"/>
              </a:rPr>
              <a:t>AND DESIGN MECHANISM:</a:t>
            </a:r>
          </a:p>
          <a:p>
            <a:pPr algn="just">
              <a:buFont typeface="Courier New" pitchFamily="49" charset="0"/>
              <a:buChar char="o"/>
            </a:pPr>
            <a:r>
              <a:rPr lang="en-US" sz="2800" dirty="0" smtClean="0">
                <a:latin typeface="Times New Roman" pitchFamily="18" charset="0"/>
                <a:cs typeface="Times New Roman" pitchFamily="18" charset="0"/>
              </a:rPr>
              <a:t>The processor consists of several independent but integrated sub-system:</a:t>
            </a:r>
          </a:p>
          <a:p>
            <a:pPr lvl="0" algn="just">
              <a:buFont typeface="Courier New" pitchFamily="49" charset="0"/>
              <a:buChar char="o"/>
            </a:pPr>
            <a:r>
              <a:rPr lang="en-US" sz="2800" dirty="0" smtClean="0">
                <a:latin typeface="Times New Roman" pitchFamily="18" charset="0"/>
                <a:cs typeface="Times New Roman" pitchFamily="18" charset="0"/>
              </a:rPr>
              <a:t>Transport system:  A network of gears, chains, a drive motor, and precision roller racks designed to pull the film along a serpentine path through the liquid tanks and the drying chamber at a fixed speed.</a:t>
            </a: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518805827"/>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lvl="0" algn="just">
              <a:buFont typeface="Courier New" pitchFamily="49" charset="0"/>
              <a:buChar char="o"/>
            </a:pPr>
            <a:r>
              <a:rPr lang="en-US" sz="2800" dirty="0" smtClean="0">
                <a:latin typeface="Times New Roman" pitchFamily="18" charset="0"/>
                <a:cs typeface="Times New Roman" pitchFamily="18" charset="0"/>
              </a:rPr>
              <a:t>Temperature control system:  Uses immersion heaters, thermostats, and heat exchangers to precisely regulate and maintain the developer solution at 33C to 35C ( 92C to 96C ).</a:t>
            </a:r>
          </a:p>
          <a:p>
            <a:pPr lvl="0" algn="just">
              <a:buFont typeface="Courier New" pitchFamily="49" charset="0"/>
              <a:buChar char="o"/>
            </a:pPr>
            <a:r>
              <a:rPr lang="en-US" sz="2800" dirty="0" smtClean="0">
                <a:latin typeface="Times New Roman" pitchFamily="18" charset="0"/>
                <a:cs typeface="Times New Roman" pitchFamily="18" charset="0"/>
              </a:rPr>
              <a:t>Circulation / recirculation system:  Continuously pumps and agitates the developer and fixer solution to prevent thermal stratification, filter out gelatin particles, and maintain chemical homogeneity .</a:t>
            </a:r>
          </a:p>
          <a:p>
            <a:pPr algn="just">
              <a:buFont typeface="Courier New" pitchFamily="49" charset="0"/>
              <a:buChar char="o"/>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193155385"/>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lvl="0" algn="just">
              <a:buFont typeface="Courier New" pitchFamily="49" charset="0"/>
              <a:buChar char="o"/>
            </a:pPr>
            <a:r>
              <a:rPr lang="en-US" sz="2800" dirty="0">
                <a:latin typeface="Times New Roman" pitchFamily="18" charset="0"/>
                <a:cs typeface="Times New Roman" pitchFamily="18" charset="0"/>
              </a:rPr>
              <a:t>Water system:  Supplies fresh , flowing water to rinse chemical residues from the film, preventing  archival degradation ( hypo-retention strains  ).</a:t>
            </a:r>
          </a:p>
          <a:p>
            <a:pPr lvl="0" algn="just">
              <a:buFont typeface="Courier New" pitchFamily="49" charset="0"/>
              <a:buChar char="o"/>
            </a:pPr>
            <a:r>
              <a:rPr lang="en-US" sz="2800" dirty="0">
                <a:latin typeface="Times New Roman" pitchFamily="18" charset="0"/>
                <a:cs typeface="Times New Roman" pitchFamily="18" charset="0"/>
              </a:rPr>
              <a:t>Dryer system:  Uses a high – velocity blower, heating elements ( 40C to 65C ), and air tubs to evaporate remaining surface moisture from the film.</a:t>
            </a:r>
          </a:p>
          <a:p>
            <a:pPr algn="just">
              <a:buFont typeface="Courier New" pitchFamily="49" charset="0"/>
              <a:buChar char="o"/>
            </a:pPr>
            <a:r>
              <a:rPr lang="en-US" sz="2800" dirty="0">
                <a:latin typeface="Times New Roman" pitchFamily="18" charset="0"/>
                <a:cs typeface="Times New Roman" pitchFamily="18" charset="0"/>
              </a:rPr>
              <a:t>[ feed tray ] &gt; [ developer Tank ] &gt; [ Fixer Tank] &gt; [ Wash Tank ] &gt; [ Dryer Chamber ] &gt; [ Receiving Bin ].</a:t>
            </a:r>
          </a:p>
          <a:p>
            <a:pPr algn="just">
              <a:buFont typeface="Courier New" pitchFamily="49" charset="0"/>
              <a:buChar char="o"/>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3901815"/>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lvl="0" indent="0" algn="just">
              <a:buNone/>
            </a:pPr>
            <a:r>
              <a:rPr lang="en-US" sz="2800" b="1" dirty="0" smtClean="0">
                <a:latin typeface="Times New Roman" pitchFamily="18" charset="0"/>
                <a:cs typeface="Times New Roman" pitchFamily="18" charset="0"/>
              </a:rPr>
              <a:t>3. FEED </a:t>
            </a:r>
            <a:r>
              <a:rPr lang="en-US" sz="2800" b="1" dirty="0">
                <a:latin typeface="Times New Roman" pitchFamily="18" charset="0"/>
                <a:cs typeface="Times New Roman" pitchFamily="18" charset="0"/>
              </a:rPr>
              <a:t>TRAY AND FEEDTRAY TYPES</a:t>
            </a:r>
          </a:p>
          <a:p>
            <a:pPr algn="just">
              <a:buFont typeface="Courier New" pitchFamily="49" charset="0"/>
              <a:buChar char="o"/>
            </a:pPr>
            <a:r>
              <a:rPr lang="en-US" sz="2800" dirty="0">
                <a:latin typeface="Times New Roman" pitchFamily="18" charset="0"/>
                <a:cs typeface="Times New Roman" pitchFamily="18" charset="0"/>
              </a:rPr>
              <a:t>The feed tray is the entry platform where the exposed radiographic film is introduced into the unit.</a:t>
            </a:r>
          </a:p>
          <a:p>
            <a:pPr lvl="0" algn="just">
              <a:buFont typeface="Courier New" pitchFamily="49" charset="0"/>
              <a:buChar char="o"/>
            </a:pPr>
            <a:r>
              <a:rPr lang="en-US" sz="2800" dirty="0">
                <a:latin typeface="Times New Roman" pitchFamily="18" charset="0"/>
                <a:cs typeface="Times New Roman" pitchFamily="18" charset="0"/>
              </a:rPr>
              <a:t>Mechanism:  It contains micro switches or infrared optical sensors that detect the physical presence, size ,and orientation of the inserted film. This detection signal activates the drive motor , the dryer, and calculates the required volume of replenisher chemicals.</a:t>
            </a: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143587286"/>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indent="0" algn="just">
              <a:buNone/>
            </a:pPr>
            <a:r>
              <a:rPr lang="en-US" sz="2800" b="1" dirty="0" smtClean="0">
                <a:latin typeface="Times New Roman" pitchFamily="18" charset="0"/>
                <a:cs typeface="Times New Roman" pitchFamily="18" charset="0"/>
              </a:rPr>
              <a:t>Feed tray types:  </a:t>
            </a:r>
          </a:p>
          <a:p>
            <a:pPr marL="514350" lvl="0" indent="-514350" algn="just">
              <a:buFont typeface="+mj-lt"/>
              <a:buAutoNum type="alphaLcPeriod"/>
            </a:pPr>
            <a:r>
              <a:rPr lang="en-US" sz="2800" b="1" dirty="0" smtClean="0">
                <a:latin typeface="Times New Roman" pitchFamily="18" charset="0"/>
                <a:cs typeface="Times New Roman" pitchFamily="18" charset="0"/>
              </a:rPr>
              <a:t>Darkroom feed tray:  </a:t>
            </a:r>
            <a:r>
              <a:rPr lang="en-US" sz="2800" dirty="0" smtClean="0">
                <a:latin typeface="Times New Roman" pitchFamily="18" charset="0"/>
                <a:cs typeface="Times New Roman" pitchFamily="18" charset="0"/>
              </a:rPr>
              <a:t>A standard tray located completely inside a darkroom under safelight condition where the operator manually feeds exposed films extracted from cassettes.</a:t>
            </a:r>
          </a:p>
          <a:p>
            <a:pPr marL="514350" indent="-514350" algn="just">
              <a:buFont typeface="+mj-lt"/>
              <a:buAutoNum type="alphaLcPeriod"/>
            </a:pPr>
            <a:r>
              <a:rPr lang="en-US" sz="2800" b="1" dirty="0">
                <a:latin typeface="Times New Roman" pitchFamily="18" charset="0"/>
                <a:cs typeface="Times New Roman" pitchFamily="18" charset="0"/>
              </a:rPr>
              <a:t>Daylight loader ( daylight feed tray ) :  </a:t>
            </a:r>
            <a:r>
              <a:rPr lang="en-US" sz="2800" dirty="0">
                <a:latin typeface="Times New Roman" pitchFamily="18" charset="0"/>
                <a:cs typeface="Times New Roman" pitchFamily="18" charset="0"/>
              </a:rPr>
              <a:t>A light – tight, enclosed chamber attachment fitted with sleeves or an automated cassette – unloading mechanism. This setup allows the operator to insert their hands and feed the film in normal room light without exposing the film emulsion.</a:t>
            </a:r>
          </a:p>
          <a:p>
            <a:pPr lvl="0" algn="just">
              <a:buFont typeface="Courier New" pitchFamily="49" charset="0"/>
              <a:buChar char="o"/>
            </a:pPr>
            <a:endParaRPr lang="en-US" sz="2800" dirty="0" smtClean="0">
              <a:latin typeface="Times New Roman" pitchFamily="18" charset="0"/>
              <a:cs typeface="Times New Roman" pitchFamily="18" charset="0"/>
            </a:endParaRPr>
          </a:p>
          <a:p>
            <a:pPr mar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615147263"/>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lvl="0" indent="0" algn="just">
              <a:buNone/>
            </a:pPr>
            <a:r>
              <a:rPr lang="en-US" sz="2800" b="1" dirty="0" smtClean="0">
                <a:latin typeface="Times New Roman" pitchFamily="18" charset="0"/>
                <a:cs typeface="Times New Roman" pitchFamily="18" charset="0"/>
              </a:rPr>
              <a:t>4. ROLLERS </a:t>
            </a:r>
            <a:r>
              <a:rPr lang="en-US" sz="2800" b="1" dirty="0">
                <a:latin typeface="Times New Roman" pitchFamily="18" charset="0"/>
                <a:cs typeface="Times New Roman" pitchFamily="18" charset="0"/>
              </a:rPr>
              <a:t>( TRANSPORT COMPONENTS )</a:t>
            </a:r>
          </a:p>
          <a:p>
            <a:pPr algn="just">
              <a:buFont typeface="Courier New" pitchFamily="49" charset="0"/>
              <a:buChar char="o"/>
            </a:pPr>
            <a:r>
              <a:rPr lang="en-US" sz="2800" dirty="0">
                <a:latin typeface="Times New Roman" pitchFamily="18" charset="0"/>
                <a:cs typeface="Times New Roman" pitchFamily="18" charset="0"/>
              </a:rPr>
              <a:t>The mechanical movement relies heavily on specialized rollers clustered into functional racks:</a:t>
            </a:r>
          </a:p>
          <a:p>
            <a:pPr lvl="0" algn="just">
              <a:buFont typeface="Courier New" pitchFamily="49" charset="0"/>
              <a:buChar char="o"/>
            </a:pPr>
            <a:r>
              <a:rPr lang="en-US" sz="2800" dirty="0">
                <a:latin typeface="Times New Roman" pitchFamily="18" charset="0"/>
                <a:cs typeface="Times New Roman" pitchFamily="18" charset="0"/>
              </a:rPr>
              <a:t>Entrance Rollers:  Located immediately past the feed tray, they grab the film and trigger the processing cycle.</a:t>
            </a:r>
          </a:p>
          <a:p>
            <a:pPr lvl="0" algn="just">
              <a:buFont typeface="Courier New" pitchFamily="49" charset="0"/>
              <a:buChar char="o"/>
            </a:pPr>
            <a:r>
              <a:rPr lang="en-US" sz="2800" dirty="0">
                <a:latin typeface="Times New Roman" pitchFamily="18" charset="0"/>
                <a:cs typeface="Times New Roman" pitchFamily="18" charset="0"/>
              </a:rPr>
              <a:t>Transport / Deep- Tank Rollers:  Positioned inside the liquid tanks, these planetary rollers guide the film downward and upward along the rack assembly</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450033260"/>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lvl="0" algn="just">
              <a:buFont typeface="Courier New" pitchFamily="49" charset="0"/>
              <a:buChar char="o"/>
            </a:pPr>
            <a:r>
              <a:rPr lang="en-US" sz="2800" dirty="0" smtClean="0">
                <a:latin typeface="Times New Roman" pitchFamily="18" charset="0"/>
                <a:cs typeface="Times New Roman" pitchFamily="18" charset="0"/>
              </a:rPr>
              <a:t>Cross- over Rollers:  Situated above the solution levels between adjacent tanks ( e.g., developer to fixer). They feature miniature guide shoes to redirect the film from one path to the next.</a:t>
            </a:r>
          </a:p>
          <a:p>
            <a:pPr lvl="0" algn="just">
              <a:buFont typeface="Courier New" pitchFamily="49" charset="0"/>
              <a:buChar char="o"/>
            </a:pPr>
            <a:r>
              <a:rPr lang="en-US" sz="2800" dirty="0" smtClean="0">
                <a:latin typeface="Times New Roman" pitchFamily="18" charset="0"/>
                <a:cs typeface="Times New Roman" pitchFamily="18" charset="0"/>
              </a:rPr>
              <a:t>Squeegee Rollers:  Located at the exit of the wash tank. They apply physical pressure to strip excess water from both sides of the film emulsion before it enters the drying chamber, reducing the energy needed for thermal drying.</a:t>
            </a:r>
          </a:p>
          <a:p>
            <a:pPr marL="0" indent="0" algn="just">
              <a:buNone/>
            </a:pPr>
            <a:endParaRPr lang="en-US" sz="2800" dirty="0" smtClean="0">
              <a:latin typeface="Times New Roman" pitchFamily="18" charset="0"/>
              <a:cs typeface="Times New Roman" pitchFamily="18" charset="0"/>
            </a:endParaRPr>
          </a:p>
          <a:p>
            <a:pPr marL="0" lvl="0" indent="0" algn="just">
              <a:buNone/>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2144691710"/>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marL="0" lvl="0" indent="0" algn="just">
              <a:buNone/>
            </a:pPr>
            <a:r>
              <a:rPr lang="en-US" sz="2800" dirty="0" smtClean="0">
                <a:latin typeface="Times New Roman" pitchFamily="18" charset="0"/>
                <a:cs typeface="Times New Roman" pitchFamily="18" charset="0"/>
              </a:rPr>
              <a:t>5. </a:t>
            </a:r>
            <a:r>
              <a:rPr lang="en-US" sz="2800" b="1" dirty="0" smtClean="0">
                <a:latin typeface="Times New Roman" pitchFamily="18" charset="0"/>
                <a:cs typeface="Times New Roman" pitchFamily="18" charset="0"/>
              </a:rPr>
              <a:t>REPLENISHMENT </a:t>
            </a:r>
            <a:r>
              <a:rPr lang="en-US" sz="2800" b="1" dirty="0">
                <a:latin typeface="Times New Roman" pitchFamily="18" charset="0"/>
                <a:cs typeface="Times New Roman" pitchFamily="18" charset="0"/>
              </a:rPr>
              <a:t>SYSTEM</a:t>
            </a:r>
          </a:p>
          <a:p>
            <a:pPr algn="just">
              <a:buFont typeface="Courier New" pitchFamily="49" charset="0"/>
              <a:buChar char="o"/>
            </a:pPr>
            <a:r>
              <a:rPr lang="en-US" sz="2800" dirty="0">
                <a:latin typeface="Times New Roman" pitchFamily="18" charset="0"/>
                <a:cs typeface="Times New Roman" pitchFamily="18" charset="0"/>
              </a:rPr>
              <a:t>As films pass through the chemistry ,solutions wear out ( developer oxidizes and loses electron. Fixers accumulates silver ions and dilutes ). The replenishment system injects exact doses of fresh chemicals from storage reservoirs into the active processor tanks to maintain stable chemical potency.</a:t>
            </a:r>
          </a:p>
          <a:p>
            <a:pPr lvl="0" algn="just">
              <a:buFont typeface="Courier New" pitchFamily="49" charset="0"/>
              <a:buChar char="o"/>
            </a:pPr>
            <a:r>
              <a:rPr lang="en-US" sz="2800" dirty="0">
                <a:latin typeface="Times New Roman" pitchFamily="18" charset="0"/>
                <a:cs typeface="Times New Roman" pitchFamily="18" charset="0"/>
              </a:rPr>
              <a:t>Volume ( pulse ) replenishment :  Triggered dynamically  whenever a film crosses the entry sensors . The pump inject a specified amount based on the length or surface area of the processed film</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1324250521"/>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Autofit/>
          </a:bodyPr>
          <a:lstStyle/>
          <a:p>
            <a:pPr lvl="0" algn="just">
              <a:buFont typeface="Courier New" pitchFamily="49" charset="0"/>
              <a:buChar char="o"/>
            </a:pPr>
            <a:r>
              <a:rPr lang="en-US" sz="2800" dirty="0" smtClean="0">
                <a:latin typeface="Times New Roman" pitchFamily="18" charset="0"/>
                <a:cs typeface="Times New Roman" pitchFamily="18" charset="0"/>
              </a:rPr>
              <a:t>Flood ( timed ) Replenishment:   Configured for low- volume clinics . The processor automatically pulses fresh chemistry at a fixed time interval ( regardless of film throughout ) the combat natural aerial  oxidation.</a:t>
            </a:r>
          </a:p>
          <a:p>
            <a:pPr lvl="0" algn="just">
              <a:buFont typeface="Courier New" pitchFamily="49" charset="0"/>
              <a:buChar char="o"/>
            </a:pPr>
            <a:endParaRPr lang="en-US" sz="2800" dirty="0" smtClean="0">
              <a:latin typeface="Times New Roman" pitchFamily="18" charset="0"/>
              <a:cs typeface="Times New Roman" pitchFamily="18" charset="0"/>
            </a:endParaRPr>
          </a:p>
          <a:p>
            <a:pPr marL="0" lvl="0" indent="0">
              <a:buNone/>
            </a:pPr>
            <a:r>
              <a:rPr lang="en-US" sz="2800" b="1" dirty="0">
                <a:latin typeface="Times New Roman" pitchFamily="18" charset="0"/>
                <a:cs typeface="Times New Roman" pitchFamily="18" charset="0"/>
              </a:rPr>
              <a:t>FORMULATING CHEMICALS FOR AUTOMIC PROCESSORS</a:t>
            </a:r>
          </a:p>
          <a:p>
            <a:pPr algn="just">
              <a:buFont typeface="Courier New" pitchFamily="49" charset="0"/>
              <a:buChar char="o"/>
            </a:pPr>
            <a:r>
              <a:rPr lang="en-US" sz="2800" dirty="0">
                <a:latin typeface="Times New Roman" pitchFamily="18" charset="0"/>
                <a:cs typeface="Times New Roman" pitchFamily="18" charset="0"/>
              </a:rPr>
              <a:t>Because automatic processing occurs at high speed and elevated temperatures , standard manual chemistry cannot be used. The chemistry must contain specialized hardening compounds to protect the film from swelling or melting.</a:t>
            </a:r>
          </a:p>
          <a:p>
            <a:pPr lvl="0" algn="just">
              <a:buFont typeface="Courier New" pitchFamily="49" charset="0"/>
              <a:buChar char="o"/>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7645760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1744589361"/>
              </p:ext>
            </p:extLst>
          </p:nvPr>
        </p:nvGraphicFramePr>
        <p:xfrm>
          <a:off x="381000" y="228600"/>
          <a:ext cx="8382001" cy="6262117"/>
        </p:xfrm>
        <a:graphic>
          <a:graphicData uri="http://schemas.openxmlformats.org/drawingml/2006/table">
            <a:tbl>
              <a:tblPr firstRow="1" firstCol="1" bandRow="1">
                <a:tableStyleId>{5C22544A-7EE6-4342-B048-85BDC9FD1C3A}</a:tableStyleId>
              </a:tblPr>
              <a:tblGrid>
                <a:gridCol w="253153"/>
                <a:gridCol w="2380827"/>
                <a:gridCol w="3324014"/>
                <a:gridCol w="2424007"/>
              </a:tblGrid>
              <a:tr h="679249">
                <a:tc>
                  <a:txBody>
                    <a:bodyPr/>
                    <a:lstStyle/>
                    <a:p>
                      <a:pPr marL="0" marR="0">
                        <a:lnSpc>
                          <a:spcPct val="107000"/>
                        </a:lnSpc>
                        <a:spcBef>
                          <a:spcPts val="0"/>
                        </a:spcBef>
                        <a:spcAft>
                          <a:spcPts val="0"/>
                        </a:spcAft>
                      </a:pPr>
                      <a:r>
                        <a:rPr lang="en-US" sz="1600" kern="100" dirty="0">
                          <a:effectLst/>
                        </a:rPr>
                        <a:t>S/N</a:t>
                      </a:r>
                      <a:endParaRPr lang="en-US" sz="16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dirty="0">
                          <a:effectLst/>
                        </a:rPr>
                        <a:t>SOLUTION   COMPONENT</a:t>
                      </a:r>
                      <a:endParaRPr lang="en-US" sz="16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a:effectLst/>
                        </a:rPr>
                        <a:t>ACTIVE CHEMICAL AGENTS</a:t>
                      </a:r>
                      <a:endParaRPr lang="en-US" sz="16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a:effectLst/>
                        </a:rPr>
                        <a:t>PRIMARY FUNCTION</a:t>
                      </a:r>
                    </a:p>
                    <a:p>
                      <a:pPr marL="0" marR="0">
                        <a:lnSpc>
                          <a:spcPct val="107000"/>
                        </a:lnSpc>
                        <a:spcBef>
                          <a:spcPts val="0"/>
                        </a:spcBef>
                        <a:spcAft>
                          <a:spcPts val="0"/>
                        </a:spcAft>
                      </a:pPr>
                      <a:r>
                        <a:rPr lang="en-US" sz="1600" kern="100">
                          <a:effectLst/>
                        </a:rPr>
                        <a:t> </a:t>
                      </a:r>
                      <a:endParaRPr lang="en-US" sz="1600" kern="100">
                        <a:effectLst/>
                        <a:latin typeface="Calibri"/>
                        <a:ea typeface="Calibri"/>
                        <a:cs typeface="Times New Roman"/>
                      </a:endParaRPr>
                    </a:p>
                  </a:txBody>
                  <a:tcPr marL="68580" marR="68580" marT="0" marB="0"/>
                </a:tc>
              </a:tr>
              <a:tr h="2288047">
                <a:tc>
                  <a:txBody>
                    <a:bodyPr/>
                    <a:lstStyle/>
                    <a:p>
                      <a:pPr marL="0" marR="0">
                        <a:lnSpc>
                          <a:spcPct val="107000"/>
                        </a:lnSpc>
                        <a:spcBef>
                          <a:spcPts val="0"/>
                        </a:spcBef>
                        <a:spcAft>
                          <a:spcPts val="0"/>
                        </a:spcAft>
                      </a:pPr>
                      <a:r>
                        <a:rPr lang="en-US" sz="1600" kern="100">
                          <a:effectLst/>
                        </a:rPr>
                        <a:t>1  </a:t>
                      </a:r>
                      <a:endParaRPr lang="en-US" sz="16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a:effectLst/>
                        </a:rPr>
                        <a:t>Developer</a:t>
                      </a:r>
                      <a:endParaRPr lang="en-US" sz="16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a:effectLst/>
                        </a:rPr>
                        <a:t>Hydroquinone and phenidone   Sodium sulfite, potassium bromide                                      Glutaraldehyde                                                               </a:t>
                      </a:r>
                      <a:endParaRPr lang="en-US" sz="16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a:effectLst/>
                        </a:rPr>
                        <a:t>Converts exposed silver crystals to black metallic</a:t>
                      </a:r>
                    </a:p>
                    <a:p>
                      <a:pPr marL="0" marR="0">
                        <a:lnSpc>
                          <a:spcPct val="107000"/>
                        </a:lnSpc>
                        <a:spcBef>
                          <a:spcPts val="0"/>
                        </a:spcBef>
                        <a:spcAft>
                          <a:spcPts val="0"/>
                        </a:spcAft>
                      </a:pPr>
                      <a:r>
                        <a:rPr lang="en-US" sz="1600" kern="100">
                          <a:effectLst/>
                        </a:rPr>
                        <a:t>silver , preservative against</a:t>
                      </a:r>
                    </a:p>
                    <a:p>
                      <a:pPr marL="0" marR="0">
                        <a:lnSpc>
                          <a:spcPct val="107000"/>
                        </a:lnSpc>
                        <a:spcBef>
                          <a:spcPts val="0"/>
                        </a:spcBef>
                        <a:spcAft>
                          <a:spcPts val="0"/>
                        </a:spcAft>
                      </a:pPr>
                      <a:r>
                        <a:rPr lang="en-US" sz="1600" kern="100">
                          <a:effectLst/>
                        </a:rPr>
                        <a:t>Aerial oxidation, hardiner –( prevents excessive emulsion swelling) Restrainer ( pre</a:t>
                      </a:r>
                    </a:p>
                    <a:p>
                      <a:pPr marL="0" marR="0">
                        <a:lnSpc>
                          <a:spcPct val="107000"/>
                        </a:lnSpc>
                        <a:spcBef>
                          <a:spcPts val="0"/>
                        </a:spcBef>
                        <a:spcAft>
                          <a:spcPts val="0"/>
                        </a:spcAft>
                      </a:pPr>
                      <a:r>
                        <a:rPr lang="en-US" sz="1600" kern="100">
                          <a:effectLst/>
                        </a:rPr>
                        <a:t>vents unexposed crystals</a:t>
                      </a:r>
                    </a:p>
                    <a:p>
                      <a:pPr marL="0" marR="0">
                        <a:lnSpc>
                          <a:spcPct val="107000"/>
                        </a:lnSpc>
                        <a:spcBef>
                          <a:spcPts val="0"/>
                        </a:spcBef>
                        <a:spcAft>
                          <a:spcPts val="0"/>
                        </a:spcAft>
                      </a:pPr>
                      <a:r>
                        <a:rPr lang="en-US" sz="1600" kern="100">
                          <a:effectLst/>
                        </a:rPr>
                        <a:t>from developing )</a:t>
                      </a:r>
                    </a:p>
                    <a:p>
                      <a:pPr marL="0" marR="0">
                        <a:lnSpc>
                          <a:spcPct val="107000"/>
                        </a:lnSpc>
                        <a:spcBef>
                          <a:spcPts val="0"/>
                        </a:spcBef>
                        <a:spcAft>
                          <a:spcPts val="0"/>
                        </a:spcAft>
                      </a:pPr>
                      <a:r>
                        <a:rPr lang="en-US" sz="1600" kern="100">
                          <a:effectLst/>
                        </a:rPr>
                        <a:t> </a:t>
                      </a:r>
                      <a:endParaRPr lang="en-US" sz="1600" kern="100">
                        <a:effectLst/>
                        <a:latin typeface="Calibri"/>
                        <a:ea typeface="Calibri"/>
                        <a:cs typeface="Times New Roman"/>
                      </a:endParaRPr>
                    </a:p>
                  </a:txBody>
                  <a:tcPr marL="68580" marR="68580" marT="0" marB="0"/>
                </a:tc>
              </a:tr>
              <a:tr h="2747704">
                <a:tc>
                  <a:txBody>
                    <a:bodyPr/>
                    <a:lstStyle/>
                    <a:p>
                      <a:pPr marL="0" marR="0">
                        <a:lnSpc>
                          <a:spcPct val="107000"/>
                        </a:lnSpc>
                        <a:spcBef>
                          <a:spcPts val="0"/>
                        </a:spcBef>
                        <a:spcAft>
                          <a:spcPts val="0"/>
                        </a:spcAft>
                      </a:pPr>
                      <a:r>
                        <a:rPr lang="en-US" sz="1600" kern="100">
                          <a:effectLst/>
                        </a:rPr>
                        <a:t>2</a:t>
                      </a:r>
                      <a:endParaRPr lang="en-US" sz="16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dirty="0">
                          <a:effectLst/>
                        </a:rPr>
                        <a:t>Fixer</a:t>
                      </a:r>
                      <a:endParaRPr lang="en-US" sz="16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dirty="0" smtClean="0">
                          <a:effectLst/>
                        </a:rPr>
                        <a:t> </a:t>
                      </a:r>
                      <a:r>
                        <a:rPr lang="en-US" sz="1600" kern="100" dirty="0">
                          <a:effectLst/>
                        </a:rPr>
                        <a:t>Ammonium thiosulfate, Acetic Acid,   Potassium, Alum, sodium sulfite            </a:t>
                      </a:r>
                      <a:endParaRPr lang="en-US" sz="16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600" kern="100" dirty="0">
                          <a:effectLst/>
                        </a:rPr>
                        <a:t>cleaving agent ( dissolves </a:t>
                      </a:r>
                      <a:r>
                        <a:rPr lang="en-US" sz="1600" kern="100" dirty="0" smtClean="0">
                          <a:effectLst/>
                        </a:rPr>
                        <a:t> </a:t>
                      </a:r>
                      <a:r>
                        <a:rPr lang="en-US" sz="1600" kern="100" dirty="0">
                          <a:effectLst/>
                        </a:rPr>
                        <a:t>unexposed silver halide </a:t>
                      </a:r>
                      <a:r>
                        <a:rPr lang="en-US" sz="1600" kern="100" dirty="0" smtClean="0">
                          <a:effectLst/>
                        </a:rPr>
                        <a:t>crystals ).</a:t>
                      </a:r>
                      <a:endParaRPr lang="en-US" sz="1600" kern="100" dirty="0">
                        <a:effectLst/>
                      </a:endParaRPr>
                    </a:p>
                    <a:p>
                      <a:pPr marL="0" marR="0">
                        <a:lnSpc>
                          <a:spcPct val="107000"/>
                        </a:lnSpc>
                        <a:spcBef>
                          <a:spcPts val="0"/>
                        </a:spcBef>
                        <a:spcAft>
                          <a:spcPts val="0"/>
                        </a:spcAft>
                      </a:pPr>
                      <a:r>
                        <a:rPr lang="en-US" sz="1600" kern="100" dirty="0" smtClean="0">
                          <a:effectLst/>
                        </a:rPr>
                        <a:t> </a:t>
                      </a:r>
                      <a:r>
                        <a:rPr lang="en-US" sz="1600" kern="100" dirty="0" err="1">
                          <a:effectLst/>
                        </a:rPr>
                        <a:t>Acidifieis</a:t>
                      </a:r>
                      <a:r>
                        <a:rPr lang="en-US" sz="1600" kern="100" dirty="0">
                          <a:effectLst/>
                        </a:rPr>
                        <a:t>/buffer( </a:t>
                      </a:r>
                      <a:r>
                        <a:rPr lang="en-US" sz="1600" kern="100" dirty="0" smtClean="0">
                          <a:effectLst/>
                        </a:rPr>
                        <a:t>neutralizes residual alkaline developer).</a:t>
                      </a:r>
                      <a:r>
                        <a:rPr lang="en-US" sz="1600" kern="100" baseline="0" dirty="0" smtClean="0">
                          <a:effectLst/>
                        </a:rPr>
                        <a:t> </a:t>
                      </a:r>
                      <a:r>
                        <a:rPr lang="en-US" sz="1600" kern="100" dirty="0" smtClean="0">
                          <a:effectLst/>
                        </a:rPr>
                        <a:t>Hardener</a:t>
                      </a:r>
                      <a:r>
                        <a:rPr lang="en-US" sz="1600" kern="100" dirty="0">
                          <a:effectLst/>
                        </a:rPr>
                        <a:t>( shrinks </a:t>
                      </a:r>
                      <a:r>
                        <a:rPr lang="en-US" sz="1600" kern="100" dirty="0" smtClean="0">
                          <a:effectLst/>
                        </a:rPr>
                        <a:t>and  </a:t>
                      </a:r>
                      <a:endParaRPr lang="en-US" sz="1600" kern="100" dirty="0">
                        <a:effectLst/>
                      </a:endParaRPr>
                    </a:p>
                    <a:p>
                      <a:pPr marL="0" marR="0">
                        <a:lnSpc>
                          <a:spcPct val="107000"/>
                        </a:lnSpc>
                        <a:spcBef>
                          <a:spcPts val="0"/>
                        </a:spcBef>
                        <a:spcAft>
                          <a:spcPts val="0"/>
                        </a:spcAft>
                      </a:pPr>
                      <a:r>
                        <a:rPr lang="en-US" sz="1600" kern="100" dirty="0">
                          <a:effectLst/>
                        </a:rPr>
                        <a:t>permanently hardens the </a:t>
                      </a:r>
                      <a:r>
                        <a:rPr lang="en-US" sz="1600" kern="100" dirty="0" err="1">
                          <a:effectLst/>
                        </a:rPr>
                        <a:t>gelatine</a:t>
                      </a:r>
                      <a:r>
                        <a:rPr lang="en-US" sz="1600" kern="100" dirty="0">
                          <a:effectLst/>
                        </a:rPr>
                        <a:t>). Preservative.</a:t>
                      </a:r>
                    </a:p>
                    <a:p>
                      <a:pPr marL="0" marR="0">
                        <a:lnSpc>
                          <a:spcPct val="107000"/>
                        </a:lnSpc>
                        <a:spcBef>
                          <a:spcPts val="0"/>
                        </a:spcBef>
                        <a:spcAft>
                          <a:spcPts val="0"/>
                        </a:spcAft>
                      </a:pPr>
                      <a:r>
                        <a:rPr lang="en-US" sz="1600" kern="100" dirty="0">
                          <a:effectLst/>
                        </a:rPr>
                        <a:t> </a:t>
                      </a:r>
                    </a:p>
                    <a:p>
                      <a:pPr marL="0" marR="0">
                        <a:lnSpc>
                          <a:spcPct val="107000"/>
                        </a:lnSpc>
                        <a:spcBef>
                          <a:spcPts val="0"/>
                        </a:spcBef>
                        <a:spcAft>
                          <a:spcPts val="0"/>
                        </a:spcAft>
                      </a:pPr>
                      <a:r>
                        <a:rPr lang="en-US" sz="1600" kern="100" dirty="0">
                          <a:effectLst/>
                        </a:rPr>
                        <a:t> </a:t>
                      </a:r>
                      <a:endParaRPr lang="en-US" sz="1600" kern="100" dirty="0">
                        <a:effectLst/>
                        <a:latin typeface="Calibri"/>
                        <a:ea typeface="Calibri"/>
                        <a:cs typeface="Times New Roman"/>
                      </a:endParaRPr>
                    </a:p>
                  </a:txBody>
                  <a:tcPr marL="68580" marR="68580" marT="0" marB="0"/>
                </a:tc>
              </a:tr>
            </a:tbl>
          </a:graphicData>
        </a:graphic>
      </p:graphicFrame>
    </p:spTree>
    <p:extLst>
      <p:ext uri="{BB962C8B-B14F-4D97-AF65-F5344CB8AC3E}">
        <p14:creationId xmlns:p14="http://schemas.microsoft.com/office/powerpoint/2010/main" val="2287816811"/>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458200" cy="5867400"/>
          </a:xfrm>
        </p:spPr>
        <p:txBody>
          <a:bodyPr>
            <a:noAutofit/>
          </a:bodyPr>
          <a:lstStyle/>
          <a:p>
            <a:pPr marL="514350" lvl="0" indent="-514350">
              <a:buAutoNum type="arabicPeriod" startAt="7"/>
            </a:pPr>
            <a:r>
              <a:rPr lang="en-US" sz="2800" b="1" dirty="0" smtClean="0">
                <a:latin typeface="Times New Roman" pitchFamily="18" charset="0"/>
                <a:cs typeface="Times New Roman" pitchFamily="18" charset="0"/>
              </a:rPr>
              <a:t>ROUTING </a:t>
            </a:r>
            <a:r>
              <a:rPr lang="en-US" sz="2800" b="1" dirty="0">
                <a:latin typeface="Times New Roman" pitchFamily="18" charset="0"/>
                <a:cs typeface="Times New Roman" pitchFamily="18" charset="0"/>
              </a:rPr>
              <a:t>OPERATING </a:t>
            </a:r>
            <a:r>
              <a:rPr lang="en-US" sz="2800" b="1" dirty="0" smtClean="0">
                <a:latin typeface="Times New Roman" pitchFamily="18" charset="0"/>
                <a:cs typeface="Times New Roman" pitchFamily="18" charset="0"/>
              </a:rPr>
              <a:t>PROTOCOLS </a:t>
            </a:r>
          </a:p>
          <a:p>
            <a:pPr marL="0" lvl="0" indent="0">
              <a:buNone/>
            </a:pPr>
            <a:r>
              <a:rPr lang="en-US" sz="2800" b="1" dirty="0" smtClean="0">
                <a:latin typeface="Times New Roman" pitchFamily="18" charset="0"/>
                <a:cs typeface="Times New Roman" pitchFamily="18" charset="0"/>
              </a:rPr>
              <a:t>A. STARTING </a:t>
            </a:r>
            <a:r>
              <a:rPr lang="en-US" sz="2800" b="1" dirty="0">
                <a:latin typeface="Times New Roman" pitchFamily="18" charset="0"/>
                <a:cs typeface="Times New Roman" pitchFamily="18" charset="0"/>
              </a:rPr>
              <a:t>ROUTINE</a:t>
            </a:r>
          </a:p>
          <a:p>
            <a:pPr marL="571500" indent="-571500" algn="just">
              <a:buFont typeface="+mj-lt"/>
              <a:buAutoNum type="romanLcPeriod"/>
            </a:pP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Check the chemical volumes in the external replenishment tanks</a:t>
            </a:r>
          </a:p>
          <a:p>
            <a:pPr marL="571500" indent="-571500" algn="just">
              <a:buFont typeface="+mj-lt"/>
              <a:buAutoNum type="romanLcPeriod"/>
            </a:pPr>
            <a:r>
              <a:rPr lang="en-US" sz="2800" dirty="0" smtClean="0">
                <a:latin typeface="Times New Roman" pitchFamily="18" charset="0"/>
                <a:cs typeface="Times New Roman" pitchFamily="18" charset="0"/>
              </a:rPr>
              <a:t>  </a:t>
            </a:r>
            <a:r>
              <a:rPr lang="en-US" sz="2800" dirty="0">
                <a:latin typeface="Times New Roman" pitchFamily="18" charset="0"/>
                <a:cs typeface="Times New Roman" pitchFamily="18" charset="0"/>
              </a:rPr>
              <a:t>open the main water supply valve to initiate flow into the wash tank</a:t>
            </a:r>
          </a:p>
          <a:p>
            <a:pPr marL="571500" indent="-571500" algn="just">
              <a:buFont typeface="+mj-lt"/>
              <a:buAutoNum type="romanLcPeriod"/>
            </a:pPr>
            <a:r>
              <a:rPr lang="en-US" sz="2800" dirty="0">
                <a:latin typeface="Times New Roman" pitchFamily="18" charset="0"/>
                <a:cs typeface="Times New Roman" pitchFamily="18" charset="0"/>
              </a:rPr>
              <a:t> </a:t>
            </a:r>
            <a:r>
              <a:rPr lang="en-US" sz="2800" dirty="0" smtClean="0">
                <a:latin typeface="Times New Roman" pitchFamily="18" charset="0"/>
                <a:cs typeface="Times New Roman" pitchFamily="18" charset="0"/>
              </a:rPr>
              <a:t>Ensure </a:t>
            </a:r>
            <a:r>
              <a:rPr lang="en-US" sz="2800" dirty="0">
                <a:latin typeface="Times New Roman" pitchFamily="18" charset="0"/>
                <a:cs typeface="Times New Roman" pitchFamily="18" charset="0"/>
              </a:rPr>
              <a:t>the active  tank drain valve are tightly closed.</a:t>
            </a:r>
          </a:p>
          <a:p>
            <a:pPr marL="571500" indent="-571500" algn="just">
              <a:buFont typeface="+mj-lt"/>
              <a:buAutoNum type="romanLcPeriod"/>
            </a:pPr>
            <a:r>
              <a:rPr lang="en-US" sz="2800" dirty="0" smtClean="0">
                <a:latin typeface="Times New Roman" pitchFamily="18" charset="0"/>
                <a:cs typeface="Times New Roman" pitchFamily="18" charset="0"/>
              </a:rPr>
              <a:t>Turn </a:t>
            </a:r>
            <a:r>
              <a:rPr lang="en-US" sz="2800" dirty="0">
                <a:latin typeface="Times New Roman" pitchFamily="18" charset="0"/>
                <a:cs typeface="Times New Roman" pitchFamily="18" charset="0"/>
              </a:rPr>
              <a:t>on the main electrical power toggle</a:t>
            </a:r>
          </a:p>
          <a:p>
            <a:pPr marL="571500" indent="-571500" algn="just">
              <a:buFont typeface="+mj-lt"/>
              <a:buAutoNum type="romanLcPeriod"/>
            </a:pPr>
            <a:r>
              <a:rPr lang="en-US" sz="2800" dirty="0" smtClean="0">
                <a:latin typeface="Times New Roman" pitchFamily="18" charset="0"/>
                <a:cs typeface="Times New Roman" pitchFamily="18" charset="0"/>
              </a:rPr>
              <a:t>Allow </a:t>
            </a:r>
            <a:r>
              <a:rPr lang="en-US" sz="2800" dirty="0">
                <a:latin typeface="Times New Roman" pitchFamily="18" charset="0"/>
                <a:cs typeface="Times New Roman" pitchFamily="18" charset="0"/>
              </a:rPr>
              <a:t>15 – 20 minutes for the chemical heaters to reach stable operating temperature ( indicated by a ready light </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303441872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458200" cy="6324600"/>
          </a:xfrm>
        </p:spPr>
        <p:txBody>
          <a:bodyPr>
            <a:noAutofit/>
          </a:bodyPr>
          <a:lstStyle/>
          <a:p>
            <a:pPr marL="0" indent="0" algn="just">
              <a:buNone/>
            </a:pPr>
            <a:r>
              <a:rPr lang="en-US" sz="2800" dirty="0" smtClean="0">
                <a:latin typeface="Times New Roman" pitchFamily="18" charset="0"/>
                <a:cs typeface="Times New Roman" pitchFamily="18" charset="0"/>
              </a:rPr>
              <a:t>vi.	feed a clean “cleaner film” ( dummy film ) through 	the processor to lift any dried chemical crust 0r 	debris off the roller pathways before processing 	patient films.</a:t>
            </a:r>
          </a:p>
          <a:p>
            <a:pPr marL="0" lvl="0" indent="0" algn="just">
              <a:buNone/>
            </a:pPr>
            <a:r>
              <a:rPr lang="en-US" sz="2800" b="1" dirty="0" smtClean="0">
                <a:latin typeface="Times New Roman" pitchFamily="18" charset="0"/>
                <a:cs typeface="Times New Roman" pitchFamily="18" charset="0"/>
              </a:rPr>
              <a:t>B. SHUTDOWN </a:t>
            </a:r>
            <a:r>
              <a:rPr lang="en-US" sz="2800" b="1" dirty="0">
                <a:latin typeface="Times New Roman" pitchFamily="18" charset="0"/>
                <a:cs typeface="Times New Roman" pitchFamily="18" charset="0"/>
              </a:rPr>
              <a:t>ROUTINE</a:t>
            </a:r>
          </a:p>
          <a:p>
            <a:pPr lvl="0" algn="just"/>
            <a:r>
              <a:rPr lang="en-US" sz="2800" dirty="0">
                <a:latin typeface="Times New Roman" pitchFamily="18" charset="0"/>
                <a:cs typeface="Times New Roman" pitchFamily="18" charset="0"/>
              </a:rPr>
              <a:t>Turn off the main electrical power button</a:t>
            </a:r>
          </a:p>
          <a:p>
            <a:pPr lvl="0" algn="just"/>
            <a:r>
              <a:rPr lang="en-US" sz="2800" dirty="0">
                <a:latin typeface="Times New Roman" pitchFamily="18" charset="0"/>
                <a:cs typeface="Times New Roman" pitchFamily="18" charset="0"/>
              </a:rPr>
              <a:t>Turn off the main water valve to prevent waste or flooding.</a:t>
            </a:r>
          </a:p>
          <a:p>
            <a:pPr lvl="0" algn="just"/>
            <a:r>
              <a:rPr lang="en-US" sz="2800" dirty="0">
                <a:latin typeface="Times New Roman" pitchFamily="18" charset="0"/>
                <a:cs typeface="Times New Roman" pitchFamily="18" charset="0"/>
              </a:rPr>
              <a:t>Remove the top processor splash cover to reduce condensation and prevent chemical crystals from dripping back into opening tank</a:t>
            </a:r>
          </a:p>
          <a:p>
            <a:pPr lvl="0" algn="just"/>
            <a:r>
              <a:rPr lang="en-US" sz="2800" dirty="0">
                <a:latin typeface="Times New Roman" pitchFamily="18" charset="0"/>
                <a:cs typeface="Times New Roman" pitchFamily="18" charset="0"/>
              </a:rPr>
              <a:t>Leave the main  top lid slightly propped open to vent residual humidity overnight.</a:t>
            </a:r>
          </a:p>
          <a:p>
            <a:pPr marL="0" indent="0" algn="just">
              <a:buNone/>
            </a:pPr>
            <a:r>
              <a:rPr lang="en-US" sz="2800" dirty="0">
                <a:latin typeface="Times New Roman" pitchFamily="18" charset="0"/>
                <a:cs typeface="Times New Roman" pitchFamily="18" charset="0"/>
              </a:rPr>
              <a:t> </a:t>
            </a:r>
          </a:p>
          <a:p>
            <a:pPr marL="0" indent="0" algn="just">
              <a:buNone/>
            </a:pPr>
            <a:endParaRPr lang="en-US" sz="28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059409515"/>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extLst>
              <p:ext uri="{D42A27DB-BD31-4B8C-83A1-F6EECF244321}">
                <p14:modId xmlns:p14="http://schemas.microsoft.com/office/powerpoint/2010/main" val="2481565441"/>
              </p:ext>
            </p:extLst>
          </p:nvPr>
        </p:nvGraphicFramePr>
        <p:xfrm>
          <a:off x="609600" y="1371600"/>
          <a:ext cx="7848601" cy="4648198"/>
        </p:xfrm>
        <a:graphic>
          <a:graphicData uri="http://schemas.openxmlformats.org/drawingml/2006/table">
            <a:tbl>
              <a:tblPr firstRow="1" firstCol="1" bandRow="1">
                <a:tableStyleId>{5C22544A-7EE6-4342-B048-85BDC9FD1C3A}</a:tableStyleId>
              </a:tblPr>
              <a:tblGrid>
                <a:gridCol w="640321"/>
                <a:gridCol w="2148557"/>
                <a:gridCol w="2166390"/>
                <a:gridCol w="2893333"/>
              </a:tblGrid>
              <a:tr h="250501">
                <a:tc>
                  <a:txBody>
                    <a:bodyPr/>
                    <a:lstStyle/>
                    <a:p>
                      <a:pPr marL="0" marR="0">
                        <a:lnSpc>
                          <a:spcPct val="107000"/>
                        </a:lnSpc>
                        <a:spcBef>
                          <a:spcPts val="0"/>
                        </a:spcBef>
                        <a:spcAft>
                          <a:spcPts val="0"/>
                        </a:spcAft>
                      </a:pPr>
                      <a:r>
                        <a:rPr lang="en-US" sz="1400" kern="100" dirty="0">
                          <a:effectLst/>
                        </a:rPr>
                        <a:t>S/N</a:t>
                      </a:r>
                      <a:endParaRPr lang="en-US" sz="14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PROBLEM/ ARTIFACT</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LIKELY CAUSE</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SOLUTION</a:t>
                      </a:r>
                      <a:endParaRPr lang="en-US" sz="1400" kern="100">
                        <a:effectLst/>
                        <a:latin typeface="Calibri"/>
                        <a:ea typeface="Calibri"/>
                        <a:cs typeface="Times New Roman"/>
                      </a:endParaRPr>
                    </a:p>
                  </a:txBody>
                  <a:tcPr marL="68580" marR="68580" marT="0" marB="0"/>
                </a:tc>
              </a:tr>
              <a:tr h="1298897">
                <a:tc>
                  <a:txBody>
                    <a:bodyPr/>
                    <a:lstStyle/>
                    <a:p>
                      <a:pPr marL="0" marR="0">
                        <a:lnSpc>
                          <a:spcPct val="107000"/>
                        </a:lnSpc>
                        <a:spcBef>
                          <a:spcPts val="0"/>
                        </a:spcBef>
                        <a:spcAft>
                          <a:spcPts val="0"/>
                        </a:spcAft>
                      </a:pPr>
                      <a:r>
                        <a:rPr lang="en-US" sz="1400" kern="100">
                          <a:effectLst/>
                        </a:rPr>
                        <a:t>1</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Damp or wet film</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Dryer temperature too Low , exhausted fixer,                                             Hardener; high room                                Humidity                                                                                      </a:t>
                      </a:r>
                    </a:p>
                    <a:p>
                      <a:pPr marL="0" marR="0">
                        <a:lnSpc>
                          <a:spcPct val="107000"/>
                        </a:lnSpc>
                        <a:spcBef>
                          <a:spcPts val="0"/>
                        </a:spcBef>
                        <a:spcAft>
                          <a:spcPts val="0"/>
                        </a:spcAft>
                      </a:pPr>
                      <a:r>
                        <a:rPr lang="en-US" sz="1400" kern="100">
                          <a:effectLst/>
                        </a:rPr>
                        <a:t>    </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dirty="0">
                          <a:effectLst/>
                        </a:rPr>
                        <a:t>check dryer heating element; verify fixer strength</a:t>
                      </a:r>
                      <a:endParaRPr lang="en-US" sz="1400" kern="100" dirty="0">
                        <a:effectLst/>
                        <a:latin typeface="Calibri"/>
                        <a:ea typeface="Calibri"/>
                        <a:cs typeface="Times New Roman"/>
                      </a:endParaRPr>
                    </a:p>
                  </a:txBody>
                  <a:tcPr marL="68580" marR="68580" marT="0" marB="0"/>
                </a:tc>
              </a:tr>
              <a:tr h="774700">
                <a:tc>
                  <a:txBody>
                    <a:bodyPr/>
                    <a:lstStyle/>
                    <a:p>
                      <a:pPr marL="0" marR="0">
                        <a:lnSpc>
                          <a:spcPct val="107000"/>
                        </a:lnSpc>
                        <a:spcBef>
                          <a:spcPts val="0"/>
                        </a:spcBef>
                        <a:spcAft>
                          <a:spcPts val="0"/>
                        </a:spcAft>
                      </a:pPr>
                      <a:r>
                        <a:rPr lang="en-US" sz="1400" kern="100">
                          <a:effectLst/>
                        </a:rPr>
                        <a:t>2</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Guide shoe marks/ Scratches</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Misaligned or dirty roller guide shoes scratching The emulsion          </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clean the racks, adjust guide shoe alignment</a:t>
                      </a:r>
                    </a:p>
                    <a:p>
                      <a:pPr marL="0" marR="0">
                        <a:lnSpc>
                          <a:spcPct val="107000"/>
                        </a:lnSpc>
                        <a:spcBef>
                          <a:spcPts val="0"/>
                        </a:spcBef>
                        <a:spcAft>
                          <a:spcPts val="0"/>
                        </a:spcAft>
                      </a:pPr>
                      <a:r>
                        <a:rPr lang="en-US" sz="1400" kern="100">
                          <a:effectLst/>
                        </a:rPr>
                        <a:t> </a:t>
                      </a:r>
                      <a:endParaRPr lang="en-US" sz="1400" kern="100">
                        <a:effectLst/>
                        <a:latin typeface="Calibri"/>
                        <a:ea typeface="Calibri"/>
                        <a:cs typeface="Times New Roman"/>
                      </a:endParaRPr>
                    </a:p>
                  </a:txBody>
                  <a:tcPr marL="68580" marR="68580" marT="0" marB="0"/>
                </a:tc>
              </a:tr>
              <a:tr h="774700">
                <a:tc>
                  <a:txBody>
                    <a:bodyPr/>
                    <a:lstStyle/>
                    <a:p>
                      <a:pPr marL="0" marR="0">
                        <a:lnSpc>
                          <a:spcPct val="107000"/>
                        </a:lnSpc>
                        <a:spcBef>
                          <a:spcPts val="0"/>
                        </a:spcBef>
                        <a:spcAft>
                          <a:spcPts val="0"/>
                        </a:spcAft>
                      </a:pPr>
                      <a:r>
                        <a:rPr lang="en-US" sz="1400" kern="100">
                          <a:effectLst/>
                        </a:rPr>
                        <a:t>3</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Pi lines ( 3.14-inches Repeats)                             </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Dirt, chemical crust, or a physical dent on a specific rollers</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clean thoroughly, replace damaged rollers</a:t>
                      </a:r>
                      <a:endParaRPr lang="en-US" sz="1400" kern="100">
                        <a:effectLst/>
                        <a:latin typeface="Calibri"/>
                        <a:ea typeface="Calibri"/>
                        <a:cs typeface="Times New Roman"/>
                      </a:endParaRPr>
                    </a:p>
                  </a:txBody>
                  <a:tcPr marL="68580" marR="68580" marT="0" marB="0"/>
                </a:tc>
              </a:tr>
              <a:tr h="774700">
                <a:tc>
                  <a:txBody>
                    <a:bodyPr/>
                    <a:lstStyle/>
                    <a:p>
                      <a:pPr marL="0" marR="0">
                        <a:lnSpc>
                          <a:spcPct val="107000"/>
                        </a:lnSpc>
                        <a:spcBef>
                          <a:spcPts val="0"/>
                        </a:spcBef>
                        <a:spcAft>
                          <a:spcPts val="0"/>
                        </a:spcAft>
                      </a:pPr>
                      <a:r>
                        <a:rPr lang="en-US" sz="1400" kern="100">
                          <a:effectLst/>
                        </a:rPr>
                        <a:t>4</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Chemical fog/dark film    </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developer temperature too High, over replenishment    </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calibrate thermostat Down, adjust replenishment rates                                              </a:t>
                      </a:r>
                      <a:endParaRPr lang="en-US" sz="1400" kern="100">
                        <a:effectLst/>
                        <a:latin typeface="Calibri"/>
                        <a:ea typeface="Calibri"/>
                        <a:cs typeface="Times New Roman"/>
                      </a:endParaRPr>
                    </a:p>
                  </a:txBody>
                  <a:tcPr marL="68580" marR="68580" marT="0" marB="0"/>
                </a:tc>
              </a:tr>
              <a:tr h="774700">
                <a:tc>
                  <a:txBody>
                    <a:bodyPr/>
                    <a:lstStyle/>
                    <a:p>
                      <a:pPr marL="0" marR="0">
                        <a:lnSpc>
                          <a:spcPct val="107000"/>
                        </a:lnSpc>
                        <a:spcBef>
                          <a:spcPts val="0"/>
                        </a:spcBef>
                        <a:spcAft>
                          <a:spcPts val="0"/>
                        </a:spcAft>
                      </a:pPr>
                      <a:r>
                        <a:rPr lang="en-US" sz="1400" kern="100" dirty="0">
                          <a:effectLst/>
                        </a:rPr>
                        <a:t>5</a:t>
                      </a:r>
                      <a:endParaRPr lang="en-US" sz="14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dirty="0">
                          <a:effectLst/>
                        </a:rPr>
                        <a:t>Film jamming</a:t>
                      </a:r>
                      <a:endParaRPr lang="en-US" sz="1400" kern="1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a:effectLst/>
                        </a:rPr>
                        <a:t>misaligned rollers; feeding Films too close together or Crookedly.</a:t>
                      </a:r>
                      <a:endParaRPr lang="en-US" sz="1400" kern="1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kern="100" dirty="0">
                          <a:effectLst/>
                        </a:rPr>
                        <a:t>stagger film feeds; Inspect chain alignment.</a:t>
                      </a:r>
                    </a:p>
                    <a:p>
                      <a:pPr marL="0" marR="0">
                        <a:lnSpc>
                          <a:spcPct val="107000"/>
                        </a:lnSpc>
                        <a:spcBef>
                          <a:spcPts val="0"/>
                        </a:spcBef>
                        <a:spcAft>
                          <a:spcPts val="0"/>
                        </a:spcAft>
                      </a:pPr>
                      <a:r>
                        <a:rPr lang="en-US" sz="1400" kern="100" dirty="0">
                          <a:effectLst/>
                        </a:rPr>
                        <a:t> </a:t>
                      </a:r>
                      <a:endParaRPr lang="en-US" sz="1400" kern="100" dirty="0">
                        <a:effectLst/>
                        <a:latin typeface="Calibri"/>
                        <a:ea typeface="Calibri"/>
                        <a:cs typeface="Times New Roman"/>
                      </a:endParaRPr>
                    </a:p>
                  </a:txBody>
                  <a:tcPr marL="68580" marR="68580" marT="0" marB="0"/>
                </a:tc>
              </a:tr>
            </a:tbl>
          </a:graphicData>
        </a:graphic>
      </p:graphicFrame>
      <p:sp>
        <p:nvSpPr>
          <p:cNvPr id="4" name="Rectangle 1"/>
          <p:cNvSpPr>
            <a:spLocks noChangeArrowheads="1"/>
          </p:cNvSpPr>
          <p:nvPr/>
        </p:nvSpPr>
        <p:spPr bwMode="auto">
          <a:xfrm>
            <a:off x="609600" y="714344"/>
            <a:ext cx="47646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8. TROUBLESHOOTING GUIDELINES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483920509"/>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pPr marL="0" indent="0">
              <a:buNone/>
            </a:pPr>
            <a:r>
              <a:rPr lang="en-US" b="1" dirty="0" smtClean="0">
                <a:latin typeface="Times New Roman" pitchFamily="18" charset="0"/>
                <a:cs typeface="Times New Roman" pitchFamily="18" charset="0"/>
              </a:rPr>
              <a:t>9. QUALITY </a:t>
            </a:r>
            <a:r>
              <a:rPr lang="en-US" b="1" dirty="0">
                <a:latin typeface="Times New Roman" pitchFamily="18" charset="0"/>
                <a:cs typeface="Times New Roman" pitchFamily="18" charset="0"/>
              </a:rPr>
              <a:t>ASSURANCE ( Q A )</a:t>
            </a:r>
          </a:p>
          <a:p>
            <a:pPr marL="0" lvl="0" indent="0">
              <a:buNone/>
            </a:pPr>
            <a:r>
              <a:rPr lang="en-US" b="1" dirty="0" smtClean="0">
                <a:latin typeface="Times New Roman" pitchFamily="18" charset="0"/>
                <a:cs typeface="Times New Roman" pitchFamily="18" charset="0"/>
              </a:rPr>
              <a:t>A. DAILY </a:t>
            </a:r>
            <a:r>
              <a:rPr lang="en-US" b="1" dirty="0">
                <a:latin typeface="Times New Roman" pitchFamily="18" charset="0"/>
                <a:cs typeface="Times New Roman" pitchFamily="18" charset="0"/>
              </a:rPr>
              <a:t>Q A PROTOCOLS:</a:t>
            </a:r>
          </a:p>
          <a:p>
            <a:pPr lvl="0" algn="just">
              <a:buFont typeface="Courier New" pitchFamily="49" charset="0"/>
              <a:buChar char="o"/>
            </a:pPr>
            <a:r>
              <a:rPr lang="en-US" dirty="0" err="1">
                <a:latin typeface="Times New Roman" pitchFamily="18" charset="0"/>
                <a:cs typeface="Times New Roman" pitchFamily="18" charset="0"/>
              </a:rPr>
              <a:t>Sensitometry</a:t>
            </a:r>
            <a:r>
              <a:rPr lang="en-US" dirty="0">
                <a:latin typeface="Times New Roman" pitchFamily="18" charset="0"/>
                <a:cs typeface="Times New Roman" pitchFamily="18" charset="0"/>
              </a:rPr>
              <a:t> and Densitometry:  Expose a control film using a </a:t>
            </a:r>
            <a:r>
              <a:rPr lang="en-US" dirty="0" err="1">
                <a:latin typeface="Times New Roman" pitchFamily="18" charset="0"/>
                <a:cs typeface="Times New Roman" pitchFamily="18" charset="0"/>
              </a:rPr>
              <a:t>sensitometry</a:t>
            </a:r>
            <a:r>
              <a:rPr lang="en-US" dirty="0">
                <a:latin typeface="Times New Roman" pitchFamily="18" charset="0"/>
                <a:cs typeface="Times New Roman" pitchFamily="18" charset="0"/>
              </a:rPr>
              <a:t>, process it , and measure the optical density steps ( Base + fog , speed index , contrast index ) using a densitometer to confirm chemical stability.</a:t>
            </a:r>
          </a:p>
          <a:p>
            <a:pPr lvl="0" algn="just">
              <a:buFont typeface="Courier New" pitchFamily="49" charset="0"/>
              <a:buChar char="o"/>
            </a:pPr>
            <a:r>
              <a:rPr lang="en-US" dirty="0">
                <a:latin typeface="Times New Roman" pitchFamily="18" charset="0"/>
                <a:cs typeface="Times New Roman" pitchFamily="18" charset="0"/>
              </a:rPr>
              <a:t>Temperature verification:  manually check that the developer temperature matches the digital readout.</a:t>
            </a:r>
          </a:p>
          <a:p>
            <a:pPr lvl="0" algn="just">
              <a:buFont typeface="Courier New" pitchFamily="49" charset="0"/>
              <a:buChar char="o"/>
            </a:pPr>
            <a:r>
              <a:rPr lang="en-US" dirty="0">
                <a:latin typeface="Times New Roman" pitchFamily="18" charset="0"/>
                <a:cs typeface="Times New Roman" pitchFamily="18" charset="0"/>
              </a:rPr>
              <a:t>Crossover Roller Cleaning: Wipe down the crossover assembles first thing in the morning.</a:t>
            </a:r>
          </a:p>
          <a:p>
            <a:pPr algn="just">
              <a:buFont typeface="Courier New" pitchFamily="49" charset="0"/>
              <a:buChar char="o"/>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7553568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pPr marL="0" lvl="0" indent="0" algn="just">
              <a:buNone/>
            </a:pPr>
            <a:r>
              <a:rPr lang="en-US" b="1" dirty="0" smtClean="0">
                <a:latin typeface="Times New Roman" pitchFamily="18" charset="0"/>
                <a:cs typeface="Times New Roman" pitchFamily="18" charset="0"/>
              </a:rPr>
              <a:t>B. WEEKLY </a:t>
            </a:r>
            <a:r>
              <a:rPr lang="en-US" b="1" dirty="0">
                <a:latin typeface="Times New Roman" pitchFamily="18" charset="0"/>
                <a:cs typeface="Times New Roman" pitchFamily="18" charset="0"/>
              </a:rPr>
              <a:t>Q A  PROTOCOLS</a:t>
            </a:r>
          </a:p>
          <a:p>
            <a:pPr lvl="0" algn="just">
              <a:buFont typeface="Courier New" pitchFamily="49" charset="0"/>
              <a:buChar char="o"/>
            </a:pPr>
            <a:r>
              <a:rPr lang="en-US" dirty="0">
                <a:latin typeface="Times New Roman" pitchFamily="18" charset="0"/>
                <a:cs typeface="Times New Roman" pitchFamily="18" charset="0"/>
              </a:rPr>
              <a:t>Replenishment Rate Verification:  Measure the actual volume of developer and fixer pumped per 14* 17 inch film to ensure accurate delivery.</a:t>
            </a:r>
          </a:p>
          <a:p>
            <a:pPr lvl="0" algn="just">
              <a:buFont typeface="Courier New" pitchFamily="49" charset="0"/>
              <a:buChar char="o"/>
            </a:pPr>
            <a:r>
              <a:rPr lang="en-US" dirty="0">
                <a:latin typeface="Times New Roman" pitchFamily="18" charset="0"/>
                <a:cs typeface="Times New Roman" pitchFamily="18" charset="0"/>
              </a:rPr>
              <a:t>Deep Clean Racks:  Remove the main developer  and fixer racks , rinse them with warm water , and scrub away any gelatin build up or chemical scales.</a:t>
            </a:r>
          </a:p>
          <a:p>
            <a:pPr lvl="0" algn="just">
              <a:buFont typeface="Courier New" pitchFamily="49" charset="0"/>
              <a:buChar char="o"/>
            </a:pPr>
            <a:r>
              <a:rPr lang="en-US" dirty="0">
                <a:latin typeface="Times New Roman" pitchFamily="18" charset="0"/>
                <a:cs typeface="Times New Roman" pitchFamily="18" charset="0"/>
              </a:rPr>
              <a:t>Water Filter Inspection:  Inspect and replace the water supply system filter if a drop in water pressure or flow rate is observed.  </a:t>
            </a:r>
          </a:p>
          <a:p>
            <a:pPr algn="just">
              <a:buFont typeface="Courier New" pitchFamily="49" charset="0"/>
              <a:buChar char="o"/>
            </a:pPr>
            <a:endParaRPr lang="en-US" dirty="0">
              <a:latin typeface="Times New Roman" pitchFamily="18" charset="0"/>
              <a:cs typeface="Times New Roman" pitchFamily="18" charset="0"/>
            </a:endParaRP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19194881"/>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438401"/>
            <a:ext cx="8229600" cy="1676400"/>
          </a:xfrm>
        </p:spPr>
        <p:txBody>
          <a:bodyPr>
            <a:normAutofit/>
          </a:bodyPr>
          <a:lstStyle/>
          <a:p>
            <a:pPr marL="0" lvl="0" indent="0" algn="ctr">
              <a:buNone/>
            </a:pPr>
            <a:r>
              <a:rPr lang="en-US" sz="6600" b="1" dirty="0" smtClean="0">
                <a:latin typeface="Times New Roman" pitchFamily="18" charset="0"/>
                <a:cs typeface="Times New Roman" pitchFamily="18" charset="0"/>
              </a:rPr>
              <a:t>THANK YOU</a:t>
            </a:r>
            <a:endParaRPr lang="en-US" sz="6600" dirty="0">
              <a:latin typeface="Times New Roman" pitchFamily="18" charset="0"/>
              <a:cs typeface="Times New Roman" pitchFamily="18" charset="0"/>
            </a:endParaRPr>
          </a:p>
        </p:txBody>
      </p:sp>
    </p:spTree>
    <p:extLst>
      <p:ext uri="{BB962C8B-B14F-4D97-AF65-F5344CB8AC3E}">
        <p14:creationId xmlns:p14="http://schemas.microsoft.com/office/powerpoint/2010/main" val="4052262704"/>
      </p:ext>
    </p:extLst>
  </p:cSld>
  <p:clrMapOvr>
    <a:masterClrMapping/>
  </p:clrMapOvr>
  <p:transition spd="slow">
    <p:push dir="u"/>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TotalTime>
  <Words>1689</Words>
  <Application>Microsoft Office PowerPoint</Application>
  <PresentationFormat>On-screen Show (4:3)</PresentationFormat>
  <Paragraphs>137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INTRODUCTION TO AUTOMATIC FILM PROCESSING: EQUIPMENT AND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AUTOMATIC FILM PROCESSING: EQUIPMENT AND TECHNIQUES </dc:title>
  <dc:creator>USER</dc:creator>
  <cp:lastModifiedBy>USER</cp:lastModifiedBy>
  <cp:revision>37</cp:revision>
  <dcterms:created xsi:type="dcterms:W3CDTF">2026-10-21T07:46:10Z</dcterms:created>
  <dcterms:modified xsi:type="dcterms:W3CDTF">2026-10-21T10:24:22Z</dcterms:modified>
</cp:coreProperties>
</file>